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3865e4027f40fe" /><Relationship Type="http://schemas.openxmlformats.org/officeDocument/2006/relationships/extended-properties" Target="/docProps/app.xml" Id="Rbedba8fcef3748a8" /><Relationship Type="http://schemas.openxmlformats.org/officeDocument/2006/relationships/officeDocument" Target="/ppt/presentation.xml" Id="R874e2d1e30e347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08ec4f622d4bdd"/>
  </p:sldMasterIdLst>
  <p:notesMasterIdLst>
    <p:notesMasterId xmlns:r="http://schemas.openxmlformats.org/officeDocument/2006/relationships" r:id="R958ea0e629e24a11"/>
  </p:notesMasterIdLst>
  <p:sldIdLst>
    <p:sldId xmlns:r="http://schemas.openxmlformats.org/officeDocument/2006/relationships" id="256" r:id="Rc636e6cb07484413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8ec4f622d4bdd" /><Relationship Type="http://schemas.openxmlformats.org/officeDocument/2006/relationships/theme" Target="/ppt/theme/theme1.xml" Id="Re93e56173ba5496e" /><Relationship Type="http://schemas.openxmlformats.org/officeDocument/2006/relationships/notesMaster" Target="/ppt/notesMasters/notesMaster1.xml" Id="R958ea0e629e24a11" /><Relationship Type="http://schemas.openxmlformats.org/officeDocument/2006/relationships/presProps" Target="/ppt/presProps.xml" Id="R89585f74a41d4980" /><Relationship Type="http://schemas.openxmlformats.org/officeDocument/2006/relationships/viewProps" Target="/ppt/viewProps.xml" Id="R8584db54af8d4402" /><Relationship Type="http://schemas.openxmlformats.org/officeDocument/2006/relationships/tableStyles" Target="/ppt/tableStyles.xml" Id="Rdec3e9c7d1584ca9" /><Relationship Type="http://schemas.openxmlformats.org/officeDocument/2006/relationships/slide" Target="/ppt/slides/slide1.xml" Id="Rc636e6cb074844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e85de9e3eb24a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c69262724b40eb" /><Relationship Type="http://schemas.openxmlformats.org/officeDocument/2006/relationships/notesMaster" Target="/ppt/notesMasters/notesMaster1.xml" Id="Re3529838d9374a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67c5fb0384b8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373d5d7c8b14099" /><Relationship Type="http://schemas.openxmlformats.org/officeDocument/2006/relationships/slideLayout" Target="/ppt/slideLayouts/slideLayout2.xml" Id="Rf7aba0c9015b46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aba0c9015b46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2e4bea67f4dc9" /><Relationship Type="http://schemas.openxmlformats.org/officeDocument/2006/relationships/notesSlide" Target="/ppt/notesSlides/notesSlide1.xml" Id="R8e651c95d8e441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60CE6B-A2D0-408D-87C6-03B1C465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64CBC-DA6D-464B-A65C-96A68A82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955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One-Sample t-Test: The Cupcake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6427D-140C-4CA6-969B-80ACDFF2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9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A one-slide teaching board for claim, data, uncertainty, R output, p-value, confidence interval, and power.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1ABE3-C79E-4702-AD01-6B5F2C95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8191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13335">
            <a:solidFill>
              <a:srgbClr val="1723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FBFF8-E9AE-4E05-AA5D-90471356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6700"/>
            <a:ext cx="685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BAB78-B51F-41EF-B2A9-42AFD0DA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91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40459-54E3-4F77-8770-8F8EAB96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"/>
            <a:ext cx="8191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13335">
            <a:solidFill>
              <a:srgbClr val="1723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15E42-1B0F-4D50-A0A3-71E70B66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6700"/>
            <a:ext cx="685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xbar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55508-64B2-4098-9F95-CDB37117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91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214.4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F4BD9-2F18-4673-8E83-0482BBD4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9550"/>
            <a:ext cx="8191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13335">
            <a:solidFill>
              <a:srgbClr val="1723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E863F-6B1D-4478-B4CF-9A2EC2C6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6700"/>
            <a:ext cx="685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918DB-771F-4EBA-BA9A-F2B5C74C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191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20.9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54D90-A972-4426-8755-C1CF5087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09550"/>
            <a:ext cx="8191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13335">
            <a:solidFill>
              <a:srgbClr val="172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DE94A-0C3E-4968-AE01-255F9523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66700"/>
            <a:ext cx="685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3B892-9398-4B90-863E-CCD0079E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191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6.6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CA869-D511-4272-A27E-D48B44C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209550"/>
            <a:ext cx="8191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13335">
            <a:solidFill>
              <a:srgbClr val="172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0F26D-3053-4978-AB8F-D90ACF6C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266700"/>
            <a:ext cx="685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E481E-4A49-40FC-A95E-36129AE9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4191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2.176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D78B3-60E7-44C0-B0F2-946013BF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209550"/>
            <a:ext cx="8191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13335">
            <a:solidFill>
              <a:srgbClr val="1723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E442D-A745-4368-9A5E-27660AC9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266700"/>
            <a:ext cx="685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99C82-A698-4FAB-84A4-6043F6D8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191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0.0575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8E2FA-25D0-46EA-8F36-780905EB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09550"/>
            <a:ext cx="14287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13335">
            <a:solidFill>
              <a:srgbClr val="1723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69329C-54BE-43C6-BDFC-019F78E5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266700"/>
            <a:ext cx="1295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59EAF-C5F2-4421-B3FA-FCC46669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4191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199.4 to 229.4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5611C8-8650-4293-8CC5-BF9139B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28700"/>
            <a:ext cx="4476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2AB00D-CE7C-41E0-92B7-FC0BED7B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28700"/>
            <a:ext cx="4476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35F6C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CBA4A-2EAD-41C2-979D-70B9038E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09675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solidFill>
              <a:srgbClr val="035F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C04C8-3CA6-4D47-A367-79F24484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1ECEC2-D3DF-4566-8AAD-C99E5CC1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95375"/>
            <a:ext cx="3257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Audit setup and 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C9C09D-C47C-4EDA-AA32-D38189B5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The cafe claims μ0 = 200 calories. Ten measured cupcakes average xbar = 214.4, but a t-test asks whether that gap is large relative to baking variation.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707780-53E7-4F04-801D-0FCDFDCC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3533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6"/>
          </a:solidFill>
          <a:ln xmlns:a="http://schemas.openxmlformats.org/drawingml/2006/main" w="0">
            <a:solidFill>
              <a:srgbClr val="1723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67952C-B6F5-4CF8-9FF2-69ECB20D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71" y="3133725"/>
            <a:ext cx="1428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6"/>
          </a:solidFill>
          <a:ln xmlns:a="http://schemas.openxmlformats.org/drawingml/2006/main" w="0">
            <a:solidFill>
              <a:srgbClr val="17232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766526-591C-442D-9DE2-E5925B2D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21" y="3228975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180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F0A88C-9F4C-4AB6-AFD5-FD5BECE9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554" y="3133725"/>
            <a:ext cx="1428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6"/>
          </a:solidFill>
          <a:ln xmlns:a="http://schemas.openxmlformats.org/drawingml/2006/main" w="0">
            <a:solidFill>
              <a:srgbClr val="1723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4562F9-4051-4EB2-9366-CBF6092B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204" y="3228975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A3DBC0-8178-49DC-BA36-12CBFEDE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3133725"/>
            <a:ext cx="1428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6"/>
          </a:solidFill>
          <a:ln xmlns:a="http://schemas.openxmlformats.org/drawingml/2006/main" w="0">
            <a:solidFill>
              <a:srgbClr val="1723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9AD251-8C6A-42AB-830E-0A941623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488" y="3228975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220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78A89E-C511-4262-BE63-F5B50CAF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121" y="3133725"/>
            <a:ext cx="1428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6"/>
          </a:solidFill>
          <a:ln xmlns:a="http://schemas.openxmlformats.org/drawingml/2006/main" w="0">
            <a:solidFill>
              <a:srgbClr val="17232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004546-D2FA-4314-8873-4B8CCEE2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771" y="3228975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240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9D9D08-E1D0-489A-916D-D73706C6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404" y="3133725"/>
            <a:ext cx="1428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6"/>
          </a:solidFill>
          <a:ln xmlns:a="http://schemas.openxmlformats.org/drawingml/2006/main" w="0">
            <a:solidFill>
              <a:srgbClr val="17232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61A09D-31DD-4DF3-8F35-2C682330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054" y="3228975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260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30C730-441A-48CE-BAEF-01A24A07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504" y="23241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3"/>
          </a:solidFill>
          <a:ln xmlns:a="http://schemas.openxmlformats.org/drawingml/2006/main" w="0">
            <a:solidFill>
              <a:srgbClr val="D4AF3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4C0C53-DF1C-4CB9-9041-89B38E0C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671" y="2324100"/>
            <a:ext cx="285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5E"/>
          </a:solidFill>
          <a:ln xmlns:a="http://schemas.openxmlformats.org/drawingml/2006/main" w="0">
            <a:solidFill>
              <a:srgbClr val="B83B5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88F174-74BE-423F-8F39-F72929C7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876" y="2533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19050">
            <a:solidFill>
              <a:srgbClr val="D4AF3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D531C5-63A1-407F-8FEE-4ED03A09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556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19050">
            <a:solidFill>
              <a:srgbClr val="B83B5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2D1C35-692A-47C8-9C5C-2F95331F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234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19050">
            <a:solidFill>
              <a:srgbClr val="D4AF3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C32E5A-AFE6-4DC1-9C10-1E0D4B9D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159" y="2657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19050">
            <a:solidFill>
              <a:srgbClr val="D4AF3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8B63DB-9E6C-486D-A3E9-C5952BC2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669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19050">
            <a:solidFill>
              <a:srgbClr val="B83B5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34778F-A215-4545-847A-96B1DC41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197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19050">
            <a:solidFill>
              <a:srgbClr val="D4AF3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D18110-D0A3-4C6F-9F58-769E1ED5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989" y="275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19050">
            <a:solidFill>
              <a:srgbClr val="D4AF3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841D9E-EB13-4D07-B4F1-782EBC7F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3" y="2486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19050">
            <a:solidFill>
              <a:srgbClr val="D4AF3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3AC9E2-B76D-4303-9322-7566A3F0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046" y="2609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19050">
            <a:solidFill>
              <a:srgbClr val="D4AF3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56003C-C700-4B38-A395-E4865CFB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423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19050">
            <a:solidFill>
              <a:srgbClr val="D4AF3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E65E5D-6ADE-416B-8D69-3EB42659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804" y="2200275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4AF3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4AF33"/>
                </a:solidFill>
                <a:latin typeface="Aptos"/>
                <a:ea typeface="Aptos"/>
                <a:cs typeface="Aptos"/>
              </a:rPr>
              <a:t>claim 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BD1D46-4295-4540-90DD-8D9263CE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583" y="23717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B83B5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83B5E"/>
                </a:solidFill>
                <a:latin typeface="Aptos"/>
                <a:ea typeface="Aptos"/>
                <a:cs typeface="Aptos"/>
              </a:rPr>
              <a:t>xbar 214.4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A8EA44-F4DA-4960-96DE-BD164AD8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Key distinction: the sample mean is on trial, not one high cupcake.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43A7A8-2DC1-4777-B80C-282BB202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66850"/>
            <a:ext cx="5905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9525">
            <a:solidFill>
              <a:srgbClr val="17232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21DC28-1B33-4CA1-B686-BC54CBF9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14475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μ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59FBB9-34D4-4A69-8258-B54B5F8C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14475"/>
            <a:ext cx="333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48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true mean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E66556-39E5-4226-AF1B-0CD19F5E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66850"/>
            <a:ext cx="5905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9525">
            <a:solidFill>
              <a:srgbClr val="17232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03AA3A-5189-4F1C-BB7B-3D4079D0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514475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μ0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4C0AD4-3305-4B33-8D67-776F780A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14475"/>
            <a:ext cx="333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48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5F5BF3-D183-473D-B2EA-0E8A9DBD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0225"/>
            <a:ext cx="5905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9525">
            <a:solidFill>
              <a:srgbClr val="17232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B325CE-F071-4FF3-BDCF-B2B140B4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47850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xbar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42027A-CA2D-447B-AB68-8784AC9E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333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48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sample mean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C99F90D-8BD1-44C9-99EA-FC9E5E39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00225"/>
            <a:ext cx="5905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9525">
            <a:solidFill>
              <a:srgbClr val="17232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0B56E0C-9FF4-4B72-8427-1CB11FC2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47850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DC2CEB2-A5EC-4F73-A657-4735B187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47850"/>
            <a:ext cx="333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48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sample SD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4240512-32D5-4053-97B4-AB53537F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33600"/>
            <a:ext cx="5905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9525">
            <a:solidFill>
              <a:srgbClr val="17232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D0C8720-F8AF-4030-ADAE-7C0CFFA9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81225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SE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84EF15-7BD6-4C61-B420-86BF4D06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81225"/>
            <a:ext cx="333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48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mean wiggle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B8CD940-7EED-4581-801D-FF8CF558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33600"/>
            <a:ext cx="5905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9525">
            <a:solidFill>
              <a:srgbClr val="17232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626DEA0-C042-4073-BEF6-DCD6706D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81225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df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340368F-456F-4B1D-BC7D-27D3C631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81225"/>
            <a:ext cx="333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48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n - 1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65F9301-2E08-4D66-8505-88E09066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028700"/>
            <a:ext cx="49053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7B4A20-65E1-4B23-A55E-E6163D2B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028700"/>
            <a:ext cx="4905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4AF33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A8BE623-3A44-42C4-BEA2-C7FEA098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209675"/>
            <a:ext cx="4905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3"/>
          </a:solidFill>
          <a:ln xmlns:a="http://schemas.openxmlformats.org/drawingml/2006/main" w="0">
            <a:solidFill>
              <a:srgbClr val="D4AF3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CDFB7E2-AC9D-4743-B221-062DA5AF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1049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88A2A14-0532-4276-BF86-83D7330D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095375"/>
            <a:ext cx="3686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Math engine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4FBF017-9185-456F-9874-6297E7C2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66850"/>
            <a:ext cx="1333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13335">
            <a:solidFill>
              <a:srgbClr val="17232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5E2541D-3300-43AB-9898-738234F2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533525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spread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FED182D-94ED-43FF-8B12-AE16C4E0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695450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s = 20.9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5596D3-EF52-4B92-A9D1-2F1D0D2A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466850"/>
            <a:ext cx="1333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13335">
            <a:solidFill>
              <a:srgbClr val="17232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7CECD37-57E1-4311-924F-131C007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33525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SE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72DBB6B-1E29-49CA-93E7-84BD175A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95450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20.9 / sqrt(10) = 6.6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B3820B-27AE-40D3-A0DB-648A6045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1333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13335">
            <a:solidFill>
              <a:srgbClr val="172326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520393A-5E30-4133-920A-087327D5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533525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D05BC29-514E-4D03-9485-F2116282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695450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214.4 - 200 = 14.4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1BF8678-DB5A-4FC0-A69D-7AFAEABF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14550"/>
            <a:ext cx="1333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13335">
            <a:solidFill>
              <a:srgbClr val="172326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BFD1C87-EE78-4E38-859D-C9CFF65D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81225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3825186-9A7A-43D6-A9F8-4765B7C2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43150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14.4 / 6.6 = 2.18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B0A5586-D2F4-4286-B634-4B93F87A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14550"/>
            <a:ext cx="1333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13335">
            <a:solidFill>
              <a:srgbClr val="17232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82777F9-275F-4181-A924-EFB30245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81225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df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F6158C3-E311-498B-8327-BEFFAE09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43150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10 - 1 = 9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DF8F578-7B2A-43FA-8858-FDE8BBB7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1333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13335">
            <a:solidFill>
              <a:srgbClr val="17232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B4A948A-514D-492E-AA98-7DC07DBA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181225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9E63FEF-30B3-48B3-B62B-5A66F21E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343150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compare to t(df=9)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F49C0CB-4A7F-488C-9971-4BA9D5EA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8047F8F-1079-492D-A611-05650DA2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542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F6EE27B-1F1F-484F-A99A-7D8BEBAA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458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DF5E814-5264-47A4-9FEB-04EA0BC9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375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DE08781-1196-4370-ABE3-6CE59DF7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292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DD2021B-71F6-4E6D-AF3B-476D1113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208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8BABFCC-28A2-480A-9434-982A2477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125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658AAC2-1C5B-467F-9D9C-AAA92F26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042" y="3550215"/>
            <a:ext cx="57679" cy="21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040F263-32A2-432A-BDA3-5C77FDF5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958" y="3542262"/>
            <a:ext cx="57679" cy="29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0C6593E-7619-4DE1-B124-75F6F248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32049"/>
            <a:ext cx="57679" cy="39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FD5CAB8-B74F-4B58-8B7E-770824A6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792" y="3519189"/>
            <a:ext cx="57679" cy="526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CB265E5-6A3F-4485-8F73-21819293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708" y="3503313"/>
            <a:ext cx="57679" cy="685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B8A19CC-4BE2-4873-BB7A-12E3FF11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625" y="3484110"/>
            <a:ext cx="57679" cy="87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E7EA7F6-C6BD-482B-8FE2-9B7A4C08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542" y="3461363"/>
            <a:ext cx="57679" cy="110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4B2EF92-9CBE-4E12-9B09-9460AC06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458" y="3434993"/>
            <a:ext cx="57679" cy="136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2D2D20F-EDD8-4E4C-84FD-40FCE3AD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375" y="3405098"/>
            <a:ext cx="57679" cy="166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C4ACCCD-1A90-4168-A5E4-4C41675E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292" y="3371992"/>
            <a:ext cx="57679" cy="1998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635D740-5C45-4B06-92A5-C9AC87C2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208" y="3336226"/>
            <a:ext cx="57679" cy="235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4B94D50-65B5-47F9-8EBF-5CDDD67B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98595"/>
            <a:ext cx="57679" cy="27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F46407E-3F8E-4654-BE7B-726A34BA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042" y="3260129"/>
            <a:ext cx="57679" cy="311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8D85284-EC52-4FC5-8FB7-670D0A6E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958" y="3222056"/>
            <a:ext cx="57679" cy="3498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F94582E-1249-4A61-8E97-D03195B5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875" y="3185741"/>
            <a:ext cx="57679" cy="3861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09363F7-F535-415C-B90E-469912CC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792" y="3152615"/>
            <a:ext cx="57679" cy="419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CDE058F-BE83-456E-96E5-A122CD81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708" y="3124079"/>
            <a:ext cx="57679" cy="4477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CE9DE00-5769-402E-A28E-936EEBA5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25" y="3101410"/>
            <a:ext cx="57679" cy="470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A6065DD-E8AA-4113-90B3-97F64A15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542" y="3085663"/>
            <a:ext cx="57679" cy="4862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4BC57AE-770D-4DA3-A8A3-AB0EF659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58" y="3077593"/>
            <a:ext cx="57679" cy="4942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81F0267-25BD-4EA7-8C8B-BDF7EDA8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77593"/>
            <a:ext cx="57679" cy="4942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E386FF7-BED0-4071-9FAD-D923E7F0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292" y="3085663"/>
            <a:ext cx="57679" cy="4862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184C996-9DBE-42BF-A900-FD6DCF68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208" y="3101410"/>
            <a:ext cx="57679" cy="470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4B6811B-4CBE-4DE4-BAA9-820EFB50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125" y="3124079"/>
            <a:ext cx="57679" cy="4477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CF44022-B437-4D57-A7E4-C72C0DA1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042" y="3152615"/>
            <a:ext cx="57679" cy="419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9AAF886-3074-48E4-B075-A2DD70B5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958" y="3185741"/>
            <a:ext cx="57679" cy="3861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AE26021-DBDB-47DF-8685-52BA22BB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875" y="3222056"/>
            <a:ext cx="57679" cy="3498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0ECDC67-6261-404E-85B1-B1CD8554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792" y="3260129"/>
            <a:ext cx="57679" cy="311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CAE9765-B7B0-4279-A654-DAC9D9C5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708" y="3298595"/>
            <a:ext cx="57679" cy="27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7074F1B-B55F-4C88-84F5-25343479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36226"/>
            <a:ext cx="57679" cy="235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D1F249D-74E7-4E86-805F-F6148622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542" y="3371992"/>
            <a:ext cx="57679" cy="1998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F82DEFD-9B85-4CA5-9E91-F788A10C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458" y="3405098"/>
            <a:ext cx="57679" cy="166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7F70FA9-3507-4D52-B54C-EC18F537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375" y="3434993"/>
            <a:ext cx="57679" cy="136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8E04E51-CA3C-4D3E-90E2-7E3EB20B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292" y="3461363"/>
            <a:ext cx="57679" cy="110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5AE1E3D-421A-4897-8DBF-B360908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208" y="3484110"/>
            <a:ext cx="57679" cy="87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4EB3D53-C91B-40FC-A908-403D01D8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25" y="3503313"/>
            <a:ext cx="57679" cy="685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0867455-BACF-456D-A0C3-04B51E71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042" y="3519189"/>
            <a:ext cx="57679" cy="526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1DF645E-1D15-4E23-9D11-4C94C3B8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958" y="3532049"/>
            <a:ext cx="57679" cy="39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9EF5A35-6C9C-4A6A-B311-8F00FE6E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42262"/>
            <a:ext cx="57679" cy="29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5B37455-D37A-40B7-AE10-1F77E96C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792" y="3550215"/>
            <a:ext cx="57679" cy="21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BC9D14C-4853-4446-B847-F7CB589D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708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358F50C-E441-453C-B869-D21CF69C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63A5640-E85E-4B36-AA71-3A77AE70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542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DD67D1F-D00E-40AB-AE3D-4B067A97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7458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C9B13AB-9E7E-4BEC-A156-D82F6426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0772FF2-08DA-4EEA-9946-751A1470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292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43943A3-CF1F-4B2F-8269-CEAD2EB3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208" y="3552825"/>
            <a:ext cx="57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BC957B4-6881-41F9-A7A0-9CE9C3BC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718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66A"/>
          </a:solidFill>
          <a:ln xmlns:a="http://schemas.openxmlformats.org/drawingml/2006/main" w="0">
            <a:solidFill>
              <a:srgbClr val="58666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3331650-7235-4229-AD2A-D992656D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14650"/>
            <a:ext cx="1285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Two-sided p = 0.0575 means results this far from 200 in either direction happen about 6% of the time if H0 is true.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1721335-A3E1-4D9A-94EA-1DE81FD9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48075"/>
            <a:ext cx="417195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DEEF1"/>
          </a:solidFill>
          <a:ln xmlns:a="http://schemas.openxmlformats.org/drawingml/2006/main" w="13335">
            <a:solidFill>
              <a:srgbClr val="B83B5E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2E5DA9E-40B0-4649-9478-2C2DF8D5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76650"/>
            <a:ext cx="398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B83B5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B83B5E"/>
                </a:solidFill>
                <a:latin typeface="Aptos"/>
                <a:ea typeface="Aptos"/>
                <a:cs typeface="Aptos"/>
              </a:rPr>
              <a:t>p &gt; 0.05, so do not reject H0. That is not the same as proving no difference.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74D09B1-155A-48F7-8E23-C6CBF7DB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028700"/>
            <a:ext cx="47434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42AAE2F-B2D7-4C15-8F53-AD170B66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028700"/>
            <a:ext cx="474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35F6C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E2D8B60-A9E5-4517-A06A-97CB8DAF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209675"/>
            <a:ext cx="474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solidFill>
              <a:srgbClr val="035F6C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DB128D0-B607-4D1C-87A9-8879641A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1049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C56F49D-7844-42CC-99AD-48CF6C81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0953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 output and reproducibility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AB85EAF-E2F5-4D03-AE6D-8B513638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457325"/>
            <a:ext cx="42672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0262B"/>
          </a:solidFill>
          <a:ln xmlns:a="http://schemas.openxmlformats.org/drawingml/2006/main" w="14288">
            <a:solidFill>
              <a:srgbClr val="172326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B7FDECD-FA21-42C3-92C1-7BEA8A82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457325"/>
            <a:ext cx="42672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24852"/>
          </a:solidFill>
          <a:ln xmlns:a="http://schemas.openxmlformats.org/drawingml/2006/main" w="14288">
            <a:solidFill>
              <a:srgbClr val="172326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430EF0D-8BD0-40BF-AA01-E38CF6DA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581150"/>
            <a:ext cx="426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852"/>
          </a:solidFill>
          <a:ln xmlns:a="http://schemas.openxmlformats.org/drawingml/2006/main" w="0">
            <a:solidFill>
              <a:srgbClr val="024852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FC3797E-9449-4ADD-86A2-8C6E1655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04950"/>
            <a:ext cx="4076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03125C2-28D9-4242-9E04-B381F539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762125"/>
            <a:ext cx="40767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E9FBFD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9FBFD"/>
                </a:solidFill>
                <a:latin typeface="Aptos"/>
                <a:ea typeface="Aptos"/>
                <a:cs typeface="Aptos"/>
              </a:rPr>
              <a:t>cupcakes &lt;- c(198,246,188,218,254,203,206,202,210,219)</a:t>
            </a:r>
          </a:p>
          <a:p xmlns:a="http://schemas.openxmlformats.org/drawingml/2006/main">
            <a:pPr algn="l">
              <a:defRPr sz="705" b="0">
                <a:solidFill>
                  <a:srgbClr val="E9FBFD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9FBFD"/>
                </a:solidFill>
                <a:latin typeface="Aptos"/>
                <a:ea typeface="Aptos"/>
                <a:cs typeface="Aptos"/>
              </a:rPr>
              <a:t>t.test(cupcakes, mu = 200)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05" b="0">
                <a:solidFill>
                  <a:srgbClr val="E9FBFD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9FBFD"/>
                </a:solidFill>
                <a:latin typeface="Aptos"/>
                <a:ea typeface="Aptos"/>
                <a:cs typeface="Aptos"/>
              </a:rPr>
              <a:t># t = 2.176, df = 9, p = 0.0575</a:t>
            </a:r>
          </a:p>
          <a:p xmlns:a="http://schemas.openxmlformats.org/drawingml/2006/main">
            <a:pPr algn="l">
              <a:defRPr sz="705" b="0">
                <a:solidFill>
                  <a:srgbClr val="E9FBFD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9FBFD"/>
                </a:solidFill>
                <a:latin typeface="Aptos"/>
                <a:ea typeface="Aptos"/>
                <a:cs typeface="Aptos"/>
              </a:rPr>
              <a:t># 95% CI: 199.4 to 229.4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0796F97-4E0B-45A1-9281-70C9B005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76575"/>
            <a:ext cx="42672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0262B"/>
          </a:solidFill>
          <a:ln xmlns:a="http://schemas.openxmlformats.org/drawingml/2006/main" w="14288">
            <a:solidFill>
              <a:srgbClr val="172326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F93B699-D9EF-4DC2-AF6F-A4189B8E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76575"/>
            <a:ext cx="42672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24852"/>
          </a:solidFill>
          <a:ln xmlns:a="http://schemas.openxmlformats.org/drawingml/2006/main" w="14288">
            <a:solidFill>
              <a:srgbClr val="172326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1B5717C-460D-4004-A12D-49D512FA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00400"/>
            <a:ext cx="426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852"/>
          </a:solidFill>
          <a:ln xmlns:a="http://schemas.openxmlformats.org/drawingml/2006/main" w="0">
            <a:solidFill>
              <a:srgbClr val="024852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EA51514-F5B5-4710-ADA5-D170030A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24200"/>
            <a:ext cx="4076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ggplot mock figure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55F2FD2-DF8E-46AF-B68E-EDA72C68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81375"/>
            <a:ext cx="4076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E9FBFD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9FBFD"/>
                </a:solidFill>
                <a:latin typeface="Aptos"/>
                <a:ea typeface="Aptos"/>
                <a:cs typeface="Aptos"/>
              </a:rPr>
              <a:t>ggplot(tibble(cal = cupcakes), aes(cal)) + geom_dotplot() +</a:t>
            </a:r>
          </a:p>
          <a:p xmlns:a="http://schemas.openxmlformats.org/drawingml/2006/main">
            <a:pPr algn="l">
              <a:defRPr sz="705" b="0">
                <a:solidFill>
                  <a:srgbClr val="E9FBFD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9FBFD"/>
                </a:solidFill>
                <a:latin typeface="Aptos"/>
                <a:ea typeface="Aptos"/>
                <a:cs typeface="Aptos"/>
              </a:rPr>
              <a:t>  geom_vline(xintercept = c(200, mean(cal)))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8FA11F9-269A-48C9-ADF9-67279EC3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76725"/>
            <a:ext cx="44767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35EF5CA-AEAB-4F29-B864-7D712967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76725"/>
            <a:ext cx="4476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35F6C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AE095C5-50C2-4751-BE4E-CD47C336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5770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solidFill>
              <a:srgbClr val="035F6C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53F40C4-5B77-4FBD-B422-F50F27A8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3EB600D-B58C-4EED-97CF-87FEA2EC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3257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Hypotheses and direction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4CC27A6-7991-48B8-BC63-AB0E5742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18110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14288">
            <a:solidFill>
              <a:srgbClr val="172326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23A4894-997F-4B12-BE92-1EF79B76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76800"/>
            <a:ext cx="1028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H0: μ = 200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D4A4540-AEAA-4E1F-BAC2-702E1391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95875"/>
            <a:ext cx="1028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555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null gives cafe benefit of doubt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99CD366-4C9C-454D-9F48-E772011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43450"/>
            <a:ext cx="118110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14288">
            <a:solidFill>
              <a:srgbClr val="172326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D3C4A73-32C3-4677-9357-0C3589FE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876800"/>
            <a:ext cx="1028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H1: μ ≠ 200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4E46BBB-58B1-47F0-9A1F-BD3B9777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095875"/>
            <a:ext cx="1028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555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two-sided default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F6B0EED1-9CB6-4C00-B291-0A8A2DCD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43450"/>
            <a:ext cx="118110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DEEF1"/>
          </a:solidFill>
          <a:ln xmlns:a="http://schemas.openxmlformats.org/drawingml/2006/main" w="14288">
            <a:solidFill>
              <a:srgbClr val="172326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49DA2B9-8658-455E-A0A6-C10E791D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876800"/>
            <a:ext cx="1028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α = 0.05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9D90FEB-E212-466D-BE13-B4AA9CE7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095875"/>
            <a:ext cx="1028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555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threshold chosen first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5296682-EA5B-4400-B00B-7265AEC7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CE7A5BE-ACEC-4082-8949-E83E45C0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82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1565469-1AF3-44EC-AEFE-ADE47C23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14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F62FB1F-F514-4EA0-A8D1-C8F1EAA4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46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5569A72-0FC0-45DF-B4E8-7D24E5D5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78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A0F7D9F-3C56-42A5-BD8F-B9FD1071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10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B81DEEA-15AF-4066-A496-C879DF3F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42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7BBC33A-2A6F-4E0E-9BD1-FB243449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974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54309BD-A10F-48BB-A8C5-76D9F7E8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06" y="6122554"/>
            <a:ext cx="37394" cy="210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D7F94D2-AB29-42EC-994C-C29ADE7D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38" y="6115287"/>
            <a:ext cx="37394" cy="2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1AE40B9-B928-47FF-8E31-C573AFBA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69" y="6106137"/>
            <a:ext cx="37394" cy="3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1899DEB-B598-4ACA-9797-2B9B8EB6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01" y="6094840"/>
            <a:ext cx="37394" cy="48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8691B05-9831-43AD-B8F8-891062FB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33" y="6081177"/>
            <a:ext cx="37394" cy="62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E0426B4-76AA-4645-BA04-8F43C6C9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65" y="6064992"/>
            <a:ext cx="37394" cy="78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CEBF0B3-04C2-4B23-B07A-120092CB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97" y="6046228"/>
            <a:ext cx="37394" cy="97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568A75B-C66B-4F62-BA9E-A50E551E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29" y="6024957"/>
            <a:ext cx="37394" cy="118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341B40D-F107-4414-8371-2C681FA1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61" y="6001401"/>
            <a:ext cx="37394" cy="142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89B3361-FD9C-49E4-A5DF-93E8DAAD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293" y="5975952"/>
            <a:ext cx="37394" cy="167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309D72A-8553-4C85-A620-6266EB3B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925" y="5949176"/>
            <a:ext cx="37394" cy="194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4015856-6717-4DC3-A626-072F1EA9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557" y="5921806"/>
            <a:ext cx="37394" cy="2218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FFD85C7-D1E9-414B-931B-45010225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189" y="5894715"/>
            <a:ext cx="37394" cy="248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C181053-21BB-44A9-A2E9-B5E6B3B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821" y="5868876"/>
            <a:ext cx="37394" cy="2747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47638E8-A415-46DE-A9A0-F50E0A23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453" y="5845305"/>
            <a:ext cx="37394" cy="298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216EF82-7CB1-44BB-B7FC-D4D5C150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85" y="5825001"/>
            <a:ext cx="37394" cy="318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57A81CB-2C0F-497A-8D85-333EF631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717" y="5808871"/>
            <a:ext cx="37394" cy="3347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127BA91-B257-4380-B432-D0D00192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49" y="5797667"/>
            <a:ext cx="37394" cy="345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54A7A637-946D-4463-854E-834631DC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981" y="5791924"/>
            <a:ext cx="37394" cy="351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832C136-0E08-41E9-AFEE-ED652CB3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5791924"/>
            <a:ext cx="37394" cy="351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23AB981-D793-4A29-B54F-80F441FD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244" y="5797667"/>
            <a:ext cx="37394" cy="345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EA896F6-5457-47BA-976D-C7BF7D67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876" y="5808871"/>
            <a:ext cx="37394" cy="3347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96641F62-EA79-4F83-A57D-C37E87FF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08" y="5825001"/>
            <a:ext cx="37394" cy="318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B7187C69-36ED-4502-9E86-66B14D3E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40" y="5845305"/>
            <a:ext cx="37394" cy="298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B739068F-DDD8-47CF-A60D-169A9B9C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772" y="5868876"/>
            <a:ext cx="37394" cy="2747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2278A19-23FF-46DC-A3DA-89907FA4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04" y="5894715"/>
            <a:ext cx="37394" cy="248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D2625A8-20E4-4DBA-8A28-4DCA1DE4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036" y="5921806"/>
            <a:ext cx="37394" cy="2218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F47231C-B468-4E87-99BE-199BC505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668" y="5949176"/>
            <a:ext cx="37394" cy="194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FDC1397-7011-494D-99D1-513DB5A1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300" y="5975952"/>
            <a:ext cx="37394" cy="167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8FF6303-733B-4834-9CCF-C2BC0245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932" y="6001401"/>
            <a:ext cx="37394" cy="142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95A351D-7ABC-4B45-B6EF-727294E0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564" y="6024957"/>
            <a:ext cx="37394" cy="118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E40BC57-144D-47EB-82B5-15D51ED2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196" y="6046228"/>
            <a:ext cx="37394" cy="97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5438F00-9925-41E3-98D7-8562EC4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828" y="6064992"/>
            <a:ext cx="37394" cy="78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D6130D2-1712-4FEA-9ABD-17459064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460" y="6081177"/>
            <a:ext cx="37394" cy="62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0442B8E-3B6F-4C70-A7EF-82B70D94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092" y="6094840"/>
            <a:ext cx="37394" cy="48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12D0BDE1-B59B-4915-B8DC-178C9F36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724" y="6106137"/>
            <a:ext cx="37394" cy="3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90ADC6E-16B7-4A95-92C1-C90A877B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356" y="6115287"/>
            <a:ext cx="37394" cy="2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58418F0-ACF5-4083-BBFB-2DFD95E4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988" y="6122554"/>
            <a:ext cx="37394" cy="210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99221E1E-21C2-4B0A-90E2-CE025093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619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0DFBEEF-6082-402A-8BD3-4B3EAC5E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251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2C585EA0-975E-4585-9CA7-1A36FA1B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883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3D0823D-9EC7-4F37-A963-04335BDA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515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C1DEC19-F1A2-407C-8815-D8B1372B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147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6B04B1F-91C1-49D0-AB56-B2F96468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79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BB5874F-680C-43C8-B89D-24FEE2DE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411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6839319-6998-47C2-B4C5-DCE629CD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043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C430C2B3-673D-484D-8D3B-62D20B91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43625"/>
            <a:ext cx="1762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66A"/>
          </a:solidFill>
          <a:ln xmlns:a="http://schemas.openxmlformats.org/drawingml/2006/main" w="0">
            <a:solidFill>
              <a:srgbClr val="58666A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90FE0F2-388F-4455-8480-A8072110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B8D26A4B-8FEE-46D7-AA66-15A0536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732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796D95A-89D2-431E-A947-DC99576A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364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DCF002E3-2B5C-4459-9CDF-D72DCC1A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996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B4BBE852-D1F1-486A-80A7-0F359631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628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9995A07-58D8-4FBC-996C-39B494EA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260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075DD2AF-60F5-42EE-843E-3453CA32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892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7827B88-BC3F-4089-98D1-716645A9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524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31069C6-8D0F-4CAC-AE49-F4B61516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156" y="6122554"/>
            <a:ext cx="37394" cy="210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C89A1E6-584B-4761-9259-DAE0001B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788" y="6115287"/>
            <a:ext cx="37394" cy="2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65042DD5-0F6E-4B00-B045-3E2F77D7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419" y="6106137"/>
            <a:ext cx="37394" cy="3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EAA5B9D6-01C8-468A-8484-2455A36F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051" y="6094840"/>
            <a:ext cx="37394" cy="48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13C15A42-0E28-4208-A757-17089772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683" y="6081177"/>
            <a:ext cx="37394" cy="62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C890CCD-B3A5-44D5-AAF6-E63EB558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315" y="6064992"/>
            <a:ext cx="37394" cy="78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3FB0EFC-1FFA-46DE-9352-DBE483D0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947" y="6046228"/>
            <a:ext cx="37394" cy="97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B1521700-E0EE-4386-9F9E-DC5F066B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579" y="6024957"/>
            <a:ext cx="37394" cy="118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DEA253A8-CE43-4A88-B288-115232BD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211" y="6001401"/>
            <a:ext cx="37394" cy="142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EA2E97A6-742B-422F-BD44-44C8D3CC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843" y="5975952"/>
            <a:ext cx="37394" cy="167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35838C2-8F35-43A2-B642-CC4767A7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75" y="5949176"/>
            <a:ext cx="37394" cy="194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A04A6A2-C325-4BE9-8F31-52C11DD4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07" y="5921806"/>
            <a:ext cx="37394" cy="2218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1921A79-FABC-4AE4-8170-3047700D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739" y="5894715"/>
            <a:ext cx="37394" cy="248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0409AFC-56BC-4EA5-B034-60C537D3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71" y="5868876"/>
            <a:ext cx="37394" cy="2747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4FCEB8C-B0C2-4C47-A5DF-3DA811FC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003" y="5845305"/>
            <a:ext cx="37394" cy="298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18285FC-6DF1-4EB7-A121-F76DCA54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635" y="5825001"/>
            <a:ext cx="37394" cy="318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1CD3A895-CC8C-429A-A670-564594D9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267" y="5808871"/>
            <a:ext cx="37394" cy="3347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A629B80-4D6F-432C-BC95-69FF150D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899" y="5797667"/>
            <a:ext cx="37394" cy="345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FC58FE9-8E56-4005-90F1-1E875F83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531" y="5791924"/>
            <a:ext cx="37394" cy="351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B2673625-E39A-4A23-AD63-74917C9B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5791924"/>
            <a:ext cx="37394" cy="351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70DB6C6-DFFB-45F6-B3A8-9CB7D617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794" y="5797667"/>
            <a:ext cx="37394" cy="345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677A3D62-01D0-4E09-BB2D-349DAED0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26" y="5808871"/>
            <a:ext cx="37394" cy="3347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869C2F7D-559E-4801-9FED-9442AA54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058" y="5825001"/>
            <a:ext cx="37394" cy="318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B42C8E2-50A7-46AB-B4D2-5AC783AA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90" y="5845305"/>
            <a:ext cx="37394" cy="298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5BD3161-2BA3-45A8-A868-16FC2B3F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322" y="5868876"/>
            <a:ext cx="37394" cy="2747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AAC8B27-202F-455D-9806-A9BA734F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954" y="5894715"/>
            <a:ext cx="37394" cy="248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12D7753-36D0-4248-AB1D-F2CF3015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586" y="5921806"/>
            <a:ext cx="37394" cy="2218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AFB09A3-A405-467F-B80C-DA47FF31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218" y="5949176"/>
            <a:ext cx="37394" cy="194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7CC9E8B6-40C6-4D58-AAD6-B6EFD12A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5975952"/>
            <a:ext cx="37394" cy="167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8217E436-B2A3-48CE-939E-3E1CF186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482" y="6001401"/>
            <a:ext cx="37394" cy="142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1F8BC042-E02D-45FB-BE8E-D95B8DE1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114" y="6024957"/>
            <a:ext cx="37394" cy="118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0E817E0-801F-4B57-86C5-F073DF4F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746" y="6046228"/>
            <a:ext cx="37394" cy="97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92421C55-9BBB-4E5C-B8C5-588047E2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378" y="6064992"/>
            <a:ext cx="37394" cy="78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3"/>
          </a:solidFill>
          <a:ln xmlns:a="http://schemas.openxmlformats.org/drawingml/2006/main" w="0">
            <a:solidFill>
              <a:srgbClr val="E4F2F3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BB821696-42AB-4D98-B121-E0F94DA3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010" y="6081177"/>
            <a:ext cx="37394" cy="62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44048829-1C5E-4ADB-A4F8-24F163C9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642" y="6094840"/>
            <a:ext cx="37394" cy="48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8929D6A1-A8D7-43C4-89F0-C4C5A10B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274" y="6106137"/>
            <a:ext cx="37394" cy="3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45BC3E56-659F-422B-9505-4A4CB86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906" y="6115287"/>
            <a:ext cx="37394" cy="2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6A0196FA-145A-4D6B-AC63-CA43F7EE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538" y="6122554"/>
            <a:ext cx="37394" cy="210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1FA7189D-4710-4F9D-81A9-032C2651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169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7C7B31C0-B7A0-4792-8656-07718AFB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801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21ECBC97-59EF-4F60-A6B8-F7D53F56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433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8F515A4B-A7CB-4826-8A09-AF376864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065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06EE4AAD-E23D-455E-B565-B88D7A8C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697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F698F213-AFA0-4D33-9B8A-44E70CC0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329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31C8169A-881D-4BCA-AB16-3C8393E1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961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5C3255B2-1EA2-4981-9F2B-EA99684C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593" y="6124575"/>
            <a:ext cx="373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F1"/>
          </a:solidFill>
          <a:ln xmlns:a="http://schemas.openxmlformats.org/drawingml/2006/main" w="0">
            <a:solidFill>
              <a:srgbClr val="FDEEF1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9B13DFCD-517A-4DC2-A6B2-75DF6C8E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143625"/>
            <a:ext cx="1762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66A"/>
          </a:solidFill>
          <a:ln xmlns:a="http://schemas.openxmlformats.org/drawingml/2006/main" w="0">
            <a:solidFill>
              <a:srgbClr val="58666A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1C99AC00-A6C4-4266-A95A-3F6F4CDB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Two-sided test splits alpha across both tails.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413C96C3-D550-4E45-8251-764D641A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2388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One-sided μ &gt; 200 is more powerful only if chosen before seeing data.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B60D20FF-6F8F-4221-B7CB-E258CF0D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276725"/>
            <a:ext cx="490537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87BCA14F-8BEE-482C-A0BC-144465DE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276725"/>
            <a:ext cx="4905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4AF33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03F5397F-35A3-4E04-831A-EB1C3D1E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457700"/>
            <a:ext cx="4905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3"/>
          </a:solidFill>
          <a:ln xmlns:a="http://schemas.openxmlformats.org/drawingml/2006/main" w="0">
            <a:solidFill>
              <a:srgbClr val="D4AF33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477BBB84-EF4F-4212-8662-AB5671CC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529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7ABB4E62-34E4-4D01-BDA7-F91A799C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343400"/>
            <a:ext cx="3686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Precision, CI, and power</a:t>
            </a: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3C44B212-3480-429A-B4DF-C1A25B0A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14900"/>
            <a:ext cx="285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3"/>
          </a:solidFill>
          <a:ln xmlns:a="http://schemas.openxmlformats.org/drawingml/2006/main" w="0">
            <a:solidFill>
              <a:srgbClr val="D4AF33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2511B926-31AA-4FCD-B3EF-9F43695D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148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4AF3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4AF33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B6B32C0-7983-4BC1-B9FA-5032E77D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1054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n=10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60F5E13C-5613-4C7F-80C1-053D0452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316" y="5181600"/>
            <a:ext cx="2361197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3"/>
          </a:solidFill>
          <a:ln xmlns:a="http://schemas.openxmlformats.org/drawingml/2006/main" w="0">
            <a:solidFill>
              <a:srgbClr val="D4AF33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912688C0-1BB2-448E-B98E-C7C922FE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028" y="511492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6"/>
          </a:solidFill>
          <a:ln xmlns:a="http://schemas.openxmlformats.org/drawingml/2006/main" w="0">
            <a:solidFill>
              <a:srgbClr val="172326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B73AB001-E2C3-42ED-9148-508C20FE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225" y="511492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6"/>
          </a:solidFill>
          <a:ln xmlns:a="http://schemas.openxmlformats.org/drawingml/2006/main" w="0">
            <a:solidFill>
              <a:srgbClr val="172326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4DB24BA-132C-46DE-B346-678BC36C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289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3B5E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2C3AACB8-7197-43EC-BCB4-69CAC0E6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663" y="51054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includes 200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37049EAA-700F-4049-8117-89A5DDD2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753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n=30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0BCF8BE1-8214-43F9-BD5C-AC4DE6B4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719" y="5829300"/>
            <a:ext cx="1400977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solidFill>
              <a:srgbClr val="035F6C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2EB53BA-BB98-4FD8-BBAD-24C2486E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432" y="576262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6"/>
          </a:solidFill>
          <a:ln xmlns:a="http://schemas.openxmlformats.org/drawingml/2006/main" w="0">
            <a:solidFill>
              <a:srgbClr val="172326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AFB03B9F-2644-42BF-A176-6C3DC90F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409" y="576262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6"/>
          </a:solidFill>
          <a:ln xmlns:a="http://schemas.openxmlformats.org/drawingml/2006/main" w="0">
            <a:solidFill>
              <a:srgbClr val="172326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87669F16-E079-416B-A97C-A7BA4657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583" y="5791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3B5E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D757177F-EF47-4D63-966F-42718924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846" y="57531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above 200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FCB52D5B-B272-4ED8-83AF-EF0771F2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381750"/>
            <a:ext cx="417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Power lesson: the mean barely changed, but SE shrank. More data made a similar difference easier to detect.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F0C2DCE3-F77C-4C7A-81E2-B3E7E01F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76725"/>
            <a:ext cx="47434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4F1F848C-1133-470B-8FD1-CC0514E1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76725"/>
            <a:ext cx="474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35F6C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92B2348-8D9E-42B5-B9F1-9623655F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57700"/>
            <a:ext cx="474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solidFill>
              <a:srgbClr val="035F6C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AA00222B-32A1-4D28-B50F-C260DAA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529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7073098C-BABA-4ADF-88E7-3E30756A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3434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Reporting traps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C8AE27B1-D83A-40B0-A189-B592D14E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72025"/>
            <a:ext cx="20383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9F5ED"/>
          </a:solidFill>
          <a:ln xmlns:a="http://schemas.openxmlformats.org/drawingml/2006/main" w="19050">
            <a:solidFill>
              <a:srgbClr val="2C8A4A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47BFC36E-A181-4C04-904B-C6D4BD6B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9149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8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C8A4A"/>
                </a:solidFill>
                <a:latin typeface="Aptos"/>
                <a:ea typeface="Aptos"/>
                <a:cs typeface="Aptos"/>
              </a:rPr>
              <a:t>Good report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3AF017FA-3798-403E-ABCC-81CEA018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162550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The sample mean was 214.4 cal. Evidence was borderline: t(9)=2.18, p=0.058. The CI still includes 200.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B1F5147C-1940-42FC-8984-F0DF8463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772025"/>
            <a:ext cx="876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EF1"/>
          </a:solidFill>
          <a:ln xmlns:a="http://schemas.openxmlformats.org/drawingml/2006/main" w="11430">
            <a:solidFill>
              <a:srgbClr val="172326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D4072A5D-BB69-4F3E-8309-956842A5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857750"/>
            <a:ext cx="76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Not significant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3225A0B2-659D-4B12-8BB1-C95A3925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387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is not no effect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07C44981-B043-427D-911E-36E0573F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4772025"/>
            <a:ext cx="876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11430">
            <a:solidFill>
              <a:srgbClr val="172326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4A003A9E-0A2A-4E7E-8B6E-EAD345DD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857750"/>
            <a:ext cx="76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p-value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C938D52-BA3F-40DA-A7BE-6E383C1E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0387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is not P(H0 true)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1C12999F-3C76-4F81-9C7E-E7CFC7AD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505450"/>
            <a:ext cx="876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EF1"/>
          </a:solidFill>
          <a:ln xmlns:a="http://schemas.openxmlformats.org/drawingml/2006/main" w="11430">
            <a:solidFill>
              <a:srgbClr val="172326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D2DCFEDA-0325-4679-9230-DC6EBBDD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591175"/>
            <a:ext cx="76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E2D04AD5-6D5D-4B52-939D-63BAAFAC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772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shows plausible μ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FC6FA8B2-DE25-4251-B4BE-4C614AEA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5505450"/>
            <a:ext cx="876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11430">
            <a:solidFill>
              <a:srgbClr val="172326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13ECAA21-4C96-4AEE-89CD-1C7EE8CF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591175"/>
            <a:ext cx="76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More data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FE4EED07-97D5-4F7C-8EB6-9CAED154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772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shrinks SE</a:t>
            </a: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5FA68861-F17F-4CEC-A250-5B20CD8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162800"/>
            <a:ext cx="14554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1CA7658-53ED-4633-AC8B-FCE195EB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162800"/>
            <a:ext cx="1455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4AF33"/>
          </a:solidFill>
          <a:ln xmlns:a="http://schemas.openxmlformats.org/drawingml/2006/main" w="19050">
            <a:solidFill>
              <a:srgbClr val="172326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88252815-F87B-4475-93CA-5FD95B94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343775"/>
            <a:ext cx="14554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3"/>
          </a:solidFill>
          <a:ln xmlns:a="http://schemas.openxmlformats.org/drawingml/2006/main" w="0">
            <a:solidFill>
              <a:srgbClr val="D4AF33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CE975055-00AD-477C-8456-EEF8AB41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4D7E891C-D488-40DD-A02D-34FDB951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229475"/>
            <a:ext cx="1333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Full chain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02D8A2EC-572A-45BD-A4C6-0208BBD5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48575"/>
            <a:ext cx="1352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12383">
            <a:solidFill>
              <a:srgbClr val="172326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431BBCD-A35B-401C-BA70-26EDA2C4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0572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C0A9CB7-4EF9-4266-B8AC-3FD6D5E4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581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54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μ0=200</a:t>
            </a:r>
          </a:p>
        </p:txBody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90FDF90D-B5FE-461B-AFE1-2E0537B0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7343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35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5F6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92679470-FE4A-4134-B5C6-D37F2287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48575"/>
            <a:ext cx="1352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12383">
            <a:solidFill>
              <a:srgbClr val="172326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DA466352-7AE7-4308-96CD-BF59446E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770572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H0/H1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AF2A0D0A-1249-4F35-87FF-95CA5069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78581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54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center and direction</a:t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BBA27DAF-FA98-47AD-B2BA-87AF7E89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7343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35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5F6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FD679D82-ADE3-455F-9137-7BF377E3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648575"/>
            <a:ext cx="1352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12383">
            <a:solidFill>
              <a:srgbClr val="172326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BA65B358-B451-44DA-906B-72224538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70572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sample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7A7BE190-0D84-46AE-803B-7E4A95C5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8581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54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xbar, s, n</a:t>
            </a: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6C385A10-ED00-4B1C-978A-0E8A0993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7343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35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5F6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8486A523-EB31-4176-9E10-AE0FC4EB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7648575"/>
            <a:ext cx="1352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4F2F3"/>
          </a:solidFill>
          <a:ln xmlns:a="http://schemas.openxmlformats.org/drawingml/2006/main" w="12383">
            <a:solidFill>
              <a:srgbClr val="172326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89E4D91-421A-4A22-B83D-15497B98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770572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SE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5AC7F5BE-6017-4FCE-A661-4C77A3D9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78581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54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s/sqrt(n)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58663FF4-8844-4EB1-9EC3-66035E94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77343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35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5F6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F9FE1119-5F36-4614-866D-22D0FC02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648575"/>
            <a:ext cx="1352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12383">
            <a:solidFill>
              <a:srgbClr val="172326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4613DB47-70BD-4646-AE12-27C4A52D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770572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843A6A9A-411E-44D1-8C00-0E363B01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78581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54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gap in SE units</a:t>
            </a: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FECB57A4-7BAF-4405-A5F1-E07AC3E9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77343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35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5F6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9AA21E4C-25DC-4407-8221-8B039350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7648575"/>
            <a:ext cx="1352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12383">
            <a:solidFill>
              <a:srgbClr val="172326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9675E87E-2C1E-420B-86A9-F0C9DEDA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70572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p + CI</a:t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B3FB445A-B0AD-41D8-A8C9-C671757A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8581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54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7B7D2F20-AA32-4552-8098-D8481C9E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77343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35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5F6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4BE297A3-C957-4D0B-A41D-2BF25EF0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648575"/>
            <a:ext cx="1352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DEEF1"/>
          </a:solidFill>
          <a:ln xmlns:a="http://schemas.openxmlformats.org/drawingml/2006/main" w="12383">
            <a:solidFill>
              <a:srgbClr val="172326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EB922849-9A04-4A7A-B7D4-458BFFDC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70572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verdict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A6B44BF7-5A6A-4A1B-9E89-655E3811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8581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54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borderline</a:t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DA58359A-AE8B-4055-9FFE-2EC180AE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77343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35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5F6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B1C06F71-040E-4200-BE2B-FA409997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7648575"/>
            <a:ext cx="1352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DEEF1"/>
          </a:solidFill>
          <a:ln xmlns:a="http://schemas.openxmlformats.org/drawingml/2006/main" w="12383">
            <a:solidFill>
              <a:srgbClr val="172326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C21D308B-9F24-444E-B01E-C6CAD5F0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770572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24852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24852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9ADBB19C-03FC-4E59-827B-C7D759C8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78581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72326"/>
                </a:solidFill>
                <a:latin typeface="Aptos"/>
                <a:ea typeface="Aptos"/>
                <a:cs typeface="Aptos"/>
              </a:defRPr>
            </a:pPr>
            <a:r>
              <a:rPr sz="548" b="1">
                <a:solidFill>
                  <a:srgbClr val="172326"/>
                </a:solidFill>
                <a:latin typeface="Aptos"/>
                <a:ea typeface="Aptos"/>
                <a:cs typeface="Aptos"/>
              </a:rPr>
              <a:t>collect more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9954EDBB-B768-4290-8CC3-6A264F75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8315325"/>
            <a:ext cx="1352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666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666A"/>
                </a:solidFill>
                <a:latin typeface="Aptos"/>
                <a:ea typeface="Aptos"/>
                <a:cs typeface="Aptos"/>
              </a:rPr>
              <a:t>Theme colors: gold #d4af33 and teal #035f6c. White background, dense teaching slide, R-based figures and code.</a:t>
            </a:r>
          </a:p>
        </p:txBody>
      </p:sp>
    </p:spTree>
    <p:extLst>
      <p:ext uri="{BB962C8B-B14F-4D97-AF65-F5344CB8AC3E}">
        <p14:creationId xmlns:p14="http://schemas.microsoft.com/office/powerpoint/2010/main" val="1565553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2026-06-01T15:20:28.0810000Z</dcterms:created>
  <dcterms:modified xsi:type="dcterms:W3CDTF">2026-06-01T15:20:28.0810000Z</dcterms:modified>
</coreProperties>
</file>