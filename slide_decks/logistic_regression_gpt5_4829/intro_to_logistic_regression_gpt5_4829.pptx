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bfe24a2580b4b94" /><Relationship Type="http://schemas.openxmlformats.org/officeDocument/2006/relationships/extended-properties" Target="/docProps/app.xml" Id="R732a3bf7cbfb4e40" /><Relationship Type="http://schemas.openxmlformats.org/officeDocument/2006/relationships/officeDocument" Target="/ppt/presentation.xml" Id="R733b71bb54a544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fbca8dfb57a4b1e"/>
  </p:sldMasterIdLst>
  <p:notesMasterIdLst>
    <p:notesMasterId xmlns:r="http://schemas.openxmlformats.org/officeDocument/2006/relationships" r:id="R8843c089b5b14407"/>
  </p:notesMasterIdLst>
  <p:sldIdLst>
    <p:sldId xmlns:r="http://schemas.openxmlformats.org/officeDocument/2006/relationships" id="256" r:id="R06405038615449f4"/>
    <p:sldId xmlns:r="http://schemas.openxmlformats.org/officeDocument/2006/relationships" id="257" r:id="Rfd5dce157f2c444d"/>
    <p:sldId xmlns:r="http://schemas.openxmlformats.org/officeDocument/2006/relationships" id="258" r:id="R65f8d4a621244224"/>
    <p:sldId xmlns:r="http://schemas.openxmlformats.org/officeDocument/2006/relationships" id="259" r:id="Rd8dbd7cc2e6c4fd9"/>
    <p:sldId xmlns:r="http://schemas.openxmlformats.org/officeDocument/2006/relationships" id="260" r:id="Re8eb82d155a548d9"/>
    <p:sldId xmlns:r="http://schemas.openxmlformats.org/officeDocument/2006/relationships" id="261" r:id="Rca444eb2695242f4"/>
    <p:sldId xmlns:r="http://schemas.openxmlformats.org/officeDocument/2006/relationships" id="262" r:id="R1c71e023749d4df7"/>
    <p:sldId xmlns:r="http://schemas.openxmlformats.org/officeDocument/2006/relationships" id="263" r:id="Re34fdd82fef74d05"/>
    <p:sldId xmlns:r="http://schemas.openxmlformats.org/officeDocument/2006/relationships" id="264" r:id="R2f9028ba39a142fa"/>
  </p:sldIdLst>
  <p:sldSz cx="15240000" cy="85725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41d8389d5b4891" /><Relationship Type="http://schemas.openxmlformats.org/officeDocument/2006/relationships/slideMaster" Target="/ppt/slideMasters/slideMaster1.xml" Id="R8fbca8dfb57a4b1e" /><Relationship Type="http://schemas.openxmlformats.org/officeDocument/2006/relationships/notesMaster" Target="/ppt/notesMasters/notesMaster1.xml" Id="R8843c089b5b14407" /><Relationship Type="http://schemas.openxmlformats.org/officeDocument/2006/relationships/presProps" Target="/ppt/presProps.xml" Id="Rc6e809d2ce004cfa" /><Relationship Type="http://schemas.openxmlformats.org/officeDocument/2006/relationships/tableStyles" Target="/ppt/tableStyles.xml" Id="R475fb15dc2a04eda" /><Relationship Type="http://schemas.openxmlformats.org/officeDocument/2006/relationships/slide" Target="/ppt/slides/slide1.xml" Id="R06405038615449f4" /><Relationship Type="http://schemas.openxmlformats.org/officeDocument/2006/relationships/slide" Target="/ppt/slides/slide2.xml" Id="Rfd5dce157f2c444d" /><Relationship Type="http://schemas.openxmlformats.org/officeDocument/2006/relationships/slide" Target="/ppt/slides/slide3.xml" Id="R65f8d4a621244224" /><Relationship Type="http://schemas.openxmlformats.org/officeDocument/2006/relationships/slide" Target="/ppt/slides/slide4.xml" Id="Rd8dbd7cc2e6c4fd9" /><Relationship Type="http://schemas.openxmlformats.org/officeDocument/2006/relationships/slide" Target="/ppt/slides/slide5.xml" Id="Re8eb82d155a548d9" /><Relationship Type="http://schemas.openxmlformats.org/officeDocument/2006/relationships/slide" Target="/ppt/slides/slide6.xml" Id="Rca444eb2695242f4" /><Relationship Type="http://schemas.openxmlformats.org/officeDocument/2006/relationships/slide" Target="/ppt/slides/slide7.xml" Id="R1c71e023749d4df7" /><Relationship Type="http://schemas.openxmlformats.org/officeDocument/2006/relationships/slide" Target="/ppt/slides/slide8.xml" Id="Re34fdd82fef74d05" /><Relationship Type="http://schemas.openxmlformats.org/officeDocument/2006/relationships/slide" Target="/ppt/slides/slide9.xml" Id="R2f9028ba39a142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ca88dde04b34ae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8a2b9cc9864064" /><Relationship Type="http://schemas.openxmlformats.org/officeDocument/2006/relationships/notesMaster" Target="/ppt/notesMasters/notesMaster1.xml" Id="R92ddc429666941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094cbe98bc4b9d" /><Relationship Type="http://schemas.openxmlformats.org/officeDocument/2006/relationships/notesMaster" Target="/ppt/notesMasters/notesMaster1.xml" Id="Rc5b8d452a116472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25c49497074962" /><Relationship Type="http://schemas.openxmlformats.org/officeDocument/2006/relationships/notesMaster" Target="/ppt/notesMasters/notesMaster1.xml" Id="R5badbd40c20842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f55a656da194d1e" /><Relationship Type="http://schemas.openxmlformats.org/officeDocument/2006/relationships/notesMaster" Target="/ppt/notesMasters/notesMaster1.xml" Id="R021714835915442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cced8d009cc4b89" /><Relationship Type="http://schemas.openxmlformats.org/officeDocument/2006/relationships/notesMaster" Target="/ppt/notesMasters/notesMaster1.xml" Id="Ra159173f6bb1400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d35ffe8c9684a22" /><Relationship Type="http://schemas.openxmlformats.org/officeDocument/2006/relationships/notesMaster" Target="/ppt/notesMasters/notesMaster1.xml" Id="R8fa7ed7a2ea5460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9a32c6de5294fbc" /><Relationship Type="http://schemas.openxmlformats.org/officeDocument/2006/relationships/notesMaster" Target="/ppt/notesMasters/notesMaster1.xml" Id="R6d5e97f635f1433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f230f48c83f43a5" /><Relationship Type="http://schemas.openxmlformats.org/officeDocument/2006/relationships/notesMaster" Target="/ppt/notesMasters/notesMaster1.xml" Id="R44eb533500dd46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9212704d0284b58" /><Relationship Type="http://schemas.openxmlformats.org/officeDocument/2006/relationships/notesMaster" Target="/ppt/notesMasters/notesMaster1.xml" Id="Re45a2696374446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9044c99f6641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1ea54e8d914015" /><Relationship Type="http://schemas.openxmlformats.org/officeDocument/2006/relationships/slideLayout" Target="/ppt/slideLayouts/slideLayout1.xml" Id="R404803a852c14dc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4803a852c14d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59644f4d634efc" /><Relationship Type="http://schemas.openxmlformats.org/officeDocument/2006/relationships/image" Target="/ppt/media/image.png" Id="R0e37d55ff8b1416f" /><Relationship Type="http://schemas.openxmlformats.org/officeDocument/2006/relationships/image" Target="/ppt/media/image2.png" Id="R4cb8255f5e65403d" /><Relationship Type="http://schemas.openxmlformats.org/officeDocument/2006/relationships/notesSlide" Target="/ppt/notesSlides/notesSlide1.xml" Id="R45598992dcb44c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bc19ece8d74c47" /><Relationship Type="http://schemas.openxmlformats.org/officeDocument/2006/relationships/image" Target="/ppt/media/image3.png" Id="Rb6a92d34b7774b24" /><Relationship Type="http://schemas.openxmlformats.org/officeDocument/2006/relationships/notesSlide" Target="/ppt/notesSlides/notesSlide2.xml" Id="R8dacd7c85c9646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d38f40d5c49a9" /><Relationship Type="http://schemas.openxmlformats.org/officeDocument/2006/relationships/image" Target="/ppt/media/image4.png" Id="R4af0d76fe5f5451b" /><Relationship Type="http://schemas.openxmlformats.org/officeDocument/2006/relationships/notesSlide" Target="/ppt/notesSlides/notesSlide3.xml" Id="R2f8709c5c47f46d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d3e056a634883" /><Relationship Type="http://schemas.openxmlformats.org/officeDocument/2006/relationships/image" Target="/ppt/media/image5.png" Id="Rf59040f7773841f8" /><Relationship Type="http://schemas.openxmlformats.org/officeDocument/2006/relationships/notesSlide" Target="/ppt/notesSlides/notesSlide4.xml" Id="R334d6172f9ae458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e87ac766a49ad" /><Relationship Type="http://schemas.openxmlformats.org/officeDocument/2006/relationships/image" Target="/ppt/media/image6.png" Id="R2fdfd7d9b67a46e2" /><Relationship Type="http://schemas.openxmlformats.org/officeDocument/2006/relationships/image" Target="/ppt/media/image7.png" Id="R2691b1b4ad114809" /><Relationship Type="http://schemas.openxmlformats.org/officeDocument/2006/relationships/image" Target="/ppt/media/image8.png" Id="Rcfb9a8aaa570407c" /><Relationship Type="http://schemas.openxmlformats.org/officeDocument/2006/relationships/notesSlide" Target="/ppt/notesSlides/notesSlide5.xml" Id="Rb5b2adea8faa4d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7167776094d79" /><Relationship Type="http://schemas.openxmlformats.org/officeDocument/2006/relationships/image" Target="/ppt/media/image9.png" Id="R301637bdee7c4f04" /><Relationship Type="http://schemas.openxmlformats.org/officeDocument/2006/relationships/notesSlide" Target="/ppt/notesSlides/notesSlide6.xml" Id="Ra597577f08854a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0ff1052047481d" /><Relationship Type="http://schemas.openxmlformats.org/officeDocument/2006/relationships/image" Target="/ppt/media/image10.png" Id="Rc9a39bca18084b3a" /><Relationship Type="http://schemas.openxmlformats.org/officeDocument/2006/relationships/notesSlide" Target="/ppt/notesSlides/notesSlide7.xml" Id="R9ea82b5849884f7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248b93d39f461d" /><Relationship Type="http://schemas.openxmlformats.org/officeDocument/2006/relationships/notesSlide" Target="/ppt/notesSlides/notesSlide8.xml" Id="Rf59e724368c947c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f7279b9db45a1" /><Relationship Type="http://schemas.openxmlformats.org/officeDocument/2006/relationships/notesSlide" Target="/ppt/notesSlides/notesSlide9.xml" Id="R03a65df6871a40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B157D2-2107-49CA-89F0-DDD9762A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7EDF95-3F75-4B05-ACE3-62674A81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9630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7E4EA-E990-4E16-8523-EE5728EB3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KLoSA Wave 1, 2006 | 4,184 Korean men aged 45+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FAF456-F0CE-4593-BAC6-7988C633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2668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Start with the familiar line, then ask a probability question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712341-E8E2-4549-962A-15ABCF999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F670F-D821-43F5-838A-4A1E706EF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14450"/>
            <a:ext cx="49530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7d55ff8b1416f"/>
          <a:stretch xmlns:a="http://schemas.openxmlformats.org/drawingml/2006/main"/>
        </p:blipFill>
        <p:spPr>
          <a:xfrm xmlns:a="http://schemas.openxmlformats.org/drawingml/2006/main">
            <a:off x="533400" y="1576388"/>
            <a:ext cx="4800600" cy="300037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EC8B65-AAE4-4DE3-85D2-80DB1B75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482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25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Linear regression: predicted mean grip strength falls by about 0.38 kg per year.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D8DCC0-C3A1-4921-9C2A-CBA4B61F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314450"/>
            <a:ext cx="3829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59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Suppose we measure people at different ages. Each dot is one person: age on the horizontal axis, measured grip strength on the vertical axis.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97935F-D350-4DBF-9E51-E2D984F31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81250"/>
            <a:ext cx="37338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defRPr>
            </a:pPr>
            <a:r>
              <a:rPr sz="1725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rPr>
              <a:t>grip = 55.68 - 0.382 x 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E51D3-8359-4618-BF60-583677B7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162300"/>
            <a:ext cx="3886200" cy="1847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slope has a direct meaning: each additional year lowers predicted mean grip strength by 0.382 kg.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That change is constant. Age 50 to 51 and age 80 to 81 use the same slope.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But the clinical question may be binary: is grip strength below a low-strength cutoff?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AFFFF3-2A9F-4146-8C55-0C29AC017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1314450"/>
            <a:ext cx="487680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8255f5e65403d"/>
          <a:stretch xmlns:a="http://schemas.openxmlformats.org/drawingml/2006/main"/>
        </p:blipFill>
        <p:spPr>
          <a:xfrm xmlns:a="http://schemas.openxmlformats.org/drawingml/2006/main">
            <a:off x="9982200" y="1670504"/>
            <a:ext cx="4724400" cy="2812143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AC60B-431C-4125-8560-D0906AC67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848225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First logistic fit: P(low grip) stays inside 0-1.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A87E5D-97B8-446C-8487-B92077C1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62600"/>
            <a:ext cx="143256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CB"/>
          </a:solidFill>
          <a:ln xmlns:a="http://schemas.openxmlformats.org/drawingml/2006/main" w="9525">
            <a:solidFill>
              <a:srgbClr val="E5B44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1F038B-CFE9-41EC-9EBD-D21C601D7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912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51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The key switch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6B3695-5DE5-4D5E-A000-CC35DD3E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7721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49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We are no longer predicting someone's exact grip strength. We are estimating the probability that the person falls into the low-grip-strength category at a particular 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4C15E3-4919-4AAA-B703-C396E08A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6572250"/>
            <a:ext cx="11125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5451F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1">
                <a:solidFill>
                  <a:srgbClr val="B5451F"/>
                </a:solidFill>
                <a:latin typeface="IBM Plex Mono"/>
                <a:ea typeface="IBM Plex Mono"/>
                <a:cs typeface="IBM Plex Mono"/>
              </a:rPr>
              <a:t>continuous outcome: grip in kg    -&gt;    binary outcome: low grip = 1, not low grip = 0</a:t>
            </a:r>
          </a:p>
        </p:txBody>
      </p:sp>
    </p:spTree>
    <p:extLst>
      <p:ext uri="{BB962C8B-B14F-4D97-AF65-F5344CB8AC3E}">
        <p14:creationId xmlns:p14="http://schemas.microsoft.com/office/powerpoint/2010/main" val="5430594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4E3C36-8A42-4F52-96FF-100F81E0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E8C5FC-1D2A-4B5A-8676-8DFC6879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9630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EE253F-B22E-4501-851A-89E88ED03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From measured strength to a yes / no outcome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567BA4-0F63-449F-B25E-0A966175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A zero-or-one outcome turns averages into proportions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FCFD6E-8943-4A3A-B4F6-A5486187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D0093-02D4-416D-B1A7-14E3BAA3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3905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Create the binary variable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27D287-2639-4C80-A47C-C40C9C32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38671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648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Clinicians can define a cutoff for low grip strength. For the men in this example, weak_grip = 1 if grip &lt;= 27 kg and weak_grip = 0 otherwise.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618D4A-B23A-418D-A51F-F5B3B657E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3905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CB"/>
          </a:solidFill>
          <a:ln xmlns:a="http://schemas.openxmlformats.org/drawingml/2006/main" w="9525">
            <a:solidFill>
              <a:srgbClr val="E5B44F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defRPr>
            </a:pPr>
            <a:r>
              <a:rPr sz="1575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rPr>
              <a:t>mean(0, 1, 0, 1, 1, ...) = proportion equal to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99FF6C-72C4-46CA-969C-504E98A7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95750"/>
            <a:ext cx="384810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A one means the person has low grip strength.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A zero means the person does not.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raw scatter now has many points stacked at 0 and many stacked at 1.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0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Age bands make the pattern visible.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5B417D-5C4A-4CF1-85B9-B62364AF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333500"/>
            <a:ext cx="58102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a92d34b7774b24"/>
          <a:stretch xmlns:a="http://schemas.openxmlformats.org/drawingml/2006/main"/>
        </p:blipFill>
        <p:spPr>
          <a:xfrm xmlns:a="http://schemas.openxmlformats.org/drawingml/2006/main">
            <a:off x="4895850" y="1726066"/>
            <a:ext cx="5657850" cy="3367768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9F3552-58E8-4F72-A1FC-4919E95B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5495925"/>
            <a:ext cx="561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For each age group, the plotted value is the percentage with weak grip.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9E53C1-0CAB-473D-A59A-405E86C5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0" y="1333500"/>
            <a:ext cx="38100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CB23E00-817F-4886-B39D-27A13142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5811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70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Read one age group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C83AE4-F56E-4399-91E6-B3B5A8A9F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114550"/>
            <a:ext cx="33147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656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Example: if 169 of 647 people aged 65 to 69 have low grip strength, then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P(low grip | age 65-69) = 169 / 647 = 0.26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mean of the zero-or-one variable is exactly that proportion.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95F7F-AC54-4394-93AC-3FC32EF70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4876800"/>
            <a:ext cx="33147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B5451F"/>
                </a:solidFill>
                <a:latin typeface="IBM Plex Mono"/>
                <a:ea typeface="IBM Plex Mono"/>
                <a:cs typeface="IBM Plex Mono"/>
              </a:defRPr>
            </a:pPr>
            <a:r>
              <a:rPr sz="1500" b="1">
                <a:solidFill>
                  <a:srgbClr val="B5451F"/>
                </a:solidFill>
                <a:latin typeface="IBM Plex Mono"/>
                <a:ea typeface="IBM Plex Mono"/>
                <a:cs typeface="IBM Plex Mono"/>
              </a:rPr>
              <a:t>All predicted probabilities must stay between 0 and 1.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317034-5789-4430-8AA0-1CFBA591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1426845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09E905-6DF0-4ED5-81E1-2EA16EBCD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10350"/>
            <a:ext cx="13773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413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1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The question has changed from an expected value in kilograms to a risk: at a particular age, what is the probability that a person falls into the low-grip category?</a:t>
            </a:r>
          </a:p>
        </p:txBody>
      </p:sp>
    </p:spTree>
    <p:extLst>
      <p:ext uri="{BB962C8B-B14F-4D97-AF65-F5344CB8AC3E}">
        <p14:creationId xmlns:p14="http://schemas.microsoft.com/office/powerpoint/2010/main" val="952083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CC9191B-E8D0-4D09-8371-52A52F9F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411FA-81D9-4113-840A-0B9FAEDE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9630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BBD69-DF29-41FE-A6BD-333A1B65F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Why ordinary least squares is not enough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F0810-BBBA-4EC3-929F-5AC49608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A straight line cannot respect the probability box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10341-8B49-4308-9C5C-1BFB4D8A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8D93A-B638-42EA-B8C0-86B600B5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69532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f0d76fe5f5451b"/>
          <a:stretch xmlns:a="http://schemas.openxmlformats.org/drawingml/2006/main"/>
        </p:blipFill>
        <p:spPr>
          <a:xfrm xmlns:a="http://schemas.openxmlformats.org/drawingml/2006/main">
            <a:off x="760095" y="1485900"/>
            <a:ext cx="6461760" cy="40386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7192E8-4D4C-443E-AEB8-2071C0000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676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If extended far enough, the line predicts impossible probabilities below 0 or above 1.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3D768-AE7F-45EB-9BEB-AA31BC99D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4097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51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Two problems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C0C46F-4942-473C-9490-04EB8D81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43100"/>
            <a:ext cx="32194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3A6301-E456-4F53-98AE-240E77573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03835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B5451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B5451F"/>
                </a:solidFill>
                <a:latin typeface="Space Grotesk"/>
                <a:ea typeface="Space Grotesk"/>
                <a:cs typeface="Space Grotesk"/>
              </a:rPr>
              <a:t>1. The boundary problem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C2CE40-FBC4-4DB3-86EA-FF2B3B07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343150"/>
            <a:ext cx="2952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A straight line has no lower or upper bound. Probabilities do: they must stay between 0 and 1.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AE921E-12B2-4243-864A-22453A77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52850"/>
            <a:ext cx="3219450" cy="2171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20D67-C290-4B4E-B027-C6FCEAAF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8481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B5451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B5451F"/>
                </a:solidFill>
                <a:latin typeface="Space Grotesk"/>
                <a:ea typeface="Space Grotesk"/>
                <a:cs typeface="Space Grotesk"/>
              </a:rPr>
              <a:t>2. The constant-change problem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479E42-A668-4485-99EF-EF4B37565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52900"/>
            <a:ext cx="29527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A straight line says each year adds the same number of percentage points everywhere. Many risks change slowly near 0, quickly in the middle, and slowly again near 1.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6A2CC-4F48-484D-BC08-A28B86BA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1409700"/>
            <a:ext cx="30670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The shape we want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185F2A-DE29-4F73-AFE5-D022D670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1981200"/>
            <a:ext cx="28765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0171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Always stays between 0 and 1.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Can increase or decrease smoothly.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Flattens as it approaches the boundaries.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Still has a straight-line part hidden inside it.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A77696-CFA1-4A85-ABDA-AE283C715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0195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rPr>
              <a:t>sigmoid = S-shaped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05FEBB-C2C8-47DD-95F1-400D94E5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6200" y="4800600"/>
            <a:ext cx="28575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CB"/>
          </a:solidFill>
          <a:ln xmlns:a="http://schemas.openxmlformats.org/drawingml/2006/main" w="9525">
            <a:solidFill>
              <a:srgbClr val="E5B44F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rPr>
              <a:t>logistic curve:</a:t>
            </a:r>
          </a:p>
          <a:p xmlns:a="http://schemas.openxmlformats.org/drawingml/2006/main">
            <a:pPr algn="ctr">
              <a:defRPr sz="1650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defRPr>
            </a:pPr>
            <a:r>
              <a:rPr sz="1650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rPr>
              <a:t>p = 1 / (1 + e^(-x))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6A29B7-1F71-43A9-9094-5B678994D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142684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28A217-3E8C-4BA7-BAA4-B52A9873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05600"/>
            <a:ext cx="1377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44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8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The exact value of e matters less than what the formula does: very negative inputs give probabilities near 0, x = 0 gives 0.5, and very positive inputs give probabilities near 1.</a:t>
            </a:r>
          </a:p>
        </p:txBody>
      </p:sp>
    </p:spTree>
    <p:extLst>
      <p:ext uri="{BB962C8B-B14F-4D97-AF65-F5344CB8AC3E}">
        <p14:creationId xmlns:p14="http://schemas.microsoft.com/office/powerpoint/2010/main" val="1970478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59A089-3CBA-4318-B914-5B8FD360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B430C1-8766-4E14-94A6-DF3F2BB3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9630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5080ED-4372-426F-B182-7708AEAF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The model is still built from a line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D72D3-A276-463B-BA83-0F6C48BD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333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The logistic curve wraps a straight 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6B9CFA-922A-493E-A94D-88E2F3EFA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D2D5E-0CF6-4504-8795-32D2D82D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572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CB"/>
          </a:solidFill>
          <a:ln xmlns:a="http://schemas.openxmlformats.org/drawingml/2006/main" w="9525">
            <a:solidFill>
              <a:srgbClr val="E5B44F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defRPr>
            </a:pPr>
            <a:r>
              <a:rPr sz="2025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rPr>
              <a:t>p = 1 / (1 + e^(-(beta0 + beta1 x age)))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00FDB-F8E8-4E80-AE90-CAFDA219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3124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The expression inside is linear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DE7ECA-59EF-4914-9D56-B0997107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5527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rPr>
              <a:t>eta = beta0 + beta1 x 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C39075-BAE3-4898-9247-3635D073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33750"/>
            <a:ext cx="64389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beta0 is the intercept.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beta1 is the coefficient for age.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logistic function bends eta into a probability.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Changing the intercept moves the curve's midpoint.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Changing beta1 changes how rapidly the curve rises or falls.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sign of beta1 determines whether probability increases or decreases with age.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7890EC-7F56-467E-99EE-E02AEE83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352550"/>
            <a:ext cx="657225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9040f7773841f8"/>
          <a:stretch xmlns:a="http://schemas.openxmlformats.org/drawingml/2006/main"/>
        </p:blipFill>
        <p:spPr>
          <a:xfrm xmlns:a="http://schemas.openxmlformats.org/drawingml/2006/main">
            <a:off x="8402406" y="1428750"/>
            <a:ext cx="5312238" cy="46672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9F3468-546B-42FB-B5EB-167EAFEC1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181725"/>
            <a:ext cx="638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same fitted model is curved on the probability scale and straight on the log-odds scale.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252EA1-60A7-4896-A590-10948CBC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6572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4DE2B5-A2C2-4491-88CC-14856A05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286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4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What software estimates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3EB55B-EA96-4E5A-979D-1ADD2DB0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6865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36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fitted model chooses beta0 and beta1 so the observed zeroes and ones are reasonably likely under a binomial generalized linear model with a logit link.</a:t>
            </a:r>
          </a:p>
        </p:txBody>
      </p:sp>
    </p:spTree>
    <p:extLst>
      <p:ext uri="{BB962C8B-B14F-4D97-AF65-F5344CB8AC3E}">
        <p14:creationId xmlns:p14="http://schemas.microsoft.com/office/powerpoint/2010/main" val="17101156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465E0D-8DDE-445C-AE4A-A2F374D1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B0DCA-AC21-4473-AC28-B50B3EAD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9630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A4837F-5CCC-40C6-AFA7-B5186C8F1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Same predictor, same people, three scales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F5C75C-8E2C-4317-A819-FA610CBAD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Only the probability scale bends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A245DE-E5E3-4F6A-8A9D-427A47CD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F7E31F-D568-40E1-B190-DF3D12739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440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A. Grip in kg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94A65C-25F8-428C-96BC-0D33A827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428750"/>
            <a:ext cx="440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51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B. Low grip as probability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65D9EF-8710-401C-A1D1-6F4C0C6B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428750"/>
            <a:ext cx="4400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C. Low grip as log-odds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BD5224-0EF4-4618-A6F3-BD43163F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24050"/>
            <a:ext cx="44005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dfd7d9b67a46e2"/>
          <a:stretch xmlns:a="http://schemas.openxmlformats.org/drawingml/2006/main"/>
        </p:blipFill>
        <p:spPr>
          <a:xfrm xmlns:a="http://schemas.openxmlformats.org/drawingml/2006/main">
            <a:off x="715518" y="2000250"/>
            <a:ext cx="3998214" cy="30289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B93B1-144A-428C-AFBE-61258097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1492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One slope: -0.382 kg per year.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45219B-C710-41FC-8A22-ACE7F2CD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1924050"/>
            <a:ext cx="44005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91b1b4ad114809"/>
          <a:stretch xmlns:a="http://schemas.openxmlformats.org/drawingml/2006/main"/>
        </p:blipFill>
        <p:spPr>
          <a:xfrm xmlns:a="http://schemas.openxmlformats.org/drawingml/2006/main">
            <a:off x="5611368" y="2000250"/>
            <a:ext cx="3998214" cy="30289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993564-99C4-41D0-AD9F-4D10052B6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511492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No single probability slope.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C12F21-A8B5-43C6-BB7B-5EA4FA95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1924050"/>
            <a:ext cx="44005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9a8aaa570407c"/>
          <a:stretch xmlns:a="http://schemas.openxmlformats.org/drawingml/2006/main"/>
        </p:blipFill>
        <p:spPr>
          <a:xfrm xmlns:a="http://schemas.openxmlformats.org/drawingml/2006/main">
            <a:off x="10507218" y="2000250"/>
            <a:ext cx="3998214" cy="302895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DD96CD-7898-4702-8D86-5F25FDF47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5114925"/>
            <a:ext cx="4210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One slope again: +0.117 log-odds per year.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398594-28F3-49E3-A7D6-36C91915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67400"/>
            <a:ext cx="4400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B0305C-6E88-4804-B4FF-00535B98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626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Linear regression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2E96EE-47E7-4FBF-A374-3A7FCE075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67450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coefficient is a constant change in the predicted outcome. A one-year age increase has the same predicted kg change at every age.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A40AB2-7FDA-414B-BDC1-DF356ED2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867400"/>
            <a:ext cx="4400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450E74-D74C-4CA8-B570-5E7E5A5B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9626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B5451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B5451F"/>
                </a:solidFill>
                <a:latin typeface="Space Grotesk"/>
                <a:ea typeface="Space Grotesk"/>
                <a:cs typeface="Space Grotesk"/>
              </a:rPr>
              <a:t>Probability curve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0CBEF-E09D-40B0-8EC2-6C2A3797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6267450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change in probability is not constant. It is small near the ends and larger in the middle.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A6D22A-305B-4440-86F4-F86BF8BE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5867400"/>
            <a:ext cx="44005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FF63F8-AC5E-4724-B949-59CB514A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62650"/>
            <a:ext cx="4133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Logistic regression output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A47F45-664C-4D57-A04B-3FC30D787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267450"/>
            <a:ext cx="41338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coefficient lives on the log-odds scale, where the relationship is straight again.</a:t>
            </a:r>
          </a:p>
        </p:txBody>
      </p:sp>
    </p:spTree>
    <p:extLst>
      <p:ext uri="{BB962C8B-B14F-4D97-AF65-F5344CB8AC3E}">
        <p14:creationId xmlns:p14="http://schemas.microsoft.com/office/powerpoint/2010/main" val="1322880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03503C0-14FA-49B8-8EE0-DDFC6C90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F0509-AC54-4A5C-A453-EA9763D1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9630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E9860A-5B7A-419F-B8A0-A16A6697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Uncover the straight line hidden inside the curve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590929-E91A-4E78-B10B-F0583041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Logit means log odds, and that is where the model is linear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234D30-D148-4F4D-A441-BA803971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205CA-0700-4367-B37D-B2C012E27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445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Start with the fitted probability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36D1E9-2274-4C62-AB27-15F72DB92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62150"/>
            <a:ext cx="4457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rPr>
              <a:t>p = 1 / (1 + e^(-eta))</a:t>
            </a:r>
          </a:p>
          <a:p xmlns:a="http://schemas.openxmlformats.org/drawingml/2006/main">
            <a:pPr algn="ctr">
              <a:defRPr sz="1800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rPr>
              <a:t>eta = beta0 + beta1 x 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FAD87A-C1DB-4DDD-99BE-932676BA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57550"/>
            <a:ext cx="445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212"/>
          </a:solidFill>
          <a:ln xmlns:a="http://schemas.openxmlformats.org/drawingml/2006/main" w="9525">
            <a:solidFill>
              <a:srgbClr val="7A6212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Move to odds and log odds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E6A3E2-8AC8-41BA-BEDA-5066B0C4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10000"/>
            <a:ext cx="445770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CB"/>
          </a:solidFill>
          <a:ln xmlns:a="http://schemas.openxmlformats.org/drawingml/2006/main" w="9525">
            <a:solidFill>
              <a:srgbClr val="E5B44F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A6212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1">
                <a:solidFill>
                  <a:srgbClr val="7A6212"/>
                </a:solidFill>
                <a:latin typeface="IBM Plex Mono"/>
                <a:ea typeface="IBM Plex Mono"/>
                <a:cs typeface="IBM Plex Mono"/>
              </a:rPr>
              <a:t>odds = p / (1 - p)</a:t>
            </a:r>
          </a:p>
          <a:p xmlns:a="http://schemas.openxmlformats.org/drawingml/2006/main">
            <a:pPr algn="ctr">
              <a:defRPr sz="1800" b="1">
                <a:solidFill>
                  <a:srgbClr val="7A6212"/>
                </a:solidFill>
                <a:latin typeface="IBM Plex Mono"/>
                <a:ea typeface="IBM Plex Mono"/>
                <a:cs typeface="IBM Plex Mono"/>
              </a:defRPr>
            </a:pPr>
            <a:r>
              <a:rPr sz="1800" b="1">
                <a:solidFill>
                  <a:srgbClr val="7A6212"/>
                </a:solidFill>
                <a:latin typeface="IBM Plex Mono"/>
                <a:ea typeface="IBM Plex Mono"/>
                <a:cs typeface="IBM Plex Mono"/>
              </a:rPr>
              <a:t>logit(p) = log(p / (1 - p))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A8DD0-8E6F-4868-A8DB-335CDDCFB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05400"/>
            <a:ext cx="445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51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Then the line appears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B86492-C30E-48C5-8BA3-32C705341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57850"/>
            <a:ext cx="44577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B5451F"/>
                </a:solidFill>
                <a:latin typeface="IBM Plex Mono"/>
                <a:ea typeface="IBM Plex Mono"/>
                <a:cs typeface="IBM Plex Mono"/>
              </a:defRPr>
            </a:pPr>
            <a:r>
              <a:rPr sz="1725" b="1">
                <a:solidFill>
                  <a:srgbClr val="B5451F"/>
                </a:solidFill>
                <a:latin typeface="IBM Plex Mono"/>
                <a:ea typeface="IBM Plex Mono"/>
                <a:cs typeface="IBM Plex Mono"/>
              </a:rPr>
              <a:t>log(p / (1 - p)) = beta0 + beta1 x 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E4CA57-FEC4-4987-A6DF-965F064A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8915400" cy="2152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637bdee7c4f04"/>
          <a:stretch xmlns:a="http://schemas.openxmlformats.org/drawingml/2006/main"/>
        </p:blipFill>
        <p:spPr>
          <a:xfrm xmlns:a="http://schemas.openxmlformats.org/drawingml/2006/main">
            <a:off x="7006872" y="1485900"/>
            <a:ext cx="5836356" cy="16764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C5684-5206-474D-9867-FA3F8875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48025"/>
            <a:ext cx="8724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Probability is boxed into 0 to 1. Log-odds runs from negative infinity to positive infinity.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ECA695-4235-450A-92DB-044D56367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962400"/>
            <a:ext cx="4248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FA7B47-036C-45BA-BC93-D98D1DF5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91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91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Worked band example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893A5-D788-4AC1-A9C2-5B5BD0CC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686300"/>
            <a:ext cx="3714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9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defRPr>
            </a:pPr>
            <a:r>
              <a:rPr sz="172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rPr>
              <a:t>Ages 65-69: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defRPr>
            </a:pPr>
            <a:r>
              <a:rPr sz="172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rPr>
              <a:t>p = 169 / 647 = 0.26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defRPr>
            </a:pPr>
            <a:r>
              <a:rPr sz="172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rPr>
              <a:t>odds = 0.26 / 0.74 = 0.35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72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defRPr>
            </a:pPr>
            <a:r>
              <a:rPr sz="172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rPr>
              <a:t>log-odds = log(0.35) = -1.04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4C2FC-51D4-44F2-9604-58FAE9AB1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962400"/>
            <a:ext cx="42481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CB"/>
          </a:solidFill>
          <a:ln xmlns:a="http://schemas.openxmlformats.org/drawingml/2006/main" w="9525">
            <a:solidFill>
              <a:srgbClr val="E5B4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97F23-B0A6-4D75-83B5-79374AFE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19100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91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Important fitting note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080117-CC2C-4A3C-BD68-05F1B201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4686300"/>
            <a:ext cx="37147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29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Software does not take the log-odds of each individual 0/1 value and run lm(). Individual log-odds would be infinite. It fits the binomial model by maximum likelihood.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DEB9E4-D962-4F6B-99AF-CAF1083B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00850"/>
            <a:ext cx="138303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785BDD-8B7C-4C63-8EF4-18D5144A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72300"/>
            <a:ext cx="13392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59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32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232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Logistic regression is not linear in probability. It is linear in log odds.</a:t>
            </a:r>
          </a:p>
        </p:txBody>
      </p:sp>
    </p:spTree>
    <p:extLst>
      <p:ext uri="{BB962C8B-B14F-4D97-AF65-F5344CB8AC3E}">
        <p14:creationId xmlns:p14="http://schemas.microsoft.com/office/powerpoint/2010/main" val="11570613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AB6131-CB4D-4D2D-ACA0-DC775C34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C9F2B2-1009-4A46-91D5-BF40D378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9630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BA9E3B-BA53-48D1-AB0D-CF384E2F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Interpreting beta1 requires changing scale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89887-2CAE-414F-BDE9-1BBB1504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The coefficient is a constant additive change in log odds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E9A8E-D32F-41AE-989A-BF9DF20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5BF664-766D-4AAB-9603-F97F9497A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5829300" cy="542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39bca18084b3a"/>
          <a:stretch xmlns:a="http://schemas.openxmlformats.org/drawingml/2006/main"/>
        </p:blipFill>
        <p:spPr>
          <a:xfrm xmlns:a="http://schemas.openxmlformats.org/drawingml/2006/main">
            <a:off x="648361" y="1485900"/>
            <a:ext cx="5637477" cy="4953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57DCBE-8056-4140-AA5B-675D4D1DE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24625"/>
            <a:ext cx="563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probability jump changes by age; the log-odds step is constant.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1C5B9E-4651-471A-AC30-86D61FFD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428750"/>
            <a:ext cx="3505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What beta1 = 0.1168 says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32BC0-1512-4A9D-AFD4-A4FBA04B2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62150"/>
            <a:ext cx="3505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BF55D1-7EF1-409B-8905-35741297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057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Log-odds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D8051E-FF46-4308-9F8B-8BAAD9E5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62200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Each additional year of age adds 0.1168 to the log-odds of low grip. This is exact, but hard to explain clinically.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455E88-2942-487F-96D2-24DDFCA60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3505200" cy="1504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C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B5890-E6A1-4406-A947-D9A7F169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7719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Odds ratio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FC9FEF-881A-4EB3-BBAF-5946B7CEA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76700"/>
            <a:ext cx="32385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Exponentiate the coefficient: exp(0.1168) = 1.12. Each additional year multiplies the odds by 1.12.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97BDC3-326B-4594-BB7A-63E588AE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391150"/>
            <a:ext cx="35052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AB5FAF-C7C4-4E85-96D8-1512AAD13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48640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75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425" b="1">
                <a:solidFill>
                  <a:srgbClr val="B5451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B5451F"/>
                </a:solidFill>
                <a:latin typeface="Space Grotesk"/>
                <a:ea typeface="Space Grotesk"/>
                <a:cs typeface="Space Grotesk"/>
              </a:rPr>
              <a:t>Per decade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2CD6B4-4CDA-41C0-BC77-7EC35615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791200"/>
            <a:ext cx="323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exp(10 x 0.1168) = 3.22. A decade of age roughly triples the odds in this fitted model.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0DD2CC-AD81-42E9-B5D2-5561BB99F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428750"/>
            <a:ext cx="3505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51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Do not say this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11B222-0075-48BB-8F19-C05DD5AE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1962150"/>
            <a:ext cx="350520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95835-1DD8-415E-BD9F-2EAD287E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362200"/>
            <a:ext cx="3048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152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B5451F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1">
                <a:solidFill>
                  <a:srgbClr val="B5451F"/>
                </a:solidFill>
                <a:latin typeface="Space Grotesk"/>
                <a:ea typeface="Space Grotesk"/>
                <a:cs typeface="Space Grotesk"/>
              </a:rPr>
              <a:t>"Each year raises the probability by 11.7%."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B8DF02-7469-4936-9E99-1B4A6119C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4057650"/>
            <a:ext cx="3505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Say one of these instead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3B0DC7-FB80-4D28-96E1-947411841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629150"/>
            <a:ext cx="33909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4035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Odds wording: each additional year is associated with 12% higher odds of low grip.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Probability wording: predicted probability rises from 4.8% at age 50 to 34.4% at age 70.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The probability statement must name ages, because the curve's slope keeps changing.</a:t>
            </a:r>
          </a:p>
        </p:txBody>
      </p:sp>
    </p:spTree>
    <p:extLst>
      <p:ext uri="{BB962C8B-B14F-4D97-AF65-F5344CB8AC3E}">
        <p14:creationId xmlns:p14="http://schemas.microsoft.com/office/powerpoint/2010/main" val="13970380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4EE5D3-C064-4247-9A34-4BD8A00C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CCF3C4-C64E-4A90-9734-8151C0F7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9630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02F107-F1A4-4F77-AE56-BA160620B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Probability changes are allowed to vary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B34F9-1CB0-4817-AC90-815300453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Predicted probabilities must be anchored to named ages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9CDE8F-A6E1-4746-AB8E-7C4D5B8C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F72AC6-D361-455C-9CD9-122111C1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09700"/>
            <a:ext cx="6667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EE4AB0-7DF9-432E-A323-A29AA6661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7640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300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21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Fitted values from the men's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088846-826A-43AA-BA16-C73F64AD7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B1125-77DA-47ED-85D5-767D0E80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2669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P(low grip)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D9D32C-ECBA-4894-A87D-4A2A8BBB7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266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log-odds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04217-BF56-4B53-8971-9ECD05B1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2669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odds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0EC6E7-9E05-4411-93C7-81C09D33A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2669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20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next-year probability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20E34-542C-4975-BE20-7A2B1EAF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241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070606-ACA9-43FC-A06B-308A03A81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241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4.8%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5998F5-8825-45FD-955D-25C0C1AE2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241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-2.98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3B9673-91E5-40B5-9175-339937A2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7241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0.05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A15CDC-EE68-4075-AF90-63957735D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7241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rPr>
              <a:t>+0.6 pp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2FA8DA-4E6C-494F-A500-5E6E414D9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60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B9ECAC-70DB-43F9-8BF7-FBE6C233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813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14.0%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76FD2E-8AE3-405C-8C76-8D6DDEDE7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813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-1.81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8EFD7F-08AD-4BD0-88D9-A0FDAC22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813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0.16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525AC-698A-4F36-A106-375AD2328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1813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rPr>
              <a:t>+1.5 pp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DF630E-A953-4BD1-8553-D8C29A7BF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385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70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1D312E-4168-47DB-A66B-50CA4E06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6385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34.4%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6D39AB-5685-47AE-9173-0F7D9015D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6385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-0.65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7E6017-3BC5-4B85-9351-6622DE47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6385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0.52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79A5E5-75BA-4735-AC10-C3FA0A6C0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6385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rPr>
              <a:t>+2.7 pp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730C3B-2BFF-4F60-912D-3AAA7FA98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75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6A02BF-3D62-4A01-B175-918586EA2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957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48.5%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FB8E32-2829-476C-9195-1E37802CF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0957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-0.06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47DE177-C660-4911-8DD9-8FF8FD27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0957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0.94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EBE86F-B6E2-4D0D-B1A5-B7ED4091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0957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rPr>
              <a:t>+2.9 pp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E6BFAF5-B595-4AD3-AFD7-CDE8F0AE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529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80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6D1F72-3ED7-46DE-90B7-5F7B6C0A1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5529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62.8%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D03BC16-6C76-4A54-ADE4-341C548B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5529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+0.52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D11B65D-DB53-4A09-A6FB-1584130B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5529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1.69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7CF2E9C-3344-472B-AEB9-44A23308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5529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rPr>
              <a:t>+2.7 pp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4E8CD2-5B0C-4D6A-87F1-176BEC3D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10150"/>
            <a:ext cx="7810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1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85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24CCC5-A486-4687-B9EF-4A543573E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010150"/>
            <a:ext cx="12954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75.1%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5571CD-3E22-4445-B85B-2BB89B211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5010150"/>
            <a:ext cx="1219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+1.11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C4E0654-F791-4CCB-913C-BF3BBF29B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5010150"/>
            <a:ext cx="952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3.02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63EE74-2046-4A04-B45B-CB7DD40C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2324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B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defRPr>
            </a:pPr>
            <a:r>
              <a:rPr sz="1425" b="0">
                <a:solidFill>
                  <a:srgbClr val="B5451F"/>
                </a:solidFill>
                <a:latin typeface="Space Grotesk"/>
                <a:ea typeface="Space Grotesk"/>
                <a:cs typeface="Space Grotesk"/>
              </a:rPr>
              <a:t>+2.1 pp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856A63-2913-4D4C-ADAC-ED6AD690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409700"/>
            <a:ext cx="6362700" cy="2038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CB"/>
          </a:solidFill>
          <a:ln xmlns:a="http://schemas.openxmlformats.org/drawingml/2006/main" w="9525">
            <a:solidFill>
              <a:srgbClr val="E5B44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3ED7FF6-D403-4C1C-8EAF-A054F4619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57350"/>
            <a:ext cx="575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50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Why the probability step changes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0B7C2F-C9AE-4382-B92F-BE40BBE6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5753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08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800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Near zero, the curve has little room to move. Through the middle, it can rise faster. Near one, it slows again because it cannot exceed one.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3BC5F7-FFA0-4AEC-8374-A52F7D13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67150"/>
            <a:ext cx="6362700" cy="2495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2E1AE57-4D56-44B8-91EE-FC3713FC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14800"/>
            <a:ext cx="5753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50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7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2175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Central distinction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63D1FA-AA30-463D-959D-51CD9C4C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629150"/>
            <a:ext cx="57531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2219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Linear regression: the coefficient is a constant change in the outcome.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Logistic regression: the coefficient is a constant change in log odds.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Exponentiating beta1 gives a constant multiplicative change in odds.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The probability change varies with the starting age or baseline risk.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70A0A3-7B50-45EF-BC53-87169D3F5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800850"/>
            <a:ext cx="135636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5451F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1">
                <a:solidFill>
                  <a:srgbClr val="B5451F"/>
                </a:solidFill>
                <a:latin typeface="IBM Plex Mono"/>
                <a:ea typeface="IBM Plex Mono"/>
                <a:cs typeface="IBM Plex Mono"/>
              </a:rPr>
              <a:t>constant log-odds step -&gt; constant odds ratio -&gt; varying probability step</a:t>
            </a:r>
          </a:p>
        </p:txBody>
      </p:sp>
    </p:spTree>
    <p:extLst>
      <p:ext uri="{BB962C8B-B14F-4D97-AF65-F5344CB8AC3E}">
        <p14:creationId xmlns:p14="http://schemas.microsoft.com/office/powerpoint/2010/main" val="1590698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BE3E840-D431-49D2-ABA7-97B878EB1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83AB9-87F2-4378-B767-9760F921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496300"/>
            <a:ext cx="15240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CE76FD-54B8-43D1-8BAC-21FCD1A1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05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838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12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Practice: read the model without mixing scales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065196-67FE-4C0E-8059-DB00FA33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257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46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defRPr>
            </a:pPr>
            <a:r>
              <a:rPr sz="3300" b="1">
                <a:solidFill>
                  <a:srgbClr val="035F6C"/>
                </a:solidFill>
                <a:latin typeface="Space Grotesk"/>
                <a:ea typeface="Space Grotesk"/>
                <a:cs typeface="Space Grotesk"/>
              </a:rPr>
              <a:t>Use odds ratios for coefficients and named ages for probabilities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2910A-72E8-4676-932D-E36AF3126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066800"/>
            <a:ext cx="4095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B4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FED9C5-2F2E-4F55-95A1-22B1A926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35F6C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1. Interpret a coefficient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7BFA9-2554-43D1-B4FA-768B58FD5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43100"/>
            <a:ext cx="4476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1D93E8-8073-45E1-8FAC-1A563036E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0195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A diabetes model gives a BMI coefficient of 0.09. The right reading is: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Each BMI unit raises the log-odds by 0.09, so the odds are multiplied by exp(0.09) = 1.09.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It is not a 9 percentage-point probability increase.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58F45-20FD-4057-BD6D-F3E7E2C47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57700"/>
            <a:ext cx="4476750" cy="220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CB"/>
          </a:solidFill>
          <a:ln xmlns:a="http://schemas.openxmlformats.org/drawingml/2006/main" w="9525">
            <a:solidFill>
              <a:srgbClr val="E5B4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3DCAE-2D51-485C-A88A-72B495144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91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7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875" b="1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Why not lm(weak_grip ~ age)?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C15229-0CFC-423B-A276-B972E893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0195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09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defRPr>
            </a:pPr>
            <a:r>
              <a:rPr sz="1650" b="0">
                <a:solidFill>
                  <a:srgbClr val="073B42"/>
                </a:solidFill>
                <a:latin typeface="Space Grotesk"/>
                <a:ea typeface="Space Grotesk"/>
                <a:cs typeface="Space Grotesk"/>
              </a:rPr>
              <a:t>A linear probability model can predict values below 0 or above 1. Logistic regression keeps fitted probabilities inside the possible range.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C59C21-321D-46A7-88E2-D0219C68E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4097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5451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2. Read a real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E2EAFD-10D5-456C-B820-8A2CD84B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43100"/>
            <a:ext cx="44767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F3EF"/>
          </a:solidFill>
          <a:ln xmlns:a="http://schemas.openxmlformats.org/drawingml/2006/main" w="9525">
            <a:solidFill>
              <a:srgbClr val="B545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1F4A6B-09D8-4DE9-9011-AACD7185B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152650"/>
            <a:ext cx="401955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67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defRPr>
            </a:pPr>
            <a:r>
              <a:rPr sz="157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rPr>
              <a:t>Women in the same KLoSA wave: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defRPr>
            </a:pPr>
            <a:r>
              <a:rPr sz="157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rPr>
              <a:t>glm(weak_grip ~ age, family = binomial)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defRPr>
            </a:pPr>
            <a:r>
              <a:rPr sz="157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rPr>
              <a:t>(Intercept)  -8.4105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defRPr>
            </a:pPr>
            <a:r>
              <a:rPr sz="157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rPr>
              <a:t>age           0.1115</a:t>
            </a:r>
          </a:p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defRPr>
            </a:pPr>
            <a:r>
              <a:rPr sz="1575" b="0">
                <a:solidFill>
                  <a:srgbClr val="073B42"/>
                </a:solidFill>
                <a:latin typeface="IBM Plex Mono"/>
                <a:ea typeface="IBM Plex Mono"/>
                <a:cs typeface="IBM Plex Mono"/>
              </a:rPr>
              <a:t>z = 28.78, p &lt; .001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BD7E56-2732-4A0D-9331-F7B512FB6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781550"/>
            <a:ext cx="40195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Log-odds: each year adds 0.1115.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Odds ratio per year: exp(0.1115) = 1.12.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Odds ratio per decade: exp(1.115) = 3.05.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50% probability occurs around age 75.4.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FD9024-1B06-487C-BC07-906C616A3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40970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6212"/>
          </a:solidFill>
          <a:ln xmlns:a="http://schemas.openxmlformats.org/drawingml/2006/main" w="9525">
            <a:solidFill>
              <a:srgbClr val="7A6212"/>
            </a:solidFill>
            <a:prstDash val="solid"/>
          </a:ln>
        </p:spPr>
        <p:txBody>
          <a:bodyPr xmlns:a="http://schemas.openxmlformats.org/drawingml/2006/main" lIns="76200" tIns="19050" rIns="762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defRPr>
            </a:pPr>
            <a:r>
              <a:rPr sz="1350" b="1">
                <a:solidFill>
                  <a:srgbClr val="FFFFFF"/>
                </a:solidFill>
                <a:latin typeface="Space Grotesk"/>
                <a:ea typeface="Space Grotesk"/>
                <a:cs typeface="Space Grotesk"/>
              </a:rPr>
              <a:t>3. Spot the error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49BC3F-2F66-4B52-959A-3A45A8368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1943100"/>
            <a:ext cx="44767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ECB"/>
          </a:solidFill>
          <a:ln xmlns:a="http://schemas.openxmlformats.org/drawingml/2006/main" w="9525">
            <a:solidFill>
              <a:srgbClr val="E5B4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2159FC-9467-4B53-AA75-5DBC7E6C8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2247900"/>
            <a:ext cx="40195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9114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0">
                <a:solidFill>
                  <a:srgbClr val="7A6212"/>
                </a:solidFill>
                <a:latin typeface="Space Grotesk"/>
                <a:ea typeface="Space Grotesk"/>
                <a:cs typeface="Space Grotesk"/>
              </a:defRPr>
            </a:pPr>
            <a:r>
              <a:rPr sz="1725" b="0">
                <a:solidFill>
                  <a:srgbClr val="7A6212"/>
                </a:solidFill>
                <a:latin typeface="Space Grotesk"/>
                <a:ea typeface="Space Grotesk"/>
                <a:cs typeface="Space Grotesk"/>
              </a:rPr>
              <a:t>"Age was associated with weak grip (beta = 0.117). Each year therefore increased the probability by 11.7%."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2ED1D5-8A58-4750-A539-412E235A9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4095750"/>
            <a:ext cx="447675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7"/>
          </a:solidFill>
          <a:ln xmlns:a="http://schemas.openxmlformats.org/drawingml/2006/main" w="9525">
            <a:solidFill>
              <a:srgbClr val="C4D8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28956-F7E0-4B71-A957-A1FD1296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324350"/>
            <a:ext cx="4019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640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25" b="1">
                <a:solidFill>
                  <a:srgbClr val="2E8B57"/>
                </a:solidFill>
                <a:latin typeface="Space Grotesk"/>
                <a:ea typeface="Space Grotesk"/>
                <a:cs typeface="Space Grotesk"/>
              </a:defRPr>
            </a:pPr>
            <a:r>
              <a:rPr sz="2025" b="1">
                <a:solidFill>
                  <a:srgbClr val="2E8B57"/>
                </a:solidFill>
                <a:latin typeface="Space Grotesk"/>
                <a:ea typeface="Space Grotesk"/>
                <a:cs typeface="Space Grotesk"/>
              </a:rPr>
              <a:t>The fix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20B67F-A19F-4061-8A2B-E97DE393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4838700"/>
            <a:ext cx="40195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57150" tIns="38100" rIns="57150" bIns="38100" anchor="t">
            <a:normAutofit fontScale="75838"/>
          </a:bodyPr>
          <a:lstStyle xmlns:a="http://schemas.openxmlformats.org/drawingml/2006/main"/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Error: beta is on the log-odds scale, not the probability scale.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Odds sentence: each additional year was associated with 12% higher odds of weak grip.</a:t>
            </a:r>
          </a:p>
          <a:p xmlns:a="http://schemas.openxmlformats.org/drawingml/2006/main">
            <a:pPr marL="22" indent="-12" algn="l">
              <a:lnSpc>
                <a:spcPct val="108000"/>
              </a:lnSpc>
              <a:spcAft>
                <a:spcPts val="4"/>
              </a:spcAft>
              <a:buNone/>
              <a:def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defRPr>
            </a:pPr>
            <a:r>
              <a:rPr sz="1575" b="0">
                <a:solidFill>
                  <a:srgbClr val="3A555A"/>
                </a:solidFill>
                <a:latin typeface="Space Grotesk"/>
                <a:ea typeface="Space Grotesk"/>
                <a:cs typeface="Space Grotesk"/>
              </a:rPr>
              <a:t>Probability sentence: predicted probability rose from 4.8% at age 50 to 34.4% at age 70.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68A3A5-9E2C-4BB9-88AC-3CCA6C03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24700"/>
            <a:ext cx="141541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5"/>
          </a:solidFill>
          <a:ln xmlns:a="http://schemas.openxmlformats.org/drawingml/2006/main" w="9525">
            <a:solidFill>
              <a:srgbClr val="035F6C"/>
            </a:solidFill>
            <a:prstDash val="solid"/>
          </a:ln>
        </p:spPr>
        <p:txBody>
          <a:bodyPr xmlns:a="http://schemas.openxmlformats.org/drawingml/2006/main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defRPr>
            </a:pPr>
            <a:r>
              <a:rPr sz="1875" b="1">
                <a:solidFill>
                  <a:srgbClr val="035F6C"/>
                </a:solidFill>
                <a:latin typeface="IBM Plex Mono"/>
                <a:ea typeface="IBM Plex Mono"/>
                <a:cs typeface="IBM Plex Mono"/>
              </a:rPr>
              <a:t>Rule: exponentiate for odds; predict at named ages for probabilities.</a:t>
            </a:r>
          </a:p>
        </p:txBody>
      </p:sp>
    </p:spTree>
    <p:extLst>
      <p:ext uri="{BB962C8B-B14F-4D97-AF65-F5344CB8AC3E}">
        <p14:creationId xmlns:p14="http://schemas.microsoft.com/office/powerpoint/2010/main" val="10730392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2026-07-15T19:07:02.8070000Z</dcterms:created>
  <dcterms:modified xsi:type="dcterms:W3CDTF">2026-07-15T19:07:02.8070000Z</dcterms:modified>
</coreProperties>
</file>