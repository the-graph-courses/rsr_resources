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9"/>
  </p:notesMasterIdLst>
  <p:sldIdLst>
    <p:sldId id="758" r:id="rId3"/>
    <p:sldId id="617" r:id="rId4"/>
    <p:sldId id="732" r:id="rId5"/>
    <p:sldId id="774" r:id="rId6"/>
    <p:sldId id="775" r:id="rId7"/>
    <p:sldId id="759" r:id="rId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CB0"/>
    <a:srgbClr val="CDE7EB"/>
    <a:srgbClr val="F1F4FF"/>
    <a:srgbClr val="D5952A"/>
    <a:srgbClr val="E0AF89"/>
    <a:srgbClr val="F6FFF6"/>
    <a:srgbClr val="4698C9"/>
    <a:srgbClr val="489BCC"/>
    <a:srgbClr val="FFF8E8"/>
    <a:srgbClr val="2C8B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62"/>
    <p:restoredTop sz="94726"/>
  </p:normalViewPr>
  <p:slideViewPr>
    <p:cSldViewPr snapToGrid="0">
      <p:cViewPr>
        <p:scale>
          <a:sx n="143" d="100"/>
          <a:sy n="143" d="100"/>
        </p:scale>
        <p:origin x="2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5251F-F7EB-C247-A649-A1B8A95EA917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02261-1C33-9047-9202-2A1CD1296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1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416D-EA27-EB75-1A84-62FC6A2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185F-9BEC-A34F-AF2B-6669FE487175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CFE0-00CC-17E9-4240-9E4B81EB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85D9-A698-6E64-0523-0981FAF3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DAEE-CEDC-7047-B537-2C59D3396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31DC-DC9B-DE8D-8BD7-B5E190D6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85DB-ACDB-F342-8778-050936A6C0DA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739A-5894-BA89-9B3E-6D8D89B1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14E3-73C3-2FA9-DC2A-9C2A822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F61A6-4CCF-1C48-81EC-84F4E5F87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ECBC-D88B-A4B8-7803-7C3758D4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9AC7-90A6-084B-B505-E329BE10E829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E4A9-0BD1-5E3B-DE4C-803B67A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2687-9D53-801B-CCAC-C41F743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C9793-7BBD-D943-BF38-F03B08E54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15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96DE14-28B4-55CD-0E59-1B359F03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9276-9F7E-F947-9A13-792B95FEFF0E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12C61B-FE6B-F0F4-0ADB-39F34A1C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65E95C-4274-EA0B-A963-4C92444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672CA-1F3C-2D49-BD61-18CA98FF9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477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BF54-EDDB-2C0B-2F59-986D98B0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1DA9F-3695-2A44-8A09-2AB8451D4B6A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A20169A-5EB1-5F93-A6AE-25CBD0B2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5D4528-7C37-4AF6-2144-173F6977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4180E-A06E-8541-8933-BF1FA1450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4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5" y="279400"/>
            <a:ext cx="10515600" cy="699587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DCD49-8F8A-C8A9-50CA-F7FC1D75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8F7E-5EBB-7B40-B841-B9B4D90D3D57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2EEAAF-A44A-EDCF-3D90-0CA42E6E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809F78-9F87-109E-8A5B-95E56F58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B3F76-9E2F-EE41-A455-F7FC7FF38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6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D1080B-289F-42F6-EA74-49D670F6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4A26-FF98-9F42-959C-383CB611B028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9EFB68-B8A7-E345-6FA6-1A1098A9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95BFE-7A07-3FC2-CE29-0573B3D9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E94FF-211D-5B44-AB51-BB6D2E6C0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11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3D00C-737A-4398-C682-C36B6253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2FFAA-6770-5649-9140-B2070A3E0683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B1956-6FF0-1AAC-FF00-915ADB86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BED4-FCB8-D810-DDE9-C56264EE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5D737-EE59-5946-A4D1-F0002A6AC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892E-5168-CBE2-E397-2A719C6E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0E83E-54A3-FC45-A9C1-992A5B6A3004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65E0-4FD2-CEEB-2AD2-716AA10D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7FD2-5936-91F6-6101-0EE3616C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5CD9-0897-6E40-9BB4-9F4F707DC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7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416D-EA27-EB75-1A84-62FC6A2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185F-9BEC-A34F-AF2B-6669FE487175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CFE0-00CC-17E9-4240-9E4B81EB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85D9-A698-6E64-0523-0981FAF3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DAEE-CEDC-7047-B537-2C59D3396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6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31DC-DC9B-DE8D-8BD7-B5E190D6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85DB-ACDB-F342-8778-050936A6C0DA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739A-5894-BA89-9B3E-6D8D89B1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14E3-73C3-2FA9-DC2A-9C2A822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F61A6-4CCF-1C48-81EC-84F4E5F87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ECBC-D88B-A4B8-7803-7C3758D4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9AC7-90A6-084B-B505-E329BE10E829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E4A9-0BD1-5E3B-DE4C-803B67A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2687-9D53-801B-CCAC-C41F743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C9793-7BBD-D943-BF38-F03B08E54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15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96DE14-28B4-55CD-0E59-1B359F03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9276-9F7E-F947-9A13-792B95FEFF0E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12C61B-FE6B-F0F4-0ADB-39F34A1C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65E95C-4274-EA0B-A963-4C92444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672CA-1F3C-2D49-BD61-18CA98FF9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1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477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BF54-EDDB-2C0B-2F59-986D98B0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1DA9F-3695-2A44-8A09-2AB8451D4B6A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A20169A-5EB1-5F93-A6AE-25CBD0B2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5D4528-7C37-4AF6-2144-173F6977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4180E-A06E-8541-8933-BF1FA1450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43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5" y="279400"/>
            <a:ext cx="10515600" cy="699587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6525"/>
            <a:ext cx="10515600" cy="699587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6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DCD49-8F8A-C8A9-50CA-F7FC1D75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8F7E-5EBB-7B40-B841-B9B4D90D3D57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2EEAAF-A44A-EDCF-3D90-0CA42E6E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809F78-9F87-109E-8A5B-95E56F58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B3F76-9E2F-EE41-A455-F7FC7FF38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66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D1080B-289F-42F6-EA74-49D670F6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4A26-FF98-9F42-959C-383CB611B028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9EFB68-B8A7-E345-6FA6-1A1098A9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95BFE-7A07-3FC2-CE29-0573B3D9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E94FF-211D-5B44-AB51-BB6D2E6C0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111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3D00C-737A-4398-C682-C36B6253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2FFAA-6770-5649-9140-B2070A3E0683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B1956-6FF0-1AAC-FF00-915ADB86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BED4-FCB8-D810-DDE9-C56264EE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5D737-EE59-5946-A4D1-F0002A6AC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8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892E-5168-CBE2-E397-2A719C6E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0E83E-54A3-FC45-A9C1-992A5B6A3004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65E0-4FD2-CEEB-2AD2-716AA10D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7FD2-5936-91F6-6101-0EE3616C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5CD9-0897-6E40-9BB4-9F4F707DC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7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7AC141-0404-B33E-A5AE-BB5A2858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44449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98F9549-4836-01BC-E8AA-0B577C8BC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5968-90D6-C721-1D9A-72BF44ECA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BAFFA7-C29B-5E43-BA99-0E224199AC81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C8CB-7E4F-E7E2-5E23-A04827763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814F-6D12-BC18-9C46-08F7BBE2F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E6890FD-EFBE-1F4E-952F-28195696B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opBar">
            <a:extLst>
              <a:ext uri="{FF2B5EF4-FFF2-40B4-BE49-F238E27FC236}">
                <a16:creationId xmlns:a16="http://schemas.microsoft.com/office/drawing/2014/main" id="{AB5504C7-D7BC-EFA6-7415-C5898E88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36525"/>
          </a:xfrm>
          <a:prstGeom prst="rect">
            <a:avLst/>
          </a:prstGeom>
          <a:solidFill>
            <a:srgbClr val="F8D3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2" name="BottomBar">
            <a:extLst>
              <a:ext uri="{FF2B5EF4-FFF2-40B4-BE49-F238E27FC236}">
                <a16:creationId xmlns:a16="http://schemas.microsoft.com/office/drawing/2014/main" id="{27003A8C-AC43-824E-F89B-80D853F6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1474"/>
            <a:ext cx="12192000" cy="136525"/>
          </a:xfrm>
          <a:prstGeom prst="rect">
            <a:avLst/>
          </a:prstGeom>
          <a:solidFill>
            <a:srgbClr val="2E6B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E6B75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2E3640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7AC141-0404-B33E-A5AE-BB5A2858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66575" y="68262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98F9549-4836-01BC-E8AA-0B577C8BC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5968-90D6-C721-1D9A-72BF44ECA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BAFFA7-C29B-5E43-BA99-0E224199AC81}" type="datetimeFigureOut">
              <a:rPr lang="en-US"/>
              <a:pPr>
                <a:defRPr/>
              </a:pPr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C8CB-7E4F-E7E2-5E23-A04827763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814F-6D12-BC18-9C46-08F7BBE2F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E6890FD-EFBE-1F4E-952F-28195696B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opBar">
            <a:extLst>
              <a:ext uri="{FF2B5EF4-FFF2-40B4-BE49-F238E27FC236}">
                <a16:creationId xmlns:a16="http://schemas.microsoft.com/office/drawing/2014/main" id="{AB5504C7-D7BC-EFA6-7415-C5898E88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36525"/>
          </a:xfrm>
          <a:prstGeom prst="rect">
            <a:avLst/>
          </a:prstGeom>
          <a:solidFill>
            <a:srgbClr val="F8D3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2" name="BottomBar">
            <a:extLst>
              <a:ext uri="{FF2B5EF4-FFF2-40B4-BE49-F238E27FC236}">
                <a16:creationId xmlns:a16="http://schemas.microsoft.com/office/drawing/2014/main" id="{27003A8C-AC43-824E-F89B-80D853F6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1474"/>
            <a:ext cx="12192000" cy="136526"/>
          </a:xfrm>
          <a:prstGeom prst="rect">
            <a:avLst/>
          </a:prstGeom>
          <a:solidFill>
            <a:srgbClr val="2E6B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84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E6B75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2E3640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FE18-353F-0829-2D92-B8905EAC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Box 14">
            <a:extLst>
              <a:ext uri="{FF2B5EF4-FFF2-40B4-BE49-F238E27FC236}">
                <a16:creationId xmlns:a16="http://schemas.microsoft.com/office/drawing/2014/main" id="{336652C2-80D6-E350-2F1E-E5E11DAAD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45417"/>
            <a:ext cx="1051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2E6B75"/>
                </a:solidFill>
                <a:latin typeface="Montserrat"/>
              </a:rPr>
              <a:t>Learning Objectives | t Values and p Values</a:t>
            </a:r>
          </a:p>
        </p:txBody>
      </p:sp>
      <p:sp>
        <p:nvSpPr>
          <p:cNvPr id="2" name="LO Circle 1">
            <a:extLst>
              <a:ext uri="{FF2B5EF4-FFF2-40B4-BE49-F238E27FC236}">
                <a16:creationId xmlns:a16="http://schemas.microsoft.com/office/drawing/2014/main" id="{9A8E0F9A-EC20-5852-6F8A-BCEA30B50044}"/>
              </a:ext>
            </a:extLst>
          </p:cNvPr>
          <p:cNvSpPr/>
          <p:nvPr/>
        </p:nvSpPr>
        <p:spPr>
          <a:xfrm>
            <a:off x="609600" y="10922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" name="LO Text 1">
            <a:extLst>
              <a:ext uri="{FF2B5EF4-FFF2-40B4-BE49-F238E27FC236}">
                <a16:creationId xmlns:a16="http://schemas.microsoft.com/office/drawing/2014/main" id="{2A3CDEF0-6896-0661-1192-E362F2DB659B}"/>
              </a:ext>
            </a:extLst>
          </p:cNvPr>
          <p:cNvSpPr txBox="1"/>
          <p:nvPr/>
        </p:nvSpPr>
        <p:spPr>
          <a:xfrm>
            <a:off x="1168400" y="10668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Compute the t-statistic for a regression slope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Divide the estimated slope by its standard error to measure how many SEs away from zero the estimate sits</a:t>
            </a:r>
          </a:p>
        </p:txBody>
      </p:sp>
      <p:sp>
        <p:nvSpPr>
          <p:cNvPr id="4" name="LO Circle 2">
            <a:extLst>
              <a:ext uri="{FF2B5EF4-FFF2-40B4-BE49-F238E27FC236}">
                <a16:creationId xmlns:a16="http://schemas.microsoft.com/office/drawing/2014/main" id="{8093A9C2-9A19-F6FC-1678-98C3C82534F7}"/>
              </a:ext>
            </a:extLst>
          </p:cNvPr>
          <p:cNvSpPr/>
          <p:nvPr/>
        </p:nvSpPr>
        <p:spPr>
          <a:xfrm>
            <a:off x="609600" y="21971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5" name="LO Text 2">
            <a:extLst>
              <a:ext uri="{FF2B5EF4-FFF2-40B4-BE49-F238E27FC236}">
                <a16:creationId xmlns:a16="http://schemas.microsoft.com/office/drawing/2014/main" id="{97EEE760-0223-3C11-5D20-C51A7381331A}"/>
              </a:ext>
            </a:extLst>
          </p:cNvPr>
          <p:cNvSpPr txBox="1"/>
          <p:nvPr/>
        </p:nvSpPr>
        <p:spPr>
          <a:xfrm>
            <a:off x="1168400" y="21717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Define the null hypothesis, explain how a t-value is used to calculate a p-value, and describe what the p-value represents.✅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H₀: β₁ = 0 says x has no linear effect; the p-value is the probability of seeing a test statistic this extreme if H₀ is true</a:t>
            </a:r>
          </a:p>
        </p:txBody>
      </p:sp>
      <p:sp>
        <p:nvSpPr>
          <p:cNvPr id="6" name="LO Circle 4">
            <a:extLst>
              <a:ext uri="{FF2B5EF4-FFF2-40B4-BE49-F238E27FC236}">
                <a16:creationId xmlns:a16="http://schemas.microsoft.com/office/drawing/2014/main" id="{C89156D3-4445-A3AF-20CA-582F5D4DC068}"/>
              </a:ext>
            </a:extLst>
          </p:cNvPr>
          <p:cNvSpPr/>
          <p:nvPr/>
        </p:nvSpPr>
        <p:spPr>
          <a:xfrm>
            <a:off x="584200" y="33020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" name="LO Text 4">
            <a:extLst>
              <a:ext uri="{FF2B5EF4-FFF2-40B4-BE49-F238E27FC236}">
                <a16:creationId xmlns:a16="http://schemas.microsoft.com/office/drawing/2014/main" id="{A2724595-CC3C-77D0-35AC-01D43FB8393A}"/>
              </a:ext>
            </a:extLst>
          </p:cNvPr>
          <p:cNvSpPr txBox="1"/>
          <p:nvPr/>
        </p:nvSpPr>
        <p:spPr>
          <a:xfrm>
            <a:off x="1143000" y="32766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Connect the CI and p-value as two views of the same test 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The CI excludes zero exactly when the p-value falls below the significance level — both tools give the same verdict</a:t>
            </a:r>
          </a:p>
        </p:txBody>
      </p:sp>
      <p:sp>
        <p:nvSpPr>
          <p:cNvPr id="8" name="LO Circle 5">
            <a:extLst>
              <a:ext uri="{FF2B5EF4-FFF2-40B4-BE49-F238E27FC236}">
                <a16:creationId xmlns:a16="http://schemas.microsoft.com/office/drawing/2014/main" id="{AC4C129E-3C41-A47B-28F3-0F5773CC6079}"/>
              </a:ext>
            </a:extLst>
          </p:cNvPr>
          <p:cNvSpPr/>
          <p:nvPr/>
        </p:nvSpPr>
        <p:spPr>
          <a:xfrm>
            <a:off x="584200" y="44069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9" name="LO Text 5">
            <a:extLst>
              <a:ext uri="{FF2B5EF4-FFF2-40B4-BE49-F238E27FC236}">
                <a16:creationId xmlns:a16="http://schemas.microsoft.com/office/drawing/2014/main" id="{0DFD8052-A1C5-47D3-5D39-5B05AA17B06E}"/>
              </a:ext>
            </a:extLst>
          </p:cNvPr>
          <p:cNvSpPr txBox="1"/>
          <p:nvPr/>
        </p:nvSpPr>
        <p:spPr>
          <a:xfrm>
            <a:off x="1143000" y="43815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Read and interpret the full regression output for slope coefficients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Locate the estimate, SE, t, p, and CI columns in software output and state what each number means</a:t>
            </a:r>
          </a:p>
        </p:txBody>
      </p:sp>
    </p:spTree>
    <p:extLst>
      <p:ext uri="{BB962C8B-B14F-4D97-AF65-F5344CB8AC3E}">
        <p14:creationId xmlns:p14="http://schemas.microsoft.com/office/powerpoint/2010/main" val="508451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8912-BE95-45C4-FBFE-827197B37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dirty="0">
                <a:latin typeface="Montserrat"/>
              </a:rPr>
              <a:t>Understanding the Full Output for the Slope Coefficients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D2A191-BA9F-BB49-85FE-DC8513AD9FCB}"/>
              </a:ext>
            </a:extLst>
          </p:cNvPr>
          <p:cNvSpPr/>
          <p:nvPr/>
        </p:nvSpPr>
        <p:spPr>
          <a:xfrm>
            <a:off x="444500" y="2043544"/>
            <a:ext cx="2153174" cy="1175545"/>
          </a:xfrm>
          <a:prstGeom prst="roundRect">
            <a:avLst/>
          </a:prstGeom>
          <a:solidFill>
            <a:srgbClr val="FFF5F5"/>
          </a:solidFill>
          <a:ln w="12700" cap="flat" cmpd="sng" algn="ctr">
            <a:solidFill>
              <a:srgbClr val="D945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6000" tIns="36000" rIns="36000" bIns="36000" rtlCol="0" anchor="t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D94535"/>
                </a:solidFill>
                <a:latin typeface="Open Sans"/>
              </a:rPr>
              <a:t>b₁ = 0.386</a:t>
            </a:r>
          </a:p>
          <a:p>
            <a:pPr algn="ctr"/>
            <a:r>
              <a:rPr lang="en-US" sz="1200" dirty="0">
                <a:solidFill>
                  <a:srgbClr val="2E3640"/>
                </a:solidFill>
                <a:latin typeface="Open Sans"/>
              </a:rPr>
              <a:t>Our best-fit slope: birth weight increases 0.386 kgs per week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3E7CFA-2552-744F-AA2C-1653838BB470}"/>
              </a:ext>
            </a:extLst>
          </p:cNvPr>
          <p:cNvSpPr/>
          <p:nvPr/>
        </p:nvSpPr>
        <p:spPr>
          <a:xfrm>
            <a:off x="444500" y="1854198"/>
            <a:ext cx="1025321" cy="254000"/>
          </a:xfrm>
          <a:prstGeom prst="roundRect">
            <a:avLst/>
          </a:prstGeom>
          <a:solidFill>
            <a:srgbClr val="D945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Montserrat"/>
              </a:rPr>
              <a:t>ESTIMATE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BB1A0C-5FA6-1543-A807-FE0D8DBD87B3}"/>
              </a:ext>
            </a:extLst>
          </p:cNvPr>
          <p:cNvSpPr/>
          <p:nvPr/>
        </p:nvSpPr>
        <p:spPr>
          <a:xfrm>
            <a:off x="2761726" y="2043544"/>
            <a:ext cx="2153174" cy="1175545"/>
          </a:xfrm>
          <a:prstGeom prst="roundRect">
            <a:avLst/>
          </a:prstGeom>
          <a:solidFill>
            <a:srgbClr val="4698C9">
              <a:alpha val="30980"/>
            </a:srgbClr>
          </a:solidFill>
          <a:ln w="12700" cap="flat" cmpd="sng" algn="ctr">
            <a:solidFill>
              <a:srgbClr val="2B6CB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6000" tIns="36000" rIns="36000" bIns="36000" rtlCol="0" anchor="t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2B6CB0"/>
                </a:solidFill>
                <a:latin typeface="Open Sans"/>
              </a:rPr>
              <a:t>SE = 0.118</a:t>
            </a:r>
          </a:p>
          <a:p>
            <a:pPr algn="ctr"/>
            <a:r>
              <a:rPr lang="en-US" sz="1200" dirty="0">
                <a:solidFill>
                  <a:srgbClr val="2E3640"/>
                </a:solidFill>
                <a:latin typeface="Open Sans"/>
              </a:rPr>
              <a:t>Unit of slope uncertainty.</a:t>
            </a:r>
          </a:p>
          <a:p>
            <a:pPr algn="ctr"/>
            <a:r>
              <a:rPr lang="en-US" sz="1200" dirty="0">
                <a:solidFill>
                  <a:srgbClr val="2E3640"/>
                </a:solidFill>
                <a:latin typeface="Open Sans"/>
              </a:rPr>
              <a:t>High SE = More uncertain = Less precise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4247DD-07E7-944E-BDCB-C5901EB053FD}"/>
              </a:ext>
            </a:extLst>
          </p:cNvPr>
          <p:cNvSpPr/>
          <p:nvPr/>
        </p:nvSpPr>
        <p:spPr>
          <a:xfrm>
            <a:off x="2761726" y="1854198"/>
            <a:ext cx="1025321" cy="254000"/>
          </a:xfrm>
          <a:prstGeom prst="roundRect">
            <a:avLst/>
          </a:prstGeom>
          <a:solidFill>
            <a:srgbClr val="489B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Montserrat"/>
              </a:rPr>
              <a:t>STD. ERROR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FD9C59-E8C8-654F-991A-541886D5BC21}"/>
              </a:ext>
            </a:extLst>
          </p:cNvPr>
          <p:cNvSpPr/>
          <p:nvPr/>
        </p:nvSpPr>
        <p:spPr>
          <a:xfrm>
            <a:off x="7465776" y="2043545"/>
            <a:ext cx="2075754" cy="1175544"/>
          </a:xfrm>
          <a:prstGeom prst="roundRect">
            <a:avLst/>
          </a:prstGeom>
          <a:solidFill>
            <a:srgbClr val="F5FFF5"/>
          </a:solidFill>
          <a:ln w="12700" cap="flat" cmpd="sng" algn="ctr">
            <a:solidFill>
              <a:srgbClr val="2D8B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6000" tIns="36000" rIns="36000" bIns="36000" rtlCol="0" anchor="t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2D8B2D"/>
                </a:solidFill>
                <a:latin typeface="Open Sans"/>
              </a:rPr>
              <a:t>t = 3.26</a:t>
            </a:r>
          </a:p>
          <a:p>
            <a:pPr algn="ctr"/>
            <a:r>
              <a:rPr lang="en-US" sz="1200" dirty="0">
                <a:solidFill>
                  <a:srgbClr val="2E3640"/>
                </a:solidFill>
              </a:rPr>
              <a:t>= b1 / SE = 0.386 / 0.118</a:t>
            </a:r>
            <a:endParaRPr lang="en-US" sz="1200" dirty="0">
              <a:solidFill>
                <a:srgbClr val="2E3640"/>
              </a:solidFill>
              <a:latin typeface="Open Sans"/>
            </a:endParaRPr>
          </a:p>
          <a:p>
            <a:pPr algn="ctr"/>
            <a:r>
              <a:rPr lang="en-US" sz="1200" b="1" dirty="0">
                <a:solidFill>
                  <a:srgbClr val="2E3640"/>
                </a:solidFill>
                <a:latin typeface="Open Sans"/>
              </a:rPr>
              <a:t>Signal/noise</a:t>
            </a:r>
            <a:r>
              <a:rPr lang="en-US" sz="1200" dirty="0">
                <a:solidFill>
                  <a:srgbClr val="2E3640"/>
                </a:solidFill>
                <a:latin typeface="Open Sans"/>
              </a:rPr>
              <a:t>: slope is 3.26 SEs from zero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13A7F9-1F8B-0446-90DB-E685629FD9ED}"/>
              </a:ext>
            </a:extLst>
          </p:cNvPr>
          <p:cNvSpPr/>
          <p:nvPr/>
        </p:nvSpPr>
        <p:spPr>
          <a:xfrm>
            <a:off x="7465776" y="1854198"/>
            <a:ext cx="988454" cy="254000"/>
          </a:xfrm>
          <a:prstGeom prst="roundRect">
            <a:avLst/>
          </a:prstGeom>
          <a:solidFill>
            <a:srgbClr val="2D8B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Montserrat"/>
              </a:rPr>
              <a:t>T VALUE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FAE826-A7C4-1A47-9FCA-6BBA92E3C59F}"/>
              </a:ext>
            </a:extLst>
          </p:cNvPr>
          <p:cNvSpPr/>
          <p:nvPr/>
        </p:nvSpPr>
        <p:spPr>
          <a:xfrm>
            <a:off x="9651977" y="2043545"/>
            <a:ext cx="2292373" cy="1175544"/>
          </a:xfrm>
          <a:prstGeom prst="roundRect">
            <a:avLst/>
          </a:prstGeom>
          <a:solidFill>
            <a:srgbClr val="FFF8E7"/>
          </a:solidFill>
          <a:ln w="12700" cap="flat" cmpd="sng" algn="ctr">
            <a:solidFill>
              <a:srgbClr val="D495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6000" tIns="36000" rIns="36000" bIns="36000" rtlCol="0" anchor="t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D4952B"/>
                </a:solidFill>
                <a:latin typeface="Open Sans"/>
              </a:rPr>
              <a:t>p = 0.017</a:t>
            </a:r>
          </a:p>
          <a:p>
            <a:pPr algn="ctr"/>
            <a:r>
              <a:rPr lang="en-US" sz="1200" dirty="0">
                <a:solidFill>
                  <a:srgbClr val="2E3640"/>
                </a:solidFill>
              </a:rPr>
              <a:t>PR(&gt;|T|)</a:t>
            </a:r>
            <a:endParaRPr lang="en-US" sz="1200" dirty="0">
              <a:solidFill>
                <a:srgbClr val="2E3640"/>
              </a:solidFill>
              <a:latin typeface="Open Sans"/>
            </a:endParaRPr>
          </a:p>
          <a:p>
            <a:pPr algn="ctr"/>
            <a:r>
              <a:rPr lang="en-US" sz="1200" dirty="0">
                <a:solidFill>
                  <a:srgbClr val="2E3640"/>
                </a:solidFill>
                <a:latin typeface="Open Sans"/>
              </a:rPr>
              <a:t>Only 1.7% chance of seeing a t-value this extreme if no real relationship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3060623-7168-1F46-8047-54814ACDA5D1}"/>
              </a:ext>
            </a:extLst>
          </p:cNvPr>
          <p:cNvSpPr/>
          <p:nvPr/>
        </p:nvSpPr>
        <p:spPr>
          <a:xfrm>
            <a:off x="9651977" y="1854198"/>
            <a:ext cx="988454" cy="254000"/>
          </a:xfrm>
          <a:prstGeom prst="roundRect">
            <a:avLst/>
          </a:prstGeom>
          <a:solidFill>
            <a:srgbClr val="D495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Montserrat"/>
              </a:rPr>
              <a:t>P VALUE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6255D47-5223-F320-68FD-33DA0DD6C4A4}"/>
              </a:ext>
            </a:extLst>
          </p:cNvPr>
          <p:cNvSpPr/>
          <p:nvPr/>
        </p:nvSpPr>
        <p:spPr>
          <a:xfrm>
            <a:off x="5032501" y="2043544"/>
            <a:ext cx="2304712" cy="1175545"/>
          </a:xfrm>
          <a:prstGeom prst="roundRect">
            <a:avLst/>
          </a:prstGeom>
          <a:solidFill>
            <a:srgbClr val="F0F4FF"/>
          </a:solidFill>
          <a:ln w="12700" cap="flat" cmpd="sng" algn="ctr">
            <a:solidFill>
              <a:srgbClr val="2B6CB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36000" tIns="36000" rIns="36000" bIns="36000" rtlCol="0" anchor="t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2B6CB0"/>
                </a:solidFill>
                <a:latin typeface="Open Sans"/>
              </a:rPr>
              <a:t>CI : [</a:t>
            </a:r>
            <a:r>
              <a:rPr lang="en-US" sz="1400" b="1" dirty="0">
                <a:solidFill>
                  <a:srgbClr val="2B6CB0"/>
                </a:solidFill>
              </a:rPr>
              <a:t>0.096, 0.676]</a:t>
            </a:r>
            <a:endParaRPr lang="en-US" sz="1050" dirty="0">
              <a:solidFill>
                <a:srgbClr val="2E3640"/>
              </a:solidFill>
            </a:endParaRP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2E3640"/>
                </a:solidFill>
              </a:rPr>
              <a:t>= b₁ ± t* × SE </a:t>
            </a: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2E3640"/>
                </a:solidFill>
              </a:rPr>
              <a:t>Range we are 95% confident contains true slope</a:t>
            </a:r>
            <a:endParaRPr lang="en-US" sz="1200" dirty="0">
              <a:solidFill>
                <a:srgbClr val="2E3640"/>
              </a:solidFill>
              <a:latin typeface="Open Sans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562EAF0-E1AB-085B-1C69-479AC6BDB805}"/>
              </a:ext>
            </a:extLst>
          </p:cNvPr>
          <p:cNvSpPr/>
          <p:nvPr/>
        </p:nvSpPr>
        <p:spPr>
          <a:xfrm>
            <a:off x="5083766" y="1854198"/>
            <a:ext cx="1025321" cy="254000"/>
          </a:xfrm>
          <a:prstGeom prst="roundRect">
            <a:avLst/>
          </a:prstGeom>
          <a:solidFill>
            <a:srgbClr val="2B6C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Montserrat"/>
              </a:rPr>
              <a:t>CONF INT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4393E9A-35DF-886E-5F22-A9666D203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674294"/>
            <a:ext cx="3945354" cy="1055444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7577F76-A90C-5E07-6B9D-D9CEBA6AEBC6}"/>
              </a:ext>
            </a:extLst>
          </p:cNvPr>
          <p:cNvGrpSpPr/>
          <p:nvPr/>
        </p:nvGrpSpPr>
        <p:grpSpPr>
          <a:xfrm>
            <a:off x="1020439" y="700964"/>
            <a:ext cx="5618493" cy="1055444"/>
            <a:chOff x="1170927" y="731593"/>
            <a:chExt cx="5618493" cy="1055444"/>
          </a:xfrm>
        </p:grpSpPr>
        <p:pic>
          <p:nvPicPr>
            <p:cNvPr id="29" name="Picture 28" descr="A screenshot of a computer program&#10;&#10;AI-generated content may be incorrect.">
              <a:extLst>
                <a:ext uri="{FF2B5EF4-FFF2-40B4-BE49-F238E27FC236}">
                  <a16:creationId xmlns:a16="http://schemas.microsoft.com/office/drawing/2014/main" id="{778F48F3-AACF-993D-B4D2-2DC472A73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1659" r="19746" b="33576"/>
            <a:stretch>
              <a:fillRect/>
            </a:stretch>
          </p:blipFill>
          <p:spPr>
            <a:xfrm>
              <a:off x="1170927" y="731593"/>
              <a:ext cx="5618493" cy="1055444"/>
            </a:xfrm>
            <a:prstGeom prst="rect">
              <a:avLst/>
            </a:prstGeom>
            <a:ln w="1905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4726C64-730B-FB88-2AB9-6C00DFED2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3226" b="95733"/>
            <a:stretch>
              <a:fillRect/>
            </a:stretch>
          </p:blipFill>
          <p:spPr>
            <a:xfrm>
              <a:off x="1170927" y="780895"/>
              <a:ext cx="1728960" cy="212245"/>
            </a:xfrm>
            <a:prstGeom prst="rect">
              <a:avLst/>
            </a:prstGeom>
            <a:ln w="19050" cap="sq">
              <a:noFill/>
              <a:prstDash val="solid"/>
              <a:miter lim="800000"/>
            </a:ln>
            <a:effectLst/>
          </p:spPr>
        </p:pic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F7634B4-9DAE-6F07-33A9-7574D407DE97}"/>
              </a:ext>
            </a:extLst>
          </p:cNvPr>
          <p:cNvCxnSpPr>
            <a:cxnSpLocks/>
          </p:cNvCxnSpPr>
          <p:nvPr/>
        </p:nvCxnSpPr>
        <p:spPr>
          <a:xfrm>
            <a:off x="444500" y="3310601"/>
            <a:ext cx="11303000" cy="0"/>
          </a:xfrm>
          <a:prstGeom prst="straightConnector1">
            <a:avLst/>
          </a:prstGeom>
          <a:ln w="12700" cap="flat" cmpd="sng" algn="ctr">
            <a:solidFill>
              <a:srgbClr val="D0D8DC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Bell">
            <a:extLst>
              <a:ext uri="{FF2B5EF4-FFF2-40B4-BE49-F238E27FC236}">
                <a16:creationId xmlns:a16="http://schemas.microsoft.com/office/drawing/2014/main" id="{35B7A495-CAD3-A11B-4D72-F3ABE39DDD4A}"/>
              </a:ext>
            </a:extLst>
          </p:cNvPr>
          <p:cNvSpPr/>
          <p:nvPr/>
        </p:nvSpPr>
        <p:spPr>
          <a:xfrm>
            <a:off x="4110417" y="3901537"/>
            <a:ext cx="6519132" cy="1274366"/>
          </a:xfrm>
          <a:custGeom>
            <a:avLst/>
            <a:gdLst/>
            <a:ahLst/>
            <a:cxnLst/>
            <a:rect l="0" t="0" r="7033846" b="2540000"/>
            <a:pathLst>
              <a:path w="7033846" h="2540000">
                <a:moveTo>
                  <a:pt x="0" y="2538235"/>
                </a:moveTo>
                <a:lnTo>
                  <a:pt x="117231" y="2537157"/>
                </a:lnTo>
                <a:lnTo>
                  <a:pt x="234462" y="2535493"/>
                </a:lnTo>
                <a:lnTo>
                  <a:pt x="351693" y="2532972"/>
                </a:lnTo>
                <a:lnTo>
                  <a:pt x="468923" y="2529215"/>
                </a:lnTo>
                <a:lnTo>
                  <a:pt x="586154" y="2523716"/>
                </a:lnTo>
                <a:lnTo>
                  <a:pt x="703385" y="2515806"/>
                </a:lnTo>
                <a:lnTo>
                  <a:pt x="820616" y="2504631"/>
                </a:lnTo>
                <a:lnTo>
                  <a:pt x="937846" y="2489123"/>
                </a:lnTo>
                <a:lnTo>
                  <a:pt x="1055077" y="2467988"/>
                </a:lnTo>
                <a:lnTo>
                  <a:pt x="1172308" y="2439708"/>
                </a:lnTo>
                <a:lnTo>
                  <a:pt x="1289539" y="2402559"/>
                </a:lnTo>
                <a:lnTo>
                  <a:pt x="1406769" y="2354670"/>
                </a:lnTo>
                <a:lnTo>
                  <a:pt x="1524000" y="2294101"/>
                </a:lnTo>
                <a:lnTo>
                  <a:pt x="1641231" y="2218966"/>
                </a:lnTo>
                <a:lnTo>
                  <a:pt x="1758462" y="2127591"/>
                </a:lnTo>
                <a:lnTo>
                  <a:pt x="1875693" y="2018702"/>
                </a:lnTo>
                <a:lnTo>
                  <a:pt x="1992923" y="1891624"/>
                </a:lnTo>
                <a:lnTo>
                  <a:pt x="2110154" y="1746494"/>
                </a:lnTo>
                <a:lnTo>
                  <a:pt x="2227385" y="1584446"/>
                </a:lnTo>
                <a:lnTo>
                  <a:pt x="2344616" y="1407750"/>
                </a:lnTo>
                <a:lnTo>
                  <a:pt x="2461846" y="1219885"/>
                </a:lnTo>
                <a:lnTo>
                  <a:pt x="2579077" y="1025521"/>
                </a:lnTo>
                <a:lnTo>
                  <a:pt x="2696308" y="830391"/>
                </a:lnTo>
                <a:lnTo>
                  <a:pt x="2813539" y="641053"/>
                </a:lnTo>
                <a:lnTo>
                  <a:pt x="2930769" y="464557"/>
                </a:lnTo>
                <a:lnTo>
                  <a:pt x="3048000" y="308016"/>
                </a:lnTo>
                <a:lnTo>
                  <a:pt x="3165231" y="178144"/>
                </a:lnTo>
                <a:lnTo>
                  <a:pt x="3282462" y="80776"/>
                </a:lnTo>
                <a:lnTo>
                  <a:pt x="3399693" y="20439"/>
                </a:lnTo>
                <a:lnTo>
                  <a:pt x="3516923" y="0"/>
                </a:lnTo>
                <a:lnTo>
                  <a:pt x="3634154" y="20439"/>
                </a:lnTo>
                <a:lnTo>
                  <a:pt x="3751385" y="80776"/>
                </a:lnTo>
                <a:lnTo>
                  <a:pt x="3868616" y="178144"/>
                </a:lnTo>
                <a:lnTo>
                  <a:pt x="3985846" y="308016"/>
                </a:lnTo>
                <a:lnTo>
                  <a:pt x="4103077" y="464557"/>
                </a:lnTo>
                <a:lnTo>
                  <a:pt x="4220308" y="641053"/>
                </a:lnTo>
                <a:lnTo>
                  <a:pt x="4337539" y="830391"/>
                </a:lnTo>
                <a:lnTo>
                  <a:pt x="4454769" y="1025521"/>
                </a:lnTo>
                <a:lnTo>
                  <a:pt x="4572000" y="1219885"/>
                </a:lnTo>
                <a:lnTo>
                  <a:pt x="4689231" y="1407750"/>
                </a:lnTo>
                <a:lnTo>
                  <a:pt x="4806462" y="1584446"/>
                </a:lnTo>
                <a:lnTo>
                  <a:pt x="4923693" y="1746494"/>
                </a:lnTo>
                <a:lnTo>
                  <a:pt x="5040923" y="1891624"/>
                </a:lnTo>
                <a:lnTo>
                  <a:pt x="5158154" y="2018702"/>
                </a:lnTo>
                <a:lnTo>
                  <a:pt x="5275385" y="2127591"/>
                </a:lnTo>
                <a:lnTo>
                  <a:pt x="5392616" y="2218966"/>
                </a:lnTo>
                <a:lnTo>
                  <a:pt x="5509846" y="2294101"/>
                </a:lnTo>
                <a:lnTo>
                  <a:pt x="5627077" y="2354670"/>
                </a:lnTo>
                <a:lnTo>
                  <a:pt x="5744308" y="2402559"/>
                </a:lnTo>
                <a:lnTo>
                  <a:pt x="5861539" y="2439708"/>
                </a:lnTo>
                <a:lnTo>
                  <a:pt x="5978769" y="2467988"/>
                </a:lnTo>
                <a:lnTo>
                  <a:pt x="6096000" y="2489123"/>
                </a:lnTo>
                <a:lnTo>
                  <a:pt x="6213231" y="2504631"/>
                </a:lnTo>
                <a:lnTo>
                  <a:pt x="6330462" y="2515806"/>
                </a:lnTo>
                <a:lnTo>
                  <a:pt x="6447693" y="2523716"/>
                </a:lnTo>
                <a:lnTo>
                  <a:pt x="6564923" y="2529215"/>
                </a:lnTo>
                <a:lnTo>
                  <a:pt x="6682154" y="2532972"/>
                </a:lnTo>
                <a:lnTo>
                  <a:pt x="6799385" y="2535493"/>
                </a:lnTo>
                <a:lnTo>
                  <a:pt x="6916616" y="2537157"/>
                </a:lnTo>
                <a:lnTo>
                  <a:pt x="7033846" y="2538235"/>
                </a:lnTo>
                <a:lnTo>
                  <a:pt x="7033846" y="2540000"/>
                </a:lnTo>
                <a:lnTo>
                  <a:pt x="0" y="2540000"/>
                </a:lnTo>
                <a:close/>
              </a:path>
            </a:pathLst>
          </a:custGeom>
          <a:solidFill>
            <a:srgbClr val="F5C451">
              <a:alpha val="20000"/>
            </a:srgbClr>
          </a:solidFill>
          <a:ln w="3175" cap="rnd">
            <a:solidFill>
              <a:srgbClr val="F5C45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Right Triangle 203">
            <a:extLst>
              <a:ext uri="{FF2B5EF4-FFF2-40B4-BE49-F238E27FC236}">
                <a16:creationId xmlns:a16="http://schemas.microsoft.com/office/drawing/2014/main" id="{4CAD19C0-9538-4F18-C5E0-042D05492C98}"/>
              </a:ext>
            </a:extLst>
          </p:cNvPr>
          <p:cNvSpPr/>
          <p:nvPr/>
        </p:nvSpPr>
        <p:spPr>
          <a:xfrm flipH="1">
            <a:off x="4482209" y="5119524"/>
            <a:ext cx="911961" cy="51854"/>
          </a:xfrm>
          <a:prstGeom prst="rtTriangle">
            <a:avLst/>
          </a:prstGeom>
          <a:solidFill>
            <a:schemeClr val="accent5">
              <a:lumMod val="50000"/>
              <a:alpha val="6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9E83D4A5-C111-41DC-2BC8-56E90B4CA502}"/>
              </a:ext>
            </a:extLst>
          </p:cNvPr>
          <p:cNvGrpSpPr/>
          <p:nvPr/>
        </p:nvGrpSpPr>
        <p:grpSpPr>
          <a:xfrm>
            <a:off x="7146466" y="5114452"/>
            <a:ext cx="5143514" cy="372937"/>
            <a:chOff x="7146466" y="5059367"/>
            <a:chExt cx="5143514" cy="372937"/>
          </a:xfrm>
        </p:grpSpPr>
        <p:sp>
          <p:nvSpPr>
            <p:cNvPr id="141" name="NL6">
              <a:extLst>
                <a:ext uri="{FF2B5EF4-FFF2-40B4-BE49-F238E27FC236}">
                  <a16:creationId xmlns:a16="http://schemas.microsoft.com/office/drawing/2014/main" id="{D3EBAF4E-88CA-C5D3-5C77-F5E5703FB4E1}"/>
                </a:ext>
              </a:extLst>
            </p:cNvPr>
            <p:cNvSpPr/>
            <p:nvPr/>
          </p:nvSpPr>
          <p:spPr>
            <a:xfrm>
              <a:off x="7337213" y="5129293"/>
              <a:ext cx="4755374" cy="0"/>
            </a:xfrm>
            <a:prstGeom prst="line">
              <a:avLst/>
            </a:prstGeom>
            <a:ln w="15875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2" name="NL6Tk0">
              <a:extLst>
                <a:ext uri="{FF2B5EF4-FFF2-40B4-BE49-F238E27FC236}">
                  <a16:creationId xmlns:a16="http://schemas.microsoft.com/office/drawing/2014/main" id="{36A80F39-1D68-1C99-C291-19F3F43F2BFC}"/>
                </a:ext>
              </a:extLst>
            </p:cNvPr>
            <p:cNvSpPr/>
            <p:nvPr/>
          </p:nvSpPr>
          <p:spPr>
            <a:xfrm>
              <a:off x="7343859" y="5059367"/>
              <a:ext cx="0" cy="139852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3" name="NL6TL0">
              <a:extLst>
                <a:ext uri="{FF2B5EF4-FFF2-40B4-BE49-F238E27FC236}">
                  <a16:creationId xmlns:a16="http://schemas.microsoft.com/office/drawing/2014/main" id="{4FB1955A-1F8D-B85F-7BDC-DED27A0BD224}"/>
                </a:ext>
              </a:extLst>
            </p:cNvPr>
            <p:cNvSpPr/>
            <p:nvPr/>
          </p:nvSpPr>
          <p:spPr>
            <a:xfrm>
              <a:off x="7146466" y="5222527"/>
              <a:ext cx="394786" cy="209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50" dirty="0">
                  <a:solidFill>
                    <a:srgbClr val="2E3640"/>
                  </a:solidFill>
                  <a:latin typeface="Open Sans"/>
                </a:rPr>
                <a:t>0.0</a:t>
              </a:r>
            </a:p>
          </p:txBody>
        </p:sp>
        <p:sp>
          <p:nvSpPr>
            <p:cNvPr id="144" name="NL6Tk0.1">
              <a:extLst>
                <a:ext uri="{FF2B5EF4-FFF2-40B4-BE49-F238E27FC236}">
                  <a16:creationId xmlns:a16="http://schemas.microsoft.com/office/drawing/2014/main" id="{DAAFFF07-EA49-0B53-D570-5516C641F364}"/>
                </a:ext>
              </a:extLst>
            </p:cNvPr>
            <p:cNvSpPr/>
            <p:nvPr/>
          </p:nvSpPr>
          <p:spPr>
            <a:xfrm>
              <a:off x="7931635" y="5094330"/>
              <a:ext cx="0" cy="69925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5" name="NL6Tk0.2">
              <a:extLst>
                <a:ext uri="{FF2B5EF4-FFF2-40B4-BE49-F238E27FC236}">
                  <a16:creationId xmlns:a16="http://schemas.microsoft.com/office/drawing/2014/main" id="{D242ABF2-0A4E-187A-AFF4-6DCAC6F7C3E7}"/>
                </a:ext>
              </a:extLst>
            </p:cNvPr>
            <p:cNvSpPr/>
            <p:nvPr/>
          </p:nvSpPr>
          <p:spPr>
            <a:xfrm>
              <a:off x="8526057" y="5059367"/>
              <a:ext cx="0" cy="139852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6" name="NL6TL0.2">
              <a:extLst>
                <a:ext uri="{FF2B5EF4-FFF2-40B4-BE49-F238E27FC236}">
                  <a16:creationId xmlns:a16="http://schemas.microsoft.com/office/drawing/2014/main" id="{66C48826-523D-D974-1C6C-A558335DBC59}"/>
                </a:ext>
              </a:extLst>
            </p:cNvPr>
            <p:cNvSpPr/>
            <p:nvPr/>
          </p:nvSpPr>
          <p:spPr>
            <a:xfrm>
              <a:off x="8328664" y="5222527"/>
              <a:ext cx="394786" cy="209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50" dirty="0">
                  <a:solidFill>
                    <a:srgbClr val="2E3640"/>
                  </a:solidFill>
                  <a:latin typeface="Open Sans"/>
                </a:rPr>
                <a:t>0.2</a:t>
              </a:r>
            </a:p>
          </p:txBody>
        </p:sp>
        <p:sp>
          <p:nvSpPr>
            <p:cNvPr id="147" name="NL6Tk0.3">
              <a:extLst>
                <a:ext uri="{FF2B5EF4-FFF2-40B4-BE49-F238E27FC236}">
                  <a16:creationId xmlns:a16="http://schemas.microsoft.com/office/drawing/2014/main" id="{69EB2F03-7849-7761-189A-9EB0D6FA596C}"/>
                </a:ext>
              </a:extLst>
            </p:cNvPr>
            <p:cNvSpPr/>
            <p:nvPr/>
          </p:nvSpPr>
          <p:spPr>
            <a:xfrm>
              <a:off x="9120478" y="5094330"/>
              <a:ext cx="0" cy="69925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8" name="NL6Tk0.4">
              <a:extLst>
                <a:ext uri="{FF2B5EF4-FFF2-40B4-BE49-F238E27FC236}">
                  <a16:creationId xmlns:a16="http://schemas.microsoft.com/office/drawing/2014/main" id="{5F744606-66EB-820F-2372-9F7FE674B178}"/>
                </a:ext>
              </a:extLst>
            </p:cNvPr>
            <p:cNvSpPr/>
            <p:nvPr/>
          </p:nvSpPr>
          <p:spPr>
            <a:xfrm>
              <a:off x="9714901" y="5059367"/>
              <a:ext cx="0" cy="139852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9" name="NL6TL0.4">
              <a:extLst>
                <a:ext uri="{FF2B5EF4-FFF2-40B4-BE49-F238E27FC236}">
                  <a16:creationId xmlns:a16="http://schemas.microsoft.com/office/drawing/2014/main" id="{B3476B90-634E-E756-5CE9-3B3FE25A998C}"/>
                </a:ext>
              </a:extLst>
            </p:cNvPr>
            <p:cNvSpPr/>
            <p:nvPr/>
          </p:nvSpPr>
          <p:spPr>
            <a:xfrm>
              <a:off x="9517507" y="5222527"/>
              <a:ext cx="394786" cy="209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50" dirty="0">
                  <a:solidFill>
                    <a:srgbClr val="2E3640"/>
                  </a:solidFill>
                  <a:latin typeface="Open Sans"/>
                </a:rPr>
                <a:t>0.4</a:t>
              </a:r>
            </a:p>
          </p:txBody>
        </p:sp>
        <p:sp>
          <p:nvSpPr>
            <p:cNvPr id="150" name="NL6Tk0.5">
              <a:extLst>
                <a:ext uri="{FF2B5EF4-FFF2-40B4-BE49-F238E27FC236}">
                  <a16:creationId xmlns:a16="http://schemas.microsoft.com/office/drawing/2014/main" id="{73962452-4C6B-9A61-A889-4E1233538626}"/>
                </a:ext>
              </a:extLst>
            </p:cNvPr>
            <p:cNvSpPr/>
            <p:nvPr/>
          </p:nvSpPr>
          <p:spPr>
            <a:xfrm>
              <a:off x="10309322" y="5094330"/>
              <a:ext cx="0" cy="69925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1" name="NL6Tk0.6">
              <a:extLst>
                <a:ext uri="{FF2B5EF4-FFF2-40B4-BE49-F238E27FC236}">
                  <a16:creationId xmlns:a16="http://schemas.microsoft.com/office/drawing/2014/main" id="{51341392-E6E8-D6B3-BAB3-9770FDFDC43B}"/>
                </a:ext>
              </a:extLst>
            </p:cNvPr>
            <p:cNvSpPr/>
            <p:nvPr/>
          </p:nvSpPr>
          <p:spPr>
            <a:xfrm>
              <a:off x="10903743" y="5059367"/>
              <a:ext cx="0" cy="139852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2" name="NL6TL0.6">
              <a:extLst>
                <a:ext uri="{FF2B5EF4-FFF2-40B4-BE49-F238E27FC236}">
                  <a16:creationId xmlns:a16="http://schemas.microsoft.com/office/drawing/2014/main" id="{18C90CAB-8981-7756-E030-BE074E1AFB5B}"/>
                </a:ext>
              </a:extLst>
            </p:cNvPr>
            <p:cNvSpPr/>
            <p:nvPr/>
          </p:nvSpPr>
          <p:spPr>
            <a:xfrm>
              <a:off x="10706351" y="5222527"/>
              <a:ext cx="394786" cy="209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50" dirty="0">
                  <a:solidFill>
                    <a:srgbClr val="2E3640"/>
                  </a:solidFill>
                  <a:latin typeface="Open Sans"/>
                </a:rPr>
                <a:t>0.6</a:t>
              </a:r>
            </a:p>
          </p:txBody>
        </p:sp>
        <p:sp>
          <p:nvSpPr>
            <p:cNvPr id="153" name="NL6Tk0.7">
              <a:extLst>
                <a:ext uri="{FF2B5EF4-FFF2-40B4-BE49-F238E27FC236}">
                  <a16:creationId xmlns:a16="http://schemas.microsoft.com/office/drawing/2014/main" id="{32613B26-3673-2113-B424-F8FF0B1B204E}"/>
                </a:ext>
              </a:extLst>
            </p:cNvPr>
            <p:cNvSpPr/>
            <p:nvPr/>
          </p:nvSpPr>
          <p:spPr>
            <a:xfrm>
              <a:off x="11498165" y="5094330"/>
              <a:ext cx="0" cy="69925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4" name="NL6Tk0.8">
              <a:extLst>
                <a:ext uri="{FF2B5EF4-FFF2-40B4-BE49-F238E27FC236}">
                  <a16:creationId xmlns:a16="http://schemas.microsoft.com/office/drawing/2014/main" id="{8A7849F2-B668-4919-0970-8BF2D3417DD0}"/>
                </a:ext>
              </a:extLst>
            </p:cNvPr>
            <p:cNvSpPr/>
            <p:nvPr/>
          </p:nvSpPr>
          <p:spPr>
            <a:xfrm>
              <a:off x="12092587" y="5059367"/>
              <a:ext cx="0" cy="139852"/>
            </a:xfrm>
            <a:prstGeom prst="line">
              <a:avLst/>
            </a:prstGeom>
            <a:ln w="12700">
              <a:solidFill>
                <a:srgbClr val="2E3640"/>
              </a:solidFill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5" name="NL6TL0.8">
              <a:extLst>
                <a:ext uri="{FF2B5EF4-FFF2-40B4-BE49-F238E27FC236}">
                  <a16:creationId xmlns:a16="http://schemas.microsoft.com/office/drawing/2014/main" id="{6DDA68BC-DB24-1F65-E099-87948A39638F}"/>
                </a:ext>
              </a:extLst>
            </p:cNvPr>
            <p:cNvSpPr/>
            <p:nvPr/>
          </p:nvSpPr>
          <p:spPr>
            <a:xfrm>
              <a:off x="11895194" y="5222527"/>
              <a:ext cx="394786" cy="209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50" dirty="0">
                  <a:solidFill>
                    <a:srgbClr val="2E3640"/>
                  </a:solidFill>
                  <a:latin typeface="Open Sans"/>
                </a:rPr>
                <a:t>0.8</a:t>
              </a:r>
            </a:p>
          </p:txBody>
        </p:sp>
      </p:grpSp>
      <p:sp>
        <p:nvSpPr>
          <p:cNvPr id="156" name="B1Dot6">
            <a:extLst>
              <a:ext uri="{FF2B5EF4-FFF2-40B4-BE49-F238E27FC236}">
                <a16:creationId xmlns:a16="http://schemas.microsoft.com/office/drawing/2014/main" id="{02C8EA75-DBC6-F8BD-A788-4A871EEB0A6C}"/>
              </a:ext>
            </a:extLst>
          </p:cNvPr>
          <p:cNvSpPr/>
          <p:nvPr/>
        </p:nvSpPr>
        <p:spPr>
          <a:xfrm>
            <a:off x="9559903" y="5103462"/>
            <a:ext cx="143559" cy="163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4535"/>
            </a:solidFill>
          </a:ln>
        </p:spPr>
        <p:txBody>
          <a:bodyPr/>
          <a:lstStyle/>
          <a:p>
            <a:endParaRPr lang="en-US" sz="2000"/>
          </a:p>
        </p:txBody>
      </p:sp>
      <p:cxnSp>
        <p:nvCxnSpPr>
          <p:cNvPr id="160" name="DotLine">
            <a:extLst>
              <a:ext uri="{FF2B5EF4-FFF2-40B4-BE49-F238E27FC236}">
                <a16:creationId xmlns:a16="http://schemas.microsoft.com/office/drawing/2014/main" id="{4B2C2742-AAB6-7C9E-E7E5-69BEA9DC42A2}"/>
              </a:ext>
            </a:extLst>
          </p:cNvPr>
          <p:cNvCxnSpPr>
            <a:cxnSpLocks/>
            <a:endCxn id="156" idx="4"/>
          </p:cNvCxnSpPr>
          <p:nvPr/>
        </p:nvCxnSpPr>
        <p:spPr>
          <a:xfrm>
            <a:off x="9631683" y="4191199"/>
            <a:ext cx="0" cy="1075423"/>
          </a:xfrm>
          <a:prstGeom prst="line">
            <a:avLst/>
          </a:prstGeom>
          <a:ln w="19050">
            <a:solidFill>
              <a:srgbClr val="D94535"/>
            </a:solidFill>
            <a:prstDash val="dash"/>
          </a:ln>
        </p:spPr>
      </p:cxnSp>
      <p:sp>
        <p:nvSpPr>
          <p:cNvPr id="161" name="BLabel">
            <a:extLst>
              <a:ext uri="{FF2B5EF4-FFF2-40B4-BE49-F238E27FC236}">
                <a16:creationId xmlns:a16="http://schemas.microsoft.com/office/drawing/2014/main" id="{E6435692-D01B-8E7B-B0E4-C1BD31DDF529}"/>
              </a:ext>
            </a:extLst>
          </p:cNvPr>
          <p:cNvSpPr/>
          <p:nvPr/>
        </p:nvSpPr>
        <p:spPr>
          <a:xfrm>
            <a:off x="9162472" y="4003230"/>
            <a:ext cx="1047349" cy="185560"/>
          </a:xfrm>
          <a:prstGeom prst="roundRect">
            <a:avLst>
              <a:gd name="adj" fmla="val 16667"/>
            </a:avLst>
          </a:prstGeom>
          <a:solidFill>
            <a:srgbClr val="D94535"/>
          </a:solidFill>
          <a:ln>
            <a:noFill/>
          </a:ln>
        </p:spPr>
        <p:txBody>
          <a:bodyPr wrap="none" lIns="36000" tIns="0" rIns="36000" bIns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Open Sans"/>
              </a:rPr>
              <a:t>b₁ = 0.386</a:t>
            </a:r>
          </a:p>
        </p:txBody>
      </p:sp>
      <p:sp>
        <p:nvSpPr>
          <p:cNvPr id="162" name="Right Triangle 161">
            <a:extLst>
              <a:ext uri="{FF2B5EF4-FFF2-40B4-BE49-F238E27FC236}">
                <a16:creationId xmlns:a16="http://schemas.microsoft.com/office/drawing/2014/main" id="{11FA5DAC-BEAA-F727-6FC5-58739F91FFDD}"/>
              </a:ext>
            </a:extLst>
          </p:cNvPr>
          <p:cNvSpPr/>
          <p:nvPr/>
        </p:nvSpPr>
        <p:spPr>
          <a:xfrm>
            <a:off x="9686147" y="5119523"/>
            <a:ext cx="611736" cy="83627"/>
          </a:xfrm>
          <a:prstGeom prst="rtTriangle">
            <a:avLst/>
          </a:prstGeom>
          <a:solidFill>
            <a:schemeClr val="accent5">
              <a:lumMod val="50000"/>
              <a:alpha val="6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7A2DDF12-8BD5-820D-8DDB-0F7C4F3F6E8E}"/>
              </a:ext>
            </a:extLst>
          </p:cNvPr>
          <p:cNvSpPr/>
          <p:nvPr/>
        </p:nvSpPr>
        <p:spPr>
          <a:xfrm>
            <a:off x="10143784" y="4304891"/>
            <a:ext cx="2048216" cy="3116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rmAutofit/>
          </a:bodyPr>
          <a:lstStyle/>
          <a:p>
            <a:r>
              <a:rPr lang="en-US" sz="1100" dirty="0">
                <a:solidFill>
                  <a:srgbClr val="2E3640"/>
                </a:solidFill>
              </a:rPr>
              <a:t>p-value = 0.86% * 2 = 1.72%</a:t>
            </a:r>
          </a:p>
        </p:txBody>
      </p:sp>
      <p:cxnSp>
        <p:nvCxnSpPr>
          <p:cNvPr id="167" name="DotLine">
            <a:extLst>
              <a:ext uri="{FF2B5EF4-FFF2-40B4-BE49-F238E27FC236}">
                <a16:creationId xmlns:a16="http://schemas.microsoft.com/office/drawing/2014/main" id="{0AB05372-45DD-477F-20FC-91F0CE723BE8}"/>
              </a:ext>
            </a:extLst>
          </p:cNvPr>
          <p:cNvCxnSpPr>
            <a:cxnSpLocks/>
          </p:cNvCxnSpPr>
          <p:nvPr/>
        </p:nvCxnSpPr>
        <p:spPr>
          <a:xfrm flipH="1">
            <a:off x="9857816" y="4629656"/>
            <a:ext cx="318716" cy="515795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F1438251-FAE5-113F-B27D-8CBF0EF3EADD}"/>
              </a:ext>
            </a:extLst>
          </p:cNvPr>
          <p:cNvGrpSpPr/>
          <p:nvPr/>
        </p:nvGrpSpPr>
        <p:grpSpPr>
          <a:xfrm>
            <a:off x="7918343" y="5184378"/>
            <a:ext cx="3460225" cy="1505529"/>
            <a:chOff x="7918343" y="5129293"/>
            <a:chExt cx="3460225" cy="1505529"/>
          </a:xfrm>
        </p:grpSpPr>
        <p:sp>
          <p:nvSpPr>
            <p:cNvPr id="157" name="CILW7">
              <a:extLst>
                <a:ext uri="{FF2B5EF4-FFF2-40B4-BE49-F238E27FC236}">
                  <a16:creationId xmlns:a16="http://schemas.microsoft.com/office/drawing/2014/main" id="{349BEC4E-ED6B-3087-9ABF-FFB61D898671}"/>
                </a:ext>
              </a:extLst>
            </p:cNvPr>
            <p:cNvSpPr/>
            <p:nvPr/>
          </p:nvSpPr>
          <p:spPr>
            <a:xfrm>
              <a:off x="7918343" y="5145762"/>
              <a:ext cx="6646" cy="1489060"/>
            </a:xfrm>
            <a:prstGeom prst="line">
              <a:avLst/>
            </a:prstGeom>
            <a:ln w="15875">
              <a:solidFill>
                <a:srgbClr val="2B6CB0"/>
              </a:solidFill>
              <a:prstDash val="sysDash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8" name="CILVal7">
              <a:extLst>
                <a:ext uri="{FF2B5EF4-FFF2-40B4-BE49-F238E27FC236}">
                  <a16:creationId xmlns:a16="http://schemas.microsoft.com/office/drawing/2014/main" id="{6473D156-BE3E-F0C5-6665-3CF979584B24}"/>
                </a:ext>
              </a:extLst>
            </p:cNvPr>
            <p:cNvSpPr/>
            <p:nvPr/>
          </p:nvSpPr>
          <p:spPr>
            <a:xfrm>
              <a:off x="7924989" y="5807301"/>
              <a:ext cx="448620" cy="186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00" b="1" dirty="0">
                  <a:solidFill>
                    <a:srgbClr val="2B6CB0"/>
                  </a:solidFill>
                  <a:latin typeface="Open Sans"/>
                </a:rPr>
                <a:t>0.096</a:t>
              </a:r>
            </a:p>
          </p:txBody>
        </p:sp>
        <p:sp>
          <p:nvSpPr>
            <p:cNvPr id="159" name="CIRVal7">
              <a:extLst>
                <a:ext uri="{FF2B5EF4-FFF2-40B4-BE49-F238E27FC236}">
                  <a16:creationId xmlns:a16="http://schemas.microsoft.com/office/drawing/2014/main" id="{2782015E-3396-A749-46D8-1ED7C51E4206}"/>
                </a:ext>
              </a:extLst>
            </p:cNvPr>
            <p:cNvSpPr/>
            <p:nvPr/>
          </p:nvSpPr>
          <p:spPr>
            <a:xfrm>
              <a:off x="10913316" y="5819291"/>
              <a:ext cx="448620" cy="1864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en-US" sz="1000" b="1" dirty="0">
                  <a:solidFill>
                    <a:srgbClr val="2B6CB0"/>
                  </a:solidFill>
                  <a:latin typeface="Open Sans"/>
                </a:rPr>
                <a:t>0.676</a:t>
              </a:r>
            </a:p>
          </p:txBody>
        </p:sp>
        <p:sp>
          <p:nvSpPr>
            <p:cNvPr id="165" name="CIBar7">
              <a:extLst>
                <a:ext uri="{FF2B5EF4-FFF2-40B4-BE49-F238E27FC236}">
                  <a16:creationId xmlns:a16="http://schemas.microsoft.com/office/drawing/2014/main" id="{DA9C24A9-37E7-13B0-0114-A644FF1974EA}"/>
                </a:ext>
              </a:extLst>
            </p:cNvPr>
            <p:cNvSpPr/>
            <p:nvPr/>
          </p:nvSpPr>
          <p:spPr>
            <a:xfrm>
              <a:off x="7931635" y="6205012"/>
              <a:ext cx="3436947" cy="429809"/>
            </a:xfrm>
            <a:prstGeom prst="rect">
              <a:avLst/>
            </a:prstGeom>
            <a:solidFill>
              <a:srgbClr val="F1F4FF"/>
            </a:solidFill>
            <a:ln>
              <a:solidFill>
                <a:srgbClr val="0070C0"/>
              </a:solidFill>
            </a:ln>
          </p:spPr>
          <p:txBody>
            <a:bodyPr anchor="ctr"/>
            <a:lstStyle/>
            <a:p>
              <a:pPr algn="ctr"/>
              <a:r>
                <a:rPr lang="en-US" sz="1050" b="1" dirty="0">
                  <a:solidFill>
                    <a:srgbClr val="2B6CB0"/>
                  </a:solidFill>
                  <a:latin typeface="Open Sans"/>
                </a:rPr>
                <a:t>True slope’s plausible region: ± 2.45 SE</a:t>
              </a:r>
            </a:p>
            <a:p>
              <a:pPr algn="ctr"/>
              <a:r>
                <a:rPr lang="en-US" sz="1050" b="1" dirty="0">
                  <a:solidFill>
                    <a:srgbClr val="2B6CB0"/>
                  </a:solidFill>
                  <a:latin typeface="Open Sans"/>
                </a:rPr>
                <a:t>95% Confidence Interval</a:t>
              </a:r>
            </a:p>
          </p:txBody>
        </p:sp>
        <p:sp>
          <p:nvSpPr>
            <p:cNvPr id="166" name="CIRW7">
              <a:extLst>
                <a:ext uri="{FF2B5EF4-FFF2-40B4-BE49-F238E27FC236}">
                  <a16:creationId xmlns:a16="http://schemas.microsoft.com/office/drawing/2014/main" id="{D5D1BC5B-A788-C18D-D4F8-BA5C23D7D0F9}"/>
                </a:ext>
              </a:extLst>
            </p:cNvPr>
            <p:cNvSpPr/>
            <p:nvPr/>
          </p:nvSpPr>
          <p:spPr>
            <a:xfrm flipH="1">
              <a:off x="11361934" y="5129293"/>
              <a:ext cx="6646" cy="1489061"/>
            </a:xfrm>
            <a:prstGeom prst="line">
              <a:avLst/>
            </a:prstGeom>
            <a:ln w="15875">
              <a:solidFill>
                <a:srgbClr val="2B6CB0"/>
              </a:solidFill>
              <a:prstDash val="sysDash"/>
            </a:ln>
          </p:spPr>
          <p:txBody>
            <a:bodyPr/>
            <a:lstStyle/>
            <a:p>
              <a:endParaRPr lang="en-US" sz="2000"/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450AABA5-AE80-D198-BA7D-70417D9A06F5}"/>
                </a:ext>
              </a:extLst>
            </p:cNvPr>
            <p:cNvGrpSpPr/>
            <p:nvPr/>
          </p:nvGrpSpPr>
          <p:grpSpPr>
            <a:xfrm>
              <a:off x="7941627" y="6072381"/>
              <a:ext cx="3436941" cy="139778"/>
              <a:chOff x="7674600" y="4901590"/>
              <a:chExt cx="3052621" cy="124385"/>
            </a:xfrm>
          </p:grpSpPr>
          <p:sp>
            <p:nvSpPr>
              <p:cNvPr id="187" name="CIBar7">
                <a:extLst>
                  <a:ext uri="{FF2B5EF4-FFF2-40B4-BE49-F238E27FC236}">
                    <a16:creationId xmlns:a16="http://schemas.microsoft.com/office/drawing/2014/main" id="{292F3BA4-0C69-ED4B-E39B-CAC48181B433}"/>
                  </a:ext>
                </a:extLst>
              </p:cNvPr>
              <p:cNvSpPr/>
              <p:nvPr/>
            </p:nvSpPr>
            <p:spPr>
              <a:xfrm>
                <a:off x="9202825" y="4916652"/>
                <a:ext cx="618774" cy="89924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rIns="0" anchor="ctr"/>
              <a:lstStyle/>
              <a:p>
                <a:pPr algn="ctr"/>
                <a:r>
                  <a:rPr lang="en-US" sz="900" b="1" dirty="0">
                    <a:solidFill>
                      <a:srgbClr val="2B6CB0"/>
                    </a:solidFill>
                    <a:latin typeface="Open Sans"/>
                  </a:rPr>
                  <a:t>1SE</a:t>
                </a:r>
                <a:endParaRPr lang="en-US" sz="900" dirty="0"/>
              </a:p>
            </p:txBody>
          </p:sp>
          <p:sp>
            <p:nvSpPr>
              <p:cNvPr id="188" name="CILW7">
                <a:extLst>
                  <a:ext uri="{FF2B5EF4-FFF2-40B4-BE49-F238E27FC236}">
                    <a16:creationId xmlns:a16="http://schemas.microsoft.com/office/drawing/2014/main" id="{03F58073-2C1A-A077-6400-08E853098D4E}"/>
                  </a:ext>
                </a:extLst>
              </p:cNvPr>
              <p:cNvSpPr/>
              <p:nvPr/>
            </p:nvSpPr>
            <p:spPr>
              <a:xfrm>
                <a:off x="9196928" y="4901590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89" name="CILW7">
                <a:extLst>
                  <a:ext uri="{FF2B5EF4-FFF2-40B4-BE49-F238E27FC236}">
                    <a16:creationId xmlns:a16="http://schemas.microsoft.com/office/drawing/2014/main" id="{CD9B0C5E-DC47-2027-4888-680F9B05CD23}"/>
                  </a:ext>
                </a:extLst>
              </p:cNvPr>
              <p:cNvSpPr/>
              <p:nvPr/>
            </p:nvSpPr>
            <p:spPr>
              <a:xfrm>
                <a:off x="9822879" y="4901590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90" name="CIBar7">
                <a:extLst>
                  <a:ext uri="{FF2B5EF4-FFF2-40B4-BE49-F238E27FC236}">
                    <a16:creationId xmlns:a16="http://schemas.microsoft.com/office/drawing/2014/main" id="{925B8276-002F-6E06-BD16-DF49856A754D}"/>
                  </a:ext>
                </a:extLst>
              </p:cNvPr>
              <p:cNvSpPr/>
              <p:nvPr/>
            </p:nvSpPr>
            <p:spPr>
              <a:xfrm>
                <a:off x="9828775" y="4919212"/>
                <a:ext cx="618774" cy="89924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rIns="0" anchor="ctr"/>
              <a:lstStyle/>
              <a:p>
                <a:pPr algn="ctr"/>
                <a:r>
                  <a:rPr lang="en-US" sz="900" b="1" dirty="0">
                    <a:solidFill>
                      <a:srgbClr val="2B6CB0"/>
                    </a:solidFill>
                    <a:latin typeface="Open Sans"/>
                  </a:rPr>
                  <a:t>1SE</a:t>
                </a:r>
                <a:endParaRPr lang="en-US" sz="900" dirty="0"/>
              </a:p>
            </p:txBody>
          </p:sp>
          <p:sp>
            <p:nvSpPr>
              <p:cNvPr id="191" name="CILW7">
                <a:extLst>
                  <a:ext uri="{FF2B5EF4-FFF2-40B4-BE49-F238E27FC236}">
                    <a16:creationId xmlns:a16="http://schemas.microsoft.com/office/drawing/2014/main" id="{57E1D8A6-BEBD-233F-DD8B-F25D755D55C9}"/>
                  </a:ext>
                </a:extLst>
              </p:cNvPr>
              <p:cNvSpPr/>
              <p:nvPr/>
            </p:nvSpPr>
            <p:spPr>
              <a:xfrm>
                <a:off x="9822878" y="4904150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92" name="CILW7">
                <a:extLst>
                  <a:ext uri="{FF2B5EF4-FFF2-40B4-BE49-F238E27FC236}">
                    <a16:creationId xmlns:a16="http://schemas.microsoft.com/office/drawing/2014/main" id="{28E5CF59-D15D-113F-CD80-49A87919FF7D}"/>
                  </a:ext>
                </a:extLst>
              </p:cNvPr>
              <p:cNvSpPr/>
              <p:nvPr/>
            </p:nvSpPr>
            <p:spPr>
              <a:xfrm>
                <a:off x="10448828" y="4904150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93" name="CIBar7">
                <a:extLst>
                  <a:ext uri="{FF2B5EF4-FFF2-40B4-BE49-F238E27FC236}">
                    <a16:creationId xmlns:a16="http://schemas.microsoft.com/office/drawing/2014/main" id="{7FD482D3-33BD-A30A-E757-C1C088089299}"/>
                  </a:ext>
                </a:extLst>
              </p:cNvPr>
              <p:cNvSpPr/>
              <p:nvPr/>
            </p:nvSpPr>
            <p:spPr>
              <a:xfrm>
                <a:off x="10454724" y="4917724"/>
                <a:ext cx="272497" cy="89924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rIns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94" name="CILW7">
                <a:extLst>
                  <a:ext uri="{FF2B5EF4-FFF2-40B4-BE49-F238E27FC236}">
                    <a16:creationId xmlns:a16="http://schemas.microsoft.com/office/drawing/2014/main" id="{83CEA171-53EF-0855-94DD-503B539B988A}"/>
                  </a:ext>
                </a:extLst>
              </p:cNvPr>
              <p:cNvSpPr/>
              <p:nvPr/>
            </p:nvSpPr>
            <p:spPr>
              <a:xfrm>
                <a:off x="10448826" y="4902662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95" name="CIBar7">
                <a:extLst>
                  <a:ext uri="{FF2B5EF4-FFF2-40B4-BE49-F238E27FC236}">
                    <a16:creationId xmlns:a16="http://schemas.microsoft.com/office/drawing/2014/main" id="{DFE056F6-E5B2-53DD-8C4B-9EE98CC1EEDC}"/>
                  </a:ext>
                </a:extLst>
              </p:cNvPr>
              <p:cNvSpPr/>
              <p:nvPr/>
            </p:nvSpPr>
            <p:spPr>
              <a:xfrm>
                <a:off x="7674600" y="4917724"/>
                <a:ext cx="272102" cy="89924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rIns="0" anchor="ctr"/>
              <a:lstStyle/>
              <a:p>
                <a:pPr algn="ctr"/>
                <a:endParaRPr lang="en-US" sz="900" dirty="0"/>
              </a:p>
            </p:txBody>
          </p:sp>
          <p:sp>
            <p:nvSpPr>
              <p:cNvPr id="196" name="CILW7">
                <a:extLst>
                  <a:ext uri="{FF2B5EF4-FFF2-40B4-BE49-F238E27FC236}">
                    <a16:creationId xmlns:a16="http://schemas.microsoft.com/office/drawing/2014/main" id="{35E747A1-C0D6-821F-87BB-2BCF0C60798A}"/>
                  </a:ext>
                </a:extLst>
              </p:cNvPr>
              <p:cNvSpPr/>
              <p:nvPr/>
            </p:nvSpPr>
            <p:spPr>
              <a:xfrm>
                <a:off x="7947981" y="4902662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97" name="CIBar7">
                <a:extLst>
                  <a:ext uri="{FF2B5EF4-FFF2-40B4-BE49-F238E27FC236}">
                    <a16:creationId xmlns:a16="http://schemas.microsoft.com/office/drawing/2014/main" id="{2E321AB0-DD04-63DB-4579-1E7B13EBF2C5}"/>
                  </a:ext>
                </a:extLst>
              </p:cNvPr>
              <p:cNvSpPr/>
              <p:nvPr/>
            </p:nvSpPr>
            <p:spPr>
              <a:xfrm>
                <a:off x="7953878" y="4920284"/>
                <a:ext cx="618774" cy="89924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rIns="0" anchor="ctr"/>
              <a:lstStyle/>
              <a:p>
                <a:pPr algn="ctr"/>
                <a:r>
                  <a:rPr lang="en-US" sz="900" b="1" dirty="0">
                    <a:solidFill>
                      <a:srgbClr val="2B6CB0"/>
                    </a:solidFill>
                    <a:latin typeface="Open Sans"/>
                  </a:rPr>
                  <a:t>1SE</a:t>
                </a:r>
                <a:endParaRPr lang="en-US" sz="900" dirty="0"/>
              </a:p>
            </p:txBody>
          </p:sp>
          <p:sp>
            <p:nvSpPr>
              <p:cNvPr id="198" name="CILW7">
                <a:extLst>
                  <a:ext uri="{FF2B5EF4-FFF2-40B4-BE49-F238E27FC236}">
                    <a16:creationId xmlns:a16="http://schemas.microsoft.com/office/drawing/2014/main" id="{20ED9117-776F-5F25-75AF-1709338557F7}"/>
                  </a:ext>
                </a:extLst>
              </p:cNvPr>
              <p:cNvSpPr/>
              <p:nvPr/>
            </p:nvSpPr>
            <p:spPr>
              <a:xfrm>
                <a:off x="7947980" y="4905222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99" name="CILW7">
                <a:extLst>
                  <a:ext uri="{FF2B5EF4-FFF2-40B4-BE49-F238E27FC236}">
                    <a16:creationId xmlns:a16="http://schemas.microsoft.com/office/drawing/2014/main" id="{BA8DD7D6-6B6A-6100-32CC-9F518C8748C9}"/>
                  </a:ext>
                </a:extLst>
              </p:cNvPr>
              <p:cNvSpPr/>
              <p:nvPr/>
            </p:nvSpPr>
            <p:spPr>
              <a:xfrm>
                <a:off x="8573931" y="4905222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200" name="CIBar7">
                <a:extLst>
                  <a:ext uri="{FF2B5EF4-FFF2-40B4-BE49-F238E27FC236}">
                    <a16:creationId xmlns:a16="http://schemas.microsoft.com/office/drawing/2014/main" id="{C3CD57EA-9F18-65F8-929B-31E403D4B074}"/>
                  </a:ext>
                </a:extLst>
              </p:cNvPr>
              <p:cNvSpPr/>
              <p:nvPr/>
            </p:nvSpPr>
            <p:spPr>
              <a:xfrm>
                <a:off x="8579827" y="4918796"/>
                <a:ext cx="618774" cy="89924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rIns="0" anchor="ctr"/>
              <a:lstStyle/>
              <a:p>
                <a:pPr algn="ctr"/>
                <a:r>
                  <a:rPr lang="en-US" sz="900" b="1" dirty="0">
                    <a:solidFill>
                      <a:srgbClr val="2B6CB0"/>
                    </a:solidFill>
                    <a:latin typeface="Open Sans"/>
                  </a:rPr>
                  <a:t>1SE</a:t>
                </a:r>
                <a:endParaRPr lang="en-US" sz="900" dirty="0"/>
              </a:p>
            </p:txBody>
          </p:sp>
          <p:sp>
            <p:nvSpPr>
              <p:cNvPr id="201" name="CILW7">
                <a:extLst>
                  <a:ext uri="{FF2B5EF4-FFF2-40B4-BE49-F238E27FC236}">
                    <a16:creationId xmlns:a16="http://schemas.microsoft.com/office/drawing/2014/main" id="{3B00C107-A3B6-3258-2298-E4FBA704FB02}"/>
                  </a:ext>
                </a:extLst>
              </p:cNvPr>
              <p:cNvSpPr/>
              <p:nvPr/>
            </p:nvSpPr>
            <p:spPr>
              <a:xfrm>
                <a:off x="8573929" y="4903734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202" name="CILW7">
                <a:extLst>
                  <a:ext uri="{FF2B5EF4-FFF2-40B4-BE49-F238E27FC236}">
                    <a16:creationId xmlns:a16="http://schemas.microsoft.com/office/drawing/2014/main" id="{410F4FC3-B683-34D7-8CBC-E8C5C0A3473B}"/>
                  </a:ext>
                </a:extLst>
              </p:cNvPr>
              <p:cNvSpPr/>
              <p:nvPr/>
            </p:nvSpPr>
            <p:spPr>
              <a:xfrm>
                <a:off x="9199880" y="4903734"/>
                <a:ext cx="0" cy="120753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C8B948B-4E04-4BA5-CF0C-B61CDA46E26F}"/>
              </a:ext>
            </a:extLst>
          </p:cNvPr>
          <p:cNvGrpSpPr/>
          <p:nvPr/>
        </p:nvGrpSpPr>
        <p:grpSpPr>
          <a:xfrm>
            <a:off x="7350856" y="4810627"/>
            <a:ext cx="2261173" cy="152651"/>
            <a:chOff x="7182260" y="4223241"/>
            <a:chExt cx="2008328" cy="313966"/>
          </a:xfrm>
        </p:grpSpPr>
        <p:sp>
          <p:nvSpPr>
            <p:cNvPr id="125" name="CIBar7">
              <a:extLst>
                <a:ext uri="{FF2B5EF4-FFF2-40B4-BE49-F238E27FC236}">
                  <a16:creationId xmlns:a16="http://schemas.microsoft.com/office/drawing/2014/main" id="{91855864-9959-7D7A-31F7-31AA03A0162F}"/>
                </a:ext>
              </a:extLst>
            </p:cNvPr>
            <p:cNvSpPr/>
            <p:nvPr/>
          </p:nvSpPr>
          <p:spPr>
            <a:xfrm>
              <a:off x="8437132" y="4261261"/>
              <a:ext cx="618774" cy="226982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rIns="0" anchor="ctr"/>
            <a:lstStyle/>
            <a:p>
              <a:pPr algn="ctr"/>
              <a:r>
                <a:rPr lang="en-US" sz="900" b="1" dirty="0">
                  <a:solidFill>
                    <a:srgbClr val="2B6CB0"/>
                  </a:solidFill>
                  <a:latin typeface="Open Sans"/>
                </a:rPr>
                <a:t>1SE</a:t>
              </a:r>
              <a:endParaRPr lang="en-US" sz="900" dirty="0"/>
            </a:p>
          </p:txBody>
        </p:sp>
        <p:sp>
          <p:nvSpPr>
            <p:cNvPr id="126" name="CILW7">
              <a:extLst>
                <a:ext uri="{FF2B5EF4-FFF2-40B4-BE49-F238E27FC236}">
                  <a16:creationId xmlns:a16="http://schemas.microsoft.com/office/drawing/2014/main" id="{0FCB93EA-79A6-996D-03BC-4A00FD03F147}"/>
                </a:ext>
              </a:extLst>
            </p:cNvPr>
            <p:cNvSpPr/>
            <p:nvPr/>
          </p:nvSpPr>
          <p:spPr>
            <a:xfrm>
              <a:off x="8431235" y="4223241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anchor="ctr"/>
            <a:lstStyle/>
            <a:p>
              <a:endParaRPr lang="en-US" sz="2000"/>
            </a:p>
          </p:txBody>
        </p:sp>
        <p:sp>
          <p:nvSpPr>
            <p:cNvPr id="127" name="CILW7">
              <a:extLst>
                <a:ext uri="{FF2B5EF4-FFF2-40B4-BE49-F238E27FC236}">
                  <a16:creationId xmlns:a16="http://schemas.microsoft.com/office/drawing/2014/main" id="{3550FE1A-AA7D-8A98-A6FF-45D9C867033E}"/>
                </a:ext>
              </a:extLst>
            </p:cNvPr>
            <p:cNvSpPr/>
            <p:nvPr/>
          </p:nvSpPr>
          <p:spPr>
            <a:xfrm>
              <a:off x="9057186" y="4223241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anchor="ctr"/>
            <a:lstStyle/>
            <a:p>
              <a:endParaRPr lang="en-US" sz="2000"/>
            </a:p>
          </p:txBody>
        </p:sp>
        <p:sp>
          <p:nvSpPr>
            <p:cNvPr id="128" name="CIBar7">
              <a:extLst>
                <a:ext uri="{FF2B5EF4-FFF2-40B4-BE49-F238E27FC236}">
                  <a16:creationId xmlns:a16="http://schemas.microsoft.com/office/drawing/2014/main" id="{E6CD2598-778E-35FE-7073-2DC5BC838CC2}"/>
                </a:ext>
              </a:extLst>
            </p:cNvPr>
            <p:cNvSpPr/>
            <p:nvPr/>
          </p:nvSpPr>
          <p:spPr>
            <a:xfrm>
              <a:off x="9063082" y="4267722"/>
              <a:ext cx="127506" cy="220919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lIns="0" rIns="0" anchor="ctr"/>
            <a:lstStyle/>
            <a:p>
              <a:pPr algn="ctr"/>
              <a:endParaRPr lang="en-US" sz="900" dirty="0"/>
            </a:p>
          </p:txBody>
        </p:sp>
        <p:sp>
          <p:nvSpPr>
            <p:cNvPr id="129" name="CILW7">
              <a:extLst>
                <a:ext uri="{FF2B5EF4-FFF2-40B4-BE49-F238E27FC236}">
                  <a16:creationId xmlns:a16="http://schemas.microsoft.com/office/drawing/2014/main" id="{C16429C1-EECD-582D-8639-E14340C5942E}"/>
                </a:ext>
              </a:extLst>
            </p:cNvPr>
            <p:cNvSpPr/>
            <p:nvPr/>
          </p:nvSpPr>
          <p:spPr>
            <a:xfrm>
              <a:off x="9057185" y="4229702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 anchor="ctr"/>
            <a:lstStyle/>
            <a:p>
              <a:endParaRPr lang="en-US" sz="2000"/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FAB0A63E-8C31-1D1B-1D58-CCDB98129D79}"/>
                </a:ext>
              </a:extLst>
            </p:cNvPr>
            <p:cNvGrpSpPr/>
            <p:nvPr/>
          </p:nvGrpSpPr>
          <p:grpSpPr>
            <a:xfrm>
              <a:off x="7182260" y="4225946"/>
              <a:ext cx="1251897" cy="311261"/>
              <a:chOff x="9852940" y="4192417"/>
              <a:chExt cx="1216344" cy="311261"/>
            </a:xfrm>
          </p:grpSpPr>
          <p:sp>
            <p:nvSpPr>
              <p:cNvPr id="131" name="CILW7">
                <a:extLst>
                  <a:ext uri="{FF2B5EF4-FFF2-40B4-BE49-F238E27FC236}">
                    <a16:creationId xmlns:a16="http://schemas.microsoft.com/office/drawing/2014/main" id="{8EF02093-FB4B-92BF-7E66-74CD86BBA106}"/>
                  </a:ext>
                </a:extLst>
              </p:cNvPr>
              <p:cNvSpPr/>
              <p:nvPr/>
            </p:nvSpPr>
            <p:spPr>
              <a:xfrm>
                <a:off x="9852941" y="4192417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32" name="CIBar7">
                <a:extLst>
                  <a:ext uri="{FF2B5EF4-FFF2-40B4-BE49-F238E27FC236}">
                    <a16:creationId xmlns:a16="http://schemas.microsoft.com/office/drawing/2014/main" id="{273FC34C-C5A0-079A-6811-1849CE9759E9}"/>
                  </a:ext>
                </a:extLst>
              </p:cNvPr>
              <p:cNvSpPr/>
              <p:nvPr/>
            </p:nvSpPr>
            <p:spPr>
              <a:xfrm>
                <a:off x="9858670" y="4236898"/>
                <a:ext cx="601200" cy="226982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rIns="0" anchor="ctr"/>
              <a:lstStyle/>
              <a:p>
                <a:pPr algn="ctr"/>
                <a:r>
                  <a:rPr lang="en-US" sz="900" b="1" dirty="0">
                    <a:solidFill>
                      <a:srgbClr val="2B6CB0"/>
                    </a:solidFill>
                    <a:latin typeface="Open Sans"/>
                  </a:rPr>
                  <a:t>1SE</a:t>
                </a:r>
                <a:endParaRPr lang="en-US" sz="900" dirty="0"/>
              </a:p>
            </p:txBody>
          </p:sp>
          <p:sp>
            <p:nvSpPr>
              <p:cNvPr id="133" name="CILW7">
                <a:extLst>
                  <a:ext uri="{FF2B5EF4-FFF2-40B4-BE49-F238E27FC236}">
                    <a16:creationId xmlns:a16="http://schemas.microsoft.com/office/drawing/2014/main" id="{D34E6BB0-54F9-2107-ABB6-0B2F3CA0DB40}"/>
                  </a:ext>
                </a:extLst>
              </p:cNvPr>
              <p:cNvSpPr/>
              <p:nvPr/>
            </p:nvSpPr>
            <p:spPr>
              <a:xfrm>
                <a:off x="9852940" y="4198878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34" name="CILW7">
                <a:extLst>
                  <a:ext uri="{FF2B5EF4-FFF2-40B4-BE49-F238E27FC236}">
                    <a16:creationId xmlns:a16="http://schemas.microsoft.com/office/drawing/2014/main" id="{257E9101-8973-F3C2-4703-C4D5DE66013D}"/>
                  </a:ext>
                </a:extLst>
              </p:cNvPr>
              <p:cNvSpPr/>
              <p:nvPr/>
            </p:nvSpPr>
            <p:spPr>
              <a:xfrm>
                <a:off x="10461113" y="4198878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35" name="CIBar7">
                <a:extLst>
                  <a:ext uri="{FF2B5EF4-FFF2-40B4-BE49-F238E27FC236}">
                    <a16:creationId xmlns:a16="http://schemas.microsoft.com/office/drawing/2014/main" id="{69BC3B65-50B6-B186-2009-5C322F10733E}"/>
                  </a:ext>
                </a:extLst>
              </p:cNvPr>
              <p:cNvSpPr/>
              <p:nvPr/>
            </p:nvSpPr>
            <p:spPr>
              <a:xfrm>
                <a:off x="10466841" y="4233142"/>
                <a:ext cx="601200" cy="226982"/>
              </a:xfrm>
              <a:prstGeom prst="rect">
                <a:avLst/>
              </a:prstGeom>
              <a:solidFill>
                <a:srgbClr val="B8D4E8">
                  <a:alpha val="34902"/>
                </a:srgbClr>
              </a:solidFill>
              <a:ln>
                <a:noFill/>
              </a:ln>
            </p:spPr>
            <p:txBody>
              <a:bodyPr lIns="0" rIns="0" anchor="ctr"/>
              <a:lstStyle/>
              <a:p>
                <a:pPr algn="ctr"/>
                <a:r>
                  <a:rPr lang="en-US" sz="900" b="1" dirty="0">
                    <a:solidFill>
                      <a:srgbClr val="2B6CB0"/>
                    </a:solidFill>
                    <a:latin typeface="Open Sans"/>
                  </a:rPr>
                  <a:t>1SE</a:t>
                </a:r>
                <a:endParaRPr lang="en-US" sz="900" dirty="0"/>
              </a:p>
            </p:txBody>
          </p:sp>
          <p:sp>
            <p:nvSpPr>
              <p:cNvPr id="136" name="CILW7">
                <a:extLst>
                  <a:ext uri="{FF2B5EF4-FFF2-40B4-BE49-F238E27FC236}">
                    <a16:creationId xmlns:a16="http://schemas.microsoft.com/office/drawing/2014/main" id="{ACC03706-9FFE-4BC6-CC0D-883534F8185E}"/>
                  </a:ext>
                </a:extLst>
              </p:cNvPr>
              <p:cNvSpPr/>
              <p:nvPr/>
            </p:nvSpPr>
            <p:spPr>
              <a:xfrm>
                <a:off x="10461111" y="4195122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  <p:sp>
            <p:nvSpPr>
              <p:cNvPr id="137" name="CILW7">
                <a:extLst>
                  <a:ext uri="{FF2B5EF4-FFF2-40B4-BE49-F238E27FC236}">
                    <a16:creationId xmlns:a16="http://schemas.microsoft.com/office/drawing/2014/main" id="{90BE0E03-9AA9-A28D-080F-615EFC7AFDCE}"/>
                  </a:ext>
                </a:extLst>
              </p:cNvPr>
              <p:cNvSpPr/>
              <p:nvPr/>
            </p:nvSpPr>
            <p:spPr>
              <a:xfrm>
                <a:off x="11069284" y="4195122"/>
                <a:ext cx="0" cy="304800"/>
              </a:xfrm>
              <a:prstGeom prst="line">
                <a:avLst/>
              </a:prstGeom>
              <a:ln w="15875">
                <a:solidFill>
                  <a:srgbClr val="2B6CB0"/>
                </a:solidFill>
              </a:ln>
            </p:spPr>
            <p:txBody>
              <a:bodyPr anchor="ctr"/>
              <a:lstStyle/>
              <a:p>
                <a:endParaRPr lang="en-US" sz="2000"/>
              </a:p>
            </p:txBody>
          </p:sp>
        </p:grpSp>
      </p:grpSp>
      <p:sp>
        <p:nvSpPr>
          <p:cNvPr id="232" name="PlotBg2">
            <a:extLst>
              <a:ext uri="{FF2B5EF4-FFF2-40B4-BE49-F238E27FC236}">
                <a16:creationId xmlns:a16="http://schemas.microsoft.com/office/drawing/2014/main" id="{1E2B3E44-4501-6B30-701E-91DC7984EE28}"/>
              </a:ext>
            </a:extLst>
          </p:cNvPr>
          <p:cNvSpPr/>
          <p:nvPr/>
        </p:nvSpPr>
        <p:spPr>
          <a:xfrm>
            <a:off x="399071" y="3480412"/>
            <a:ext cx="3689531" cy="2799919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3" name="XLabel2">
            <a:extLst>
              <a:ext uri="{FF2B5EF4-FFF2-40B4-BE49-F238E27FC236}">
                <a16:creationId xmlns:a16="http://schemas.microsoft.com/office/drawing/2014/main" id="{ADC04CE8-9816-BB3F-A634-13FC33367CD2}"/>
              </a:ext>
            </a:extLst>
          </p:cNvPr>
          <p:cNvSpPr/>
          <p:nvPr/>
        </p:nvSpPr>
        <p:spPr>
          <a:xfrm>
            <a:off x="1321454" y="6420327"/>
            <a:ext cx="1844766" cy="279992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rgbClr val="2E3640"/>
                </a:solidFill>
                <a:latin typeface="Open Sans"/>
              </a:rPr>
              <a:t>Gestational Weeks</a:t>
            </a:r>
          </a:p>
        </p:txBody>
      </p:sp>
      <p:sp>
        <p:nvSpPr>
          <p:cNvPr id="234" name="YLabel2">
            <a:extLst>
              <a:ext uri="{FF2B5EF4-FFF2-40B4-BE49-F238E27FC236}">
                <a16:creationId xmlns:a16="http://schemas.microsoft.com/office/drawing/2014/main" id="{D17B0B14-E023-0AE2-F0C3-ADC45624D371}"/>
              </a:ext>
            </a:extLst>
          </p:cNvPr>
          <p:cNvSpPr/>
          <p:nvPr/>
        </p:nvSpPr>
        <p:spPr>
          <a:xfrm rot="16200000">
            <a:off x="-808806" y="4652144"/>
            <a:ext cx="1866613" cy="27671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rgbClr val="2E3640"/>
                </a:solidFill>
                <a:latin typeface="Open Sans"/>
              </a:rPr>
              <a:t>Birth Weight (kg)</a:t>
            </a:r>
          </a:p>
        </p:txBody>
      </p:sp>
      <p:sp>
        <p:nvSpPr>
          <p:cNvPr id="235" name="XT32">
            <a:extLst>
              <a:ext uri="{FF2B5EF4-FFF2-40B4-BE49-F238E27FC236}">
                <a16:creationId xmlns:a16="http://schemas.microsoft.com/office/drawing/2014/main" id="{0D57ADAF-4EA6-19F3-1744-65731029146B}"/>
              </a:ext>
            </a:extLst>
          </p:cNvPr>
          <p:cNvSpPr/>
          <p:nvPr/>
        </p:nvSpPr>
        <p:spPr>
          <a:xfrm>
            <a:off x="829516" y="6298997"/>
            <a:ext cx="368953" cy="16799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Open Sans"/>
              </a:rPr>
              <a:t>32</a:t>
            </a:r>
          </a:p>
        </p:txBody>
      </p:sp>
      <p:sp>
        <p:nvSpPr>
          <p:cNvPr id="236" name="XT33">
            <a:extLst>
              <a:ext uri="{FF2B5EF4-FFF2-40B4-BE49-F238E27FC236}">
                <a16:creationId xmlns:a16="http://schemas.microsoft.com/office/drawing/2014/main" id="{219C18CF-C8F8-AC20-5906-70B34D01BB48}"/>
              </a:ext>
            </a:extLst>
          </p:cNvPr>
          <p:cNvSpPr/>
          <p:nvPr/>
        </p:nvSpPr>
        <p:spPr>
          <a:xfrm>
            <a:off x="1444438" y="6298997"/>
            <a:ext cx="368953" cy="16799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Open Sans"/>
              </a:rPr>
              <a:t>33</a:t>
            </a:r>
          </a:p>
        </p:txBody>
      </p:sp>
      <p:sp>
        <p:nvSpPr>
          <p:cNvPr id="237" name="XT34">
            <a:extLst>
              <a:ext uri="{FF2B5EF4-FFF2-40B4-BE49-F238E27FC236}">
                <a16:creationId xmlns:a16="http://schemas.microsoft.com/office/drawing/2014/main" id="{F0886B4C-3733-BD22-C1AF-33B2F0E01D52}"/>
              </a:ext>
            </a:extLst>
          </p:cNvPr>
          <p:cNvSpPr/>
          <p:nvPr/>
        </p:nvSpPr>
        <p:spPr>
          <a:xfrm>
            <a:off x="2059360" y="6298997"/>
            <a:ext cx="368953" cy="16799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Open Sans"/>
              </a:rPr>
              <a:t>34</a:t>
            </a:r>
          </a:p>
        </p:txBody>
      </p:sp>
      <p:sp>
        <p:nvSpPr>
          <p:cNvPr id="238" name="XT35">
            <a:extLst>
              <a:ext uri="{FF2B5EF4-FFF2-40B4-BE49-F238E27FC236}">
                <a16:creationId xmlns:a16="http://schemas.microsoft.com/office/drawing/2014/main" id="{FC833E12-7057-9671-C08C-E498662D9527}"/>
              </a:ext>
            </a:extLst>
          </p:cNvPr>
          <p:cNvSpPr/>
          <p:nvPr/>
        </p:nvSpPr>
        <p:spPr>
          <a:xfrm>
            <a:off x="2674282" y="6298997"/>
            <a:ext cx="368953" cy="16799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Open Sans"/>
              </a:rPr>
              <a:t>35</a:t>
            </a:r>
          </a:p>
        </p:txBody>
      </p:sp>
      <p:sp>
        <p:nvSpPr>
          <p:cNvPr id="239" name="XT36">
            <a:extLst>
              <a:ext uri="{FF2B5EF4-FFF2-40B4-BE49-F238E27FC236}">
                <a16:creationId xmlns:a16="http://schemas.microsoft.com/office/drawing/2014/main" id="{D7C7424A-4847-5069-4CA8-377D89A7AA31}"/>
              </a:ext>
            </a:extLst>
          </p:cNvPr>
          <p:cNvSpPr/>
          <p:nvPr/>
        </p:nvSpPr>
        <p:spPr>
          <a:xfrm>
            <a:off x="3289203" y="6298997"/>
            <a:ext cx="368953" cy="16799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rgbClr val="666666"/>
                </a:solidFill>
                <a:latin typeface="Open Sans"/>
              </a:rPr>
              <a:t>36</a:t>
            </a:r>
          </a:p>
        </p:txBody>
      </p:sp>
      <p:sp>
        <p:nvSpPr>
          <p:cNvPr id="240" name="YT1">
            <a:extLst>
              <a:ext uri="{FF2B5EF4-FFF2-40B4-BE49-F238E27FC236}">
                <a16:creationId xmlns:a16="http://schemas.microsoft.com/office/drawing/2014/main" id="{780D449F-1AC3-6784-17A8-324DD93894C9}"/>
              </a:ext>
            </a:extLst>
          </p:cNvPr>
          <p:cNvSpPr/>
          <p:nvPr/>
        </p:nvSpPr>
        <p:spPr>
          <a:xfrm>
            <a:off x="122356" y="5837011"/>
            <a:ext cx="258267" cy="186661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r"/>
            <a:r>
              <a:rPr lang="en-US" sz="1200" dirty="0">
                <a:solidFill>
                  <a:srgbClr val="666666"/>
                </a:solidFill>
                <a:latin typeface="Open Sans"/>
              </a:rPr>
              <a:t>1</a:t>
            </a:r>
          </a:p>
        </p:txBody>
      </p:sp>
      <p:sp>
        <p:nvSpPr>
          <p:cNvPr id="241" name="YT2">
            <a:extLst>
              <a:ext uri="{FF2B5EF4-FFF2-40B4-BE49-F238E27FC236}">
                <a16:creationId xmlns:a16="http://schemas.microsoft.com/office/drawing/2014/main" id="{7DD48D21-8D4B-871E-A8CC-6A133E479B35}"/>
              </a:ext>
            </a:extLst>
          </p:cNvPr>
          <p:cNvSpPr/>
          <p:nvPr/>
        </p:nvSpPr>
        <p:spPr>
          <a:xfrm>
            <a:off x="122356" y="5137031"/>
            <a:ext cx="258267" cy="186661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r"/>
            <a:r>
              <a:rPr lang="en-US" sz="1200" dirty="0">
                <a:solidFill>
                  <a:srgbClr val="666666"/>
                </a:solidFill>
                <a:latin typeface="Open Sans"/>
              </a:rPr>
              <a:t>2</a:t>
            </a:r>
          </a:p>
        </p:txBody>
      </p:sp>
      <p:sp>
        <p:nvSpPr>
          <p:cNvPr id="242" name="YT3">
            <a:extLst>
              <a:ext uri="{FF2B5EF4-FFF2-40B4-BE49-F238E27FC236}">
                <a16:creationId xmlns:a16="http://schemas.microsoft.com/office/drawing/2014/main" id="{47E0156A-48EA-ED38-ACB1-5D618F6ED8DE}"/>
              </a:ext>
            </a:extLst>
          </p:cNvPr>
          <p:cNvSpPr/>
          <p:nvPr/>
        </p:nvSpPr>
        <p:spPr>
          <a:xfrm>
            <a:off x="122356" y="4437051"/>
            <a:ext cx="258267" cy="186661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r"/>
            <a:r>
              <a:rPr lang="en-US" sz="1200" dirty="0">
                <a:solidFill>
                  <a:srgbClr val="666666"/>
                </a:solidFill>
                <a:latin typeface="Open Sans"/>
              </a:rPr>
              <a:t>3</a:t>
            </a:r>
          </a:p>
        </p:txBody>
      </p:sp>
      <p:sp>
        <p:nvSpPr>
          <p:cNvPr id="243" name="YT4">
            <a:extLst>
              <a:ext uri="{FF2B5EF4-FFF2-40B4-BE49-F238E27FC236}">
                <a16:creationId xmlns:a16="http://schemas.microsoft.com/office/drawing/2014/main" id="{1F5B3DF4-0042-307C-08AC-612B124F0537}"/>
              </a:ext>
            </a:extLst>
          </p:cNvPr>
          <p:cNvSpPr/>
          <p:nvPr/>
        </p:nvSpPr>
        <p:spPr>
          <a:xfrm>
            <a:off x="122356" y="3737071"/>
            <a:ext cx="258267" cy="186661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r"/>
            <a:r>
              <a:rPr lang="en-US" sz="1200" dirty="0">
                <a:solidFill>
                  <a:srgbClr val="666666"/>
                </a:solidFill>
                <a:latin typeface="Open Sans"/>
              </a:rPr>
              <a:t>4</a:t>
            </a:r>
          </a:p>
        </p:txBody>
      </p:sp>
      <p:cxnSp>
        <p:nvCxnSpPr>
          <p:cNvPr id="244" name="G1">
            <a:extLst>
              <a:ext uri="{FF2B5EF4-FFF2-40B4-BE49-F238E27FC236}">
                <a16:creationId xmlns:a16="http://schemas.microsoft.com/office/drawing/2014/main" id="{1CB80A89-9B97-62BB-D9BA-101170A3337A}"/>
              </a:ext>
            </a:extLst>
          </p:cNvPr>
          <p:cNvCxnSpPr/>
          <p:nvPr/>
        </p:nvCxnSpPr>
        <p:spPr>
          <a:xfrm>
            <a:off x="399071" y="5930341"/>
            <a:ext cx="3689531" cy="0"/>
          </a:xfrm>
          <a:prstGeom prst="line">
            <a:avLst/>
          </a:prstGeom>
          <a:ln w="6350">
            <a:solidFill>
              <a:srgbClr val="E0E0E0"/>
            </a:solidFill>
            <a:prstDash val="dash"/>
          </a:ln>
        </p:spPr>
      </p:cxnSp>
      <p:cxnSp>
        <p:nvCxnSpPr>
          <p:cNvPr id="245" name="G2">
            <a:extLst>
              <a:ext uri="{FF2B5EF4-FFF2-40B4-BE49-F238E27FC236}">
                <a16:creationId xmlns:a16="http://schemas.microsoft.com/office/drawing/2014/main" id="{AF1779F7-0363-B181-2B43-A025E6DE591B}"/>
              </a:ext>
            </a:extLst>
          </p:cNvPr>
          <p:cNvCxnSpPr/>
          <p:nvPr/>
        </p:nvCxnSpPr>
        <p:spPr>
          <a:xfrm>
            <a:off x="399071" y="5230361"/>
            <a:ext cx="3689531" cy="0"/>
          </a:xfrm>
          <a:prstGeom prst="line">
            <a:avLst/>
          </a:prstGeom>
          <a:ln w="6350">
            <a:solidFill>
              <a:srgbClr val="E0E0E0"/>
            </a:solidFill>
            <a:prstDash val="dash"/>
          </a:ln>
        </p:spPr>
      </p:cxnSp>
      <p:cxnSp>
        <p:nvCxnSpPr>
          <p:cNvPr id="246" name="G3">
            <a:extLst>
              <a:ext uri="{FF2B5EF4-FFF2-40B4-BE49-F238E27FC236}">
                <a16:creationId xmlns:a16="http://schemas.microsoft.com/office/drawing/2014/main" id="{9C13723C-A7EE-3C13-9C6F-7D32E18BABDC}"/>
              </a:ext>
            </a:extLst>
          </p:cNvPr>
          <p:cNvCxnSpPr/>
          <p:nvPr/>
        </p:nvCxnSpPr>
        <p:spPr>
          <a:xfrm>
            <a:off x="399071" y="4530382"/>
            <a:ext cx="3689531" cy="0"/>
          </a:xfrm>
          <a:prstGeom prst="line">
            <a:avLst/>
          </a:prstGeom>
          <a:ln w="6350">
            <a:solidFill>
              <a:srgbClr val="E0E0E0"/>
            </a:solidFill>
            <a:prstDash val="dash"/>
          </a:ln>
        </p:spPr>
      </p:cxnSp>
      <p:cxnSp>
        <p:nvCxnSpPr>
          <p:cNvPr id="247" name="G4">
            <a:extLst>
              <a:ext uri="{FF2B5EF4-FFF2-40B4-BE49-F238E27FC236}">
                <a16:creationId xmlns:a16="http://schemas.microsoft.com/office/drawing/2014/main" id="{5ABB8041-4DB3-24CB-26E9-E18380021840}"/>
              </a:ext>
            </a:extLst>
          </p:cNvPr>
          <p:cNvCxnSpPr/>
          <p:nvPr/>
        </p:nvCxnSpPr>
        <p:spPr>
          <a:xfrm>
            <a:off x="399071" y="3830402"/>
            <a:ext cx="3689531" cy="0"/>
          </a:xfrm>
          <a:prstGeom prst="line">
            <a:avLst/>
          </a:prstGeom>
          <a:ln w="6350">
            <a:solidFill>
              <a:srgbClr val="E0E0E0"/>
            </a:solidFill>
            <a:prstDash val="dash"/>
          </a:ln>
        </p:spPr>
      </p:cxnSp>
      <p:cxnSp>
        <p:nvCxnSpPr>
          <p:cNvPr id="248" name="RegLine2">
            <a:extLst>
              <a:ext uri="{FF2B5EF4-FFF2-40B4-BE49-F238E27FC236}">
                <a16:creationId xmlns:a16="http://schemas.microsoft.com/office/drawing/2014/main" id="{E0288DE8-E423-650B-30DD-C91C1CA16D40}"/>
              </a:ext>
            </a:extLst>
          </p:cNvPr>
          <p:cNvCxnSpPr/>
          <p:nvPr/>
        </p:nvCxnSpPr>
        <p:spPr>
          <a:xfrm flipV="1">
            <a:off x="522055" y="4232331"/>
            <a:ext cx="3443563" cy="1513076"/>
          </a:xfrm>
          <a:prstGeom prst="line">
            <a:avLst/>
          </a:prstGeom>
          <a:ln w="28575" cap="rnd">
            <a:solidFill>
              <a:srgbClr val="D94535"/>
            </a:solidFill>
          </a:ln>
        </p:spPr>
      </p:cxnSp>
      <p:sp>
        <p:nvSpPr>
          <p:cNvPr id="249" name="D0">
            <a:extLst>
              <a:ext uri="{FF2B5EF4-FFF2-40B4-BE49-F238E27FC236}">
                <a16:creationId xmlns:a16="http://schemas.microsoft.com/office/drawing/2014/main" id="{CF839346-BAD9-F88A-FDDE-D8B66C85C4E3}"/>
              </a:ext>
            </a:extLst>
          </p:cNvPr>
          <p:cNvSpPr/>
          <p:nvPr/>
        </p:nvSpPr>
        <p:spPr>
          <a:xfrm>
            <a:off x="958650" y="5419356"/>
            <a:ext cx="110686" cy="111997"/>
          </a:xfrm>
          <a:prstGeom prst="ellipse">
            <a:avLst/>
          </a:prstGeom>
          <a:solidFill>
            <a:srgbClr val="2E6B7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" name="D1">
            <a:extLst>
              <a:ext uri="{FF2B5EF4-FFF2-40B4-BE49-F238E27FC236}">
                <a16:creationId xmlns:a16="http://schemas.microsoft.com/office/drawing/2014/main" id="{330DF96C-6AF4-BDE6-B5E8-3D4D65DE1191}"/>
              </a:ext>
            </a:extLst>
          </p:cNvPr>
          <p:cNvSpPr/>
          <p:nvPr/>
        </p:nvSpPr>
        <p:spPr>
          <a:xfrm>
            <a:off x="3418337" y="4705377"/>
            <a:ext cx="110686" cy="111997"/>
          </a:xfrm>
          <a:prstGeom prst="ellipse">
            <a:avLst/>
          </a:prstGeom>
          <a:solidFill>
            <a:srgbClr val="2E6B7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1" name="D2">
            <a:extLst>
              <a:ext uri="{FF2B5EF4-FFF2-40B4-BE49-F238E27FC236}">
                <a16:creationId xmlns:a16="http://schemas.microsoft.com/office/drawing/2014/main" id="{F2B77F90-4330-2B14-F1B6-682839D9862A}"/>
              </a:ext>
            </a:extLst>
          </p:cNvPr>
          <p:cNvSpPr/>
          <p:nvPr/>
        </p:nvSpPr>
        <p:spPr>
          <a:xfrm>
            <a:off x="1573571" y="5048367"/>
            <a:ext cx="110686" cy="111997"/>
          </a:xfrm>
          <a:prstGeom prst="ellipse">
            <a:avLst/>
          </a:prstGeom>
          <a:solidFill>
            <a:srgbClr val="2E6B7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2" name="D3">
            <a:extLst>
              <a:ext uri="{FF2B5EF4-FFF2-40B4-BE49-F238E27FC236}">
                <a16:creationId xmlns:a16="http://schemas.microsoft.com/office/drawing/2014/main" id="{6B3CC884-16EA-B4DF-6FC3-7C6FC1E8EC99}"/>
              </a:ext>
            </a:extLst>
          </p:cNvPr>
          <p:cNvSpPr/>
          <p:nvPr/>
        </p:nvSpPr>
        <p:spPr>
          <a:xfrm>
            <a:off x="3418337" y="3893400"/>
            <a:ext cx="110686" cy="111997"/>
          </a:xfrm>
          <a:prstGeom prst="ellipse">
            <a:avLst/>
          </a:prstGeom>
          <a:solidFill>
            <a:srgbClr val="2E6B7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3" name="D4">
            <a:extLst>
              <a:ext uri="{FF2B5EF4-FFF2-40B4-BE49-F238E27FC236}">
                <a16:creationId xmlns:a16="http://schemas.microsoft.com/office/drawing/2014/main" id="{15FC3D91-8C7F-5DDA-CC09-AE97BC0A0EA0}"/>
              </a:ext>
            </a:extLst>
          </p:cNvPr>
          <p:cNvSpPr/>
          <p:nvPr/>
        </p:nvSpPr>
        <p:spPr>
          <a:xfrm>
            <a:off x="2803415" y="4803374"/>
            <a:ext cx="110686" cy="111997"/>
          </a:xfrm>
          <a:prstGeom prst="ellipse">
            <a:avLst/>
          </a:prstGeom>
          <a:solidFill>
            <a:srgbClr val="2E6B7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4" name="D5">
            <a:extLst>
              <a:ext uri="{FF2B5EF4-FFF2-40B4-BE49-F238E27FC236}">
                <a16:creationId xmlns:a16="http://schemas.microsoft.com/office/drawing/2014/main" id="{5CA579BA-4AF3-8779-FCAC-C422D5B02C4D}"/>
              </a:ext>
            </a:extLst>
          </p:cNvPr>
          <p:cNvSpPr/>
          <p:nvPr/>
        </p:nvSpPr>
        <p:spPr>
          <a:xfrm>
            <a:off x="3418337" y="4726376"/>
            <a:ext cx="110686" cy="111997"/>
          </a:xfrm>
          <a:prstGeom prst="ellipse">
            <a:avLst/>
          </a:prstGeom>
          <a:solidFill>
            <a:srgbClr val="2E6B7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5" name="D6">
            <a:extLst>
              <a:ext uri="{FF2B5EF4-FFF2-40B4-BE49-F238E27FC236}">
                <a16:creationId xmlns:a16="http://schemas.microsoft.com/office/drawing/2014/main" id="{F6F93CE6-684A-D7D9-935C-9AFC721337D4}"/>
              </a:ext>
            </a:extLst>
          </p:cNvPr>
          <p:cNvSpPr/>
          <p:nvPr/>
        </p:nvSpPr>
        <p:spPr>
          <a:xfrm>
            <a:off x="958650" y="5832344"/>
            <a:ext cx="110686" cy="111997"/>
          </a:xfrm>
          <a:prstGeom prst="ellipse">
            <a:avLst/>
          </a:prstGeom>
          <a:solidFill>
            <a:srgbClr val="2E6B7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6" name="D7">
            <a:extLst>
              <a:ext uri="{FF2B5EF4-FFF2-40B4-BE49-F238E27FC236}">
                <a16:creationId xmlns:a16="http://schemas.microsoft.com/office/drawing/2014/main" id="{D2234291-FA5C-7FDA-CA61-646EB3E64C3B}"/>
              </a:ext>
            </a:extLst>
          </p:cNvPr>
          <p:cNvSpPr/>
          <p:nvPr/>
        </p:nvSpPr>
        <p:spPr>
          <a:xfrm>
            <a:off x="2188493" y="4432385"/>
            <a:ext cx="110686" cy="111997"/>
          </a:xfrm>
          <a:prstGeom prst="ellipse">
            <a:avLst/>
          </a:prstGeom>
          <a:solidFill>
            <a:srgbClr val="2E6B7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58" name="AltLine0">
            <a:extLst>
              <a:ext uri="{FF2B5EF4-FFF2-40B4-BE49-F238E27FC236}">
                <a16:creationId xmlns:a16="http://schemas.microsoft.com/office/drawing/2014/main" id="{4FE4F16B-697F-4439-8CE6-41335DF8D7AC}"/>
              </a:ext>
            </a:extLst>
          </p:cNvPr>
          <p:cNvCxnSpPr>
            <a:cxnSpLocks/>
          </p:cNvCxnSpPr>
          <p:nvPr/>
        </p:nvCxnSpPr>
        <p:spPr>
          <a:xfrm flipV="1">
            <a:off x="642995" y="4574385"/>
            <a:ext cx="3074610" cy="874975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9" name="AltLine1">
            <a:extLst>
              <a:ext uri="{FF2B5EF4-FFF2-40B4-BE49-F238E27FC236}">
                <a16:creationId xmlns:a16="http://schemas.microsoft.com/office/drawing/2014/main" id="{B3933737-FF70-0ED6-7C23-186980EAAB24}"/>
              </a:ext>
            </a:extLst>
          </p:cNvPr>
          <p:cNvCxnSpPr>
            <a:cxnSpLocks/>
          </p:cNvCxnSpPr>
          <p:nvPr/>
        </p:nvCxnSpPr>
        <p:spPr>
          <a:xfrm flipV="1">
            <a:off x="642995" y="4495929"/>
            <a:ext cx="3074610" cy="104997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0" name="AltLine2">
            <a:extLst>
              <a:ext uri="{FF2B5EF4-FFF2-40B4-BE49-F238E27FC236}">
                <a16:creationId xmlns:a16="http://schemas.microsoft.com/office/drawing/2014/main" id="{96019EBA-841E-87A6-91CC-F92D5ADB8831}"/>
              </a:ext>
            </a:extLst>
          </p:cNvPr>
          <p:cNvCxnSpPr>
            <a:cxnSpLocks/>
          </p:cNvCxnSpPr>
          <p:nvPr/>
        </p:nvCxnSpPr>
        <p:spPr>
          <a:xfrm flipV="1">
            <a:off x="718923" y="4180648"/>
            <a:ext cx="3074610" cy="1574955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1" name="AltLine3">
            <a:extLst>
              <a:ext uri="{FF2B5EF4-FFF2-40B4-BE49-F238E27FC236}">
                <a16:creationId xmlns:a16="http://schemas.microsoft.com/office/drawing/2014/main" id="{AE0174CC-93CC-248E-F278-51FB924E5181}"/>
              </a:ext>
            </a:extLst>
          </p:cNvPr>
          <p:cNvCxnSpPr>
            <a:cxnSpLocks/>
          </p:cNvCxnSpPr>
          <p:nvPr/>
        </p:nvCxnSpPr>
        <p:spPr>
          <a:xfrm flipV="1">
            <a:off x="718923" y="4093150"/>
            <a:ext cx="3074611" cy="1749949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2" name="SpreadFan">
            <a:extLst>
              <a:ext uri="{FF2B5EF4-FFF2-40B4-BE49-F238E27FC236}">
                <a16:creationId xmlns:a16="http://schemas.microsoft.com/office/drawing/2014/main" id="{8056F568-E8C7-E766-7E86-6C3EEBA063E4}"/>
              </a:ext>
            </a:extLst>
          </p:cNvPr>
          <p:cNvSpPr/>
          <p:nvPr/>
        </p:nvSpPr>
        <p:spPr>
          <a:xfrm>
            <a:off x="715916" y="3900400"/>
            <a:ext cx="3074611" cy="2295934"/>
          </a:xfrm>
          <a:custGeom>
            <a:avLst/>
            <a:gdLst/>
            <a:ahLst/>
            <a:cxnLst/>
            <a:rect l="0" t="0" r="4233334" b="3124200"/>
            <a:pathLst>
              <a:path w="4233334" h="3124200">
                <a:moveTo>
                  <a:pt x="0" y="1766888"/>
                </a:moveTo>
                <a:lnTo>
                  <a:pt x="211667" y="1710690"/>
                </a:lnTo>
                <a:lnTo>
                  <a:pt x="423334" y="1654493"/>
                </a:lnTo>
                <a:lnTo>
                  <a:pt x="635000" y="1598295"/>
                </a:lnTo>
                <a:lnTo>
                  <a:pt x="846667" y="1542098"/>
                </a:lnTo>
                <a:lnTo>
                  <a:pt x="1058334" y="1485900"/>
                </a:lnTo>
                <a:lnTo>
                  <a:pt x="1270000" y="1429703"/>
                </a:lnTo>
                <a:lnTo>
                  <a:pt x="1481667" y="1373505"/>
                </a:lnTo>
                <a:lnTo>
                  <a:pt x="1693334" y="1317308"/>
                </a:lnTo>
                <a:lnTo>
                  <a:pt x="1905000" y="1261110"/>
                </a:lnTo>
                <a:lnTo>
                  <a:pt x="2116667" y="1204913"/>
                </a:lnTo>
                <a:lnTo>
                  <a:pt x="2328334" y="1148715"/>
                </a:lnTo>
                <a:lnTo>
                  <a:pt x="2540000" y="1021080"/>
                </a:lnTo>
                <a:lnTo>
                  <a:pt x="2751667" y="893445"/>
                </a:lnTo>
                <a:lnTo>
                  <a:pt x="2963334" y="765810"/>
                </a:lnTo>
                <a:lnTo>
                  <a:pt x="3175000" y="638175"/>
                </a:lnTo>
                <a:lnTo>
                  <a:pt x="3386667" y="510540"/>
                </a:lnTo>
                <a:lnTo>
                  <a:pt x="3598334" y="382905"/>
                </a:lnTo>
                <a:lnTo>
                  <a:pt x="3810000" y="255270"/>
                </a:lnTo>
                <a:lnTo>
                  <a:pt x="4021667" y="127635"/>
                </a:lnTo>
                <a:lnTo>
                  <a:pt x="4233334" y="0"/>
                </a:lnTo>
                <a:lnTo>
                  <a:pt x="4233334" y="1214438"/>
                </a:lnTo>
                <a:lnTo>
                  <a:pt x="4021667" y="1270635"/>
                </a:lnTo>
                <a:lnTo>
                  <a:pt x="3810000" y="1326833"/>
                </a:lnTo>
                <a:lnTo>
                  <a:pt x="3598334" y="1383030"/>
                </a:lnTo>
                <a:lnTo>
                  <a:pt x="3386667" y="1439228"/>
                </a:lnTo>
                <a:lnTo>
                  <a:pt x="3175000" y="1495425"/>
                </a:lnTo>
                <a:lnTo>
                  <a:pt x="2963334" y="1551623"/>
                </a:lnTo>
                <a:lnTo>
                  <a:pt x="2751667" y="1607820"/>
                </a:lnTo>
                <a:lnTo>
                  <a:pt x="2540000" y="1664018"/>
                </a:lnTo>
                <a:lnTo>
                  <a:pt x="2328334" y="1720215"/>
                </a:lnTo>
                <a:lnTo>
                  <a:pt x="2116667" y="1847850"/>
                </a:lnTo>
                <a:lnTo>
                  <a:pt x="1905000" y="1975485"/>
                </a:lnTo>
                <a:lnTo>
                  <a:pt x="1693334" y="2103120"/>
                </a:lnTo>
                <a:lnTo>
                  <a:pt x="1481667" y="2230755"/>
                </a:lnTo>
                <a:lnTo>
                  <a:pt x="1270000" y="2358390"/>
                </a:lnTo>
                <a:lnTo>
                  <a:pt x="1058334" y="2486025"/>
                </a:lnTo>
                <a:lnTo>
                  <a:pt x="846667" y="2613660"/>
                </a:lnTo>
                <a:lnTo>
                  <a:pt x="635000" y="2741295"/>
                </a:lnTo>
                <a:lnTo>
                  <a:pt x="423334" y="2868930"/>
                </a:lnTo>
                <a:lnTo>
                  <a:pt x="211667" y="2996565"/>
                </a:lnTo>
                <a:lnTo>
                  <a:pt x="0" y="3124200"/>
                </a:lnTo>
                <a:close/>
              </a:path>
            </a:pathLst>
          </a:custGeom>
          <a:solidFill>
            <a:srgbClr val="489BCC">
              <a:alpha val="36078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18E7428-96DC-1589-197C-F6517CA94F57}"/>
              </a:ext>
            </a:extLst>
          </p:cNvPr>
          <p:cNvGrpSpPr/>
          <p:nvPr/>
        </p:nvGrpSpPr>
        <p:grpSpPr>
          <a:xfrm>
            <a:off x="9654154" y="5455726"/>
            <a:ext cx="719804" cy="163160"/>
            <a:chOff x="9647669" y="5455717"/>
            <a:chExt cx="954308" cy="309645"/>
          </a:xfrm>
        </p:grpSpPr>
        <p:sp>
          <p:nvSpPr>
            <p:cNvPr id="275" name="CIBar7">
              <a:extLst>
                <a:ext uri="{FF2B5EF4-FFF2-40B4-BE49-F238E27FC236}">
                  <a16:creationId xmlns:a16="http://schemas.microsoft.com/office/drawing/2014/main" id="{DD35642C-67B4-D99F-464F-08BBFADF13A4}"/>
                </a:ext>
              </a:extLst>
            </p:cNvPr>
            <p:cNvSpPr/>
            <p:nvPr/>
          </p:nvSpPr>
          <p:spPr>
            <a:xfrm>
              <a:off x="9664279" y="5471419"/>
              <a:ext cx="937695" cy="293597"/>
            </a:xfrm>
            <a:prstGeom prst="rect">
              <a:avLst/>
            </a:prstGeom>
            <a:solidFill>
              <a:srgbClr val="B8D4E8">
                <a:alpha val="34902"/>
              </a:srgbClr>
            </a:solidFill>
            <a:ln>
              <a:noFill/>
            </a:ln>
          </p:spPr>
          <p:txBody>
            <a:bodyPr tIns="0" bIns="0" anchor="ctr"/>
            <a:lstStyle/>
            <a:p>
              <a:pPr algn="ctr"/>
              <a:r>
                <a:rPr lang="en-US" sz="800" b="1" dirty="0">
                  <a:solidFill>
                    <a:srgbClr val="2B6CB0"/>
                  </a:solidFill>
                  <a:latin typeface="Open Sans"/>
                </a:rPr>
                <a:t>(1 SE)</a:t>
              </a:r>
              <a:endParaRPr lang="en-US" sz="800" dirty="0"/>
            </a:p>
          </p:txBody>
        </p:sp>
        <p:sp>
          <p:nvSpPr>
            <p:cNvPr id="276" name="CILW7">
              <a:extLst>
                <a:ext uri="{FF2B5EF4-FFF2-40B4-BE49-F238E27FC236}">
                  <a16:creationId xmlns:a16="http://schemas.microsoft.com/office/drawing/2014/main" id="{9BE620BF-FD01-93B9-D281-5C45B818951D}"/>
                </a:ext>
              </a:extLst>
            </p:cNvPr>
            <p:cNvSpPr/>
            <p:nvPr/>
          </p:nvSpPr>
          <p:spPr>
            <a:xfrm>
              <a:off x="9647669" y="5460562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CILW7">
              <a:extLst>
                <a:ext uri="{FF2B5EF4-FFF2-40B4-BE49-F238E27FC236}">
                  <a16:creationId xmlns:a16="http://schemas.microsoft.com/office/drawing/2014/main" id="{A36FFE86-33F2-4FBA-6D55-3F29C36ED57B}"/>
                </a:ext>
              </a:extLst>
            </p:cNvPr>
            <p:cNvSpPr/>
            <p:nvPr/>
          </p:nvSpPr>
          <p:spPr>
            <a:xfrm>
              <a:off x="10601977" y="5455717"/>
              <a:ext cx="0" cy="304800"/>
            </a:xfrm>
            <a:prstGeom prst="line">
              <a:avLst/>
            </a:prstGeom>
            <a:ln w="15875">
              <a:solidFill>
                <a:srgbClr val="2B6CB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96BCD9C8-FECB-7121-0B4E-06D077B20DE8}"/>
              </a:ext>
            </a:extLst>
          </p:cNvPr>
          <p:cNvGrpSpPr/>
          <p:nvPr/>
        </p:nvGrpSpPr>
        <p:grpSpPr>
          <a:xfrm>
            <a:off x="6831887" y="5487389"/>
            <a:ext cx="1010652" cy="734597"/>
            <a:chOff x="6831887" y="5487389"/>
            <a:chExt cx="1010652" cy="734597"/>
          </a:xfrm>
        </p:grpSpPr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6835DCB8-5170-0795-D114-BFD13D23072F}"/>
                </a:ext>
              </a:extLst>
            </p:cNvPr>
            <p:cNvSpPr txBox="1"/>
            <p:nvPr/>
          </p:nvSpPr>
          <p:spPr>
            <a:xfrm>
              <a:off x="6831887" y="5762286"/>
              <a:ext cx="1010652" cy="45970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5">
                      <a:lumMod val="75000"/>
                    </a:schemeClr>
                  </a:solidFill>
                </a:rPr>
                <a:t>Null hypothesis: </a:t>
              </a:r>
            </a:p>
            <a:p>
              <a:pPr algn="ctr"/>
              <a:r>
                <a:rPr lang="en-US" sz="900" b="1" dirty="0">
                  <a:solidFill>
                    <a:schemeClr val="accent5">
                      <a:lumMod val="75000"/>
                    </a:schemeClr>
                  </a:solidFill>
                </a:rPr>
                <a:t>slope should be here</a:t>
              </a:r>
            </a:p>
          </p:txBody>
        </p:sp>
        <p:cxnSp>
          <p:nvCxnSpPr>
            <p:cNvPr id="281" name="DotLine">
              <a:extLst>
                <a:ext uri="{FF2B5EF4-FFF2-40B4-BE49-F238E27FC236}">
                  <a16:creationId xmlns:a16="http://schemas.microsoft.com/office/drawing/2014/main" id="{882EA75D-5FAC-1EBE-75BA-3DDC10826FA4}"/>
                </a:ext>
              </a:extLst>
            </p:cNvPr>
            <p:cNvCxnSpPr>
              <a:cxnSpLocks/>
              <a:stCxn id="280" idx="0"/>
              <a:endCxn id="143" idx="2"/>
            </p:cNvCxnSpPr>
            <p:nvPr/>
          </p:nvCxnSpPr>
          <p:spPr>
            <a:xfrm flipV="1">
              <a:off x="7337213" y="5487389"/>
              <a:ext cx="6646" cy="274897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168" name="TLabel">
            <a:extLst>
              <a:ext uri="{FF2B5EF4-FFF2-40B4-BE49-F238E27FC236}">
                <a16:creationId xmlns:a16="http://schemas.microsoft.com/office/drawing/2014/main" id="{46BC3ADA-D26F-F293-584D-3C9BD8B1EE50}"/>
              </a:ext>
            </a:extLst>
          </p:cNvPr>
          <p:cNvSpPr/>
          <p:nvPr/>
        </p:nvSpPr>
        <p:spPr>
          <a:xfrm>
            <a:off x="7337213" y="4548308"/>
            <a:ext cx="2285125" cy="237320"/>
          </a:xfrm>
          <a:prstGeom prst="homePlate">
            <a:avLst/>
          </a:prstGeom>
          <a:solidFill>
            <a:srgbClr val="FFFFFF"/>
          </a:solidFill>
          <a:ln w="12700">
            <a:solidFill>
              <a:srgbClr val="2C8B2C"/>
            </a:solidFill>
          </a:ln>
        </p:spPr>
        <p:txBody>
          <a:bodyPr wrap="none" lIns="36000" tIns="0" rIns="36000" bIns="0" anchor="ctr"/>
          <a:lstStyle/>
          <a:p>
            <a:pPr algn="ctr"/>
            <a:r>
              <a:rPr lang="en-US" sz="1000" b="1" dirty="0">
                <a:solidFill>
                  <a:srgbClr val="2C8B2C"/>
                </a:solidFill>
                <a:latin typeface="Open Sans"/>
              </a:rPr>
              <a:t>t = b</a:t>
            </a:r>
            <a:r>
              <a:rPr lang="en-US" sz="1000" b="1" baseline="-25000" dirty="0">
                <a:solidFill>
                  <a:srgbClr val="2C8B2C"/>
                </a:solidFill>
                <a:latin typeface="Open Sans"/>
              </a:rPr>
              <a:t>1</a:t>
            </a:r>
            <a:r>
              <a:rPr lang="en-US" sz="1000" b="1" dirty="0">
                <a:solidFill>
                  <a:srgbClr val="2C8B2C"/>
                </a:solidFill>
                <a:latin typeface="Open Sans"/>
              </a:rPr>
              <a:t> / SE = 0.386 / 0.118 = 3.26</a:t>
            </a:r>
          </a:p>
        </p:txBody>
      </p:sp>
    </p:spTree>
    <p:extLst>
      <p:ext uri="{BB962C8B-B14F-4D97-AF65-F5344CB8AC3E}">
        <p14:creationId xmlns:p14="http://schemas.microsoft.com/office/powerpoint/2010/main" val="48328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7" grpId="0" animBg="1"/>
      <p:bldP spid="28" grpId="0" animBg="1"/>
      <p:bldP spid="203" grpId="0" animBg="1"/>
      <p:bldP spid="204" grpId="0" animBg="1"/>
      <p:bldP spid="156" grpId="0" animBg="1"/>
      <p:bldP spid="161" grpId="0" animBg="1"/>
      <p:bldP spid="162" grpId="0" animBg="1"/>
      <p:bldP spid="163" grpId="0" animBg="1"/>
      <p:bldP spid="262" grpId="0" animBg="1"/>
      <p:bldP spid="168" grpId="0" uiExpand="1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53FA-CAD5-2FED-2D63-2A04AFAF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6E36621-1539-25C0-D688-C246DC8DBCCC}"/>
              </a:ext>
            </a:extLst>
          </p:cNvPr>
          <p:cNvSpPr txBox="1">
            <a:spLocks/>
          </p:cNvSpPr>
          <p:nvPr/>
        </p:nvSpPr>
        <p:spPr>
          <a:xfrm>
            <a:off x="241300" y="127000"/>
            <a:ext cx="10930261" cy="69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>
              <a:lnSpc>
                <a:spcPct val="90000"/>
              </a:lnSpc>
              <a:defRPr sz="2400" b="1">
                <a:solidFill>
                  <a:srgbClr val="2E6B75"/>
                </a:solidFill>
                <a:latin typeface="+mj-lt"/>
                <a:ea typeface="+mj-ea"/>
                <a:cs typeface="+mj-cs"/>
              </a:defRPr>
            </a:lvl1pPr>
            <a:lvl2pPr>
              <a:lnSpc>
                <a:spcPct val="90000"/>
              </a:lnSpc>
              <a:defRPr sz="4400">
                <a:solidFill>
                  <a:srgbClr val="2E6B75"/>
                </a:solidFill>
                <a:latin typeface="Montserrat" pitchFamily="2" charset="77"/>
              </a:defRPr>
            </a:lvl2pPr>
            <a:lvl3pPr>
              <a:lnSpc>
                <a:spcPct val="90000"/>
              </a:lnSpc>
              <a:defRPr sz="4400">
                <a:solidFill>
                  <a:srgbClr val="2E6B75"/>
                </a:solidFill>
                <a:latin typeface="Montserrat" pitchFamily="2" charset="77"/>
              </a:defRPr>
            </a:lvl3pPr>
            <a:lvl4pPr>
              <a:lnSpc>
                <a:spcPct val="90000"/>
              </a:lnSpc>
              <a:defRPr sz="4400">
                <a:solidFill>
                  <a:srgbClr val="2E6B75"/>
                </a:solidFill>
                <a:latin typeface="Montserrat" pitchFamily="2" charset="77"/>
              </a:defRPr>
            </a:lvl4pPr>
            <a:lvl5pPr>
              <a:lnSpc>
                <a:spcPct val="90000"/>
              </a:lnSpc>
              <a:defRPr sz="4400">
                <a:solidFill>
                  <a:srgbClr val="2E6B75"/>
                </a:solidFill>
                <a:latin typeface="Montserrat" pitchFamily="2" charset="77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E6B75"/>
                </a:solidFill>
                <a:latin typeface="Montserrat" pitchFamily="2" charset="77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E6B75"/>
                </a:solidFill>
                <a:latin typeface="Montserrat" pitchFamily="2" charset="77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E6B75"/>
                </a:solidFill>
                <a:latin typeface="Montserrat" pitchFamily="2" charset="77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2E6B75"/>
                </a:solidFill>
                <a:latin typeface="Montserrat" pitchFamily="2" charset="77"/>
              </a:defRPr>
            </a:lvl9pPr>
          </a:lstStyle>
          <a:p>
            <a:r>
              <a:rPr lang="en-US" dirty="0"/>
              <a:t>Practice: Reading the Full Output for the Slope Coefficients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027151-74DB-2864-2FCC-2E5DC89913B2}"/>
              </a:ext>
            </a:extLst>
          </p:cNvPr>
          <p:cNvSpPr txBox="1"/>
          <p:nvPr/>
        </p:nvSpPr>
        <p:spPr>
          <a:xfrm>
            <a:off x="372979" y="697015"/>
            <a:ext cx="11361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Researchers modeled the amount of financial aid (in thousands of dollars) a student receives as a function of their family’s annual income (in thousands of dollars). The code and output are shown below.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D563DD-7B1C-77CD-F6C1-DF38BC79B1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 r="18863" b="14028"/>
          <a:stretch>
            <a:fillRect/>
          </a:stretch>
        </p:blipFill>
        <p:spPr>
          <a:xfrm>
            <a:off x="3883970" y="1406846"/>
            <a:ext cx="4902221" cy="10700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5F199F-AF27-0504-7C93-AD93456F56AD}"/>
              </a:ext>
            </a:extLst>
          </p:cNvPr>
          <p:cNvSpPr/>
          <p:nvPr/>
        </p:nvSpPr>
        <p:spPr>
          <a:xfrm>
            <a:off x="139700" y="2750117"/>
            <a:ext cx="5753100" cy="8890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Q1: Based on this output, what is the best conclusion about the relationship between family income and gift aid?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170A1FC-8937-7210-47E1-07462EF0F9B8}"/>
              </a:ext>
            </a:extLst>
          </p:cNvPr>
          <p:cNvSpPr/>
          <p:nvPr/>
        </p:nvSpPr>
        <p:spPr>
          <a:xfrm>
            <a:off x="342900" y="3728017"/>
            <a:ext cx="5549900" cy="4191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A) There is strong evidence of a negative linear association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61B2087-5B4D-D0A3-094E-E3D4B4C0598B}"/>
              </a:ext>
            </a:extLst>
          </p:cNvPr>
          <p:cNvSpPr/>
          <p:nvPr/>
        </p:nvSpPr>
        <p:spPr>
          <a:xfrm>
            <a:off x="342900" y="4210617"/>
            <a:ext cx="5549900" cy="4191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B) There is no evidence of a linear association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D4A271B-A193-1091-83DE-2C110DB1A26A}"/>
              </a:ext>
            </a:extLst>
          </p:cNvPr>
          <p:cNvSpPr/>
          <p:nvPr/>
        </p:nvSpPr>
        <p:spPr>
          <a:xfrm>
            <a:off x="342900" y="4693217"/>
            <a:ext cx="5549900" cy="4191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C) There is strong evidence of a positive association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701F42F-EF27-83AB-D49A-AC78056BD80A}"/>
              </a:ext>
            </a:extLst>
          </p:cNvPr>
          <p:cNvSpPr/>
          <p:nvPr/>
        </p:nvSpPr>
        <p:spPr>
          <a:xfrm>
            <a:off x="139700" y="5226617"/>
            <a:ext cx="5753100" cy="1359534"/>
          </a:xfrm>
          <a:prstGeom prst="roundRect">
            <a:avLst/>
          </a:prstGeom>
          <a:solidFill>
            <a:srgbClr val="E8F4F5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Answer: A</a:t>
            </a:r>
          </a:p>
          <a:p>
            <a:endParaRPr lang="en-US" sz="1400" dirty="0">
              <a:solidFill>
                <a:srgbClr val="2E3640"/>
              </a:solidFill>
            </a:endParaRPr>
          </a:p>
          <a:p>
            <a:r>
              <a:rPr lang="en-US" sz="1400" dirty="0">
                <a:solidFill>
                  <a:srgbClr val="2E3640"/>
                </a:solidFill>
              </a:rPr>
              <a:t>The p-value for the slope (0.0002) is far below 0.05. And the confidence interval does not contain zero</a:t>
            </a:r>
          </a:p>
          <a:p>
            <a:endParaRPr lang="en-US" sz="1400" dirty="0">
              <a:solidFill>
                <a:srgbClr val="2E3640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3E6F19C-5118-74AD-40AF-53432144B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80" y="1396603"/>
            <a:ext cx="3337630" cy="11599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E90A67F-FC18-CBC6-08FB-3D832313F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150" y="1680468"/>
            <a:ext cx="2774950" cy="716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4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9EC19F-3640-8640-815A-682DDE350B0E}"/>
              </a:ext>
            </a:extLst>
          </p:cNvPr>
          <p:cNvSpPr txBox="1"/>
          <p:nvPr/>
        </p:nvSpPr>
        <p:spPr>
          <a:xfrm>
            <a:off x="241300" y="127000"/>
            <a:ext cx="109347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 dirty="0">
                <a:solidFill>
                  <a:srgbClr val="2E6B75"/>
                </a:solidFill>
                <a:latin typeface="Montserrat"/>
              </a:rPr>
              <a:t>Practice: Reading Regression Output (PREVEND Study)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BFB8D-96A2-AD41-972F-D1AFA09B06F9}"/>
              </a:ext>
            </a:extLst>
          </p:cNvPr>
          <p:cNvSpPr txBox="1"/>
          <p:nvPr/>
        </p:nvSpPr>
        <p:spPr>
          <a:xfrm>
            <a:off x="368300" y="698500"/>
            <a:ext cx="113665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In a study of 500 adults, researchers modeled cognitive function (RFFT score) as a function of age. The regression output is shown below.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B7C85-4D3D-E54F-9B0B-7A990CE7434B}"/>
              </a:ext>
            </a:extLst>
          </p:cNvPr>
          <p:cNvSpPr txBox="1"/>
          <p:nvPr/>
        </p:nvSpPr>
        <p:spPr>
          <a:xfrm>
            <a:off x="368300" y="1371600"/>
            <a:ext cx="4881033" cy="13335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library(oibiostat)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set.seed(1); data(prevend)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prevend_sample &lt;- prevend[sample(nrow(prevend), 500), ]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model_rfft &lt;- lm(RFFT ~ Age, data = prevend_sample)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summary(model_rfft)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confint(model_rfft)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2B1144-D1FD-A548-BDE5-69E070C16882}"/>
              </a:ext>
            </a:extLst>
          </p:cNvPr>
          <p:cNvSpPr/>
          <p:nvPr/>
        </p:nvSpPr>
        <p:spPr>
          <a:xfrm>
            <a:off x="139700" y="2755900"/>
            <a:ext cx="5753100" cy="8890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Q3: What does the slope estimate of −1.096 tell us about the relationship between age and cognitive function?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2C1DAF-CE75-8147-A3FA-7BD3FE4D1D6D}"/>
              </a:ext>
            </a:extLst>
          </p:cNvPr>
          <p:cNvSpPr/>
          <p:nvPr/>
        </p:nvSpPr>
        <p:spPr>
          <a:xfrm>
            <a:off x="342900" y="37338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 lnSpcReduction="10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A) For each additional year of age, RFFT score decreases by about 1.1 points on average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5DD8A7-C16F-1141-91EA-BD014F18C3D5}"/>
              </a:ext>
            </a:extLst>
          </p:cNvPr>
          <p:cNvSpPr/>
          <p:nvPr/>
        </p:nvSpPr>
        <p:spPr>
          <a:xfrm>
            <a:off x="342900" y="43180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 lnSpcReduction="10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B) For each additional year of age, RFFT score increases by about 1.1 points on average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D0D63D-9099-BE4A-8A96-81B9D88F0299}"/>
              </a:ext>
            </a:extLst>
          </p:cNvPr>
          <p:cNvSpPr/>
          <p:nvPr/>
        </p:nvSpPr>
        <p:spPr>
          <a:xfrm>
            <a:off x="342900" y="49022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C) The average RFFT score in this sample is 1.1 points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126985-2B41-A545-B821-09E0A40BC65C}"/>
              </a:ext>
            </a:extLst>
          </p:cNvPr>
          <p:cNvSpPr/>
          <p:nvPr/>
        </p:nvSpPr>
        <p:spPr>
          <a:xfrm>
            <a:off x="139700" y="5511800"/>
            <a:ext cx="5753100" cy="1206500"/>
          </a:xfrm>
          <a:prstGeom prst="roundRect">
            <a:avLst/>
          </a:prstGeom>
          <a:solidFill>
            <a:srgbClr val="E8F4F5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Answer: A</a:t>
            </a:r>
          </a:p>
          <a:p>
            <a:endParaRPr lang="en-US" sz="1400" dirty="0">
              <a:solidFill>
                <a:srgbClr val="2E3640"/>
              </a:solidFill>
            </a:endParaRPr>
          </a:p>
          <a:p>
            <a:r>
              <a:rPr lang="en-US" sz="1400" dirty="0">
                <a:solidFill>
                  <a:srgbClr val="2E3640"/>
                </a:solidFill>
              </a:rPr>
              <a:t>The slope is −1.096, negative, so RFFT decreases with age. Option B gets the direction wrong. Option C confuses the slope with the mean.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9C27C3A-787F-5B41-AEA8-77CDBF6C81ED}"/>
              </a:ext>
            </a:extLst>
          </p:cNvPr>
          <p:cNvSpPr/>
          <p:nvPr/>
        </p:nvSpPr>
        <p:spPr>
          <a:xfrm>
            <a:off x="6096000" y="2755900"/>
            <a:ext cx="5753100" cy="8890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Q4: The 95% CI is (−1.26, −0.93). Which of these could be the 99% CI?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A57E8A-F62D-9E4C-8542-1B36A9899825}"/>
              </a:ext>
            </a:extLst>
          </p:cNvPr>
          <p:cNvSpPr/>
          <p:nvPr/>
        </p:nvSpPr>
        <p:spPr>
          <a:xfrm>
            <a:off x="6299200" y="37338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A) (−1.31, −0.88)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737B9B-99C3-7E40-B0EF-D3926F98ADE1}"/>
              </a:ext>
            </a:extLst>
          </p:cNvPr>
          <p:cNvSpPr/>
          <p:nvPr/>
        </p:nvSpPr>
        <p:spPr>
          <a:xfrm>
            <a:off x="6299200" y="43180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B) (−1.18, −1.01)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04CE9D-2F68-634C-B9E2-E93854E967CE}"/>
              </a:ext>
            </a:extLst>
          </p:cNvPr>
          <p:cNvSpPr/>
          <p:nvPr/>
        </p:nvSpPr>
        <p:spPr>
          <a:xfrm>
            <a:off x="6096000" y="5511800"/>
            <a:ext cx="5753100" cy="1206500"/>
          </a:xfrm>
          <a:prstGeom prst="roundRect">
            <a:avLst/>
          </a:prstGeom>
          <a:solidFill>
            <a:srgbClr val="E8F4F5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Answer: A</a:t>
            </a:r>
          </a:p>
          <a:p>
            <a:endParaRPr lang="en-US" sz="1400" dirty="0">
              <a:solidFill>
                <a:srgbClr val="2E3640"/>
              </a:solidFill>
            </a:endParaRPr>
          </a:p>
          <a:p>
            <a:r>
              <a:rPr lang="en-US" sz="1400" dirty="0">
                <a:solidFill>
                  <a:srgbClr val="2E3640"/>
                </a:solidFill>
              </a:rPr>
              <a:t>The 99% CI must be wider than the 95% CI. Option B is narrower, so it cannot be a 99% CI.</a:t>
            </a:r>
          </a:p>
          <a:p>
            <a:endParaRPr lang="en-US" sz="1400" dirty="0">
              <a:solidFill>
                <a:srgbClr val="2E3640"/>
              </a:solidFill>
            </a:endParaRPr>
          </a:p>
          <a:p>
            <a:r>
              <a:rPr lang="en-US" sz="1400" dirty="0">
                <a:solidFill>
                  <a:srgbClr val="2E3640"/>
                </a:solidFill>
              </a:rPr>
              <a:t>To calculate in R: confint(model_rfft, level = 0.99)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92403-A4EB-C442-8EFC-5C778BFA236E}"/>
              </a:ext>
            </a:extLst>
          </p:cNvPr>
          <p:cNvSpPr txBox="1"/>
          <p:nvPr/>
        </p:nvSpPr>
        <p:spPr>
          <a:xfrm>
            <a:off x="5334000" y="1371600"/>
            <a:ext cx="6604000" cy="13335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2E3640"/>
                </a:solidFill>
                <a:latin typeface="Courier New"/>
                <a:cs typeface="Courier New"/>
              </a:rPr>
              <a:t>             Estimate Std. Error t value  </a:t>
            </a:r>
            <a:r>
              <a:rPr lang="en-US" sz="1600" b="1" dirty="0" err="1">
                <a:solidFill>
                  <a:srgbClr val="2E3640"/>
                </a:solidFill>
                <a:latin typeface="Courier New"/>
                <a:cs typeface="Courier New"/>
              </a:rPr>
              <a:t>Pr</a:t>
            </a:r>
            <a:r>
              <a:rPr lang="en-US" sz="1600" b="1" dirty="0">
                <a:solidFill>
                  <a:srgbClr val="2E3640"/>
                </a:solidFill>
                <a:latin typeface="Courier New"/>
                <a:cs typeface="Courier New"/>
              </a:rPr>
              <a:t>(&gt;|t|)
(Intercept)  128.490      4.683   27.44    &lt;2e-16
Age           -1.096      0.084  -13.03    &lt;2e-16
95% CI for Age: (-1.26, -0.93)</a:t>
            </a:r>
          </a:p>
        </p:txBody>
      </p:sp>
    </p:spTree>
    <p:extLst>
      <p:ext uri="{BB962C8B-B14F-4D97-AF65-F5344CB8AC3E}">
        <p14:creationId xmlns:p14="http://schemas.microsoft.com/office/powerpoint/2010/main" val="65731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FF90BE-8513-6141-9477-1835114D57D5}"/>
              </a:ext>
            </a:extLst>
          </p:cNvPr>
          <p:cNvSpPr txBox="1"/>
          <p:nvPr/>
        </p:nvSpPr>
        <p:spPr>
          <a:xfrm>
            <a:off x="241300" y="127000"/>
            <a:ext cx="109347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2E6B75"/>
                </a:solidFill>
                <a:latin typeface="Montserrat"/>
              </a:rPr>
              <a:t>Practice: Reading Regression Output (Beer &amp; BAC)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D6601-7AD8-2744-B0AB-86583469DDF9}"/>
              </a:ext>
            </a:extLst>
          </p:cNvPr>
          <p:cNvSpPr txBox="1"/>
          <p:nvPr/>
        </p:nvSpPr>
        <p:spPr>
          <a:xfrm>
            <a:off x="368300" y="698500"/>
            <a:ext cx="11366500" cy="647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In an experiment, 16 volunteers each drank a randomly assigned number of beers, and their blood alcohol content (BAC) was measured 30 minutes later.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CCCAA-3297-7C40-8A2B-035EA637D8EB}"/>
              </a:ext>
            </a:extLst>
          </p:cNvPr>
          <p:cNvSpPr txBox="1"/>
          <p:nvPr/>
        </p:nvSpPr>
        <p:spPr>
          <a:xfrm>
            <a:off x="368300" y="1371600"/>
            <a:ext cx="3706989" cy="127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library(openintro)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data(bac)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model_bac &lt;- lm(bac ~ beers, data = bac)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summary(model_bac)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2E3640"/>
                </a:solidFill>
                <a:latin typeface="Courier New"/>
                <a:cs typeface="Courier New"/>
              </a:rPr>
              <a:t>confint(model_bac)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3ED62FE-7D9E-C541-B9AA-19F451296BFD}"/>
              </a:ext>
            </a:extLst>
          </p:cNvPr>
          <p:cNvSpPr/>
          <p:nvPr/>
        </p:nvSpPr>
        <p:spPr>
          <a:xfrm>
            <a:off x="139700" y="2755900"/>
            <a:ext cx="5753100" cy="8890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Q5: Do the data provide strong evidence that the number of beers consumed is associated with BAC?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A8EBF1-3673-424C-AD84-B5F971A3CB24}"/>
              </a:ext>
            </a:extLst>
          </p:cNvPr>
          <p:cNvSpPr/>
          <p:nvPr/>
        </p:nvSpPr>
        <p:spPr>
          <a:xfrm>
            <a:off x="342900" y="37338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 lnSpcReduction="10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A) No : the intercept is not significant (p = 0.332), so the model is not meaningful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C25251-4886-2A40-B630-C8DD7152D69E}"/>
              </a:ext>
            </a:extLst>
          </p:cNvPr>
          <p:cNvSpPr/>
          <p:nvPr/>
        </p:nvSpPr>
        <p:spPr>
          <a:xfrm>
            <a:off x="342900" y="43180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 lnSpcReduction="10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B) Yes :the slope for beers has p &lt; 0.0001, indicating a significant positive association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AC530E-1D69-E74B-A27F-5AC04ADBD4E2}"/>
              </a:ext>
            </a:extLst>
          </p:cNvPr>
          <p:cNvSpPr/>
          <p:nvPr/>
        </p:nvSpPr>
        <p:spPr>
          <a:xfrm>
            <a:off x="139700" y="5150555"/>
            <a:ext cx="5753100" cy="1206500"/>
          </a:xfrm>
          <a:prstGeom prst="roundRect">
            <a:avLst/>
          </a:prstGeom>
          <a:solidFill>
            <a:srgbClr val="E8F4F5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Answer: B</a:t>
            </a:r>
          </a:p>
          <a:p>
            <a:endParaRPr lang="en-US" sz="1400" dirty="0">
              <a:solidFill>
                <a:srgbClr val="2E3640"/>
              </a:solidFill>
            </a:endParaRPr>
          </a:p>
          <a:p>
            <a:r>
              <a:rPr lang="en-US" sz="1400" dirty="0">
                <a:solidFill>
                  <a:srgbClr val="2E3640"/>
                </a:solidFill>
              </a:rPr>
              <a:t>The key test is for the slope, not the intercept. The p-value for beers (&lt; 0.0001) gives strong evidence of a positive association. Option A wrongly focuses on the intercept.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7992021-AD2F-7C49-92F5-6518E6D774CE}"/>
              </a:ext>
            </a:extLst>
          </p:cNvPr>
          <p:cNvSpPr/>
          <p:nvPr/>
        </p:nvSpPr>
        <p:spPr>
          <a:xfrm>
            <a:off x="6096000" y="2755900"/>
            <a:ext cx="5753100" cy="889000"/>
          </a:xfrm>
          <a:prstGeom prst="roundRect">
            <a:avLst/>
          </a:prstGeom>
          <a:solidFill>
            <a:srgbClr val="2E6B7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Q6: The 95% CI for the beers slope is (0.013, 0.023). A student says: "Since it's entirely above zero, the relationship is significant at 5%." Is this deduction correct?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A45DE7-AA0E-854E-A35A-A86D5D3DB898}"/>
              </a:ext>
            </a:extLst>
          </p:cNvPr>
          <p:cNvSpPr/>
          <p:nvPr/>
        </p:nvSpPr>
        <p:spPr>
          <a:xfrm>
            <a:off x="6299200" y="37338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A) Yes : a 95% CI excluding zero rejects H₀ at α = 0.05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8CB576-9A04-1A41-9AE2-0D79115376F8}"/>
              </a:ext>
            </a:extLst>
          </p:cNvPr>
          <p:cNvSpPr/>
          <p:nvPr/>
        </p:nvSpPr>
        <p:spPr>
          <a:xfrm>
            <a:off x="6299200" y="4318000"/>
            <a:ext cx="5549900" cy="533400"/>
          </a:xfrm>
          <a:prstGeom prst="round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 lnSpcReduction="10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B) No : we need the p-value separately; the CI doesn't tell us about significance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249DBAF-F47D-2849-A333-FF61D36A0B13}"/>
              </a:ext>
            </a:extLst>
          </p:cNvPr>
          <p:cNvSpPr/>
          <p:nvPr/>
        </p:nvSpPr>
        <p:spPr>
          <a:xfrm>
            <a:off x="6096000" y="5150555"/>
            <a:ext cx="5753100" cy="1206500"/>
          </a:xfrm>
          <a:prstGeom prst="roundRect">
            <a:avLst/>
          </a:prstGeom>
          <a:solidFill>
            <a:srgbClr val="E8F4F5"/>
          </a:solidFill>
          <a:ln w="12700" cap="flat" cmpd="sng" algn="ctr">
            <a:solidFill>
              <a:srgbClr val="2E6B7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>
            <a:normAutofit fontScale="95000"/>
          </a:bodyPr>
          <a:lstStyle/>
          <a:p>
            <a:r>
              <a:rPr lang="en-US" sz="1400" dirty="0">
                <a:solidFill>
                  <a:srgbClr val="2E3640"/>
                </a:solidFill>
              </a:rPr>
              <a:t>Answer: A</a:t>
            </a:r>
          </a:p>
          <a:p>
            <a:endParaRPr lang="en-US" sz="1400" dirty="0">
              <a:solidFill>
                <a:srgbClr val="2E3640"/>
              </a:solidFill>
            </a:endParaRPr>
          </a:p>
          <a:p>
            <a:r>
              <a:rPr lang="en-US" sz="1400" dirty="0">
                <a:solidFill>
                  <a:srgbClr val="2E3640"/>
                </a:solidFill>
              </a:rPr>
              <a:t>A 95% CI excluding zero and a two-sided p &lt; 0.05 are equivalent. The CI gives direction + precision on top of significance.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2E839-5DAA-3E4C-8129-297290F78F50}"/>
              </a:ext>
            </a:extLst>
          </p:cNvPr>
          <p:cNvSpPr txBox="1"/>
          <p:nvPr/>
        </p:nvSpPr>
        <p:spPr>
          <a:xfrm>
            <a:off x="4165600" y="1371600"/>
            <a:ext cx="7772400" cy="127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2E3640"/>
                </a:solidFill>
                <a:latin typeface="Courier New"/>
                <a:cs typeface="Courier New"/>
              </a:rPr>
              <a:t>             Estimate Std. Error t value  </a:t>
            </a:r>
            <a:r>
              <a:rPr lang="en-US" sz="1600" b="1" dirty="0" err="1">
                <a:solidFill>
                  <a:srgbClr val="2E3640"/>
                </a:solidFill>
                <a:latin typeface="Courier New"/>
                <a:cs typeface="Courier New"/>
              </a:rPr>
              <a:t>Pr</a:t>
            </a:r>
            <a:r>
              <a:rPr lang="en-US" sz="1600" b="1" dirty="0">
                <a:solidFill>
                  <a:srgbClr val="2E3640"/>
                </a:solidFill>
                <a:latin typeface="Courier New"/>
                <a:cs typeface="Courier New"/>
              </a:rPr>
              <a:t>(&gt;|t|)
(Intercept)   -0.013      0.013   -1.00     0.332   
beers          0.018      0.002    7.48   2.97e-06  ***
95% CI for beers: (0.013, 0.023)</a:t>
            </a:r>
          </a:p>
        </p:txBody>
      </p:sp>
    </p:spTree>
    <p:extLst>
      <p:ext uri="{BB962C8B-B14F-4D97-AF65-F5344CB8AC3E}">
        <p14:creationId xmlns:p14="http://schemas.microsoft.com/office/powerpoint/2010/main" val="177019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FE18-353F-0829-2D92-B8905EAC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Box 14">
            <a:extLst>
              <a:ext uri="{FF2B5EF4-FFF2-40B4-BE49-F238E27FC236}">
                <a16:creationId xmlns:a16="http://schemas.microsoft.com/office/drawing/2014/main" id="{336652C2-80D6-E350-2F1E-E5E11DAAD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45417"/>
            <a:ext cx="1051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2E6B75"/>
                </a:solidFill>
                <a:latin typeface="Montserrat"/>
              </a:rPr>
              <a:t>Learning Objectives | t Values and p Values</a:t>
            </a:r>
          </a:p>
        </p:txBody>
      </p:sp>
      <p:sp>
        <p:nvSpPr>
          <p:cNvPr id="2" name="LO Circle 1">
            <a:extLst>
              <a:ext uri="{FF2B5EF4-FFF2-40B4-BE49-F238E27FC236}">
                <a16:creationId xmlns:a16="http://schemas.microsoft.com/office/drawing/2014/main" id="{3C499B5A-9931-5C43-5838-BCDF3F105682}"/>
              </a:ext>
            </a:extLst>
          </p:cNvPr>
          <p:cNvSpPr/>
          <p:nvPr/>
        </p:nvSpPr>
        <p:spPr>
          <a:xfrm>
            <a:off x="609600" y="10922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" name="LO Text 1">
            <a:extLst>
              <a:ext uri="{FF2B5EF4-FFF2-40B4-BE49-F238E27FC236}">
                <a16:creationId xmlns:a16="http://schemas.microsoft.com/office/drawing/2014/main" id="{8E0D98E8-BBA9-162D-7BFC-489F0EB666C6}"/>
              </a:ext>
            </a:extLst>
          </p:cNvPr>
          <p:cNvSpPr txBox="1"/>
          <p:nvPr/>
        </p:nvSpPr>
        <p:spPr>
          <a:xfrm>
            <a:off x="1168400" y="10668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Compute the t-statistic for a regression slope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Divide the estimated slope by its standard error to measure how many SEs away from zero the estimate sits</a:t>
            </a:r>
          </a:p>
        </p:txBody>
      </p:sp>
      <p:sp>
        <p:nvSpPr>
          <p:cNvPr id="4" name="LO Circle 2">
            <a:extLst>
              <a:ext uri="{FF2B5EF4-FFF2-40B4-BE49-F238E27FC236}">
                <a16:creationId xmlns:a16="http://schemas.microsoft.com/office/drawing/2014/main" id="{FE692D7F-D02F-0061-6C26-519BF3FF8584}"/>
              </a:ext>
            </a:extLst>
          </p:cNvPr>
          <p:cNvSpPr/>
          <p:nvPr/>
        </p:nvSpPr>
        <p:spPr>
          <a:xfrm>
            <a:off x="609600" y="21971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5" name="LO Text 2">
            <a:extLst>
              <a:ext uri="{FF2B5EF4-FFF2-40B4-BE49-F238E27FC236}">
                <a16:creationId xmlns:a16="http://schemas.microsoft.com/office/drawing/2014/main" id="{57941123-6AAF-DF50-336B-D615FD56FBF4}"/>
              </a:ext>
            </a:extLst>
          </p:cNvPr>
          <p:cNvSpPr txBox="1"/>
          <p:nvPr/>
        </p:nvSpPr>
        <p:spPr>
          <a:xfrm>
            <a:off x="1168400" y="21717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Define the null hypothesis, explain how a t-value is used to calculate a p-value, and describe what the p-value represents.✅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H₀: β₁ = 0 says x has no linear effect; the p-value is the probability of seeing a test statistic this extreme if H₀ is true</a:t>
            </a:r>
          </a:p>
        </p:txBody>
      </p:sp>
      <p:sp>
        <p:nvSpPr>
          <p:cNvPr id="6" name="LO Circle 4">
            <a:extLst>
              <a:ext uri="{FF2B5EF4-FFF2-40B4-BE49-F238E27FC236}">
                <a16:creationId xmlns:a16="http://schemas.microsoft.com/office/drawing/2014/main" id="{03D866EE-CDED-DF9F-15CA-60E718C21C37}"/>
              </a:ext>
            </a:extLst>
          </p:cNvPr>
          <p:cNvSpPr/>
          <p:nvPr/>
        </p:nvSpPr>
        <p:spPr>
          <a:xfrm>
            <a:off x="584200" y="33020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" name="LO Text 4">
            <a:extLst>
              <a:ext uri="{FF2B5EF4-FFF2-40B4-BE49-F238E27FC236}">
                <a16:creationId xmlns:a16="http://schemas.microsoft.com/office/drawing/2014/main" id="{7429C20B-2EDF-EA51-E384-16E4A30525BD}"/>
              </a:ext>
            </a:extLst>
          </p:cNvPr>
          <p:cNvSpPr txBox="1"/>
          <p:nvPr/>
        </p:nvSpPr>
        <p:spPr>
          <a:xfrm>
            <a:off x="1143000" y="32766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Connect the CI and p-value as two views of the same test 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The CI excludes zero exactly when the p-value falls below the significance level — both tools give the same verdict</a:t>
            </a:r>
          </a:p>
        </p:txBody>
      </p:sp>
      <p:sp>
        <p:nvSpPr>
          <p:cNvPr id="8" name="LO Circle 5">
            <a:extLst>
              <a:ext uri="{FF2B5EF4-FFF2-40B4-BE49-F238E27FC236}">
                <a16:creationId xmlns:a16="http://schemas.microsoft.com/office/drawing/2014/main" id="{C77EC06E-8C23-84C3-8447-EA4DD9D0F3A7}"/>
              </a:ext>
            </a:extLst>
          </p:cNvPr>
          <p:cNvSpPr/>
          <p:nvPr/>
        </p:nvSpPr>
        <p:spPr>
          <a:xfrm>
            <a:off x="584200" y="44069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9" name="LO Text 5">
            <a:extLst>
              <a:ext uri="{FF2B5EF4-FFF2-40B4-BE49-F238E27FC236}">
                <a16:creationId xmlns:a16="http://schemas.microsoft.com/office/drawing/2014/main" id="{296219B1-3E8B-186E-BB03-AC05B0E9E9E7}"/>
              </a:ext>
            </a:extLst>
          </p:cNvPr>
          <p:cNvSpPr txBox="1"/>
          <p:nvPr/>
        </p:nvSpPr>
        <p:spPr>
          <a:xfrm>
            <a:off x="1143000" y="4381500"/>
            <a:ext cx="9906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Read and interpret the full regression output for slope coefficients  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Locate the estimate, SE, t, p, and CI columns in software output and state what each number means</a:t>
            </a:r>
          </a:p>
        </p:txBody>
      </p:sp>
    </p:spTree>
    <p:extLst>
      <p:ext uri="{BB962C8B-B14F-4D97-AF65-F5344CB8AC3E}">
        <p14:creationId xmlns:p14="http://schemas.microsoft.com/office/powerpoint/2010/main" val="324857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ademic Teal">
      <a:dk1>
        <a:srgbClr val="2E3640"/>
      </a:dk1>
      <a:lt1>
        <a:srgbClr val="FFFFFF"/>
      </a:lt1>
      <a:dk2>
        <a:srgbClr val="2E6B75"/>
      </a:dk2>
      <a:lt2>
        <a:srgbClr val="EAF4F4"/>
      </a:lt2>
      <a:accent1>
        <a:srgbClr val="2E6B75"/>
      </a:accent1>
      <a:accent2>
        <a:srgbClr val="F8D377"/>
      </a:accent2>
      <a:accent3>
        <a:srgbClr val="EAF4F4"/>
      </a:accent3>
      <a:accent4>
        <a:srgbClr val="3A8A96"/>
      </a:accent4>
      <a:accent5>
        <a:srgbClr val="F5C451"/>
      </a:accent5>
      <a:accent6>
        <a:srgbClr val="1D4D55"/>
      </a:accent6>
      <a:hlink>
        <a:srgbClr val="467886"/>
      </a:hlink>
      <a:folHlink>
        <a:srgbClr val="96607D"/>
      </a:folHlink>
    </a:clrScheme>
    <a:fontScheme name="Academic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Academic Teal">
      <a:dk1>
        <a:srgbClr val="2E3640"/>
      </a:dk1>
      <a:lt1>
        <a:srgbClr val="FFFFFF"/>
      </a:lt1>
      <a:dk2>
        <a:srgbClr val="2E6B75"/>
      </a:dk2>
      <a:lt2>
        <a:srgbClr val="EAF4F4"/>
      </a:lt2>
      <a:accent1>
        <a:srgbClr val="2E6B75"/>
      </a:accent1>
      <a:accent2>
        <a:srgbClr val="F8D377"/>
      </a:accent2>
      <a:accent3>
        <a:srgbClr val="EAF4F4"/>
      </a:accent3>
      <a:accent4>
        <a:srgbClr val="3A8A96"/>
      </a:accent4>
      <a:accent5>
        <a:srgbClr val="F5C451"/>
      </a:accent5>
      <a:accent6>
        <a:srgbClr val="1D4D55"/>
      </a:accent6>
      <a:hlink>
        <a:srgbClr val="467886"/>
      </a:hlink>
      <a:folHlink>
        <a:srgbClr val="96607D"/>
      </a:folHlink>
    </a:clrScheme>
    <a:fontScheme name="Academic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F220BE-BDA3-6942-9F56-18FAB3264D7F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  <we:property name="claude.fileId" value="&quot;3720bc81-a245-429a-9deb-2e4fe2c4cef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18009</TotalTime>
  <Words>1273</Words>
  <Application>Microsoft Macintosh PowerPoint</Application>
  <PresentationFormat>Widescreen</PresentationFormat>
  <Paragraphs>132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Courier New</vt:lpstr>
      <vt:lpstr>Montserrat</vt:lpstr>
      <vt:lpstr>Open Sans</vt:lpstr>
      <vt:lpstr>Office Theme</vt:lpstr>
      <vt:lpstr>Office Theme</vt:lpstr>
      <vt:lpstr>PowerPoint Presentation</vt:lpstr>
      <vt:lpstr>Understanding the Full Output for the Slope Coefficients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Kenechukwu Nwosu</dc:creator>
  <cp:lastModifiedBy>Kenechukwu Nwosu</cp:lastModifiedBy>
  <cp:revision>418</cp:revision>
  <dcterms:created xsi:type="dcterms:W3CDTF">2026-03-04T23:12:46Z</dcterms:created>
  <dcterms:modified xsi:type="dcterms:W3CDTF">2026-05-16T14:25:48Z</dcterms:modified>
</cp:coreProperties>
</file>