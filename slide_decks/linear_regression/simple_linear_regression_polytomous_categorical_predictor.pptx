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896" r:id="rId2"/>
    <p:sldId id="959" r:id="rId3"/>
    <p:sldId id="942" r:id="rId4"/>
    <p:sldId id="947" r:id="rId5"/>
    <p:sldId id="948" r:id="rId6"/>
    <p:sldId id="949" r:id="rId7"/>
    <p:sldId id="955" r:id="rId8"/>
    <p:sldId id="965" r:id="rId9"/>
    <p:sldId id="970" r:id="rId10"/>
    <p:sldId id="980" r:id="rId11"/>
    <p:sldId id="983" r:id="rId12"/>
    <p:sldId id="98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792"/>
    <a:srgbClr val="C13419"/>
    <a:srgbClr val="DFA02B"/>
    <a:srgbClr val="DFA019"/>
    <a:srgbClr val="2B6CB0"/>
    <a:srgbClr val="F2F4FF"/>
    <a:srgbClr val="EAF5F4"/>
    <a:srgbClr val="2D6B75"/>
    <a:srgbClr val="EBF5F4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79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22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6/27/26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7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166F43-D401-8144-9770-678C5660D5E5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553AE8-6C0D-3648-B4E0-4CD7C29A0567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ECADF-7E6B-9B43-AC5F-C059C4FD0CEA}"/>
              </a:ext>
            </a:extLst>
          </p:cNvPr>
          <p:cNvSpPr txBox="1"/>
          <p:nvPr/>
        </p:nvSpPr>
        <p:spPr>
          <a:xfrm>
            <a:off x="762000" y="2040164"/>
            <a:ext cx="8382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 dirty="0">
                <a:solidFill>
                  <a:srgbClr val="1F5061"/>
                </a:solidFill>
                <a:latin typeface="Calibri"/>
                <a:cs typeface="Calibri"/>
              </a:rPr>
              <a:t>Categorical Predictors with k &gt; 2 Levels</a:t>
            </a:r>
          </a:p>
        </p:txBody>
      </p:sp>
    </p:spTree>
    <p:extLst>
      <p:ext uri="{BB962C8B-B14F-4D97-AF65-F5344CB8AC3E}">
        <p14:creationId xmlns:p14="http://schemas.microsoft.com/office/powerpoint/2010/main" val="125506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E032C-4AA4-304D-A18C-67EE2F67D796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5D7B44-92E9-3A47-ADA1-DACC3A63EF28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1EB24-E6AD-C24E-A4B2-1FDADEDB8788}"/>
              </a:ext>
            </a:extLst>
          </p:cNvPr>
          <p:cNvSpPr txBox="1"/>
          <p:nvPr/>
        </p:nvSpPr>
        <p:spPr>
          <a:xfrm>
            <a:off x="406400" y="292100"/>
            <a:ext cx="83185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2000" b="1" dirty="0">
                <a:solidFill>
                  <a:srgbClr val="1F5061"/>
                </a:solidFill>
                <a:latin typeface="Calibri"/>
                <a:cs typeface="Calibri"/>
              </a:rPr>
              <a:t>Learning Objectives  | SLR with </a:t>
            </a:r>
            <a:r>
              <a:rPr lang="en-US" sz="2000" b="1" dirty="0">
                <a:solidFill>
                  <a:srgbClr val="1F5061"/>
                </a:solidFill>
                <a:cs typeface="Calibri"/>
              </a:rPr>
              <a:t>Polytomous Categorical </a:t>
            </a:r>
            <a:r>
              <a:rPr lang="en-US" sz="2000" b="1" dirty="0">
                <a:solidFill>
                  <a:srgbClr val="1F5061"/>
                </a:solidFill>
                <a:latin typeface="Calibri"/>
                <a:cs typeface="Calibri"/>
              </a:rPr>
              <a:t>Predictors (k &gt; 2)</a:t>
            </a:r>
          </a:p>
        </p:txBody>
      </p:sp>
      <p:sp>
        <p:nvSpPr>
          <p:cNvPr id="100" name="Oval 1"/>
          <p:cNvSpPr/>
          <p:nvPr/>
        </p:nvSpPr>
        <p:spPr>
          <a:xfrm>
            <a:off x="508000" y="1079500"/>
            <a:ext cx="368300" cy="368300"/>
          </a:xfrm>
          <a:prstGeom prst="ellipse">
            <a:avLst/>
          </a:prstGeom>
          <a:solidFill>
            <a:srgbClr val="1F5061"/>
          </a:solidFill>
          <a:ln w="12700">
            <a:noFill/>
          </a:ln>
        </p:spPr>
        <p:txBody>
          <a:bodyPr vertOverflow="clip" horzOverflow="clip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1" name="ObjTitle 1"/>
          <p:cNvSpPr txBox="1"/>
          <p:nvPr/>
        </p:nvSpPr>
        <p:spPr>
          <a:xfrm>
            <a:off x="1003300" y="1066800"/>
            <a:ext cx="7810500" cy="292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C3E50"/>
                </a:solidFill>
                <a:latin typeface="Calibri"/>
              </a:rPr>
              <a:t>Extend regression from binary to k-level categorical predictors</a:t>
            </a:r>
          </a:p>
        </p:txBody>
      </p:sp>
      <p:sp>
        <p:nvSpPr>
          <p:cNvPr id="103" name="Oval 2"/>
          <p:cNvSpPr/>
          <p:nvPr/>
        </p:nvSpPr>
        <p:spPr>
          <a:xfrm>
            <a:off x="508000" y="1968500"/>
            <a:ext cx="368300" cy="368300"/>
          </a:xfrm>
          <a:prstGeom prst="ellipse">
            <a:avLst/>
          </a:prstGeom>
          <a:solidFill>
            <a:srgbClr val="1F5061"/>
          </a:solidFill>
          <a:ln w="12700">
            <a:noFill/>
          </a:ln>
        </p:spPr>
        <p:txBody>
          <a:bodyPr vertOverflow="clip" horzOverflow="clip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4" name="ObjTitle 2"/>
          <p:cNvSpPr txBox="1"/>
          <p:nvPr/>
        </p:nvSpPr>
        <p:spPr>
          <a:xfrm>
            <a:off x="1003300" y="1955800"/>
            <a:ext cx="7810500" cy="292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C3E50"/>
                </a:solidFill>
                <a:latin typeface="Calibri"/>
              </a:rPr>
              <a:t>Interpret the intercept and each dummy coefficient as group means and contrasts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A5495-329D-8695-158B-00816B323C79}"/>
              </a:ext>
            </a:extLst>
          </p:cNvPr>
          <p:cNvSpPr/>
          <p:nvPr/>
        </p:nvSpPr>
        <p:spPr>
          <a:xfrm>
            <a:off x="508000" y="767080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7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7BED20-529C-1349-A1C8-64FB9C3E0E18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8C07A-CE74-8F44-A311-C54EC9A76DF9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C4B908-EE0D-169A-43A5-51686D0AD9D8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A28D75-7ECD-1EA1-B414-64A92DD2D844}"/>
              </a:ext>
            </a:extLst>
          </p:cNvPr>
          <p:cNvSpPr/>
          <p:nvPr/>
        </p:nvSpPr>
        <p:spPr>
          <a:xfrm>
            <a:off x="3935187" y="796246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9716B0-762F-1A68-3704-3FE90BEC8DA1}"/>
              </a:ext>
            </a:extLst>
          </p:cNvPr>
          <p:cNvSpPr txBox="1"/>
          <p:nvPr/>
        </p:nvSpPr>
        <p:spPr>
          <a:xfrm>
            <a:off x="4182075" y="807621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dirty="0">
                <a:solidFill>
                  <a:srgbClr val="2E6B75"/>
                </a:solidFill>
                <a:latin typeface="Montserrat"/>
              </a:rPr>
              <a:t>LOAD + PREP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AC0A5D-9CAA-CE3E-13C3-4613EDAB62E8}"/>
              </a:ext>
            </a:extLst>
          </p:cNvPr>
          <p:cNvSpPr/>
          <p:nvPr/>
        </p:nvSpPr>
        <p:spPr>
          <a:xfrm>
            <a:off x="3910692" y="1084520"/>
            <a:ext cx="5159600" cy="19861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8B4A9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pacman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GB" sz="1100" b="1" dirty="0">
                <a:solidFill>
                  <a:srgbClr val="1F5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p_load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tidyverse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equatiomatic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ggstatsplot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GB" sz="1100" b="1" dirty="0">
                <a:solidFill>
                  <a:srgbClr val="8B4A9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pacman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GB" sz="1100" b="1" dirty="0">
                <a:solidFill>
                  <a:srgbClr val="1F5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p_load_gh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>
                <a:solidFill>
                  <a:srgbClr val="1F7A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"the-graph-courses/</a:t>
            </a:r>
            <a:r>
              <a:rPr lang="en-GB" sz="1100" b="1" dirty="0" err="1">
                <a:solidFill>
                  <a:srgbClr val="1F7A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rsr</a:t>
            </a:r>
            <a:r>
              <a:rPr lang="en-GB" sz="1100" b="1" dirty="0">
                <a:solidFill>
                  <a:srgbClr val="1F7A1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GB" sz="11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sz="1100" b="1" dirty="0">
              <a:solidFill>
                <a:srgbClr val="2E6B7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GB" sz="11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rsr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GB" sz="11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|&gt;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select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rfft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100" b="1" dirty="0" err="1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age_yrs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sex, education) |&gt;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mutate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sex = </a:t>
            </a:r>
            <a:r>
              <a:rPr lang="en-GB" sz="1100" b="1" dirty="0" err="1">
                <a:solidFill>
                  <a:srgbClr val="1F5061"/>
                </a:solidFill>
                <a:latin typeface="Consolas"/>
                <a:cs typeface="Consolas"/>
              </a:rPr>
              <a:t>fct_relevel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(sex, "</a:t>
            </a:r>
            <a:r>
              <a:rPr lang="en-GB" sz="1100" b="1" dirty="0">
                <a:solidFill>
                  <a:srgbClr val="1F7A1F"/>
                </a:solidFill>
                <a:latin typeface="Consolas"/>
                <a:cs typeface="Consolas"/>
              </a:rPr>
              <a:t>female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"),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education = </a:t>
            </a:r>
            <a:r>
              <a:rPr lang="en-GB" sz="1100" b="1" dirty="0" err="1">
                <a:solidFill>
                  <a:srgbClr val="1F5061"/>
                </a:solidFill>
                <a:latin typeface="Consolas"/>
                <a:cs typeface="Consolas"/>
              </a:rPr>
              <a:t>fct_relevel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(education,</a:t>
            </a:r>
          </a:p>
          <a:p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10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1000" b="1" dirty="0">
                <a:solidFill>
                  <a:srgbClr val="1F7A1F"/>
                </a:solidFill>
                <a:latin typeface="Consolas"/>
                <a:cs typeface="Consolas"/>
              </a:rPr>
              <a:t>primary</a:t>
            </a:r>
            <a:r>
              <a:rPr lang="en-GB" sz="10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GB" sz="1000" b="1" dirty="0" err="1">
                <a:solidFill>
                  <a:srgbClr val="1F7A1F"/>
                </a:solidFill>
                <a:latin typeface="Consolas"/>
                <a:cs typeface="Consolas"/>
              </a:rPr>
              <a:t>lower_secondary</a:t>
            </a:r>
            <a:r>
              <a:rPr lang="en-GB" sz="10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GB" sz="1000" b="1" dirty="0" err="1">
                <a:solidFill>
                  <a:srgbClr val="1F7A1F"/>
                </a:solidFill>
                <a:latin typeface="Consolas"/>
                <a:cs typeface="Consolas"/>
              </a:rPr>
              <a:t>higher_secondary</a:t>
            </a:r>
            <a:r>
              <a:rPr lang="en-GB" sz="10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GB" sz="1000" b="1" dirty="0">
                <a:solidFill>
                  <a:srgbClr val="1F7A1F"/>
                </a:solidFill>
                <a:latin typeface="Consolas"/>
                <a:cs typeface="Consolas"/>
              </a:rPr>
              <a:t>university</a:t>
            </a:r>
            <a:r>
              <a:rPr lang="en-GB" sz="10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"))</a:t>
            </a:r>
          </a:p>
          <a:p>
            <a:endParaRPr lang="en-GB" sz="11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1" dirty="0">
                <a:solidFill>
                  <a:srgbClr val="1F50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BE8B9178-9B22-B15E-C881-0C83BBEAB16B}"/>
              </a:ext>
            </a:extLst>
          </p:cNvPr>
          <p:cNvSpPr/>
          <p:nvPr/>
        </p:nvSpPr>
        <p:spPr>
          <a:xfrm>
            <a:off x="296333" y="157721"/>
            <a:ext cx="686211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the dataset | Ruff Figural Fluency Test for Cognitive Function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0A6D97-9ABD-C30F-5672-90BD041F0BE4}"/>
              </a:ext>
            </a:extLst>
          </p:cNvPr>
          <p:cNvSpPr txBox="1"/>
          <p:nvPr/>
        </p:nvSpPr>
        <p:spPr>
          <a:xfrm>
            <a:off x="4850664" y="3256907"/>
            <a:ext cx="3420265" cy="1174780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rfft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age_yrs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sex        education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1   62      55 female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higher_secondary</a:t>
            </a:r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2   79      65 female 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lower_secondary</a:t>
            </a:r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3   89      46   male       university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4   70      68 female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higher_secondary</a:t>
            </a:r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5   35      70   male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higher_secondary</a:t>
            </a:r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6   14      53   male          primary</a:t>
            </a:r>
            <a:endParaRPr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086C4-D28B-CA9E-0354-A67749EC0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03" y="784915"/>
            <a:ext cx="3160304" cy="2716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7274B5-A946-8B22-2908-2A3AB489049F}"/>
              </a:ext>
            </a:extLst>
          </p:cNvPr>
          <p:cNvSpPr txBox="1"/>
          <p:nvPr/>
        </p:nvSpPr>
        <p:spPr>
          <a:xfrm>
            <a:off x="358849" y="4070044"/>
            <a:ext cx="419217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Source:</a:t>
            </a: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rdrr.io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github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OpenIntroStat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openintro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/man/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prevend.samp.html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datadryad.org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/dataset/doi:10.5061/dryad.6qs53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49BF8-0396-3D1C-EF19-0BBEED2E7EF4}"/>
              </a:ext>
            </a:extLst>
          </p:cNvPr>
          <p:cNvSpPr txBox="1"/>
          <p:nvPr/>
        </p:nvSpPr>
        <p:spPr>
          <a:xfrm>
            <a:off x="358849" y="3844297"/>
            <a:ext cx="3763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Random sample of size 500 from the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prevend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6D949-47F8-F669-5723-459BBCD0DCFB}"/>
              </a:ext>
            </a:extLst>
          </p:cNvPr>
          <p:cNvSpPr/>
          <p:nvPr/>
        </p:nvSpPr>
        <p:spPr>
          <a:xfrm flipV="1">
            <a:off x="320186" y="490590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44A9-5986-91BA-D9D1-E14E33FF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3E5503-BAA3-F1DF-2387-CE0249FC4E6D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E7E2C-DFEE-8A89-FE31-BDDB83EECD92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6B3D6A-D933-EEC7-F1B8-9FECEEBDF98F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D0AF21-CAE3-0B3E-5C6A-1DEC792F6282}"/>
              </a:ext>
            </a:extLst>
          </p:cNvPr>
          <p:cNvSpPr/>
          <p:nvPr/>
        </p:nvSpPr>
        <p:spPr>
          <a:xfrm>
            <a:off x="0" y="5102352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2BDA5C-3009-698B-56E5-B24735DB4231}"/>
              </a:ext>
            </a:extLst>
          </p:cNvPr>
          <p:cNvSpPr/>
          <p:nvPr/>
        </p:nvSpPr>
        <p:spPr>
          <a:xfrm>
            <a:off x="171510" y="732765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1813C9-5556-4687-3189-DBDCA9F34996}"/>
              </a:ext>
            </a:extLst>
          </p:cNvPr>
          <p:cNvSpPr txBox="1"/>
          <p:nvPr/>
        </p:nvSpPr>
        <p:spPr>
          <a:xfrm>
            <a:off x="418398" y="744140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00" b="1" dirty="0">
                <a:solidFill>
                  <a:srgbClr val="2E6B75"/>
                </a:solidFill>
                <a:latin typeface="Montserrat"/>
              </a:rPr>
              <a:t>FIT MODEL</a:t>
            </a:r>
            <a:endParaRPr sz="1100" b="1" dirty="0">
              <a:solidFill>
                <a:srgbClr val="2E6B75"/>
              </a:solidFill>
              <a:latin typeface="Montserra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069EE2-7C85-BFC4-3507-E2097F718D7D}"/>
              </a:ext>
            </a:extLst>
          </p:cNvPr>
          <p:cNvSpPr/>
          <p:nvPr/>
        </p:nvSpPr>
        <p:spPr>
          <a:xfrm>
            <a:off x="171510" y="966665"/>
            <a:ext cx="3754366" cy="4448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mod_age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&lt;-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lm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 ~ age_yrs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data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summary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mod_age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E5949134-FC66-AD3E-61B4-492033AF58B6}"/>
              </a:ext>
            </a:extLst>
          </p:cNvPr>
          <p:cNvSpPr/>
          <p:nvPr/>
        </p:nvSpPr>
        <p:spPr>
          <a:xfrm>
            <a:off x="164253" y="157721"/>
            <a:ext cx="686211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 vs Age | Continuous outcome and continuous predictor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B1067F-53F6-49B6-E0D5-E99B3B0D8676}"/>
              </a:ext>
            </a:extLst>
          </p:cNvPr>
          <p:cNvSpPr txBox="1"/>
          <p:nvPr/>
        </p:nvSpPr>
        <p:spPr>
          <a:xfrm>
            <a:off x="171509" y="1590859"/>
            <a:ext cx="4322114" cy="209202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Call:</a:t>
            </a:r>
          </a:p>
          <a:p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(formula =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rfft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~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age_yrs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, data =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Residuals: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Min      1Q  Median      3Q     Max 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-63.879 -16.845  -1.095  15.524  58.564 </a:t>
            </a:r>
          </a:p>
          <a:p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  Estimate Std. Error t value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(Intercept) 137.54972    5.01614   27.42   &lt;2e-16 ***</a:t>
            </a:r>
          </a:p>
          <a:p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age_yrs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  -1.26136    0.08953  -14.09   &lt;2e-16 ***</a:t>
            </a:r>
            <a:endParaRPr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DE35A-24D6-DEDA-75D2-F8A26A7B75C3}"/>
              </a:ext>
            </a:extLst>
          </p:cNvPr>
          <p:cNvSpPr txBox="1"/>
          <p:nvPr/>
        </p:nvSpPr>
        <p:spPr>
          <a:xfrm>
            <a:off x="4398673" y="3781401"/>
            <a:ext cx="4664117" cy="1192173"/>
          </a:xfrm>
          <a:prstGeom prst="roundRect">
            <a:avLst>
              <a:gd name="adj" fmla="val 3417"/>
            </a:avLst>
          </a:prstGeom>
          <a:ln>
            <a:solidFill>
              <a:srgbClr val="38879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36000" rIns="36000" bIns="36000" rtlCol="0">
            <a:spAutoFit/>
          </a:bodyPr>
          <a:lstStyle/>
          <a:p>
            <a:r>
              <a:rPr lang="en-US" sz="1400" b="1" dirty="0">
                <a:solidFill>
                  <a:srgbClr val="1F5061"/>
                </a:solidFill>
              </a:rPr>
              <a:t>How to read it</a:t>
            </a:r>
            <a:endParaRPr lang="en-US" sz="1400" dirty="0"/>
          </a:p>
          <a:p>
            <a:r>
              <a:rPr lang="en-US" sz="1400" dirty="0"/>
              <a:t>• </a:t>
            </a:r>
            <a:r>
              <a:rPr lang="en-US" sz="1400" dirty="0" err="1"/>
              <a:t>age_yrs</a:t>
            </a:r>
            <a:r>
              <a:rPr lang="en-US" sz="1400" dirty="0"/>
              <a:t> is numeric, so the model fits a single straight line.</a:t>
            </a:r>
          </a:p>
          <a:p>
            <a:r>
              <a:rPr lang="en-US" sz="1400" dirty="0"/>
              <a:t>• Slope = mean change in RFFT for one extra year of age.</a:t>
            </a:r>
          </a:p>
          <a:p>
            <a:r>
              <a:rPr lang="en-US" sz="1400" dirty="0"/>
              <a:t>• Significant negative slope → older participants score lower on average.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23D4F1-7622-5223-33D0-22E641171F74}"/>
              </a:ext>
            </a:extLst>
          </p:cNvPr>
          <p:cNvSpPr/>
          <p:nvPr/>
        </p:nvSpPr>
        <p:spPr>
          <a:xfrm>
            <a:off x="171508" y="3843106"/>
            <a:ext cx="4079965" cy="24874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preview_eq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extract_eq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mod_age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use_coefs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TRUE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))</a:t>
            </a:r>
            <a:endParaRPr lang="en-GB" sz="1100" b="1" dirty="0">
              <a:latin typeface="Consolas"/>
              <a:cs typeface="Consola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9DE2AF-00D8-DB90-46F3-79FF6D998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85" t="22030" r="5088" b="16085"/>
          <a:stretch>
            <a:fillRect/>
          </a:stretch>
        </p:blipFill>
        <p:spPr>
          <a:xfrm>
            <a:off x="113573" y="4411459"/>
            <a:ext cx="3430936" cy="40884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82DB4F1-6DBD-6419-0A18-A44A9C73F172}"/>
              </a:ext>
            </a:extLst>
          </p:cNvPr>
          <p:cNvGrpSpPr/>
          <p:nvPr/>
        </p:nvGrpSpPr>
        <p:grpSpPr>
          <a:xfrm>
            <a:off x="4434353" y="712415"/>
            <a:ext cx="4592758" cy="2854426"/>
            <a:chOff x="4434353" y="712415"/>
            <a:chExt cx="4592758" cy="28544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D740D8-5F1C-2001-6E14-23A83A0288C9}"/>
                </a:ext>
              </a:extLst>
            </p:cNvPr>
            <p:cNvSpPr/>
            <p:nvPr/>
          </p:nvSpPr>
          <p:spPr>
            <a:xfrm>
              <a:off x="4434354" y="975887"/>
              <a:ext cx="4592757" cy="444816"/>
            </a:xfrm>
            <a:prstGeom prst="rect">
              <a:avLst/>
            </a:prstGeom>
            <a:solidFill>
              <a:srgbClr val="EAF4F4"/>
            </a:solidFill>
            <a:ln w="6350">
              <a:solidFill>
                <a:srgbClr val="D0DA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100" b="1" dirty="0">
                  <a:solidFill>
                    <a:srgbClr val="1F5061"/>
                  </a:solidFill>
                  <a:latin typeface="Consolas"/>
                  <a:cs typeface="Consolas"/>
                </a:rPr>
                <a:t>ggplot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(</a:t>
              </a:r>
              <a:r>
                <a:rPr lang="en-GB" sz="1100" b="1" dirty="0">
                  <a:solidFill>
                    <a:srgbClr val="2E6B75"/>
                  </a:solidFill>
                  <a:latin typeface="Consolas"/>
                  <a:cs typeface="Consolas"/>
                </a:rPr>
                <a:t>prevend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, </a:t>
              </a:r>
              <a:r>
                <a:rPr lang="en-GB" sz="1100" b="1" dirty="0">
                  <a:solidFill>
                    <a:srgbClr val="1F5061"/>
                  </a:solidFill>
                  <a:latin typeface="Consolas"/>
                  <a:cs typeface="Consolas"/>
                </a:rPr>
                <a:t>aes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(</a:t>
              </a:r>
              <a:r>
                <a:rPr lang="en-GB" sz="1100" b="1" dirty="0">
                  <a:solidFill>
                    <a:srgbClr val="2E6B75"/>
                  </a:solidFill>
                  <a:latin typeface="Consolas"/>
                  <a:cs typeface="Consolas"/>
                </a:rPr>
                <a:t>age_yrs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, </a:t>
              </a:r>
              <a:r>
                <a:rPr lang="en-GB" sz="1100" b="1" dirty="0">
                  <a:solidFill>
                    <a:srgbClr val="2E6B75"/>
                  </a:solidFill>
                  <a:latin typeface="Consolas"/>
                  <a:cs typeface="Consolas"/>
                </a:rPr>
                <a:t>rfft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)) + </a:t>
              </a:r>
              <a:endParaRPr lang="en-GB" sz="1100" b="1" dirty="0">
                <a:latin typeface="Consolas"/>
                <a:cs typeface="Consolas"/>
              </a:endParaRPr>
            </a:p>
            <a:p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  </a:t>
              </a:r>
              <a:r>
                <a:rPr lang="en-GB" sz="1100" b="1" dirty="0">
                  <a:solidFill>
                    <a:srgbClr val="1F5061"/>
                  </a:solidFill>
                  <a:latin typeface="Consolas"/>
                  <a:cs typeface="Consolas"/>
                </a:rPr>
                <a:t>geom_point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(</a:t>
              </a:r>
              <a:r>
                <a:rPr lang="en-GB" sz="1100" b="1" dirty="0">
                  <a:solidFill>
                    <a:srgbClr val="2E6B75"/>
                  </a:solidFill>
                  <a:latin typeface="Consolas"/>
                  <a:cs typeface="Consolas"/>
                </a:rPr>
                <a:t>alpha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 = </a:t>
              </a:r>
              <a:r>
                <a:rPr lang="en-GB" sz="1100" b="1" dirty="0">
                  <a:solidFill>
                    <a:srgbClr val="8B4A9C"/>
                  </a:solidFill>
                  <a:latin typeface="Consolas"/>
                  <a:cs typeface="Consolas"/>
                </a:rPr>
                <a:t>0.35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, </a:t>
              </a:r>
              <a:r>
                <a:rPr lang="en-GB" sz="1100" b="1" dirty="0">
                  <a:solidFill>
                    <a:srgbClr val="2E6B75"/>
                  </a:solidFill>
                  <a:latin typeface="Consolas"/>
                  <a:cs typeface="Consolas"/>
                </a:rPr>
                <a:t>color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 = </a:t>
              </a:r>
              <a:r>
                <a:rPr lang="en-GB" sz="1100" b="1" dirty="0">
                  <a:solidFill>
                    <a:srgbClr val="1F7A1F"/>
                  </a:solidFill>
                  <a:latin typeface="Consolas"/>
                  <a:cs typeface="Consolas"/>
                </a:rPr>
                <a:t>"gray45"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, </a:t>
              </a:r>
              <a:r>
                <a:rPr lang="en-GB" sz="1100" b="1" dirty="0">
                  <a:solidFill>
                    <a:srgbClr val="2E6B75"/>
                  </a:solidFill>
                  <a:latin typeface="Consolas"/>
                  <a:cs typeface="Consolas"/>
                </a:rPr>
                <a:t>size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 = </a:t>
              </a:r>
              <a:r>
                <a:rPr lang="en-GB" sz="1100" b="1" dirty="0">
                  <a:solidFill>
                    <a:srgbClr val="8B4A9C"/>
                  </a:solidFill>
                  <a:latin typeface="Consolas"/>
                  <a:cs typeface="Consolas"/>
                </a:rPr>
                <a:t>1.8</a:t>
              </a:r>
              <a:r>
                <a:rPr lang="en-GB" sz="1100" b="1" dirty="0">
                  <a:solidFill>
                    <a:srgbClr val="666666"/>
                  </a:solidFill>
                  <a:latin typeface="Consolas"/>
                  <a:cs typeface="Consolas"/>
                </a:rPr>
                <a:t>)</a:t>
              </a:r>
              <a:endParaRPr lang="en-GB" sz="1100" b="1" dirty="0">
                <a:latin typeface="Consolas"/>
                <a:cs typeface="Consolas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54B2804-0326-4ED9-8003-C2F486D13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3885" y="1590859"/>
              <a:ext cx="3754366" cy="19759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EBD52C-0F72-F748-1956-C0F8AA23B4BD}"/>
                </a:ext>
              </a:extLst>
            </p:cNvPr>
            <p:cNvSpPr/>
            <p:nvPr/>
          </p:nvSpPr>
          <p:spPr>
            <a:xfrm>
              <a:off x="4434353" y="712415"/>
              <a:ext cx="178308" cy="192024"/>
            </a:xfrm>
            <a:prstGeom prst="rect">
              <a:avLst/>
            </a:prstGeom>
            <a:solidFill>
              <a:srgbClr val="2E6B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C55402-EBF1-DCD4-3B89-F7B02D501E27}"/>
                </a:ext>
              </a:extLst>
            </p:cNvPr>
            <p:cNvSpPr txBox="1"/>
            <p:nvPr/>
          </p:nvSpPr>
          <p:spPr>
            <a:xfrm>
              <a:off x="4681241" y="723790"/>
              <a:ext cx="1810512" cy="16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1100" b="1" dirty="0">
                  <a:solidFill>
                    <a:srgbClr val="2E6B75"/>
                  </a:solidFill>
                  <a:latin typeface="Montserrat"/>
                </a:rPr>
                <a:t>VISUALIZE DATA</a:t>
              </a:r>
              <a:endParaRPr sz="1100" b="1" dirty="0">
                <a:solidFill>
                  <a:srgbClr val="2E6B75"/>
                </a:solidFill>
                <a:latin typeface="Montserrat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2E72A15-D23C-4047-876A-F9E0B64A9E9A}"/>
              </a:ext>
            </a:extLst>
          </p:cNvPr>
          <p:cNvSpPr/>
          <p:nvPr/>
        </p:nvSpPr>
        <p:spPr>
          <a:xfrm flipV="1">
            <a:off x="171508" y="474598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7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 build="allAtOnce" animBg="1"/>
      <p:bldP spid="37" grpId="0" animBg="1"/>
      <p:bldP spid="6" grpId="0" animBg="1"/>
      <p:bldP spid="9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0B57-0262-A33F-3F70-53CDEB23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5C4477-E67F-9466-821A-4E2091D624E9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8A5714-B3AA-7349-FCA8-80448A31EB30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554FEA-99C0-E9FE-E003-A354E9E20B42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679BF7-3DE0-2CC8-5DBF-72F978FF9833}"/>
              </a:ext>
            </a:extLst>
          </p:cNvPr>
          <p:cNvSpPr/>
          <p:nvPr/>
        </p:nvSpPr>
        <p:spPr>
          <a:xfrm>
            <a:off x="0" y="5102352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4A6675-C530-0081-72C6-287E70D7134D}"/>
              </a:ext>
            </a:extLst>
          </p:cNvPr>
          <p:cNvSpPr/>
          <p:nvPr/>
        </p:nvSpPr>
        <p:spPr>
          <a:xfrm>
            <a:off x="181670" y="966665"/>
            <a:ext cx="3754366" cy="4448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mod_sex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&lt;-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lm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 ~ sex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data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summary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mod_sex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81382DCF-120B-B34F-17D9-D83411B19BBA}"/>
              </a:ext>
            </a:extLst>
          </p:cNvPr>
          <p:cNvSpPr/>
          <p:nvPr/>
        </p:nvSpPr>
        <p:spPr>
          <a:xfrm>
            <a:off x="164253" y="157721"/>
            <a:ext cx="686211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 vs Sex | Continuous outcome and categorical binary predictor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0AFDFF-558C-73F8-190F-BCDEF5599039}"/>
              </a:ext>
            </a:extLst>
          </p:cNvPr>
          <p:cNvSpPr txBox="1"/>
          <p:nvPr/>
        </p:nvSpPr>
        <p:spPr>
          <a:xfrm>
            <a:off x="181669" y="1590859"/>
            <a:ext cx="4322114" cy="209202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Call:</a:t>
            </a:r>
          </a:p>
          <a:p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(formula =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rfft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~ sex, data =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Residuals: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Min      1Q  Median      3Q     Max 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-56.660 -22.344  -1.449  19.340  66.762 </a:t>
            </a:r>
          </a:p>
          <a:p>
            <a:endParaRPr lang="en-GB"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 Estimate Std. Error t value </a:t>
            </a:r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(Intercept)   69.238      1.788  38.721   &lt;2e-16 ***</a:t>
            </a:r>
          </a:p>
          <a:p>
            <a:r>
              <a:rPr lang="en-GB" sz="11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sexmale</a:t>
            </a:r>
            <a:r>
              <a:rPr lang="en-GB" sz="1100" b="0" dirty="0">
                <a:latin typeface="Consolas" panose="020B0609020204030204" pitchFamily="49" charset="0"/>
                <a:cs typeface="Consolas" panose="020B0609020204030204" pitchFamily="49" charset="0"/>
              </a:rPr>
              <a:t>       -1.578      2.456  -0.642    0.521 </a:t>
            </a:r>
            <a:endParaRPr sz="11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5FACB-E8C4-FA30-B8C7-CB7A2F235B47}"/>
              </a:ext>
            </a:extLst>
          </p:cNvPr>
          <p:cNvSpPr/>
          <p:nvPr/>
        </p:nvSpPr>
        <p:spPr>
          <a:xfrm>
            <a:off x="4434354" y="975887"/>
            <a:ext cx="4592757" cy="4448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ggbetweenstats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sex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             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results.subtitle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FALSE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05C53-0D14-4877-8BA7-6388E2BED60A}"/>
              </a:ext>
            </a:extLst>
          </p:cNvPr>
          <p:cNvSpPr txBox="1"/>
          <p:nvPr/>
        </p:nvSpPr>
        <p:spPr>
          <a:xfrm>
            <a:off x="4612661" y="3894990"/>
            <a:ext cx="4425607" cy="1033890"/>
          </a:xfrm>
          <a:prstGeom prst="roundRect">
            <a:avLst>
              <a:gd name="adj" fmla="val 7823"/>
            </a:avLst>
          </a:prstGeom>
          <a:ln>
            <a:solidFill>
              <a:srgbClr val="38879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36000" rIns="36000" bIns="36000" rtlCol="0">
            <a:spAutoFit/>
          </a:bodyPr>
          <a:lstStyle>
            <a:lvl1pPr>
              <a:defRPr sz="1400" b="1">
                <a:solidFill>
                  <a:srgbClr val="1F506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How to read it</a:t>
            </a:r>
          </a:p>
          <a:p>
            <a:r>
              <a:rPr lang="en-US" b="0" dirty="0">
                <a:solidFill>
                  <a:schemeClr val="dk1"/>
                </a:solidFill>
              </a:rPr>
              <a:t>• x axis: female = 0, male = 1</a:t>
            </a:r>
          </a:p>
          <a:p>
            <a:r>
              <a:rPr lang="en-US" b="0" dirty="0">
                <a:solidFill>
                  <a:schemeClr val="dk1"/>
                </a:solidFill>
              </a:rPr>
              <a:t>• Intercept = mean for female (the reference). </a:t>
            </a:r>
            <a:br>
              <a:rPr lang="en-US" b="0" dirty="0">
                <a:solidFill>
                  <a:schemeClr val="dk1"/>
                </a:solidFill>
              </a:rPr>
            </a:br>
            <a:r>
              <a:rPr lang="en-US" b="0" dirty="0">
                <a:solidFill>
                  <a:schemeClr val="dk1"/>
                </a:solidFill>
              </a:rPr>
              <a:t>• </a:t>
            </a:r>
            <a:r>
              <a:rPr lang="en-US" b="0" dirty="0" err="1">
                <a:solidFill>
                  <a:schemeClr val="dk1"/>
                </a:solidFill>
              </a:rPr>
              <a:t>sexmale</a:t>
            </a:r>
            <a:r>
              <a:rPr lang="en-US" b="0" dirty="0">
                <a:solidFill>
                  <a:schemeClr val="dk1"/>
                </a:solidFill>
              </a:rPr>
              <a:t> estimate = mean difference (not significant)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31A5C-5C20-CED7-1AC8-452D957661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38" t="11396" r="7899"/>
          <a:stretch>
            <a:fillRect/>
          </a:stretch>
        </p:blipFill>
        <p:spPr>
          <a:xfrm>
            <a:off x="5062322" y="1506555"/>
            <a:ext cx="3797639" cy="23040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1D56A0-0557-FC50-F4B6-EADF1AA9F1EE}"/>
              </a:ext>
            </a:extLst>
          </p:cNvPr>
          <p:cNvSpPr/>
          <p:nvPr/>
        </p:nvSpPr>
        <p:spPr>
          <a:xfrm>
            <a:off x="181668" y="3843106"/>
            <a:ext cx="4079965" cy="24874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preview_eq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extract_eq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mod_sex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use_coefs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TRUE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))</a:t>
            </a:r>
            <a:endParaRPr lang="en-GB" sz="1100" b="1" dirty="0">
              <a:latin typeface="Consolas"/>
              <a:cs typeface="Consola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88E403-951C-536B-48A5-B80D2828E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77" y="4280794"/>
            <a:ext cx="2852807" cy="4448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3A2A2C-D135-7AE5-8CDC-9E3434DEFFDD}"/>
              </a:ext>
            </a:extLst>
          </p:cNvPr>
          <p:cNvSpPr/>
          <p:nvPr/>
        </p:nvSpPr>
        <p:spPr>
          <a:xfrm>
            <a:off x="171510" y="732765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61EA-A112-F8C9-ED30-E3DBA2847432}"/>
              </a:ext>
            </a:extLst>
          </p:cNvPr>
          <p:cNvSpPr txBox="1"/>
          <p:nvPr/>
        </p:nvSpPr>
        <p:spPr>
          <a:xfrm>
            <a:off x="418398" y="744140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00" b="1" dirty="0">
                <a:solidFill>
                  <a:srgbClr val="2E6B75"/>
                </a:solidFill>
                <a:latin typeface="Montserrat"/>
              </a:rPr>
              <a:t>FIT MODEL</a:t>
            </a:r>
            <a:endParaRPr sz="1100" b="1" dirty="0">
              <a:solidFill>
                <a:srgbClr val="2E6B75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8B819A-7CB4-3903-3782-78962218EB0D}"/>
              </a:ext>
            </a:extLst>
          </p:cNvPr>
          <p:cNvSpPr/>
          <p:nvPr/>
        </p:nvSpPr>
        <p:spPr>
          <a:xfrm>
            <a:off x="4434353" y="712415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3420F-0D8A-0D28-395A-520EF7F3BB3E}"/>
              </a:ext>
            </a:extLst>
          </p:cNvPr>
          <p:cNvSpPr txBox="1"/>
          <p:nvPr/>
        </p:nvSpPr>
        <p:spPr>
          <a:xfrm>
            <a:off x="4681241" y="723790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00" b="1" dirty="0">
                <a:solidFill>
                  <a:srgbClr val="2E6B75"/>
                </a:solidFill>
                <a:latin typeface="Montserrat"/>
              </a:rPr>
              <a:t>VISUALIZE DATA</a:t>
            </a:r>
            <a:endParaRPr sz="1100" b="1" dirty="0">
              <a:solidFill>
                <a:srgbClr val="2E6B75"/>
              </a:solidFill>
              <a:latin typeface="Montserra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C308D5-4C02-8D8B-958D-66A08066679D}"/>
              </a:ext>
            </a:extLst>
          </p:cNvPr>
          <p:cNvSpPr/>
          <p:nvPr/>
        </p:nvSpPr>
        <p:spPr>
          <a:xfrm flipV="1">
            <a:off x="171508" y="474598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 animBg="1"/>
      <p:bldP spid="6" grpId="0" animBg="1"/>
      <p:bldP spid="14" grpId="0" animBg="1"/>
      <p:bldP spid="15" grpId="0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9B08B-8A46-93EF-F426-F42D94A3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A2BF8F-05B9-25C0-BE5E-81389FE4196D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DF9658-47CF-76A6-039A-21C857F94444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22ADF1-BBAC-3998-0AAF-56293871A74C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50767F-4E37-415D-CD04-A719A2832677}"/>
              </a:ext>
            </a:extLst>
          </p:cNvPr>
          <p:cNvSpPr/>
          <p:nvPr/>
        </p:nvSpPr>
        <p:spPr>
          <a:xfrm>
            <a:off x="0" y="5102352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71EEC2-B93E-3A2D-82E2-15B3525002B0}"/>
              </a:ext>
            </a:extLst>
          </p:cNvPr>
          <p:cNvSpPr/>
          <p:nvPr/>
        </p:nvSpPr>
        <p:spPr>
          <a:xfrm>
            <a:off x="181669" y="966665"/>
            <a:ext cx="4079963" cy="4448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mod_edu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&lt;-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lm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 ~ education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data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summary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mod_edu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A3AAC020-A9CD-E8E2-236F-47F4AD462F91}"/>
              </a:ext>
            </a:extLst>
          </p:cNvPr>
          <p:cNvSpPr/>
          <p:nvPr/>
        </p:nvSpPr>
        <p:spPr>
          <a:xfrm>
            <a:off x="181668" y="179770"/>
            <a:ext cx="77097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RFFT vs Education| Continuous outcome and categorical polytomous predictor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897750-062C-AE43-54E7-CBA6730E3125}"/>
              </a:ext>
            </a:extLst>
          </p:cNvPr>
          <p:cNvSpPr txBox="1"/>
          <p:nvPr/>
        </p:nvSpPr>
        <p:spPr>
          <a:xfrm>
            <a:off x="181669" y="1590859"/>
            <a:ext cx="4817051" cy="2170740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Call:</a:t>
            </a:r>
          </a:p>
          <a:p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(formula = </a:t>
            </a:r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rfft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~ education, data = </a:t>
            </a:r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105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Residuals:</a:t>
            </a: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  Min      1Q  Median      3Q     Max </a:t>
            </a: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-55.905 -15.975  -0.905  16.068  63.280 </a:t>
            </a:r>
          </a:p>
          <a:p>
            <a:endParaRPr lang="en-GB" sz="105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Estimate Std. Error t value </a:t>
            </a:r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(Intercept)                 40.941      3.203  12.783  &lt; 2e-16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educationlower_secondary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14.779      3.686   4.009 7.04e-05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educationhigher_secondary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32.133      3.763   8.539  &lt; 2e-16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educationuniversity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44.964      3.684  12.207  &lt; 2e-16 ***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E3205-246D-551E-2EE5-023B8AED8221}"/>
              </a:ext>
            </a:extLst>
          </p:cNvPr>
          <p:cNvSpPr/>
          <p:nvPr/>
        </p:nvSpPr>
        <p:spPr>
          <a:xfrm>
            <a:off x="4434354" y="975887"/>
            <a:ext cx="4592757" cy="4448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ggbetweenstats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x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education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             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results.subtitle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FALSE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09DD46-ADFC-C188-E7B5-CAFC86ACAB9B}"/>
              </a:ext>
            </a:extLst>
          </p:cNvPr>
          <p:cNvSpPr/>
          <p:nvPr/>
        </p:nvSpPr>
        <p:spPr>
          <a:xfrm>
            <a:off x="181668" y="3843106"/>
            <a:ext cx="4079965" cy="248740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preview_eq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extract_eq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mod_edu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use_coefs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TRUE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1994D2-7964-3289-A6C2-39076FD070C5}"/>
              </a:ext>
            </a:extLst>
          </p:cNvPr>
          <p:cNvSpPr/>
          <p:nvPr/>
        </p:nvSpPr>
        <p:spPr>
          <a:xfrm>
            <a:off x="171510" y="732765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6C4A5-6963-3D6D-CBE3-7BF1D21381B6}"/>
              </a:ext>
            </a:extLst>
          </p:cNvPr>
          <p:cNvSpPr txBox="1"/>
          <p:nvPr/>
        </p:nvSpPr>
        <p:spPr>
          <a:xfrm>
            <a:off x="418398" y="744140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00" b="1" dirty="0">
                <a:solidFill>
                  <a:srgbClr val="2E6B75"/>
                </a:solidFill>
                <a:latin typeface="Montserrat"/>
              </a:rPr>
              <a:t>FIT MODEL</a:t>
            </a:r>
            <a:endParaRPr sz="1100" b="1" dirty="0">
              <a:solidFill>
                <a:srgbClr val="2E6B75"/>
              </a:solidFill>
              <a:latin typeface="Montserra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6CB21C-77A2-9EFA-5192-FD8394A982C3}"/>
              </a:ext>
            </a:extLst>
          </p:cNvPr>
          <p:cNvSpPr/>
          <p:nvPr/>
        </p:nvSpPr>
        <p:spPr>
          <a:xfrm>
            <a:off x="4434353" y="712415"/>
            <a:ext cx="178308" cy="192024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6C8EC-B0EB-09DA-5F40-A5F2E1C8D6B9}"/>
              </a:ext>
            </a:extLst>
          </p:cNvPr>
          <p:cNvSpPr txBox="1"/>
          <p:nvPr/>
        </p:nvSpPr>
        <p:spPr>
          <a:xfrm>
            <a:off x="4681241" y="723790"/>
            <a:ext cx="181051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100" b="1" dirty="0">
                <a:solidFill>
                  <a:srgbClr val="2E6B75"/>
                </a:solidFill>
                <a:latin typeface="Montserrat"/>
              </a:rPr>
              <a:t>VISUALIZE DATA</a:t>
            </a:r>
            <a:endParaRPr sz="1100" b="1" dirty="0">
              <a:solidFill>
                <a:srgbClr val="2E6B75"/>
              </a:solidFill>
              <a:latin typeface="Montserra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4E807C-3F19-0881-17E9-8EE6D440C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2" t="14147"/>
          <a:stretch>
            <a:fillRect/>
          </a:stretch>
        </p:blipFill>
        <p:spPr>
          <a:xfrm>
            <a:off x="5045765" y="1590234"/>
            <a:ext cx="4098235" cy="21707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A80767F-AFB0-79D7-FB86-5E7AE64B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64" y="4373404"/>
            <a:ext cx="7772400" cy="4613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DD171D-377C-2915-426F-BF6346C90C52}"/>
              </a:ext>
            </a:extLst>
          </p:cNvPr>
          <p:cNvSpPr/>
          <p:nvPr/>
        </p:nvSpPr>
        <p:spPr>
          <a:xfrm flipV="1">
            <a:off x="171508" y="474598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6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7" grpId="0" animBg="1"/>
      <p:bldP spid="4" grpId="0" animBg="1"/>
      <p:bldP spid="11" grpId="0" animBg="1"/>
      <p:bldP spid="12" grpId="0" animBg="1"/>
      <p:bldP spid="14" grpId="0"/>
      <p:bldP spid="15" grpId="0" animBg="1"/>
      <p:bldP spid="15" grpId="1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42BB-2E77-D79A-52CC-35708F82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BD9E88-EE98-B9A0-37A2-90F735852330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2565A5-D4CC-E9D0-3CE7-F5C5C7C3AD1E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280C9F-5EEF-0128-3250-34A9C84A6EFC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C26D0B-339C-0B0B-BF10-43197AFC5B51}"/>
              </a:ext>
            </a:extLst>
          </p:cNvPr>
          <p:cNvSpPr/>
          <p:nvPr/>
        </p:nvSpPr>
        <p:spPr>
          <a:xfrm>
            <a:off x="0" y="5102352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54AD1926-3035-1899-B843-501F3266BB58}"/>
              </a:ext>
            </a:extLst>
          </p:cNvPr>
          <p:cNvSpPr/>
          <p:nvPr/>
        </p:nvSpPr>
        <p:spPr>
          <a:xfrm>
            <a:off x="181668" y="179770"/>
            <a:ext cx="77097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5061"/>
                </a:solidFill>
                <a:latin typeface="Calibri"/>
              </a:rPr>
              <a:t>The key</a:t>
            </a:r>
            <a:r>
              <a:rPr lang="en-US" sz="2000" b="1" dirty="0">
                <a:solidFill>
                  <a:srgbClr val="1F5061"/>
                </a:solidFill>
              </a:rPr>
              <a:t>: Each estimate</a:t>
            </a:r>
            <a:r>
              <a:rPr lang="el-GR" sz="2000" b="1" dirty="0">
                <a:solidFill>
                  <a:srgbClr val="1F5061"/>
                </a:solidFill>
              </a:rPr>
              <a:t> = </a:t>
            </a:r>
            <a:r>
              <a:rPr lang="en-US" sz="2000" b="1" dirty="0">
                <a:solidFill>
                  <a:srgbClr val="1F5061"/>
                </a:solidFill>
              </a:rPr>
              <a:t>mean difference vs. the reference group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7102FD-2099-F731-2420-2FA063C80032}"/>
              </a:ext>
            </a:extLst>
          </p:cNvPr>
          <p:cNvSpPr txBox="1"/>
          <p:nvPr/>
        </p:nvSpPr>
        <p:spPr>
          <a:xfrm>
            <a:off x="181668" y="551906"/>
            <a:ext cx="4817051" cy="2170740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Call:</a:t>
            </a:r>
          </a:p>
          <a:p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lm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(formula = </a:t>
            </a:r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rfft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~ education, data = </a:t>
            </a:r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prevend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lang="en-GB" sz="105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Residuals:</a:t>
            </a: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  Min      1Q  Median      3Q     Max </a:t>
            </a: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-55.905 -15.975  -0.905  16.068  63.280 </a:t>
            </a:r>
          </a:p>
          <a:p>
            <a:endParaRPr lang="en-GB" sz="105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Estimate Std. Error t value </a:t>
            </a:r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(Intercept)                 40.941      3.203  12.783  &lt; 2e-16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educationlower_secondary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14.779      3.686   4.009 7.04e-05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educationhigher_secondary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32.133      3.763   8.539  &lt; 2e-16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educationuniversity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44.964      3.684  12.207  &lt; 2e-16 ***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D2234A-2AB5-9433-B1CF-C6B62BEBBD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47"/>
          <a:stretch>
            <a:fillRect/>
          </a:stretch>
        </p:blipFill>
        <p:spPr>
          <a:xfrm>
            <a:off x="248478" y="3201645"/>
            <a:ext cx="3921418" cy="17719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162EF9-31EA-8A04-A3B0-176D3F480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68" y="2744646"/>
            <a:ext cx="7403876" cy="46137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EE05DE-2ADA-CB34-5D36-1266F1BF8855}"/>
              </a:ext>
            </a:extLst>
          </p:cNvPr>
          <p:cNvSpPr txBox="1"/>
          <p:nvPr/>
        </p:nvSpPr>
        <p:spPr>
          <a:xfrm>
            <a:off x="5063907" y="561024"/>
            <a:ext cx="3898425" cy="1391774"/>
          </a:xfrm>
          <a:prstGeom prst="roundRect">
            <a:avLst>
              <a:gd name="adj" fmla="val 3696"/>
            </a:avLst>
          </a:prstGeom>
          <a:ln>
            <a:solidFill>
              <a:srgbClr val="38879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2000" tIns="36000" rIns="36000" bIns="36000" rtlCol="0">
            <a:spAutoFit/>
          </a:bodyPr>
          <a:lstStyle>
            <a:lvl1pPr>
              <a:defRPr sz="1400" b="1">
                <a:solidFill>
                  <a:srgbClr val="1F506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How to read it</a:t>
            </a:r>
          </a:p>
          <a:p>
            <a:r>
              <a:rPr lang="en-US" b="0" dirty="0">
                <a:solidFill>
                  <a:schemeClr val="dk1"/>
                </a:solidFill>
              </a:rPr>
              <a:t>• Naively, one might imagine fitting a single straight line. No!</a:t>
            </a:r>
            <a:endParaRPr lang="en-US" dirty="0"/>
          </a:p>
          <a:p>
            <a:r>
              <a:rPr lang="en-US" b="0" dirty="0">
                <a:solidFill>
                  <a:schemeClr val="dk1"/>
                </a:solidFill>
              </a:rPr>
              <a:t>• Intercept = mean RFFT in the reference group</a:t>
            </a:r>
            <a:endParaRPr lang="en-US" dirty="0"/>
          </a:p>
          <a:p>
            <a:r>
              <a:rPr lang="en-US" b="0" dirty="0">
                <a:solidFill>
                  <a:schemeClr val="dk1"/>
                </a:solidFill>
              </a:rPr>
              <a:t>• Each β = mean difference vs. the reference group</a:t>
            </a:r>
            <a:endParaRPr lang="en-US" dirty="0"/>
          </a:p>
          <a:p>
            <a:r>
              <a:rPr lang="en-US" b="0" dirty="0">
                <a:solidFill>
                  <a:schemeClr val="dk1"/>
                </a:solidFill>
              </a:rPr>
              <a:t>• Add Intercept + β to get each group's mean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76CFF-5E4E-036F-5018-5508C8081EDA}"/>
              </a:ext>
            </a:extLst>
          </p:cNvPr>
          <p:cNvSpPr/>
          <p:nvPr/>
        </p:nvSpPr>
        <p:spPr>
          <a:xfrm flipV="1">
            <a:off x="171508" y="474598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opCalcBlock">
            <a:extLst>
              <a:ext uri="{FF2B5EF4-FFF2-40B4-BE49-F238E27FC236}">
                <a16:creationId xmlns:a16="http://schemas.microsoft.com/office/drawing/2014/main" id="{4FFBD1BC-7EF7-0867-4D2B-98B93DA73EA2}"/>
              </a:ext>
            </a:extLst>
          </p:cNvPr>
          <p:cNvSpPr txBox="1"/>
          <p:nvPr/>
        </p:nvSpPr>
        <p:spPr>
          <a:xfrm>
            <a:off x="4998719" y="1980458"/>
            <a:ext cx="3746500" cy="723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Primary        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       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Lower secondary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+ 14.78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55.72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Higher secondary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+ 32.13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73.07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University     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+ 44.96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</a:t>
            </a:r>
          </a:p>
        </p:txBody>
      </p:sp>
    </p:spTree>
    <p:extLst>
      <p:ext uri="{BB962C8B-B14F-4D97-AF65-F5344CB8AC3E}">
        <p14:creationId xmlns:p14="http://schemas.microsoft.com/office/powerpoint/2010/main" val="286639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A4710B0-9D25-AE47-A5C0-10363A8CDA16}"/>
              </a:ext>
            </a:extLst>
          </p:cNvPr>
          <p:cNvSpPr txBox="1"/>
          <p:nvPr/>
        </p:nvSpPr>
        <p:spPr>
          <a:xfrm>
            <a:off x="177800" y="101600"/>
            <a:ext cx="7886700" cy="2793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6B75"/>
                </a:solidFill>
                <a:latin typeface="Open Sans"/>
              </a:rPr>
              <a:t>Practice: Interpreting coefficients</a:t>
            </a:r>
          </a:p>
        </p:txBody>
      </p:sp>
      <p:sp>
        <p:nvSpPr>
          <p:cNvPr id="21" name="Setup">
            <a:extLst>
              <a:ext uri="{FF2B5EF4-FFF2-40B4-BE49-F238E27FC236}">
                <a16:creationId xmlns:a16="http://schemas.microsoft.com/office/drawing/2014/main" id="{618D1FBD-32C2-B447-823F-5C371D5EBE64}"/>
              </a:ext>
            </a:extLst>
          </p:cNvPr>
          <p:cNvSpPr txBox="1"/>
          <p:nvPr/>
        </p:nvSpPr>
        <p:spPr>
          <a:xfrm>
            <a:off x="279400" y="533400"/>
            <a:ext cx="8788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A fitness study (n = 240) looked at the outcome of resting heart rate (bpm), as predicted by weekly exercise, categorized into sedentary, light and vigorous Predictor: weekly exercise; reference = sedentary. </a:t>
            </a:r>
            <a:r>
              <a:rPr lang="en-US" sz="1200" b="1" i="1" dirty="0">
                <a:solidFill>
                  <a:srgbClr val="2E6B75"/>
                </a:solidFill>
                <a:latin typeface="Open Sans"/>
              </a:rPr>
              <a:t>R output:</a:t>
            </a:r>
          </a:p>
        </p:txBody>
      </p:sp>
      <p:sp>
        <p:nvSpPr>
          <p:cNvPr id="22" name="ROutput">
            <a:extLst>
              <a:ext uri="{FF2B5EF4-FFF2-40B4-BE49-F238E27FC236}">
                <a16:creationId xmlns:a16="http://schemas.microsoft.com/office/drawing/2014/main" id="{A9C2AB6D-4B06-CA46-B76F-1D787324808E}"/>
              </a:ext>
            </a:extLst>
          </p:cNvPr>
          <p:cNvSpPr/>
          <p:nvPr/>
        </p:nvSpPr>
        <p:spPr>
          <a:xfrm>
            <a:off x="279400" y="1030161"/>
            <a:ext cx="8788400" cy="1041400"/>
          </a:xfrm>
          <a:prstGeom prst="rect">
            <a:avLst/>
          </a:prstGeom>
          <a:solidFill>
            <a:srgbClr val="FBFBFB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                  Estimate Std.Error t value Pr(&gt;|t|)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(Intercept)         78.00      0.84   92.86  &lt; 2e-16 ***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exerciselight       -5.20      1.18   -4.41   1.6e-05 ***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exercisevigorous    -9.80      1.21   -8.10   2.3e-14 ***</a:t>
            </a:r>
          </a:p>
        </p:txBody>
      </p:sp>
      <p:sp>
        <p:nvSpPr>
          <p:cNvPr id="24" name="Q1Hdr">
            <a:extLst>
              <a:ext uri="{FF2B5EF4-FFF2-40B4-BE49-F238E27FC236}">
                <a16:creationId xmlns:a16="http://schemas.microsoft.com/office/drawing/2014/main" id="{4663426C-8396-EE49-B791-17BFAF2D418A}"/>
              </a:ext>
            </a:extLst>
          </p:cNvPr>
          <p:cNvSpPr/>
          <p:nvPr/>
        </p:nvSpPr>
        <p:spPr>
          <a:xfrm>
            <a:off x="279400" y="2198561"/>
            <a:ext cx="4191000" cy="431800"/>
          </a:xfrm>
          <a:prstGeom prst="rect">
            <a:avLst/>
          </a:prstGeom>
          <a:solidFill>
            <a:srgbClr val="2E6B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Open Sans"/>
              </a:rPr>
              <a:t>Predicted resting HR for someone in the vigorous category?</a:t>
            </a:r>
          </a:p>
        </p:txBody>
      </p:sp>
      <p:sp>
        <p:nvSpPr>
          <p:cNvPr id="25" name="Q1OptA">
            <a:extLst>
              <a:ext uri="{FF2B5EF4-FFF2-40B4-BE49-F238E27FC236}">
                <a16:creationId xmlns:a16="http://schemas.microsoft.com/office/drawing/2014/main" id="{BE6AE55A-503F-0145-AF6B-EC44985185F0}"/>
              </a:ext>
            </a:extLst>
          </p:cNvPr>
          <p:cNvSpPr/>
          <p:nvPr/>
        </p:nvSpPr>
        <p:spPr>
          <a:xfrm>
            <a:off x="304800" y="27065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68.2 bpm</a:t>
            </a:r>
          </a:p>
        </p:txBody>
      </p:sp>
      <p:sp>
        <p:nvSpPr>
          <p:cNvPr id="26" name="Q1OptB">
            <a:extLst>
              <a:ext uri="{FF2B5EF4-FFF2-40B4-BE49-F238E27FC236}">
                <a16:creationId xmlns:a16="http://schemas.microsoft.com/office/drawing/2014/main" id="{4C7211F6-4842-C940-A08D-802F9717E2F3}"/>
              </a:ext>
            </a:extLst>
          </p:cNvPr>
          <p:cNvSpPr/>
          <p:nvPr/>
        </p:nvSpPr>
        <p:spPr>
          <a:xfrm>
            <a:off x="304800" y="30367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9.8 bpm</a:t>
            </a:r>
          </a:p>
        </p:txBody>
      </p:sp>
      <p:sp>
        <p:nvSpPr>
          <p:cNvPr id="27" name="Q1Ans">
            <a:extLst>
              <a:ext uri="{FF2B5EF4-FFF2-40B4-BE49-F238E27FC236}">
                <a16:creationId xmlns:a16="http://schemas.microsoft.com/office/drawing/2014/main" id="{137BB9A6-DEC8-E24F-989B-D74F1B1DAA9F}"/>
              </a:ext>
            </a:extLst>
          </p:cNvPr>
          <p:cNvSpPr/>
          <p:nvPr/>
        </p:nvSpPr>
        <p:spPr>
          <a:xfrm>
            <a:off x="279400" y="3756783"/>
            <a:ext cx="4191000" cy="887539"/>
          </a:xfrm>
          <a:prstGeom prst="rect">
            <a:avLst/>
          </a:prstGeom>
          <a:solidFill>
            <a:srgbClr val="EA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Vigorous dummy = 1, light = 0: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HR = 78.0 + (−9.8)·1 =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68.2 bpm.</a:t>
            </a:r>
          </a:p>
        </p:txBody>
      </p:sp>
      <p:sp>
        <p:nvSpPr>
          <p:cNvPr id="28" name="Q2Hdr">
            <a:extLst>
              <a:ext uri="{FF2B5EF4-FFF2-40B4-BE49-F238E27FC236}">
                <a16:creationId xmlns:a16="http://schemas.microsoft.com/office/drawing/2014/main" id="{7580F2C3-2892-CD45-AE5A-DE907941D97C}"/>
              </a:ext>
            </a:extLst>
          </p:cNvPr>
          <p:cNvSpPr/>
          <p:nvPr/>
        </p:nvSpPr>
        <p:spPr>
          <a:xfrm>
            <a:off x="4775200" y="2198561"/>
            <a:ext cx="4191000" cy="431800"/>
          </a:xfrm>
          <a:prstGeom prst="rect">
            <a:avLst/>
          </a:prstGeom>
          <a:solidFill>
            <a:srgbClr val="2E6B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Open Sans"/>
              </a:rPr>
              <a:t>Best reading of the light coefficient (−5.20)?</a:t>
            </a:r>
          </a:p>
        </p:txBody>
      </p:sp>
      <p:sp>
        <p:nvSpPr>
          <p:cNvPr id="29" name="Q2OptA">
            <a:extLst>
              <a:ext uri="{FF2B5EF4-FFF2-40B4-BE49-F238E27FC236}">
                <a16:creationId xmlns:a16="http://schemas.microsoft.com/office/drawing/2014/main" id="{B76261CB-B44F-1F48-A65D-61160C84773B}"/>
              </a:ext>
            </a:extLst>
          </p:cNvPr>
          <p:cNvSpPr/>
          <p:nvPr/>
        </p:nvSpPr>
        <p:spPr>
          <a:xfrm>
            <a:off x="4800600" y="27065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1100" dirty="0">
                <a:solidFill>
                  <a:srgbClr val="2E3640"/>
                </a:solidFill>
                <a:latin typeface="Open Sans"/>
              </a:rPr>
              <a:t>B)  Light exercisers averaged 5.2 bpm lower than vigorous.</a:t>
            </a:r>
          </a:p>
        </p:txBody>
      </p:sp>
      <p:sp>
        <p:nvSpPr>
          <p:cNvPr id="30" name="Q2OptB">
            <a:extLst>
              <a:ext uri="{FF2B5EF4-FFF2-40B4-BE49-F238E27FC236}">
                <a16:creationId xmlns:a16="http://schemas.microsoft.com/office/drawing/2014/main" id="{125C2C4B-3BA6-0D47-9A5B-A310987A8FD1}"/>
              </a:ext>
            </a:extLst>
          </p:cNvPr>
          <p:cNvSpPr/>
          <p:nvPr/>
        </p:nvSpPr>
        <p:spPr>
          <a:xfrm>
            <a:off x="4800600" y="30367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Light exercisers averaged 5.2 bpm lower than sedentary.</a:t>
            </a:r>
          </a:p>
        </p:txBody>
      </p:sp>
      <p:sp>
        <p:nvSpPr>
          <p:cNvPr id="31" name="Q2Ans">
            <a:extLst>
              <a:ext uri="{FF2B5EF4-FFF2-40B4-BE49-F238E27FC236}">
                <a16:creationId xmlns:a16="http://schemas.microsoft.com/office/drawing/2014/main" id="{7D523BC6-F6CA-404D-B0D5-1836378618B3}"/>
              </a:ext>
            </a:extLst>
          </p:cNvPr>
          <p:cNvSpPr/>
          <p:nvPr/>
        </p:nvSpPr>
        <p:spPr>
          <a:xfrm>
            <a:off x="4775200" y="3443161"/>
            <a:ext cx="4191000" cy="868680"/>
          </a:xfrm>
          <a:prstGeom prst="rect">
            <a:avLst/>
          </a:prstGeom>
          <a:solidFill>
            <a:srgbClr val="EA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All rows in the table are compared to the reference group.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3D204-AC76-ABE6-506D-43CCDEE2DA82}"/>
              </a:ext>
            </a:extLst>
          </p:cNvPr>
          <p:cNvSpPr/>
          <p:nvPr/>
        </p:nvSpPr>
        <p:spPr>
          <a:xfrm flipV="1">
            <a:off x="312310" y="434340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80568-2D0B-21C9-7B17-837CF8D2F944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1OptA">
            <a:extLst>
              <a:ext uri="{FF2B5EF4-FFF2-40B4-BE49-F238E27FC236}">
                <a16:creationId xmlns:a16="http://schemas.microsoft.com/office/drawing/2014/main" id="{DA590C89-DC15-CB9C-220A-680026DB6DC1}"/>
              </a:ext>
            </a:extLst>
          </p:cNvPr>
          <p:cNvSpPr/>
          <p:nvPr/>
        </p:nvSpPr>
        <p:spPr>
          <a:xfrm>
            <a:off x="312310" y="33669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C)  63 bpm</a:t>
            </a:r>
          </a:p>
        </p:txBody>
      </p:sp>
    </p:spTree>
    <p:extLst>
      <p:ext uri="{BB962C8B-B14F-4D97-AF65-F5344CB8AC3E}">
        <p14:creationId xmlns:p14="http://schemas.microsoft.com/office/powerpoint/2010/main" val="394888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2513-D8D7-C472-A3F1-5EA72F1B5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B8D30F-4879-BCA2-FDD4-EE64A5E4FC1A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F7497-3133-0E0D-5E4B-6A6EFEE20FA8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67DFA3-57F9-3EC3-E78C-7E5FD44B5F04}"/>
              </a:ext>
            </a:extLst>
          </p:cNvPr>
          <p:cNvSpPr/>
          <p:nvPr/>
        </p:nvSpPr>
        <p:spPr>
          <a:xfrm>
            <a:off x="1" y="0"/>
            <a:ext cx="9143771" cy="82296"/>
          </a:xfrm>
          <a:prstGeom prst="rect">
            <a:avLst/>
          </a:prstGeom>
          <a:solidFill>
            <a:srgbClr val="F8D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DF1D40-E448-74A1-42C4-8E974EC26AD6}"/>
              </a:ext>
            </a:extLst>
          </p:cNvPr>
          <p:cNvSpPr/>
          <p:nvPr/>
        </p:nvSpPr>
        <p:spPr>
          <a:xfrm>
            <a:off x="0" y="5102352"/>
            <a:ext cx="9143771" cy="82296"/>
          </a:xfrm>
          <a:prstGeom prst="rect">
            <a:avLst/>
          </a:prstGeom>
          <a:solidFill>
            <a:srgbClr val="2E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B57E7319-9A43-6FD9-0D4A-571596B65466}"/>
              </a:ext>
            </a:extLst>
          </p:cNvPr>
          <p:cNvSpPr/>
          <p:nvPr/>
        </p:nvSpPr>
        <p:spPr>
          <a:xfrm>
            <a:off x="181668" y="179770"/>
            <a:ext cx="770974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061"/>
                </a:solidFill>
                <a:latin typeface="Calibri"/>
              </a:rPr>
              <a:t>Changing the reference does not change the magnitude of associations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3437EA-5CC3-FD12-32F3-D8E20AAEAC0C}"/>
              </a:ext>
            </a:extLst>
          </p:cNvPr>
          <p:cNvSpPr txBox="1"/>
          <p:nvPr/>
        </p:nvSpPr>
        <p:spPr>
          <a:xfrm>
            <a:off x="205523" y="1023337"/>
            <a:ext cx="4875362" cy="1096492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Estimate Std. Error t value </a:t>
            </a:r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(Intercept)                 40.941      3.203  12.783  &lt; 2e-16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educationlower_secondary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14.779      3.686   4.009 7.04e-05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educationhigher_secondary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32.133      3.763   8.539  &lt; 2e-16 ***</a:t>
            </a:r>
          </a:p>
          <a:p>
            <a:r>
              <a:rPr lang="en-GB" sz="1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educationuniversity</a:t>
            </a:r>
            <a:r>
              <a:rPr lang="en-GB" sz="100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44.964      3.684  12.207  &lt; 2e-16 ***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ECA6B2-6A0C-3AF5-6DE4-EBC924A6B9D7}"/>
              </a:ext>
            </a:extLst>
          </p:cNvPr>
          <p:cNvSpPr/>
          <p:nvPr/>
        </p:nvSpPr>
        <p:spPr>
          <a:xfrm flipV="1">
            <a:off x="171508" y="474598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57FC7A-6B25-5CAE-34CE-24A704F63FE2}"/>
              </a:ext>
            </a:extLst>
          </p:cNvPr>
          <p:cNvSpPr/>
          <p:nvPr/>
        </p:nvSpPr>
        <p:spPr>
          <a:xfrm>
            <a:off x="205523" y="545163"/>
            <a:ext cx="4079963" cy="444816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mod_edu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&lt;-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lm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 ~ education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data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summary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mod_edu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1A7DF1-1CA1-4AAC-2680-B5DA5BBABC86}"/>
              </a:ext>
            </a:extLst>
          </p:cNvPr>
          <p:cNvSpPr/>
          <p:nvPr/>
        </p:nvSpPr>
        <p:spPr>
          <a:xfrm>
            <a:off x="205523" y="2484027"/>
            <a:ext cx="6036251" cy="930742"/>
          </a:xfrm>
          <a:prstGeom prst="rect">
            <a:avLst/>
          </a:prstGeom>
          <a:solidFill>
            <a:srgbClr val="EAF4F4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prevend_uni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&lt;-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|&gt; 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mutate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education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fct_relevel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education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"university"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))</a:t>
            </a:r>
            <a:endParaRPr lang="en-GB" sz="1100" b="1" dirty="0">
              <a:latin typeface="Consolas"/>
              <a:cs typeface="Consolas"/>
            </a:endParaRPr>
          </a:p>
          <a:p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8B4A9C"/>
                </a:solidFill>
                <a:latin typeface="Consolas"/>
                <a:cs typeface="Consolas"/>
              </a:rPr>
              <a:t>mod_edu_uni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&lt;- </a:t>
            </a:r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lm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rfft ~ education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,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data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 = 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prevend_uni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  <a:p>
            <a:r>
              <a:rPr lang="en-GB" sz="1100" b="1" dirty="0">
                <a:solidFill>
                  <a:srgbClr val="1F5061"/>
                </a:solidFill>
                <a:latin typeface="Consolas"/>
                <a:cs typeface="Consolas"/>
              </a:rPr>
              <a:t>summary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(</a:t>
            </a:r>
            <a:r>
              <a:rPr lang="en-GB" sz="1100" b="1" dirty="0">
                <a:solidFill>
                  <a:srgbClr val="2E6B75"/>
                </a:solidFill>
                <a:latin typeface="Consolas"/>
                <a:cs typeface="Consolas"/>
              </a:rPr>
              <a:t>mod_edu_uni</a:t>
            </a:r>
            <a:r>
              <a:rPr lang="en-GB" sz="1100" b="1" dirty="0">
                <a:solidFill>
                  <a:srgbClr val="666666"/>
                </a:solidFill>
                <a:latin typeface="Consolas"/>
                <a:cs typeface="Consolas"/>
              </a:rPr>
              <a:t>)</a:t>
            </a:r>
            <a:endParaRPr lang="en-GB" sz="1100" b="1" dirty="0">
              <a:latin typeface="Consolas"/>
              <a:cs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41FFF6-475D-542B-6E1C-1536E10810DD}"/>
              </a:ext>
            </a:extLst>
          </p:cNvPr>
          <p:cNvSpPr/>
          <p:nvPr/>
        </p:nvSpPr>
        <p:spPr>
          <a:xfrm>
            <a:off x="205523" y="2353246"/>
            <a:ext cx="8397788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386EE-72BE-6B37-5AAA-11EC4FF0C0EC}"/>
              </a:ext>
            </a:extLst>
          </p:cNvPr>
          <p:cNvSpPr txBox="1"/>
          <p:nvPr/>
        </p:nvSpPr>
        <p:spPr>
          <a:xfrm>
            <a:off x="205522" y="3546105"/>
            <a:ext cx="5040131" cy="1061388"/>
          </a:xfrm>
          <a:prstGeom prst="rect">
            <a:avLst/>
          </a:prstGeom>
          <a:solidFill>
            <a:srgbClr val="F8F8F8"/>
          </a:solidFill>
          <a:ln w="6350">
            <a:solidFill>
              <a:srgbClr val="D0DA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sz="900" b="1">
                <a:solidFill>
                  <a:srgbClr val="2E3640"/>
                </a:solidFill>
                <a:latin typeface="Courier New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Coefficients:</a:t>
            </a: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Estimate Std. Error t value </a:t>
            </a:r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Pr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(&gt;|t|)    </a:t>
            </a:r>
          </a:p>
          <a:p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(Intercept)                 85.905      1.820  47.211  &lt; 2e-16 ***</a:t>
            </a:r>
          </a:p>
          <a:p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educationprimary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         -44.964      3.684 -12.207  &lt; 2e-16 ***</a:t>
            </a:r>
          </a:p>
          <a:p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educationlower_secondary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 -30.185      2.577 -11.712  &lt; 2e-16 ***</a:t>
            </a:r>
          </a:p>
          <a:p>
            <a:r>
              <a:rPr lang="en-GB" sz="1050" b="0" dirty="0" err="1">
                <a:latin typeface="Consolas" panose="020B0609020204030204" pitchFamily="49" charset="0"/>
                <a:cs typeface="Consolas" panose="020B0609020204030204" pitchFamily="49" charset="0"/>
              </a:rPr>
              <a:t>educationhigher_secondary</a:t>
            </a:r>
            <a:r>
              <a:rPr lang="en-GB" sz="1050" b="0" dirty="0">
                <a:latin typeface="Consolas" panose="020B0609020204030204" pitchFamily="49" charset="0"/>
                <a:cs typeface="Consolas" panose="020B0609020204030204" pitchFamily="49" charset="0"/>
              </a:rPr>
              <a:t>  -12.830      2.686  -4.777 2.35e-06 ***</a:t>
            </a:r>
            <a:endParaRPr lang="en-GB" sz="1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opCalcBlock">
            <a:extLst>
              <a:ext uri="{FF2B5EF4-FFF2-40B4-BE49-F238E27FC236}">
                <a16:creationId xmlns:a16="http://schemas.microsoft.com/office/drawing/2014/main" id="{D1F4C0CA-5274-1A42-AF6F-E2C05F9FFFC8}"/>
              </a:ext>
            </a:extLst>
          </p:cNvPr>
          <p:cNvSpPr txBox="1"/>
          <p:nvPr/>
        </p:nvSpPr>
        <p:spPr>
          <a:xfrm>
            <a:off x="5245100" y="1295400"/>
            <a:ext cx="3746500" cy="723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Primary        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       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Lower secondary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+ 14.78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55.72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Higher secondary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+ 32.13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73.07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University     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 + 44.96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</a:t>
            </a:r>
          </a:p>
        </p:txBody>
      </p:sp>
      <p:sp>
        <p:nvSpPr>
          <p:cNvPr id="32" name="BotCalcBlock">
            <a:extLst>
              <a:ext uri="{FF2B5EF4-FFF2-40B4-BE49-F238E27FC236}">
                <a16:creationId xmlns:a16="http://schemas.microsoft.com/office/drawing/2014/main" id="{BA46170E-6605-AC4E-9642-441C022A6114}"/>
              </a:ext>
            </a:extLst>
          </p:cNvPr>
          <p:cNvSpPr txBox="1"/>
          <p:nvPr/>
        </p:nvSpPr>
        <p:spPr>
          <a:xfrm>
            <a:off x="5359400" y="3822700"/>
            <a:ext cx="3746500" cy="723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University     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        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Primary        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85.91 − 44.96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40.94</a:t>
            </a:r>
          </a:p>
          <a:p>
            <a:pPr>
              <a:lnSpc>
                <a:spcPts val="1400"/>
              </a:lnSpc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Lower secondary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85.91 − 30.19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55.72</a:t>
            </a:r>
          </a:p>
          <a:p>
            <a:pPr>
              <a:lnSpc>
                <a:spcPts val="1400"/>
              </a:lnSpc>
            </a:pPr>
            <a:r>
              <a:rPr lang="en-US" sz="1100" b="1" dirty="0">
                <a:solidFill>
                  <a:srgbClr val="2C3E50"/>
                </a:solidFill>
                <a:latin typeface="Consolas"/>
                <a:cs typeface="Consolas"/>
              </a:rPr>
              <a:t>Higher secondary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85.91 − 12.83 </a:t>
            </a:r>
            <a:r>
              <a:rPr lang="en-US" sz="1100" b="1" dirty="0">
                <a:solidFill>
                  <a:srgbClr val="6B7B8A"/>
                </a:solidFill>
                <a:latin typeface="Consolas"/>
                <a:cs typeface="Consolas"/>
              </a:rPr>
              <a:t>=  </a:t>
            </a:r>
            <a:r>
              <a:rPr lang="en-US" sz="1100" b="1" dirty="0">
                <a:solidFill>
                  <a:srgbClr val="1F5061"/>
                </a:solidFill>
                <a:latin typeface="Consolas"/>
                <a:cs typeface="Consolas"/>
              </a:rPr>
              <a:t>73.07</a:t>
            </a:r>
          </a:p>
        </p:txBody>
      </p:sp>
    </p:spTree>
    <p:extLst>
      <p:ext uri="{BB962C8B-B14F-4D97-AF65-F5344CB8AC3E}">
        <p14:creationId xmlns:p14="http://schemas.microsoft.com/office/powerpoint/2010/main" val="355287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2310" y="169164"/>
            <a:ext cx="8080292" cy="3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Picking the reference category: some principles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5600" y="524787"/>
            <a:ext cx="2057400" cy="1838210"/>
          </a:xfrm>
          <a:prstGeom prst="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55600" y="524787"/>
            <a:ext cx="45720" cy="183821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44500" y="595245"/>
            <a:ext cx="1879600" cy="14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control / standard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500" y="789576"/>
            <a:ext cx="1879600" cy="1524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Pick the placebo or untreated group.</a:t>
            </a:r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Each coefficient then reads as the effect of a treatment vs. doing nothing.</a:t>
            </a:r>
          </a:p>
          <a:p>
            <a:pPr>
              <a:spcAft>
                <a:spcPts val="500"/>
              </a:spcAft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That's usually the comparison you actually care about.</a:t>
            </a:r>
          </a:p>
          <a:p>
            <a:r>
              <a:rPr lang="en-US" sz="1000" i="1" dirty="0">
                <a:solidFill>
                  <a:srgbClr val="2E6B75"/>
                </a:solidFill>
                <a:latin typeface="Open Sans"/>
              </a:rPr>
              <a:t>• e.g. drug trial ref= placebo.</a:t>
            </a:r>
          </a:p>
        </p:txBody>
      </p:sp>
      <p:sp>
        <p:nvSpPr>
          <p:cNvPr id="12" name="Shape 10"/>
          <p:cNvSpPr/>
          <p:nvPr/>
        </p:nvSpPr>
        <p:spPr>
          <a:xfrm>
            <a:off x="2552700" y="524787"/>
            <a:ext cx="2057400" cy="1838210"/>
          </a:xfrm>
          <a:prstGeom prst="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2552700" y="524787"/>
            <a:ext cx="45720" cy="183821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641600" y="595245"/>
            <a:ext cx="1879600" cy="31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natural ”first” or ”last” level of predictor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41600" y="912309"/>
            <a:ext cx="1879600" cy="1524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Use when categories have a natural order.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Pick the lowest rung.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Each coefficient is one step up the scale.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i="1" dirty="0">
                <a:solidFill>
                  <a:srgbClr val="2E6B75"/>
                </a:solidFill>
                <a:latin typeface="Open Sans"/>
              </a:rPr>
              <a:t>e.g. education, ref = primary.</a:t>
            </a:r>
          </a:p>
        </p:txBody>
      </p:sp>
      <p:sp>
        <p:nvSpPr>
          <p:cNvPr id="18" name="Shape 16"/>
          <p:cNvSpPr/>
          <p:nvPr/>
        </p:nvSpPr>
        <p:spPr>
          <a:xfrm>
            <a:off x="6946900" y="524787"/>
            <a:ext cx="2057400" cy="1838210"/>
          </a:xfrm>
          <a:prstGeom prst="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6946900" y="524787"/>
            <a:ext cx="45720" cy="1838210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7035800" y="595245"/>
            <a:ext cx="1879600" cy="14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E6B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largest group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35800" y="830669"/>
            <a:ext cx="1879600" cy="1524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E3640"/>
                </a:solidFill>
                <a:latin typeface="Open Sans"/>
              </a:rPr>
              <a:t>• Pick the category with the most observations.</a:t>
            </a:r>
          </a:p>
          <a:p>
            <a:r>
              <a:rPr lang="en-US" sz="1000" dirty="0">
                <a:solidFill>
                  <a:srgbClr val="2E3640"/>
                </a:solidFill>
                <a:latin typeface="Open Sans"/>
              </a:rPr>
              <a:t>• Each coefficient's standard error depends partly on the reference group's size.</a:t>
            </a:r>
          </a:p>
          <a:p>
            <a:r>
              <a:rPr lang="en-US" sz="1000" dirty="0">
                <a:solidFill>
                  <a:srgbClr val="2E3640"/>
                </a:solidFill>
                <a:latin typeface="Open Sans"/>
              </a:rPr>
              <a:t>• A bigger reference tightens every comparison at once.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74C74341-A932-54DD-3A37-81EC9A5A3ED5}"/>
              </a:ext>
            </a:extLst>
          </p:cNvPr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91B2C-2BF7-A606-B81B-B4E89FC6E6A6}"/>
              </a:ext>
            </a:extLst>
          </p:cNvPr>
          <p:cNvSpPr/>
          <p:nvPr/>
        </p:nvSpPr>
        <p:spPr>
          <a:xfrm flipV="1">
            <a:off x="312310" y="434340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BF5B2-EF58-F2CD-860F-2389ABF7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69"/>
          <a:stretch>
            <a:fillRect/>
          </a:stretch>
        </p:blipFill>
        <p:spPr>
          <a:xfrm>
            <a:off x="403750" y="2970632"/>
            <a:ext cx="3872118" cy="19417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D8B215-1D85-C80C-CEA8-50C515E60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437"/>
          <a:stretch>
            <a:fillRect/>
          </a:stretch>
        </p:blipFill>
        <p:spPr>
          <a:xfrm>
            <a:off x="4868134" y="3011638"/>
            <a:ext cx="3608510" cy="1875743"/>
          </a:xfrm>
          <a:prstGeom prst="rect">
            <a:avLst/>
          </a:prstGeom>
        </p:spPr>
      </p:pic>
      <p:sp>
        <p:nvSpPr>
          <p:cNvPr id="22" name="CapPrimaryRef">
            <a:extLst>
              <a:ext uri="{FF2B5EF4-FFF2-40B4-BE49-F238E27FC236}">
                <a16:creationId xmlns:a16="http://schemas.microsoft.com/office/drawing/2014/main" id="{1ECE2A6D-173F-004B-A65C-DF2CCCC815A0}"/>
              </a:ext>
            </a:extLst>
          </p:cNvPr>
          <p:cNvSpPr txBox="1"/>
          <p:nvPr/>
        </p:nvSpPr>
        <p:spPr>
          <a:xfrm>
            <a:off x="379782" y="4724400"/>
            <a:ext cx="3737176" cy="35560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Each row reads as how much </a:t>
            </a:r>
            <a:r>
              <a:rPr lang="en-US" sz="1000" b="1" dirty="0">
                <a:solidFill>
                  <a:srgbClr val="2E3640"/>
                </a:solidFill>
                <a:latin typeface="Open Sans"/>
              </a:rPr>
              <a:t>higher</a:t>
            </a:r>
            <a:r>
              <a:rPr lang="en-US" sz="1000" dirty="0">
                <a:solidFill>
                  <a:srgbClr val="2E3640"/>
                </a:solidFill>
                <a:latin typeface="Open Sans"/>
              </a:rPr>
              <a:t> RFFT is than primary.</a:t>
            </a:r>
          </a:p>
        </p:txBody>
      </p:sp>
      <p:sp>
        <p:nvSpPr>
          <p:cNvPr id="23" name="CapUniRef">
            <a:extLst>
              <a:ext uri="{FF2B5EF4-FFF2-40B4-BE49-F238E27FC236}">
                <a16:creationId xmlns:a16="http://schemas.microsoft.com/office/drawing/2014/main" id="{CDD2FC4B-3516-8E4D-9BD9-701C28DDA93F}"/>
              </a:ext>
            </a:extLst>
          </p:cNvPr>
          <p:cNvSpPr txBox="1"/>
          <p:nvPr/>
        </p:nvSpPr>
        <p:spPr>
          <a:xfrm>
            <a:off x="4352456" y="4724400"/>
            <a:ext cx="4728755" cy="35560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Each row reads as how far </a:t>
            </a:r>
            <a:r>
              <a:rPr lang="en-US" sz="1000" b="1" dirty="0">
                <a:solidFill>
                  <a:srgbClr val="2E3640"/>
                </a:solidFill>
                <a:latin typeface="Open Sans"/>
              </a:rPr>
              <a:t>behind</a:t>
            </a:r>
            <a:r>
              <a:rPr lang="en-US" sz="1000" dirty="0">
                <a:solidFill>
                  <a:srgbClr val="2E3640"/>
                </a:solidFill>
                <a:latin typeface="Open Sans"/>
              </a:rPr>
              <a:t> university each group is.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A5D8CA-0490-006D-AE47-21DD2C3F26E6}"/>
              </a:ext>
            </a:extLst>
          </p:cNvPr>
          <p:cNvSpPr/>
          <p:nvPr/>
        </p:nvSpPr>
        <p:spPr>
          <a:xfrm>
            <a:off x="225068" y="2428556"/>
            <a:ext cx="8682602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FA98F59-924C-D93A-3020-4B0AC4C6EC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2" t="3354" r="44941" b="84376"/>
          <a:stretch>
            <a:fillRect/>
          </a:stretch>
        </p:blipFill>
        <p:spPr>
          <a:xfrm>
            <a:off x="869202" y="2502164"/>
            <a:ext cx="2758336" cy="44356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83AA23-37AB-5C8B-1C69-F5D244D1B4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3" t="1692" r="38721" b="83568"/>
          <a:stretch>
            <a:fillRect/>
          </a:stretch>
        </p:blipFill>
        <p:spPr>
          <a:xfrm>
            <a:off x="5135987" y="2502164"/>
            <a:ext cx="2822024" cy="481587"/>
          </a:xfrm>
          <a:prstGeom prst="rect">
            <a:avLst/>
          </a:prstGeom>
        </p:spPr>
      </p:pic>
      <p:sp>
        <p:nvSpPr>
          <p:cNvPr id="26" name="Card3Bg">
            <a:extLst>
              <a:ext uri="{FF2B5EF4-FFF2-40B4-BE49-F238E27FC236}">
                <a16:creationId xmlns:a16="http://schemas.microsoft.com/office/drawing/2014/main" id="{11CC78A9-15ED-9848-86A1-38CA7164055C}"/>
              </a:ext>
            </a:extLst>
          </p:cNvPr>
          <p:cNvSpPr/>
          <p:nvPr/>
        </p:nvSpPr>
        <p:spPr>
          <a:xfrm>
            <a:off x="4749800" y="520700"/>
            <a:ext cx="2057400" cy="1841500"/>
          </a:xfrm>
          <a:prstGeom prst="rect">
            <a:avLst/>
          </a:prstGeom>
          <a:solidFill>
            <a:srgbClr val="EAF4F4"/>
          </a:solidFill>
          <a:ln w="12700" cap="flat" cmpd="sng" algn="ctr">
            <a:solidFill>
              <a:srgbClr val="EAF4F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3Stripe">
            <a:extLst>
              <a:ext uri="{FF2B5EF4-FFF2-40B4-BE49-F238E27FC236}">
                <a16:creationId xmlns:a16="http://schemas.microsoft.com/office/drawing/2014/main" id="{C1643485-FD37-3349-A260-2221E93A46C0}"/>
              </a:ext>
            </a:extLst>
          </p:cNvPr>
          <p:cNvSpPr/>
          <p:nvPr/>
        </p:nvSpPr>
        <p:spPr>
          <a:xfrm>
            <a:off x="4749800" y="520700"/>
            <a:ext cx="50800" cy="18415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3Hdr">
            <a:extLst>
              <a:ext uri="{FF2B5EF4-FFF2-40B4-BE49-F238E27FC236}">
                <a16:creationId xmlns:a16="http://schemas.microsoft.com/office/drawing/2014/main" id="{6426D9A6-AC1F-2044-9F09-EA92218F54EE}"/>
              </a:ext>
            </a:extLst>
          </p:cNvPr>
          <p:cNvSpPr txBox="1"/>
          <p:nvPr/>
        </p:nvSpPr>
        <p:spPr>
          <a:xfrm>
            <a:off x="4837232" y="518953"/>
            <a:ext cx="1924247" cy="31750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6B75"/>
                </a:solidFill>
                <a:latin typeface="Open Sans"/>
              </a:rPr>
              <a:t>Highest or lowest outcome</a:t>
            </a:r>
          </a:p>
        </p:txBody>
      </p:sp>
      <p:sp>
        <p:nvSpPr>
          <p:cNvPr id="29" name="Card3Body">
            <a:extLst>
              <a:ext uri="{FF2B5EF4-FFF2-40B4-BE49-F238E27FC236}">
                <a16:creationId xmlns:a16="http://schemas.microsoft.com/office/drawing/2014/main" id="{694FBE74-2C7C-C14D-A4B8-7AF45745D128}"/>
              </a:ext>
            </a:extLst>
          </p:cNvPr>
          <p:cNvSpPr txBox="1"/>
          <p:nvPr/>
        </p:nvSpPr>
        <p:spPr>
          <a:xfrm>
            <a:off x="4837233" y="883145"/>
            <a:ext cx="1879600" cy="1409700"/>
          </a:xfrm>
          <a:prstGeom prst="rect">
            <a:avLst/>
          </a:prstGeom>
          <a:solidFill>
            <a:srgbClr val="EAF4F4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Pick the group with the highest (or lowest) outcome.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Every other coefficient then takes the same sign.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E3640"/>
                </a:solidFill>
                <a:latin typeface="Open Sans"/>
              </a:rPr>
              <a:t>• Reads as "gain over worst" or "deficit from best".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2E6B75"/>
                </a:solidFill>
                <a:latin typeface="Open Sans"/>
              </a:rPr>
              <a:t>e.g. education, ref = university.</a:t>
            </a:r>
          </a:p>
        </p:txBody>
      </p:sp>
    </p:spTree>
    <p:extLst>
      <p:ext uri="{BB962C8B-B14F-4D97-AF65-F5344CB8AC3E}">
        <p14:creationId xmlns:p14="http://schemas.microsoft.com/office/powerpoint/2010/main" val="173416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"/>
          </a:xfrm>
          <a:prstGeom prst="rect">
            <a:avLst/>
          </a:prstGeom>
          <a:solidFill>
            <a:srgbClr val="F4C8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CA4710B0-9D25-AE47-A5C0-10363A8CDA16}"/>
              </a:ext>
            </a:extLst>
          </p:cNvPr>
          <p:cNvSpPr txBox="1"/>
          <p:nvPr/>
        </p:nvSpPr>
        <p:spPr>
          <a:xfrm>
            <a:off x="177800" y="101600"/>
            <a:ext cx="7886700" cy="2793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6B75"/>
                </a:solidFill>
                <a:latin typeface="Open Sans"/>
              </a:rPr>
              <a:t>Practice: Choosing a reference category</a:t>
            </a:r>
          </a:p>
        </p:txBody>
      </p:sp>
      <p:sp>
        <p:nvSpPr>
          <p:cNvPr id="21" name="Setup">
            <a:extLst>
              <a:ext uri="{FF2B5EF4-FFF2-40B4-BE49-F238E27FC236}">
                <a16:creationId xmlns:a16="http://schemas.microsoft.com/office/drawing/2014/main" id="{618D1FBD-32C2-B447-823F-5C371D5EBE64}"/>
              </a:ext>
            </a:extLst>
          </p:cNvPr>
          <p:cNvSpPr txBox="1"/>
          <p:nvPr/>
        </p:nvSpPr>
        <p:spPr>
          <a:xfrm>
            <a:off x="279400" y="533399"/>
            <a:ext cx="8788400" cy="44596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2E3640"/>
                </a:solidFill>
                <a:latin typeface="Open Sans"/>
              </a:rPr>
              <a:t>A trial (n = 320) tested a new pain reliever at three doses against placebo. Outcome: pain score (0–10, higher = worse). Predictor: dose (placebo, 200mg, 400mg, 800mg);. </a:t>
            </a:r>
            <a:r>
              <a:rPr lang="en-US" sz="1200" b="1" i="1" dirty="0">
                <a:solidFill>
                  <a:srgbClr val="2E6B75"/>
                </a:solidFill>
                <a:latin typeface="Open Sans"/>
              </a:rPr>
              <a:t>R output:</a:t>
            </a:r>
          </a:p>
        </p:txBody>
      </p:sp>
      <p:sp>
        <p:nvSpPr>
          <p:cNvPr id="22" name="ROutput">
            <a:extLst>
              <a:ext uri="{FF2B5EF4-FFF2-40B4-BE49-F238E27FC236}">
                <a16:creationId xmlns:a16="http://schemas.microsoft.com/office/drawing/2014/main" id="{A9C2AB6D-4B06-CA46-B76F-1D787324808E}"/>
              </a:ext>
            </a:extLst>
          </p:cNvPr>
          <p:cNvSpPr/>
          <p:nvPr/>
        </p:nvSpPr>
        <p:spPr>
          <a:xfrm>
            <a:off x="279400" y="1030161"/>
            <a:ext cx="8788400" cy="1041400"/>
          </a:xfrm>
          <a:prstGeom prst="rect">
            <a:avLst/>
          </a:prstGeom>
          <a:solidFill>
            <a:srgbClr val="FBFBFB"/>
          </a:solidFill>
          <a:ln w="9525" cap="flat" cmpd="sng" algn="ctr">
            <a:solidFill>
              <a:srgbClr val="E5E5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                Estimate Std.Error t value Pr(&gt;|t|)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(Intercept)        6.85      0.18   38.06  &lt; 2e-16 ***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dose200mg         -1.10      0.25   -4.40   1.4e-05 ***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dose400mg         -2.30      0.25   -9.20   &lt; 2e-16 ***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Consolas"/>
              </a:rPr>
              <a:t>dose800mg         -2.80      0.25  -11.20   &lt; 2e-16 ***</a:t>
            </a:r>
          </a:p>
        </p:txBody>
      </p:sp>
      <p:sp>
        <p:nvSpPr>
          <p:cNvPr id="24" name="Q1Hdr">
            <a:extLst>
              <a:ext uri="{FF2B5EF4-FFF2-40B4-BE49-F238E27FC236}">
                <a16:creationId xmlns:a16="http://schemas.microsoft.com/office/drawing/2014/main" id="{4663426C-8396-EE49-B791-17BFAF2D418A}"/>
              </a:ext>
            </a:extLst>
          </p:cNvPr>
          <p:cNvSpPr/>
          <p:nvPr/>
        </p:nvSpPr>
        <p:spPr>
          <a:xfrm>
            <a:off x="279400" y="2198561"/>
            <a:ext cx="4191000" cy="431800"/>
          </a:xfrm>
          <a:prstGeom prst="rect">
            <a:avLst/>
          </a:prstGeom>
          <a:solidFill>
            <a:srgbClr val="2E6B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Open Sans"/>
              </a:rPr>
              <a:t>What would be the most recommended reference category?</a:t>
            </a:r>
          </a:p>
        </p:txBody>
      </p:sp>
      <p:sp>
        <p:nvSpPr>
          <p:cNvPr id="25" name="Q1OptA">
            <a:extLst>
              <a:ext uri="{FF2B5EF4-FFF2-40B4-BE49-F238E27FC236}">
                <a16:creationId xmlns:a16="http://schemas.microsoft.com/office/drawing/2014/main" id="{BE6AE55A-503F-0145-AF6B-EC44985185F0}"/>
              </a:ext>
            </a:extLst>
          </p:cNvPr>
          <p:cNvSpPr/>
          <p:nvPr/>
        </p:nvSpPr>
        <p:spPr>
          <a:xfrm>
            <a:off x="304800" y="27065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Placebo</a:t>
            </a:r>
          </a:p>
        </p:txBody>
      </p:sp>
      <p:sp>
        <p:nvSpPr>
          <p:cNvPr id="26" name="Q1OptB">
            <a:extLst>
              <a:ext uri="{FF2B5EF4-FFF2-40B4-BE49-F238E27FC236}">
                <a16:creationId xmlns:a16="http://schemas.microsoft.com/office/drawing/2014/main" id="{4C7211F6-4842-C940-A08D-802F9717E2F3}"/>
              </a:ext>
            </a:extLst>
          </p:cNvPr>
          <p:cNvSpPr/>
          <p:nvPr/>
        </p:nvSpPr>
        <p:spPr>
          <a:xfrm>
            <a:off x="304800" y="30367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800 mg</a:t>
            </a:r>
          </a:p>
        </p:txBody>
      </p:sp>
      <p:sp>
        <p:nvSpPr>
          <p:cNvPr id="27" name="Q1Ans">
            <a:extLst>
              <a:ext uri="{FF2B5EF4-FFF2-40B4-BE49-F238E27FC236}">
                <a16:creationId xmlns:a16="http://schemas.microsoft.com/office/drawing/2014/main" id="{137BB9A6-DEC8-E24F-989B-D74F1B1DAA9F}"/>
              </a:ext>
            </a:extLst>
          </p:cNvPr>
          <p:cNvSpPr/>
          <p:nvPr/>
        </p:nvSpPr>
        <p:spPr>
          <a:xfrm>
            <a:off x="279400" y="3441700"/>
            <a:ext cx="4191000" cy="1016000"/>
          </a:xfrm>
          <a:prstGeom prst="rect">
            <a:avLst/>
          </a:prstGeom>
          <a:solidFill>
            <a:srgbClr val="EA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Each dose coefficient then reads directly as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drug effect vs. placebo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, which is the question the trial was designed to answer.</a:t>
            </a:r>
          </a:p>
        </p:txBody>
      </p:sp>
      <p:sp>
        <p:nvSpPr>
          <p:cNvPr id="28" name="Q2Hdr">
            <a:extLst>
              <a:ext uri="{FF2B5EF4-FFF2-40B4-BE49-F238E27FC236}">
                <a16:creationId xmlns:a16="http://schemas.microsoft.com/office/drawing/2014/main" id="{7580F2C3-2892-CD45-AE5A-DE907941D97C}"/>
              </a:ext>
            </a:extLst>
          </p:cNvPr>
          <p:cNvSpPr/>
          <p:nvPr/>
        </p:nvSpPr>
        <p:spPr>
          <a:xfrm>
            <a:off x="4775200" y="2198561"/>
            <a:ext cx="4191000" cy="431800"/>
          </a:xfrm>
          <a:prstGeom prst="rect">
            <a:avLst/>
          </a:prstGeom>
          <a:solidFill>
            <a:srgbClr val="2E6B7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Open Sans"/>
              </a:rPr>
              <a:t>If we re-leveled to ref = 800mg, what does (Intercept) become?</a:t>
            </a:r>
          </a:p>
        </p:txBody>
      </p:sp>
      <p:sp>
        <p:nvSpPr>
          <p:cNvPr id="29" name="Q2OptA">
            <a:extLst>
              <a:ext uri="{FF2B5EF4-FFF2-40B4-BE49-F238E27FC236}">
                <a16:creationId xmlns:a16="http://schemas.microsoft.com/office/drawing/2014/main" id="{B76261CB-B44F-1F48-A65D-61160C84773B}"/>
              </a:ext>
            </a:extLst>
          </p:cNvPr>
          <p:cNvSpPr/>
          <p:nvPr/>
        </p:nvSpPr>
        <p:spPr>
          <a:xfrm>
            <a:off x="4800600" y="27065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A)  Mean pain on placebo.</a:t>
            </a:r>
          </a:p>
        </p:txBody>
      </p:sp>
      <p:sp>
        <p:nvSpPr>
          <p:cNvPr id="30" name="Q2OptB">
            <a:extLst>
              <a:ext uri="{FF2B5EF4-FFF2-40B4-BE49-F238E27FC236}">
                <a16:creationId xmlns:a16="http://schemas.microsoft.com/office/drawing/2014/main" id="{125C2C4B-3BA6-0D47-9A5B-A310987A8FD1}"/>
              </a:ext>
            </a:extLst>
          </p:cNvPr>
          <p:cNvSpPr/>
          <p:nvPr/>
        </p:nvSpPr>
        <p:spPr>
          <a:xfrm>
            <a:off x="4800600" y="3036761"/>
            <a:ext cx="4140200" cy="279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B)  Mean pain on 800mg.</a:t>
            </a:r>
          </a:p>
        </p:txBody>
      </p:sp>
      <p:sp>
        <p:nvSpPr>
          <p:cNvPr id="31" name="Q2Ans">
            <a:extLst>
              <a:ext uri="{FF2B5EF4-FFF2-40B4-BE49-F238E27FC236}">
                <a16:creationId xmlns:a16="http://schemas.microsoft.com/office/drawing/2014/main" id="{7D523BC6-F6CA-404D-B0D5-1836378618B3}"/>
              </a:ext>
            </a:extLst>
          </p:cNvPr>
          <p:cNvSpPr/>
          <p:nvPr/>
        </p:nvSpPr>
        <p:spPr>
          <a:xfrm>
            <a:off x="4775200" y="3441700"/>
            <a:ext cx="4191000" cy="1016000"/>
          </a:xfrm>
          <a:prstGeom prst="rect">
            <a:avLst/>
          </a:prstGeom>
          <a:solidFill>
            <a:srgbClr val="EAF4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2E3640"/>
                </a:solidFill>
                <a:latin typeface="Open Sans"/>
              </a:rPr>
              <a:t>The intercept is always the mean outcome at the reference. The other coefficients flip sign and now read as </a:t>
            </a:r>
            <a:r>
              <a:rPr lang="en-US" sz="1100" b="1" dirty="0">
                <a:solidFill>
                  <a:srgbClr val="2E3640"/>
                </a:solidFill>
                <a:latin typeface="Open Sans"/>
              </a:rPr>
              <a:t>placebo / lower-dose pain relative to 800mg</a:t>
            </a:r>
            <a:r>
              <a:rPr lang="en-US" sz="1100" dirty="0">
                <a:solidFill>
                  <a:srgbClr val="2E3640"/>
                </a:solidFill>
                <a:latin typeface="Open Sans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3D204-AC76-ABE6-506D-43CCDEE2DA82}"/>
              </a:ext>
            </a:extLst>
          </p:cNvPr>
          <p:cNvSpPr/>
          <p:nvPr/>
        </p:nvSpPr>
        <p:spPr>
          <a:xfrm flipV="1">
            <a:off x="312310" y="434340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B80568-2D0B-21C9-7B17-837CF8D2F944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6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8FDC-2AAF-15DF-3B68-13621CF6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129DC8-7E68-0CED-7CAF-39F975DF4175}"/>
              </a:ext>
            </a:extLst>
          </p:cNvPr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F4C84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1560FB-9DA0-F4E0-B1AA-7362C64C6167}"/>
              </a:ext>
            </a:extLst>
          </p:cNvPr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D3295F-7557-B80B-727F-09F0BB7ED70D}"/>
              </a:ext>
            </a:extLst>
          </p:cNvPr>
          <p:cNvSpPr txBox="1"/>
          <p:nvPr/>
        </p:nvSpPr>
        <p:spPr>
          <a:xfrm>
            <a:off x="406400" y="292100"/>
            <a:ext cx="83185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2000" b="1" dirty="0">
                <a:solidFill>
                  <a:srgbClr val="1F5061"/>
                </a:solidFill>
                <a:latin typeface="Calibri"/>
                <a:cs typeface="Calibri"/>
              </a:rPr>
              <a:t>Learning Objectives  | SLR with </a:t>
            </a:r>
            <a:r>
              <a:rPr lang="en-US" sz="2000" b="1" dirty="0">
                <a:solidFill>
                  <a:srgbClr val="1F5061"/>
                </a:solidFill>
                <a:cs typeface="Calibri"/>
              </a:rPr>
              <a:t>Polytomous Categorical </a:t>
            </a:r>
            <a:r>
              <a:rPr lang="en-US" sz="2000" b="1" dirty="0">
                <a:solidFill>
                  <a:srgbClr val="1F5061"/>
                </a:solidFill>
                <a:latin typeface="Calibri"/>
                <a:cs typeface="Calibri"/>
              </a:rPr>
              <a:t>Predictors (k &gt; 2)</a:t>
            </a:r>
          </a:p>
        </p:txBody>
      </p:sp>
      <p:sp>
        <p:nvSpPr>
          <p:cNvPr id="100" name="Oval 1">
            <a:extLst>
              <a:ext uri="{FF2B5EF4-FFF2-40B4-BE49-F238E27FC236}">
                <a16:creationId xmlns:a16="http://schemas.microsoft.com/office/drawing/2014/main" id="{8D6B7E4B-DA0F-4C97-A268-B661F52BF665}"/>
              </a:ext>
            </a:extLst>
          </p:cNvPr>
          <p:cNvSpPr/>
          <p:nvPr/>
        </p:nvSpPr>
        <p:spPr>
          <a:xfrm>
            <a:off x="508000" y="1079500"/>
            <a:ext cx="368300" cy="368300"/>
          </a:xfrm>
          <a:prstGeom prst="ellipse">
            <a:avLst/>
          </a:prstGeom>
          <a:solidFill>
            <a:srgbClr val="1F5061"/>
          </a:solidFill>
          <a:ln w="12700">
            <a:noFill/>
          </a:ln>
        </p:spPr>
        <p:txBody>
          <a:bodyPr vertOverflow="clip" horzOverflow="clip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1" name="ObjTitle 1">
            <a:extLst>
              <a:ext uri="{FF2B5EF4-FFF2-40B4-BE49-F238E27FC236}">
                <a16:creationId xmlns:a16="http://schemas.microsoft.com/office/drawing/2014/main" id="{ABD5E2FC-AA12-C1D4-6536-7BC7BCDE446A}"/>
              </a:ext>
            </a:extLst>
          </p:cNvPr>
          <p:cNvSpPr txBox="1"/>
          <p:nvPr/>
        </p:nvSpPr>
        <p:spPr>
          <a:xfrm>
            <a:off x="1003300" y="1066800"/>
            <a:ext cx="7810500" cy="292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C3E50"/>
                </a:solidFill>
                <a:latin typeface="Calibri"/>
              </a:rPr>
              <a:t>Extend regression from binary to k-level categorical predictors</a:t>
            </a:r>
          </a:p>
        </p:txBody>
      </p:sp>
      <p:sp>
        <p:nvSpPr>
          <p:cNvPr id="103" name="Oval 2">
            <a:extLst>
              <a:ext uri="{FF2B5EF4-FFF2-40B4-BE49-F238E27FC236}">
                <a16:creationId xmlns:a16="http://schemas.microsoft.com/office/drawing/2014/main" id="{960A78B0-B50B-DC88-89BD-02B55E0E7D93}"/>
              </a:ext>
            </a:extLst>
          </p:cNvPr>
          <p:cNvSpPr/>
          <p:nvPr/>
        </p:nvSpPr>
        <p:spPr>
          <a:xfrm>
            <a:off x="508000" y="1968500"/>
            <a:ext cx="368300" cy="368300"/>
          </a:xfrm>
          <a:prstGeom prst="ellipse">
            <a:avLst/>
          </a:prstGeom>
          <a:solidFill>
            <a:srgbClr val="1F5061"/>
          </a:solidFill>
          <a:ln w="12700">
            <a:noFill/>
          </a:ln>
        </p:spPr>
        <p:txBody>
          <a:bodyPr vertOverflow="clip" horzOverflow="clip" wrap="none" rtlCol="0" anchor="ctr" anchorCtr="1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4" name="ObjTitle 2">
            <a:extLst>
              <a:ext uri="{FF2B5EF4-FFF2-40B4-BE49-F238E27FC236}">
                <a16:creationId xmlns:a16="http://schemas.microsoft.com/office/drawing/2014/main" id="{0A20B9FA-4DC7-8C83-A580-CD21A4308AD8}"/>
              </a:ext>
            </a:extLst>
          </p:cNvPr>
          <p:cNvSpPr txBox="1"/>
          <p:nvPr/>
        </p:nvSpPr>
        <p:spPr>
          <a:xfrm>
            <a:off x="1003300" y="1955800"/>
            <a:ext cx="7810500" cy="292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C3E50"/>
                </a:solidFill>
                <a:latin typeface="Calibri"/>
              </a:rPr>
              <a:t>Interpret the intercept and each dummy coefficient as group means and contrasts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EA232-6593-1CF8-C147-DC1A2963B263}"/>
              </a:ext>
            </a:extLst>
          </p:cNvPr>
          <p:cNvSpPr/>
          <p:nvPr/>
        </p:nvSpPr>
        <p:spPr>
          <a:xfrm>
            <a:off x="508000" y="767080"/>
            <a:ext cx="419100" cy="45719"/>
          </a:xfrm>
          <a:prstGeom prst="rect">
            <a:avLst/>
          </a:prstGeom>
          <a:solidFill>
            <a:srgbClr val="1F50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3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83B3C4-E356-C94D-A21E-56BE1DA6E2C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7b1e8f7-d9c9-4258-8872-f771d64c22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8221</TotalTime>
  <Words>1753</Words>
  <Application>Microsoft Macintosh PowerPoint</Application>
  <PresentationFormat>On-screen Show (16:9)</PresentationFormat>
  <Paragraphs>210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Predictor Regression</dc:title>
  <dc:subject>PptxGenJS Presentation</dc:subject>
  <dc:creator>Statistics Lecture</dc:creator>
  <cp:lastModifiedBy>Kenechukwu Nwosu</cp:lastModifiedBy>
  <cp:revision>170</cp:revision>
  <cp:lastPrinted>2026-05-06T14:27:50Z</cp:lastPrinted>
  <dcterms:created xsi:type="dcterms:W3CDTF">2026-05-02T09:25:04Z</dcterms:created>
  <dcterms:modified xsi:type="dcterms:W3CDTF">2026-06-27T11:44:01Z</dcterms:modified>
</cp:coreProperties>
</file>