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5"/>
  </p:notesMasterIdLst>
  <p:sldIdLst>
    <p:sldId id="256" r:id="rId3"/>
    <p:sldId id="257" r:id="rId4"/>
    <p:sldId id="821" r:id="rId5"/>
    <p:sldId id="867" r:id="rId6"/>
    <p:sldId id="841" r:id="rId7"/>
    <p:sldId id="831" r:id="rId8"/>
    <p:sldId id="868" r:id="rId9"/>
    <p:sldId id="878" r:id="rId10"/>
    <p:sldId id="870" r:id="rId11"/>
    <p:sldId id="871" r:id="rId12"/>
    <p:sldId id="889" r:id="rId13"/>
    <p:sldId id="890" r:id="rId14"/>
    <p:sldId id="844" r:id="rId15"/>
    <p:sldId id="836" r:id="rId16"/>
    <p:sldId id="892" r:id="rId17"/>
    <p:sldId id="848" r:id="rId18"/>
    <p:sldId id="865" r:id="rId19"/>
    <p:sldId id="894" r:id="rId20"/>
    <p:sldId id="852" r:id="rId21"/>
    <p:sldId id="853" r:id="rId22"/>
    <p:sldId id="857" r:id="rId23"/>
    <p:sldId id="81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3419"/>
    <a:srgbClr val="DFA02B"/>
    <a:srgbClr val="388792"/>
    <a:srgbClr val="DFA019"/>
    <a:srgbClr val="2B6CB0"/>
    <a:srgbClr val="F2F4FF"/>
    <a:srgbClr val="EAF5F4"/>
    <a:srgbClr val="2D6B75"/>
    <a:srgbClr val="EBF5F4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82"/>
    <p:restoredTop sz="94610"/>
  </p:normalViewPr>
  <p:slideViewPr>
    <p:cSldViewPr snapToGrid="0" snapToObjects="1">
      <p:cViewPr>
        <p:scale>
          <a:sx n="165" d="100"/>
          <a:sy n="165" d="100"/>
        </p:scale>
        <p:origin x="34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 rot="0" spcFirstLastPara="1" vertOverflow="ellipsis" wrap="square" anchor="ctr" anchorCtr="1"/>
          <a:lstStyle/>
          <a:p>
            <a:pPr>
              <a:defRPr sz="1100" b="1">
                <a:solidFill>
                  <a:srgbClr val="0F4C5C"/>
                </a:solidFill>
                <a:latin typeface="Calibri"/>
              </a:defRPr>
            </a:pPr>
            <a:r>
              <a:rPr lang="en-US" sz="1100" b="1">
                <a:solidFill>
                  <a:srgbClr val="0F4C5C"/>
                </a:solidFill>
                <a:latin typeface="Calibri"/>
              </a:rPr>
              <a:t>Mean Birth Weight by Sex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weight_kg</c:v>
          </c:tx>
          <c:spPr>
            <a:solidFill>
              <a:srgbClr val="0F4C5C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FB8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B79-954C-BE0E-15EB594C3C0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B79-954C-BE0E-15EB594C3C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0F4C5C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female</c:v>
              </c:pt>
              <c:pt idx="1">
                <c:v>male</c:v>
              </c:pt>
            </c:strLit>
          </c:cat>
          <c:val>
            <c:numLit>
              <c:formatCode>0.000</c:formatCode>
              <c:ptCount val="2"/>
              <c:pt idx="0">
                <c:v>3.1829999999999998</c:v>
              </c:pt>
              <c:pt idx="1">
                <c:v>3.3450000000000002</c:v>
              </c:pt>
            </c:numLit>
          </c:val>
          <c:extLst>
            <c:ext xmlns:c16="http://schemas.microsoft.com/office/drawing/2014/chart" uri="{C3380CC4-5D6E-409C-BE32-E72D297353CC}">
              <c16:uniqueId val="{00000004-AB79-954C-BE0E-15EB594C3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  <c:max val="3.6"/>
          <c:min val="2.8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000" b="1">
                    <a:solidFill>
                      <a:srgbClr val="0F4C5C"/>
                    </a:solidFill>
                    <a:latin typeface="Calibri"/>
                  </a:defRPr>
                </a:pPr>
                <a:r>
                  <a:rPr lang="en-US" sz="1000" b="1">
                    <a:solidFill>
                      <a:srgbClr val="0F4C5C"/>
                    </a:solidFill>
                    <a:latin typeface="Calibri"/>
                  </a:rPr>
                  <a:t>Birth Weight (kg)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22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CAAB-7369-081C-E2B3-18208692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F3303-2F33-C137-44A7-A40107A9C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E82EC-675C-CF3E-6A3F-364F849D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D5AE3-237D-2CAE-59B4-1DB460F3D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71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59BC-8215-427B-B47A-E399B2513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4EBE8-3FC2-B2B9-3A38-66C42371E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D005F-3734-22C8-B63E-D4E49BE12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1F973-C946-469D-75CE-FB65438376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8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7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416D-EA27-EB75-1A84-62FC6A2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85F-9BEC-A34F-AF2B-6669FE487175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CFE0-00CC-17E9-4240-9E4B81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5D9-A698-6E64-0523-0981FAF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DAEE-CEDC-7047-B537-2C59D3396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5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31DC-DC9B-DE8D-8BD7-B5E190D6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85DB-ACDB-F342-8778-050936A6C0DA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739A-5894-BA89-9B3E-6D8D89B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4E3-73C3-2FA9-DC2A-9C2A822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F61A6-4CCF-1C48-81EC-84F4E5F8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0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CBC-D88B-A4B8-7803-7C3758D4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9AC7-90A6-084B-B505-E329BE10E829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E4A9-0BD1-5E3B-DE4C-803B67A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2687-9D53-801B-CCAC-C41F743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C9793-7BBD-D943-BF38-F03B08E54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7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96DE14-28B4-55CD-0E59-1B359F03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9276-9F7E-F947-9A13-792B95FEFF0E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12C61B-FE6B-F0F4-0ADB-39F34A1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65E95C-4274-EA0B-A963-4C92444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72CA-1F3C-2D49-BD61-18CA98FF9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1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582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BF54-EDDB-2C0B-2F59-986D98B0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1DA9F-3695-2A44-8A09-2AB8451D4B6A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20169A-5EB1-5F93-A6AE-25CBD0B2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5D4528-7C37-4AF6-2144-173F6977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4180E-A06E-8541-8933-BF1FA145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94" y="209551"/>
            <a:ext cx="7886700" cy="52469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6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DCD49-8F8A-C8A9-50CA-F7FC1D7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8F7E-5EBB-7B40-B841-B9B4D90D3D57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2EEAAF-A44A-EDCF-3D90-0CA42E6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809F78-9F87-109E-8A5B-95E56F58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B3F76-9E2F-EE41-A455-F7FC7FF3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8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D1080B-289F-42F6-EA74-49D670F6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4A26-FF98-9F42-959C-383CB611B028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9EFB68-B8A7-E345-6FA6-1A1098A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5BFE-7A07-3FC2-CE29-0573B3D9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E94FF-211D-5B44-AB51-BB6D2E6C0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34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D00C-737A-4398-C682-C36B6253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2FFAA-6770-5649-9140-B2070A3E0683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1956-6FF0-1AAC-FF00-915ADB86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BED4-FCB8-D810-DDE9-C56264EE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5D737-EE59-5946-A4D1-F0002A6AC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76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892E-5168-CBE2-E397-2A719C6E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0E83E-54A3-FC45-A9C1-992A5B6A3004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65E0-4FD2-CEEB-2AD2-716AA1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7FD2-5936-91F6-6101-0EE3616C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5CD9-0897-6E40-9BB4-9F4F707DC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7AC141-0404-B33E-A5AE-BB5A2858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33336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98F9549-4836-01BC-E8AA-0B577C8B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5968-90D6-C721-1D9A-72BF44ECA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BAFFA7-C29B-5E43-BA99-0E224199AC81}" type="datetimeFigureOut">
              <a:rPr lang="en-US"/>
              <a:pPr>
                <a:defRPr/>
              </a:pPr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C8CB-7E4F-E7E2-5E23-A04827763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814F-6D12-BC18-9C46-08F7BBE2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6890FD-EFBE-1F4E-952F-28195696B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opBar">
            <a:extLst>
              <a:ext uri="{FF2B5EF4-FFF2-40B4-BE49-F238E27FC236}">
                <a16:creationId xmlns:a16="http://schemas.microsoft.com/office/drawing/2014/main" id="{AB5504C7-D7BC-EFA6-7415-C5898E88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2394"/>
          </a:xfrm>
          <a:prstGeom prst="rect">
            <a:avLst/>
          </a:prstGeom>
          <a:solidFill>
            <a:srgbClr val="F8D3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 sz="1350"/>
          </a:p>
        </p:txBody>
      </p:sp>
      <p:sp>
        <p:nvSpPr>
          <p:cNvPr id="1032" name="BottomBar">
            <a:extLst>
              <a:ext uri="{FF2B5EF4-FFF2-40B4-BE49-F238E27FC236}">
                <a16:creationId xmlns:a16="http://schemas.microsoft.com/office/drawing/2014/main" id="{27003A8C-AC43-824E-F89B-80D853F6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41106"/>
            <a:ext cx="9144000" cy="102394"/>
          </a:xfrm>
          <a:prstGeom prst="rect">
            <a:avLst/>
          </a:prstGeom>
          <a:solidFill>
            <a:srgbClr val="2E6B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 sz="1350"/>
          </a:p>
        </p:txBody>
      </p:sp>
    </p:spTree>
    <p:extLst>
      <p:ext uri="{BB962C8B-B14F-4D97-AF65-F5344CB8AC3E}">
        <p14:creationId xmlns:p14="http://schemas.microsoft.com/office/powerpoint/2010/main" val="318910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rgbClr val="2E6B75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rgbClr val="2E6B75"/>
          </a:solidFill>
          <a:latin typeface="Montserrat" pitchFamily="2" charset="77"/>
        </a:defRPr>
      </a:lvl9pPr>
    </p:titleStyle>
    <p:bodyStyle>
      <a:lvl1pPr marL="171450" indent="-171450" algn="l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rgbClr val="2E3640"/>
          </a:solidFill>
          <a:latin typeface="+mn-lt"/>
          <a:ea typeface="+mn-ea"/>
          <a:cs typeface="+mn-cs"/>
        </a:defRPr>
      </a:lvl1pPr>
      <a:lvl2pPr marL="5143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 |  Binary Predictor Regression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7025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simple linear regression to a binary predictor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46461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intercept and slope as group means and a difference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05897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 and 95% CI for the group difference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5333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 value as a standardized distance from zero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24769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 into a p-value via tail area</a:t>
            </a:r>
            <a:endParaRPr lang="en-US" sz="1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69B04061-76D6-1019-31B4-84770F2FAF7D}"/>
              </a:ext>
            </a:extLst>
          </p:cNvPr>
          <p:cNvSpPr/>
          <p:nvPr/>
        </p:nvSpPr>
        <p:spPr>
          <a:xfrm>
            <a:off x="1005840" y="1097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A 0/1 encoded x variable still fits inside the same y = b₀ + </a:t>
            </a:r>
            <a:r>
              <a:rPr lang="en-US" sz="1400" dirty="0" err="1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b₁x</a:t>
            </a:r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 model framework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4E871A7-CBAF-A4C7-9CDD-65BB333A8256}"/>
              </a:ext>
            </a:extLst>
          </p:cNvPr>
          <p:cNvSpPr/>
          <p:nvPr/>
        </p:nvSpPr>
        <p:spPr>
          <a:xfrm>
            <a:off x="1005840" y="1691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b₀ = reference group mean, b₁ = difference between the two group means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5D5B2031-A90E-7594-4446-12F14055C7A3}"/>
              </a:ext>
            </a:extLst>
          </p:cNvPr>
          <p:cNvSpPr/>
          <p:nvPr/>
        </p:nvSpPr>
        <p:spPr>
          <a:xfrm>
            <a:off x="1005840" y="2286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Same logic as before: the CI is a plausible range for the population difference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615F0DF5-75DD-DECE-938A-A4CFA0EAB90D}"/>
              </a:ext>
            </a:extLst>
          </p:cNvPr>
          <p:cNvSpPr/>
          <p:nvPr/>
        </p:nvSpPr>
        <p:spPr>
          <a:xfrm>
            <a:off x="1005840" y="2880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estimate / SE asks: how many SEs is the estimate away from no effect?</a:t>
            </a:r>
            <a:endParaRPr lang="en-US" sz="14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49F08B2B-CF9E-C7EB-56E5-0976D8E73F6F}"/>
              </a:ext>
            </a:extLst>
          </p:cNvPr>
          <p:cNvSpPr/>
          <p:nvPr/>
        </p:nvSpPr>
        <p:spPr>
          <a:xfrm>
            <a:off x="1005840" y="34747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|t| pushes further into the tail and gives a smaller p-value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74171" y="5015484"/>
            <a:ext cx="9144000" cy="128016"/>
          </a:xfrm>
          <a:prstGeom prst="rect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65470" y="224408"/>
            <a:ext cx="8301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Revision: What is Regression?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1469" y="2051671"/>
            <a:ext cx="3483864" cy="2555084"/>
          </a:xfrm>
          <a:prstGeom prst="roundRect">
            <a:avLst>
              <a:gd name="adj" fmla="val 1975"/>
            </a:avLst>
          </a:prstGeom>
          <a:solidFill>
            <a:srgbClr val="EAF4F6"/>
          </a:solidFill>
          <a:ln w="12700">
            <a:solidFill>
              <a:srgbClr val="A8C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9798" y="2124171"/>
            <a:ext cx="24843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061"/>
                </a:solidFill>
              </a:rPr>
              <a:t>BEFORE: continuous predictor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372" y="2039035"/>
            <a:ext cx="3582115" cy="2567719"/>
          </a:xfrm>
          <a:prstGeom prst="roundRect">
            <a:avLst>
              <a:gd name="adj" fmla="val 1975"/>
            </a:avLst>
          </a:prstGeom>
          <a:solidFill>
            <a:srgbClr val="FCF3DC"/>
          </a:solidFill>
          <a:ln w="1905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84166" y="2118618"/>
            <a:ext cx="20134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061"/>
                </a:solidFill>
              </a:rPr>
              <a:t>NOW: binary predictor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50941" y="4042967"/>
            <a:ext cx="1956816" cy="18287"/>
          </a:xfrm>
          <a:prstGeom prst="line">
            <a:avLst/>
          </a:prstGeom>
          <a:noFill/>
          <a:ln w="12700">
            <a:solidFill>
              <a:srgbClr val="6B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50940" y="2146012"/>
            <a:ext cx="0" cy="1896955"/>
          </a:xfrm>
          <a:prstGeom prst="line">
            <a:avLst/>
          </a:prstGeom>
          <a:noFill/>
          <a:ln w="12700">
            <a:solidFill>
              <a:srgbClr val="6B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25260" y="324402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834988" y="338118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80124" y="3500060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71564" y="328974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06972" y="342690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53276" y="3170876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798412" y="365550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43548" y="333546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834988" y="379266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725260" y="3079436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871564" y="356406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98412" y="324402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731100" y="3134300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840828" y="324402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785964" y="338118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877404" y="306114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694524" y="3317180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859116" y="2987996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04252" y="342690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749388" y="319830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840828" y="3564068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694524" y="2933132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877404" y="3353756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822540" y="3116012"/>
            <a:ext cx="54864" cy="54864"/>
          </a:xfrm>
          <a:prstGeom prst="ellipse">
            <a:avLst/>
          </a:prstGeom>
          <a:solidFill>
            <a:srgbClr val="1F506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V="1">
            <a:off x="5816700" y="3152588"/>
            <a:ext cx="1033264" cy="22860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761836" y="332632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813396" y="309772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450940" y="408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</a:rPr>
              <a:t>Female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548220" y="408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</a:rPr>
              <a:t>Male</a:t>
            </a:r>
            <a:endParaRPr lang="en-US" sz="1200" dirty="0"/>
          </a:p>
        </p:txBody>
      </p:sp>
      <p:sp>
        <p:nvSpPr>
          <p:cNvPr id="78" name="YLabel">
            <a:extLst>
              <a:ext uri="{FF2B5EF4-FFF2-40B4-BE49-F238E27FC236}">
                <a16:creationId xmlns:a16="http://schemas.microsoft.com/office/drawing/2014/main" id="{CE1C9D59-E68E-E92A-3010-997D67697024}"/>
              </a:ext>
            </a:extLst>
          </p:cNvPr>
          <p:cNvSpPr/>
          <p:nvPr/>
        </p:nvSpPr>
        <p:spPr>
          <a:xfrm rot="16200000">
            <a:off x="4647323" y="2829628"/>
            <a:ext cx="1241476" cy="16570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050" dirty="0">
                <a:solidFill>
                  <a:srgbClr val="2E3640"/>
                </a:solidFill>
                <a:latin typeface="Open Sans"/>
              </a:rPr>
              <a:t>Birth Weight 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273DB4-CB70-2CCD-B303-7FA919F90576}"/>
              </a:ext>
            </a:extLst>
          </p:cNvPr>
          <p:cNvGrpSpPr/>
          <p:nvPr/>
        </p:nvGrpSpPr>
        <p:grpSpPr>
          <a:xfrm>
            <a:off x="822300" y="2398494"/>
            <a:ext cx="2755549" cy="1683005"/>
            <a:chOff x="995977" y="2476500"/>
            <a:chExt cx="4344621" cy="224155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EA8552A-91BE-6A81-2181-7B067A6C271A}"/>
                </a:ext>
              </a:extLst>
            </p:cNvPr>
            <p:cNvSpPr/>
            <p:nvPr/>
          </p:nvSpPr>
          <p:spPr>
            <a:xfrm>
              <a:off x="1016000" y="4699000"/>
              <a:ext cx="4064000" cy="19050"/>
            </a:xfrm>
            <a:prstGeom prst="rect">
              <a:avLst/>
            </a:prstGeom>
            <a:solidFill>
              <a:srgbClr val="2E364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81CA9BD-5670-9A1F-93A0-98F4888457D9}"/>
                </a:ext>
              </a:extLst>
            </p:cNvPr>
            <p:cNvSpPr/>
            <p:nvPr/>
          </p:nvSpPr>
          <p:spPr>
            <a:xfrm>
              <a:off x="1016000" y="2476500"/>
              <a:ext cx="19050" cy="2222500"/>
            </a:xfrm>
            <a:prstGeom prst="rect">
              <a:avLst/>
            </a:prstGeom>
            <a:solidFill>
              <a:srgbClr val="2E364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FE7B385-0D82-B019-D153-02371F4AE733}"/>
                </a:ext>
              </a:extLst>
            </p:cNvPr>
            <p:cNvSpPr/>
            <p:nvPr/>
          </p:nvSpPr>
          <p:spPr>
            <a:xfrm>
              <a:off x="3875422" y="2802701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6FF8B4F-766A-346D-695D-BF4736DF0850}"/>
                </a:ext>
              </a:extLst>
            </p:cNvPr>
            <p:cNvSpPr/>
            <p:nvPr/>
          </p:nvSpPr>
          <p:spPr>
            <a:xfrm>
              <a:off x="3357742" y="3430058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6BB7D22-68B2-A602-BCE1-CEE43C83F864}"/>
                </a:ext>
              </a:extLst>
            </p:cNvPr>
            <p:cNvSpPr/>
            <p:nvPr/>
          </p:nvSpPr>
          <p:spPr>
            <a:xfrm>
              <a:off x="4560423" y="2557092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2E55DA3-AD5D-C5DE-F6DF-D5A68BB4BE6A}"/>
                </a:ext>
              </a:extLst>
            </p:cNvPr>
            <p:cNvSpPr/>
            <p:nvPr/>
          </p:nvSpPr>
          <p:spPr>
            <a:xfrm>
              <a:off x="2969390" y="323209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54E02EE-11AA-BCBE-7FBD-90C7087DDB39}"/>
                </a:ext>
              </a:extLst>
            </p:cNvPr>
            <p:cNvSpPr/>
            <p:nvPr/>
          </p:nvSpPr>
          <p:spPr>
            <a:xfrm>
              <a:off x="3677545" y="3036258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B3129987-DF76-9231-6B25-01AAACA90C07}"/>
                </a:ext>
              </a:extLst>
            </p:cNvPr>
            <p:cNvSpPr/>
            <p:nvPr/>
          </p:nvSpPr>
          <p:spPr>
            <a:xfrm>
              <a:off x="1849996" y="373871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68967AE-9C55-862A-534E-1BDDE871D72A}"/>
                </a:ext>
              </a:extLst>
            </p:cNvPr>
            <p:cNvSpPr/>
            <p:nvPr/>
          </p:nvSpPr>
          <p:spPr>
            <a:xfrm>
              <a:off x="2017059" y="4010861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3DCC766-6F37-E982-FCAB-ACB870C8DBA1}"/>
                </a:ext>
              </a:extLst>
            </p:cNvPr>
            <p:cNvSpPr/>
            <p:nvPr/>
          </p:nvSpPr>
          <p:spPr>
            <a:xfrm>
              <a:off x="2012545" y="3861094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47D70A7-9C7C-AE5B-40FF-06D0D3426EA1}"/>
                </a:ext>
              </a:extLst>
            </p:cNvPr>
            <p:cNvSpPr/>
            <p:nvPr/>
          </p:nvSpPr>
          <p:spPr>
            <a:xfrm>
              <a:off x="3622253" y="303267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0C53392-E014-7CDA-152C-56BF3A671309}"/>
                </a:ext>
              </a:extLst>
            </p:cNvPr>
            <p:cNvSpPr/>
            <p:nvPr/>
          </p:nvSpPr>
          <p:spPr>
            <a:xfrm>
              <a:off x="2048792" y="3850637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9FBB792-CAE0-3E07-5E80-E318F8531848}"/>
                </a:ext>
              </a:extLst>
            </p:cNvPr>
            <p:cNvSpPr/>
            <p:nvPr/>
          </p:nvSpPr>
          <p:spPr>
            <a:xfrm>
              <a:off x="3211708" y="345619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559B9ED-B903-0B3B-CB30-0EC19445D73F}"/>
                </a:ext>
              </a:extLst>
            </p:cNvPr>
            <p:cNvSpPr/>
            <p:nvPr/>
          </p:nvSpPr>
          <p:spPr>
            <a:xfrm>
              <a:off x="4179051" y="2748096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156E8CB-6AA0-8ACC-55CC-B6A66B94F9EF}"/>
                </a:ext>
              </a:extLst>
            </p:cNvPr>
            <p:cNvSpPr/>
            <p:nvPr/>
          </p:nvSpPr>
          <p:spPr>
            <a:xfrm>
              <a:off x="1981405" y="3803677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6E9945F-A3EC-5025-AF92-FFE543E67EC7}"/>
                </a:ext>
              </a:extLst>
            </p:cNvPr>
            <p:cNvSpPr/>
            <p:nvPr/>
          </p:nvSpPr>
          <p:spPr>
            <a:xfrm>
              <a:off x="2369530" y="3793824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9F535A7-8B5F-D22B-98D4-E04BF1E03427}"/>
                </a:ext>
              </a:extLst>
            </p:cNvPr>
            <p:cNvSpPr/>
            <p:nvPr/>
          </p:nvSpPr>
          <p:spPr>
            <a:xfrm>
              <a:off x="4776858" y="2824474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C06A1D0-A54D-2767-7E41-6FDCD1CC96E4}"/>
                </a:ext>
              </a:extLst>
            </p:cNvPr>
            <p:cNvSpPr/>
            <p:nvPr/>
          </p:nvSpPr>
          <p:spPr>
            <a:xfrm>
              <a:off x="3327396" y="3089637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B729647-4295-9990-4B18-50A0FA13E9B1}"/>
                </a:ext>
              </a:extLst>
            </p:cNvPr>
            <p:cNvSpPr/>
            <p:nvPr/>
          </p:nvSpPr>
          <p:spPr>
            <a:xfrm>
              <a:off x="1725944" y="3681033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BC9A9BD-14CC-1A0B-67CB-23B005018121}"/>
                </a:ext>
              </a:extLst>
            </p:cNvPr>
            <p:cNvSpPr/>
            <p:nvPr/>
          </p:nvSpPr>
          <p:spPr>
            <a:xfrm>
              <a:off x="1445126" y="4145482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9A07B9E-A357-AC11-BCC3-08572D250A76}"/>
                </a:ext>
              </a:extLst>
            </p:cNvPr>
            <p:cNvSpPr/>
            <p:nvPr/>
          </p:nvSpPr>
          <p:spPr>
            <a:xfrm>
              <a:off x="2212532" y="3740762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6E35E92-EBBF-D1C5-FF6A-ABF951B47971}"/>
                </a:ext>
              </a:extLst>
            </p:cNvPr>
            <p:cNvSpPr/>
            <p:nvPr/>
          </p:nvSpPr>
          <p:spPr>
            <a:xfrm>
              <a:off x="1999140" y="3646453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7E17BAB-EA35-DA6A-30BB-D6C5582ECCF5}"/>
                </a:ext>
              </a:extLst>
            </p:cNvPr>
            <p:cNvSpPr/>
            <p:nvPr/>
          </p:nvSpPr>
          <p:spPr>
            <a:xfrm>
              <a:off x="3890888" y="331064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C930945-1159-F963-8E10-45BCFD9DA7A1}"/>
                </a:ext>
              </a:extLst>
            </p:cNvPr>
            <p:cNvSpPr/>
            <p:nvPr/>
          </p:nvSpPr>
          <p:spPr>
            <a:xfrm>
              <a:off x="3697454" y="312358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C2B3D8D-0D90-35E6-9E26-458E50D335BB}"/>
                </a:ext>
              </a:extLst>
            </p:cNvPr>
            <p:cNvSpPr/>
            <p:nvPr/>
          </p:nvSpPr>
          <p:spPr>
            <a:xfrm>
              <a:off x="4567620" y="3006203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C7D78B5-F839-F6DE-24CA-166F8F9C8C36}"/>
                </a:ext>
              </a:extLst>
            </p:cNvPr>
            <p:cNvSpPr/>
            <p:nvPr/>
          </p:nvSpPr>
          <p:spPr>
            <a:xfrm>
              <a:off x="3008343" y="3161066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7AA3FD4-39BB-7DB0-1070-9F09A67659A3}"/>
                </a:ext>
              </a:extLst>
            </p:cNvPr>
            <p:cNvSpPr/>
            <p:nvPr/>
          </p:nvSpPr>
          <p:spPr>
            <a:xfrm>
              <a:off x="995977" y="411903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E609477-1FFC-564D-5C35-E0DA6F6500FB}"/>
                </a:ext>
              </a:extLst>
            </p:cNvPr>
            <p:cNvSpPr/>
            <p:nvPr/>
          </p:nvSpPr>
          <p:spPr>
            <a:xfrm>
              <a:off x="3113474" y="3122939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70F6943-E88F-C5D5-C93E-310432665D23}"/>
                </a:ext>
              </a:extLst>
            </p:cNvPr>
            <p:cNvSpPr/>
            <p:nvPr/>
          </p:nvSpPr>
          <p:spPr>
            <a:xfrm>
              <a:off x="4258390" y="2735550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9A56837C-51A7-DD48-DF98-3E3187477CB4}"/>
                </a:ext>
              </a:extLst>
            </p:cNvPr>
            <p:cNvSpPr/>
            <p:nvPr/>
          </p:nvSpPr>
          <p:spPr>
            <a:xfrm>
              <a:off x="5025285" y="2877310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CF1EC2C6-B1A1-AD25-3BF7-2789D17F1C36}"/>
                </a:ext>
              </a:extLst>
            </p:cNvPr>
            <p:cNvSpPr/>
            <p:nvPr/>
          </p:nvSpPr>
          <p:spPr>
            <a:xfrm>
              <a:off x="1228056" y="4190264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93335D5-6275-0DED-0B27-0B881045460B}"/>
                </a:ext>
              </a:extLst>
            </p:cNvPr>
            <p:cNvSpPr/>
            <p:nvPr/>
          </p:nvSpPr>
          <p:spPr>
            <a:xfrm>
              <a:off x="1818002" y="4080282"/>
              <a:ext cx="50800" cy="50800"/>
            </a:xfrm>
            <a:prstGeom prst="ellipse">
              <a:avLst/>
            </a:prstGeom>
            <a:solidFill>
              <a:srgbClr val="7A869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5C43A0C-EF71-6A3B-7BE7-D1AA9E6075D5}"/>
                </a:ext>
              </a:extLst>
            </p:cNvPr>
            <p:cNvSpPr/>
            <p:nvPr/>
          </p:nvSpPr>
          <p:spPr>
            <a:xfrm rot="20398139">
              <a:off x="1014927" y="3382298"/>
              <a:ext cx="4325671" cy="25400"/>
            </a:xfrm>
            <a:prstGeom prst="rect">
              <a:avLst/>
            </a:prstGeom>
            <a:solidFill>
              <a:srgbClr val="C5303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</p:grpSp>
      <p:sp>
        <p:nvSpPr>
          <p:cNvPr id="115" name="YLabel">
            <a:extLst>
              <a:ext uri="{FF2B5EF4-FFF2-40B4-BE49-F238E27FC236}">
                <a16:creationId xmlns:a16="http://schemas.microsoft.com/office/drawing/2014/main" id="{98E07A6C-8131-F871-D483-EB9C758F736D}"/>
              </a:ext>
            </a:extLst>
          </p:cNvPr>
          <p:cNvSpPr/>
          <p:nvPr/>
        </p:nvSpPr>
        <p:spPr>
          <a:xfrm rot="16200000">
            <a:off x="70816" y="3120893"/>
            <a:ext cx="1241476" cy="16570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050" dirty="0">
                <a:solidFill>
                  <a:srgbClr val="2E3640"/>
                </a:solidFill>
                <a:latin typeface="Open Sans"/>
              </a:rPr>
              <a:t>Birth Weight </a:t>
            </a: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137C9FEB-27E4-70B0-71E4-0E68F7A20C0E}"/>
              </a:ext>
            </a:extLst>
          </p:cNvPr>
          <p:cNvSpPr/>
          <p:nvPr/>
        </p:nvSpPr>
        <p:spPr>
          <a:xfrm>
            <a:off x="1626112" y="4212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</a:rPr>
              <a:t>Weeks of Gestation</a:t>
            </a:r>
            <a:endParaRPr lang="en-US" sz="1200" dirty="0"/>
          </a:p>
        </p:txBody>
      </p:sp>
      <p:sp>
        <p:nvSpPr>
          <p:cNvPr id="8" name="Text 39">
            <a:extLst>
              <a:ext uri="{FF2B5EF4-FFF2-40B4-BE49-F238E27FC236}">
                <a16:creationId xmlns:a16="http://schemas.microsoft.com/office/drawing/2014/main" id="{DE66CDD9-7D41-090E-92A6-0804D1EADFBA}"/>
              </a:ext>
            </a:extLst>
          </p:cNvPr>
          <p:cNvSpPr/>
          <p:nvPr/>
        </p:nvSpPr>
        <p:spPr>
          <a:xfrm>
            <a:off x="5469228" y="4271641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</a:rPr>
              <a:t>0</a:t>
            </a:r>
            <a:endParaRPr lang="en-US" sz="1200" dirty="0"/>
          </a:p>
        </p:txBody>
      </p:sp>
      <p:sp>
        <p:nvSpPr>
          <p:cNvPr id="9" name="Text 39">
            <a:extLst>
              <a:ext uri="{FF2B5EF4-FFF2-40B4-BE49-F238E27FC236}">
                <a16:creationId xmlns:a16="http://schemas.microsoft.com/office/drawing/2014/main" id="{56ECB287-CD8A-C2F6-B86E-EEB66DF905FD}"/>
              </a:ext>
            </a:extLst>
          </p:cNvPr>
          <p:cNvSpPr/>
          <p:nvPr/>
        </p:nvSpPr>
        <p:spPr>
          <a:xfrm>
            <a:off x="6529932" y="4274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A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B5DB8F-B0B4-80FE-113E-2F5C8F3FCFA2}"/>
              </a:ext>
            </a:extLst>
          </p:cNvPr>
          <p:cNvSpPr txBox="1"/>
          <p:nvPr/>
        </p:nvSpPr>
        <p:spPr>
          <a:xfrm>
            <a:off x="373313" y="571880"/>
            <a:ext cx="7810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Regression definition: </a:t>
            </a:r>
            <a:r>
              <a:rPr lang="en-US" sz="1600" dirty="0"/>
              <a:t>Finding </a:t>
            </a:r>
            <a:r>
              <a:rPr lang="en-GB" sz="1600" dirty="0"/>
              <a:t>the best fit line between a predictor and an outcome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A10AC5-3123-1573-B00F-584E9C05F32D}"/>
              </a:ext>
            </a:extLst>
          </p:cNvPr>
          <p:cNvSpPr txBox="1"/>
          <p:nvPr/>
        </p:nvSpPr>
        <p:spPr>
          <a:xfrm>
            <a:off x="388520" y="1204128"/>
            <a:ext cx="7315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Is there a relationship? </a:t>
            </a:r>
            <a:r>
              <a:rPr lang="en-US" sz="1600" dirty="0"/>
              <a:t>Is the slope significantly different from zero?</a:t>
            </a:r>
          </a:p>
          <a:p>
            <a:r>
              <a:rPr lang="en-US" sz="1600" b="1" dirty="0"/>
              <a:t>How big is it? </a:t>
            </a:r>
            <a:r>
              <a:rPr lang="en-US" sz="1600" dirty="0"/>
              <a:t>Quantify the effect size.</a:t>
            </a:r>
          </a:p>
          <a:p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What do we predict?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Estimate Y for a given X.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E08025-2E04-7CEB-A369-988A71AA04B3}"/>
              </a:ext>
            </a:extLst>
          </p:cNvPr>
          <p:cNvSpPr txBox="1"/>
          <p:nvPr/>
        </p:nvSpPr>
        <p:spPr>
          <a:xfrm>
            <a:off x="472844" y="1001876"/>
            <a:ext cx="364933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1100" b="1" dirty="0">
                <a:solidFill>
                  <a:srgbClr val="2E6B75"/>
                </a:solidFill>
                <a:latin typeface="Montserrat"/>
              </a:rPr>
              <a:t>Questions Answered by Regression</a:t>
            </a:r>
          </a:p>
          <a:p>
            <a:endParaRPr lang="en-GB" sz="1100" b="1" dirty="0">
              <a:solidFill>
                <a:srgbClr val="2E6B75"/>
              </a:solidFill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78" grpId="0"/>
      <p:bldP spid="115" grpId="0"/>
      <p:bldP spid="116" grpId="0" animBg="1"/>
      <p:bldP spid="8" grpId="0" animBg="1"/>
      <p:bldP spid="9" grpId="0" animBg="1"/>
      <p:bldP spid="12" grpId="0"/>
      <p:bldP spid="44" grpId="0" build="p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0" y="5102352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96333" y="516165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543221" y="527540"/>
            <a:ext cx="18105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dirty="0">
                <a:solidFill>
                  <a:srgbClr val="2E6B75"/>
                </a:solidFill>
                <a:latin typeface="Montserrat"/>
              </a:rPr>
              <a:t>LOAD + PREP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332" y="729745"/>
            <a:ext cx="4592757" cy="2684218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library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openintro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library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tidyverse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library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equatiomatic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births &lt;- births14 %&gt;%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mutate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weight * </a:t>
            </a:r>
            <a:r>
              <a:rPr lang="en-GB" sz="1100" b="1" dirty="0">
                <a:solidFill>
                  <a:srgbClr val="9C4D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0.45359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sex =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(sex, levels =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>
                <a:solidFill>
                  <a:srgbClr val="B865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"female"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100" b="1" dirty="0">
                <a:solidFill>
                  <a:srgbClr val="B865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"male"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)))</a:t>
            </a:r>
            <a:r>
              <a:rPr lang="en-GB" sz="105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%&gt;%</a:t>
            </a:r>
            <a:endParaRPr lang="en-GB" sz="1100" b="1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sex, weeks)</a:t>
            </a:r>
          </a:p>
          <a:p>
            <a:endParaRPr lang="en-GB" sz="1100" b="1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(births)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births %&gt;%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1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group_by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(sex) %&gt;%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summarise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 =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</a:p>
          <a:p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GB" sz="11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mean_kg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mean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lang="en-GB" sz="11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endParaRPr sz="11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1266" y="3425334"/>
            <a:ext cx="2197823" cy="1109722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sz="1100" b="0" dirty="0">
                <a:latin typeface="Consolas" panose="020B0609020204030204" pitchFamily="49" charset="0"/>
                <a:cs typeface="Consolas" panose="020B0609020204030204" pitchFamily="49" charset="0"/>
              </a:rPr>
              <a:t>sex        n </a:t>
            </a:r>
            <a:r>
              <a:rPr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mean_kg</a:t>
            </a:r>
            <a:endParaRPr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sz="1100" b="0" dirty="0">
                <a:latin typeface="Consolas" panose="020B0609020204030204" pitchFamily="49" charset="0"/>
                <a:cs typeface="Consolas" panose="020B0609020204030204" pitchFamily="49" charset="0"/>
              </a:rPr>
              <a:t>1 female   495    3.18</a:t>
            </a:r>
          </a:p>
          <a:p>
            <a:r>
              <a:rPr sz="1100" b="0" dirty="0">
                <a:latin typeface="Consolas" panose="020B0609020204030204" pitchFamily="49" charset="0"/>
                <a:cs typeface="Consolas" panose="020B0609020204030204" pitchFamily="49" charset="0"/>
              </a:rPr>
              <a:t>2 male     505    3.35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9037" y="258674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225925" y="270049"/>
            <a:ext cx="24963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dirty="0">
                <a:solidFill>
                  <a:srgbClr val="2E6B75"/>
                </a:solidFill>
                <a:latin typeface="Montserrat"/>
              </a:rPr>
              <a:t>PLOT WEIGHT_KG BY SEX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9037" y="506411"/>
            <a:ext cx="4080510" cy="51435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4979037" y="506411"/>
            <a:ext cx="4080510" cy="46166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ggplot</a:t>
            </a:r>
            <a:r>
              <a:rPr sz="12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(births, </a:t>
            </a:r>
            <a:r>
              <a:rPr sz="12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aes</a:t>
            </a:r>
            <a:r>
              <a:rPr sz="12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(sex, </a:t>
            </a:r>
            <a:r>
              <a:rPr sz="120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sz="12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+</a:t>
            </a:r>
          </a:p>
          <a:p>
            <a:r>
              <a:rPr sz="12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sz="12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geom_jitter</a:t>
            </a:r>
            <a:r>
              <a:rPr sz="12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(width = </a:t>
            </a:r>
            <a:r>
              <a:rPr sz="1200" b="1" dirty="0">
                <a:solidFill>
                  <a:srgbClr val="9C4D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0.15</a:t>
            </a:r>
            <a:r>
              <a:rPr sz="12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alpha = </a:t>
            </a:r>
            <a:r>
              <a:rPr sz="1200" b="1" dirty="0">
                <a:solidFill>
                  <a:srgbClr val="9C4D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0.25</a:t>
            </a:r>
            <a:r>
              <a:rPr sz="120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pic>
        <p:nvPicPr>
          <p:cNvPr id="17" name="Picture 16" descr="plot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37" y="1109915"/>
            <a:ext cx="4080510" cy="274320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3566CDC9-1AB3-412F-6A1C-1E16D1CC0A54}"/>
              </a:ext>
            </a:extLst>
          </p:cNvPr>
          <p:cNvSpPr/>
          <p:nvPr/>
        </p:nvSpPr>
        <p:spPr>
          <a:xfrm>
            <a:off x="296333" y="157721"/>
            <a:ext cx="563285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the dataset</a:t>
            </a:r>
            <a:endParaRPr lang="en-US" dirty="0"/>
          </a:p>
        </p:txBody>
      </p:sp>
      <p:sp>
        <p:nvSpPr>
          <p:cNvPr id="400" name="NextCard"/>
          <p:cNvSpPr/>
          <p:nvPr/>
        </p:nvSpPr>
        <p:spPr>
          <a:xfrm>
            <a:off x="5006343" y="3899511"/>
            <a:ext cx="4080510" cy="115749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2D6B75">
                <a:alpha val="3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1" name="NextTag"/>
          <p:cNvSpPr/>
          <p:nvPr/>
        </p:nvSpPr>
        <p:spPr>
          <a:xfrm>
            <a:off x="5006343" y="3717542"/>
            <a:ext cx="533400" cy="228600"/>
          </a:xfrm>
          <a:prstGeom prst="roundRect">
            <a:avLst>
              <a:gd name="adj" fmla="val 50000"/>
            </a:avLst>
          </a:prstGeom>
          <a:solidFill>
            <a:srgbClr val="1F5061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900" b="1" spc="100" dirty="0">
                <a:solidFill>
                  <a:srgbClr val="FFFFFF"/>
                </a:solidFill>
                <a:latin typeface="Montserrat"/>
              </a:rPr>
              <a:t>NEXT</a:t>
            </a:r>
          </a:p>
        </p:txBody>
      </p:sp>
      <p:sp>
        <p:nvSpPr>
          <p:cNvPr id="402" name="NextHead"/>
          <p:cNvSpPr txBox="1"/>
          <p:nvPr/>
        </p:nvSpPr>
        <p:spPr>
          <a:xfrm>
            <a:off x="5102478" y="3946142"/>
            <a:ext cx="3888240" cy="11108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E3640"/>
                </a:solidFill>
                <a:latin typeface="Calibri"/>
              </a:rPr>
              <a:t>We can easily calculate the gap….so why regression?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2E3640"/>
                </a:solidFill>
              </a:rPr>
              <a:t>Is the 0.162 kg gap </a:t>
            </a:r>
            <a:r>
              <a:rPr lang="en-US" sz="1200" b="1" dirty="0">
                <a:solidFill>
                  <a:srgbClr val="2E3640"/>
                </a:solidFill>
              </a:rPr>
              <a:t>real/significant</a:t>
            </a:r>
            <a:r>
              <a:rPr lang="en-US" sz="1200" dirty="0">
                <a:solidFill>
                  <a:srgbClr val="2E3640"/>
                </a:solidFill>
              </a:rPr>
              <a:t>, or just noise? </a:t>
            </a:r>
            <a:r>
              <a:rPr lang="en-US" sz="1200" b="1" dirty="0">
                <a:solidFill>
                  <a:srgbClr val="2E3640"/>
                </a:solidFill>
              </a:rPr>
              <a:t>(p-value)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2E3640"/>
                </a:solidFill>
              </a:rPr>
              <a:t>What range likely contains the true population difference? </a:t>
            </a:r>
            <a:r>
              <a:rPr lang="en-US" sz="1200" b="1" dirty="0">
                <a:solidFill>
                  <a:srgbClr val="2E3640"/>
                </a:solidFill>
              </a:rPr>
              <a:t>(confidence interval)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2E3640"/>
                </a:solidFill>
              </a:rPr>
              <a:t>Can we </a:t>
            </a:r>
            <a:r>
              <a:rPr lang="en-US" sz="1200" b="1" dirty="0">
                <a:solidFill>
                  <a:srgbClr val="2E3640"/>
                </a:solidFill>
              </a:rPr>
              <a:t>predict</a:t>
            </a:r>
            <a:r>
              <a:rPr lang="en-US" sz="1200" dirty="0">
                <a:solidFill>
                  <a:srgbClr val="2E3640"/>
                </a:solidFill>
              </a:rPr>
              <a:t> weight from sex and other factors? </a:t>
            </a:r>
            <a:r>
              <a:rPr lang="en-US" sz="1200" b="1" dirty="0">
                <a:solidFill>
                  <a:srgbClr val="2E3640"/>
                </a:solidFill>
              </a:rPr>
              <a:t>(multiple regression)</a:t>
            </a:r>
            <a:endParaRPr lang="en-US" sz="1200" b="1" dirty="0">
              <a:solidFill>
                <a:srgbClr val="2E3640"/>
              </a:solidFill>
              <a:latin typeface="Calibri"/>
            </a:endParaRP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solidFill>
                <a:srgbClr val="2E364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F75B0-D29E-B80C-9E02-9AA95F3EAFCC}"/>
              </a:ext>
            </a:extLst>
          </p:cNvPr>
          <p:cNvSpPr txBox="1"/>
          <p:nvPr/>
        </p:nvSpPr>
        <p:spPr>
          <a:xfrm>
            <a:off x="300397" y="3425334"/>
            <a:ext cx="2296160" cy="1635596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sex    weeks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1      3.16 male      37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2      4.02 female    41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3      3.41 female    37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4      2.81 male      38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5      3.06 female    36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6      3.03 female    39</a:t>
            </a:r>
            <a:endParaRPr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7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1" grpId="0" animBg="1"/>
      <p:bldP spid="12" grpId="0" animBg="1"/>
      <p:bldP spid="14" grpId="0"/>
      <p:bldP spid="15" grpId="0" animBg="1"/>
      <p:bldP spid="16" grpId="0"/>
      <p:bldP spid="400" grpId="0" animBg="1"/>
      <p:bldP spid="401" grpId="0" animBg="1"/>
      <p:bldP spid="402" grpId="0" build="p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">
            <a:extLst>
              <a:ext uri="{FF2B5EF4-FFF2-40B4-BE49-F238E27FC236}">
                <a16:creationId xmlns:a16="http://schemas.microsoft.com/office/drawing/2014/main" id="{70CB706E-084E-136E-E873-B1F4F1CD7664}"/>
              </a:ext>
            </a:extLst>
          </p:cNvPr>
          <p:cNvSpPr/>
          <p:nvPr/>
        </p:nvSpPr>
        <p:spPr>
          <a:xfrm>
            <a:off x="250122" y="163348"/>
            <a:ext cx="563285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and Interpreting the model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6EC00F-BD41-2BBE-93C9-55EBFE57033F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D152C2-E13B-CE8E-CBEA-F37EA77C07CE}"/>
              </a:ext>
            </a:extLst>
          </p:cNvPr>
          <p:cNvSpPr/>
          <p:nvPr/>
        </p:nvSpPr>
        <p:spPr>
          <a:xfrm>
            <a:off x="1" y="5061204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57E37-CF18-74FD-E4D4-130D6DC41E12}"/>
              </a:ext>
            </a:extLst>
          </p:cNvPr>
          <p:cNvSpPr/>
          <p:nvPr/>
        </p:nvSpPr>
        <p:spPr>
          <a:xfrm>
            <a:off x="250123" y="632651"/>
            <a:ext cx="3846086" cy="48112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42F7E-1D90-15EC-151A-E04FF4B4EA47}"/>
              </a:ext>
            </a:extLst>
          </p:cNvPr>
          <p:cNvSpPr txBox="1"/>
          <p:nvPr/>
        </p:nvSpPr>
        <p:spPr>
          <a:xfrm>
            <a:off x="250123" y="632651"/>
            <a:ext cx="3475207" cy="430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 &lt;- </a:t>
            </a:r>
            <a:r>
              <a:rPr sz="1100" b="1" i="0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sz="1100" b="1" i="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sex, data = births)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FD89A-E22B-D605-3DB2-338280F2993D}"/>
              </a:ext>
            </a:extLst>
          </p:cNvPr>
          <p:cNvSpPr/>
          <p:nvPr/>
        </p:nvSpPr>
        <p:spPr>
          <a:xfrm>
            <a:off x="248196" y="1090853"/>
            <a:ext cx="4247189" cy="1566838"/>
          </a:xfrm>
          <a:prstGeom prst="rect">
            <a:avLst/>
          </a:prstGeom>
          <a:solidFill>
            <a:srgbClr val="F8F8F8"/>
          </a:solidFill>
          <a:ln w="63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Residuals: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Min       1Q   Median       3Q      Max 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-2.84276 -0.28845  0.05114  0.36946  1.47168 </a:t>
            </a:r>
          </a:p>
          <a:p>
            <a:endParaRPr lang="en-GB" sz="1100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Estimate Std. Error t value </a:t>
            </a:r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(Intercept)  </a:t>
            </a:r>
            <a:r>
              <a:rPr lang="en-GB" sz="1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3.18296 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0.02640 120.552  &lt; 2e-16 ***</a:t>
            </a:r>
          </a:p>
          <a:p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0.16249    0.03715   4.373 1.35e-05 ***</a:t>
            </a:r>
          </a:p>
          <a:p>
            <a:endParaRPr sz="1100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AF8585-A31C-A2C5-FE8E-81D78FB9CAAD}"/>
              </a:ext>
            </a:extLst>
          </p:cNvPr>
          <p:cNvSpPr/>
          <p:nvPr/>
        </p:nvSpPr>
        <p:spPr>
          <a:xfrm>
            <a:off x="250122" y="2938146"/>
            <a:ext cx="3672673" cy="30984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preview_eq</a:t>
            </a:r>
            <a:r>
              <a:rPr lang="en-GB" sz="105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05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extract_eq</a:t>
            </a:r>
            <a:r>
              <a:rPr lang="en-GB" sz="1000" dirty="0">
                <a:solidFill>
                  <a:srgbClr val="2E6B75"/>
                </a:solidFill>
                <a:latin typeface="Courier New"/>
              </a:rPr>
              <a:t>(</a:t>
            </a:r>
            <a:r>
              <a:rPr lang="en-GB" sz="105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mod, </a:t>
            </a:r>
            <a:r>
              <a:rPr lang="en-GB" sz="1050" b="1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use_coefs</a:t>
            </a:r>
            <a:r>
              <a:rPr lang="en-GB" sz="105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</a:t>
            </a:r>
            <a:r>
              <a:rPr lang="en-GB" sz="105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F181D19-C734-42CC-8B8A-F4409528D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7" t="24811" r="7680" b="19879"/>
          <a:stretch>
            <a:fillRect/>
          </a:stretch>
        </p:blipFill>
        <p:spPr>
          <a:xfrm>
            <a:off x="258592" y="3268601"/>
            <a:ext cx="2437282" cy="279938"/>
          </a:xfrm>
          <a:prstGeom prst="rect">
            <a:avLst/>
          </a:prstGeom>
          <a:ln w="6350" cap="sq">
            <a:solidFill>
              <a:schemeClr val="bg2">
                <a:lumMod val="75000"/>
              </a:schemeClr>
            </a:solidFill>
            <a:miter lim="800000"/>
          </a:ln>
          <a:effectLst/>
        </p:spPr>
      </p:pic>
      <p:pic>
        <p:nvPicPr>
          <p:cNvPr id="39" name="Picture 38" descr="plot_basic.png">
            <a:extLst>
              <a:ext uri="{FF2B5EF4-FFF2-40B4-BE49-F238E27FC236}">
                <a16:creationId xmlns:a16="http://schemas.microsoft.com/office/drawing/2014/main" id="{A7BB2F53-1B3E-BF46-BC85-2E22D96DB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03" y="849851"/>
            <a:ext cx="4659893" cy="3132701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CAFDCAD-192C-7EFF-4D34-2C4D765D413F}"/>
              </a:ext>
            </a:extLst>
          </p:cNvPr>
          <p:cNvCxnSpPr>
            <a:cxnSpLocks/>
          </p:cNvCxnSpPr>
          <p:nvPr/>
        </p:nvCxnSpPr>
        <p:spPr>
          <a:xfrm>
            <a:off x="5294165" y="1960683"/>
            <a:ext cx="162587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DB08DC5-E096-E67F-3F72-0821ACC3064F}"/>
              </a:ext>
            </a:extLst>
          </p:cNvPr>
          <p:cNvCxnSpPr>
            <a:cxnSpLocks/>
          </p:cNvCxnSpPr>
          <p:nvPr/>
        </p:nvCxnSpPr>
        <p:spPr>
          <a:xfrm>
            <a:off x="7087597" y="1814145"/>
            <a:ext cx="1681475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877001-1562-7728-ECD0-3FAF23D3C0F0}"/>
              </a:ext>
            </a:extLst>
          </p:cNvPr>
          <p:cNvCxnSpPr>
            <a:cxnSpLocks/>
          </p:cNvCxnSpPr>
          <p:nvPr/>
        </p:nvCxnSpPr>
        <p:spPr>
          <a:xfrm>
            <a:off x="8615429" y="1814145"/>
            <a:ext cx="0" cy="234462"/>
          </a:xfrm>
          <a:prstGeom prst="straightConnector1">
            <a:avLst/>
          </a:prstGeom>
          <a:ln w="9525">
            <a:solidFill>
              <a:srgbClr val="DFA01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5D32300-DC05-DBF2-FD60-9467C50EFA87}"/>
              </a:ext>
            </a:extLst>
          </p:cNvPr>
          <p:cNvCxnSpPr/>
          <p:nvPr/>
        </p:nvCxnSpPr>
        <p:spPr>
          <a:xfrm flipV="1">
            <a:off x="6038727" y="1814145"/>
            <a:ext cx="1909482" cy="146538"/>
          </a:xfrm>
          <a:prstGeom prst="line">
            <a:avLst/>
          </a:prstGeom>
          <a:ln w="28575">
            <a:solidFill>
              <a:srgbClr val="DFA0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6246261-4A2C-AB7F-F810-9EDBF706C401}"/>
              </a:ext>
            </a:extLst>
          </p:cNvPr>
          <p:cNvSpPr txBox="1"/>
          <p:nvPr/>
        </p:nvSpPr>
        <p:spPr>
          <a:xfrm>
            <a:off x="8610404" y="1794331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DFA019"/>
                </a:solidFill>
              </a:rPr>
              <a:t>0.16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9F1289-2859-E342-2EE5-F5B2850EAB6F}"/>
              </a:ext>
            </a:extLst>
          </p:cNvPr>
          <p:cNvSpPr txBox="1"/>
          <p:nvPr/>
        </p:nvSpPr>
        <p:spPr>
          <a:xfrm>
            <a:off x="4885255" y="1842234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D6B75"/>
                </a:solidFill>
              </a:rPr>
              <a:t>3.18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974916-3E13-1124-5A84-0CE15F91D884}"/>
              </a:ext>
            </a:extLst>
          </p:cNvPr>
          <p:cNvSpPr txBox="1"/>
          <p:nvPr/>
        </p:nvSpPr>
        <p:spPr>
          <a:xfrm>
            <a:off x="6690649" y="1640594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D6B75"/>
                </a:solidFill>
              </a:rPr>
              <a:t>3.34</a:t>
            </a:r>
          </a:p>
        </p:txBody>
      </p:sp>
      <p:sp>
        <p:nvSpPr>
          <p:cNvPr id="2" name="EqLadderHeader">
            <a:extLst>
              <a:ext uri="{FF2B5EF4-FFF2-40B4-BE49-F238E27FC236}">
                <a16:creationId xmlns:a16="http://schemas.microsoft.com/office/drawing/2014/main" id="{21AA4035-50EE-1147-98F5-1CD0C755ED18}"/>
              </a:ext>
            </a:extLst>
          </p:cNvPr>
          <p:cNvSpPr/>
          <p:nvPr/>
        </p:nvSpPr>
        <p:spPr>
          <a:xfrm>
            <a:off x="254000" y="3683000"/>
            <a:ext cx="3670300" cy="254000"/>
          </a:xfrm>
          <a:prstGeom prst="rect">
            <a:avLst/>
          </a:prstGeom>
          <a:solidFill>
            <a:srgbClr val="EE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tIns="18000" rIns="45720" bIns="180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Equivalent to</a:t>
            </a:r>
          </a:p>
        </p:txBody>
      </p:sp>
      <p:sp>
        <p:nvSpPr>
          <p:cNvPr id="3" name="EqLadderBox">
            <a:extLst>
              <a:ext uri="{FF2B5EF4-FFF2-40B4-BE49-F238E27FC236}">
                <a16:creationId xmlns:a16="http://schemas.microsoft.com/office/drawing/2014/main" id="{BD3B7B00-FF16-B74C-9D8B-A9E2E83FD276}"/>
              </a:ext>
            </a:extLst>
          </p:cNvPr>
          <p:cNvSpPr/>
          <p:nvPr/>
        </p:nvSpPr>
        <p:spPr>
          <a:xfrm>
            <a:off x="254000" y="3937000"/>
            <a:ext cx="3670300" cy="61564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tIns="45720" rIns="45720" bIns="45720" rtlCol="0" anchor="ctr"/>
          <a:lstStyle/>
          <a:p>
            <a:pPr>
              <a:spcAft>
                <a:spcPts val="200"/>
              </a:spcAft>
            </a:pPr>
            <a:r>
              <a:rPr lang="en-GB" sz="1300" b="1" i="1" dirty="0">
                <a:solidFill>
                  <a:srgbClr val="2E3640"/>
                </a:solidFill>
                <a:latin typeface="Cambria Math"/>
              </a:rPr>
              <a:t>y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= </a:t>
            </a:r>
            <a:r>
              <a:rPr lang="en-GB" sz="1300" b="1" i="1" dirty="0">
                <a:solidFill>
                  <a:srgbClr val="2E3640"/>
                </a:solidFill>
                <a:latin typeface="Cambria Math"/>
              </a:rPr>
              <a:t>b +  </a:t>
            </a:r>
            <a:r>
              <a:rPr lang="en-GB" sz="1300" b="1" i="1" dirty="0" err="1">
                <a:solidFill>
                  <a:srgbClr val="2E3640"/>
                </a:solidFill>
                <a:latin typeface="Cambria Math"/>
              </a:rPr>
              <a:t>m</a:t>
            </a:r>
            <a:r>
              <a:rPr lang="en-GB" sz="1300" dirty="0" err="1">
                <a:solidFill>
                  <a:srgbClr val="2E3640"/>
                </a:solidFill>
                <a:latin typeface="Cambria Math"/>
              </a:rPr>
              <a:t>·</a:t>
            </a:r>
            <a:r>
              <a:rPr lang="en-GB" sz="1300" b="1" i="1" dirty="0" err="1">
                <a:solidFill>
                  <a:srgbClr val="2E3640"/>
                </a:solidFill>
                <a:latin typeface="Cambria Math"/>
              </a:rPr>
              <a:t>x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   (Same as y = </a:t>
            </a:r>
            <a:r>
              <a:rPr lang="en-GB" sz="1300" b="1" i="1" dirty="0" err="1">
                <a:solidFill>
                  <a:srgbClr val="2E3640"/>
                </a:solidFill>
                <a:latin typeface="Cambria Math"/>
              </a:rPr>
              <a:t>m</a:t>
            </a:r>
            <a:r>
              <a:rPr lang="en-GB" sz="1300" dirty="0" err="1">
                <a:solidFill>
                  <a:srgbClr val="2E3640"/>
                </a:solidFill>
                <a:latin typeface="Cambria Math"/>
              </a:rPr>
              <a:t>·</a:t>
            </a:r>
            <a:r>
              <a:rPr lang="en-GB" sz="1300" b="1" i="1" dirty="0" err="1">
                <a:solidFill>
                  <a:srgbClr val="2E3640"/>
                </a:solidFill>
                <a:latin typeface="Cambria Math"/>
              </a:rPr>
              <a:t>x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+ </a:t>
            </a:r>
            <a:r>
              <a:rPr lang="en-GB" sz="1300" b="1" i="1" dirty="0">
                <a:solidFill>
                  <a:srgbClr val="2E3640"/>
                </a:solidFill>
                <a:latin typeface="Cambria Math"/>
              </a:rPr>
              <a:t>b</a:t>
            </a:r>
            <a:r>
              <a:rPr lang="en-GB" sz="1300" i="1" dirty="0">
                <a:solidFill>
                  <a:srgbClr val="2E3640"/>
                </a:solidFill>
                <a:latin typeface="Cambria Math"/>
              </a:rPr>
              <a:t>)</a:t>
            </a:r>
            <a:r>
              <a:rPr lang="en-GB" sz="900" i="1" dirty="0">
                <a:solidFill>
                  <a:srgbClr val="7A8A95"/>
                </a:solidFill>
              </a:rPr>
              <a:t>   familiar form</a:t>
            </a:r>
          </a:p>
          <a:p>
            <a:pPr>
              <a:spcAft>
                <a:spcPts val="200"/>
              </a:spcAft>
            </a:pPr>
            <a:r>
              <a:rPr lang="en-GB" sz="1400" b="1" i="1" dirty="0" err="1">
                <a:solidFill>
                  <a:srgbClr val="2E3640"/>
                </a:solidFill>
                <a:latin typeface="Cambria Math"/>
              </a:rPr>
              <a:t>y</a:t>
            </a:r>
            <a:r>
              <a:rPr lang="en-GB" sz="1400" b="1" i="1" baseline="-25000" dirty="0" err="1">
                <a:solidFill>
                  <a:srgbClr val="2E3640"/>
                </a:solidFill>
                <a:latin typeface="Cambria Math"/>
              </a:rPr>
              <a:t>i</a:t>
            </a:r>
            <a:r>
              <a:rPr lang="en-GB" sz="1400" dirty="0">
                <a:solidFill>
                  <a:srgbClr val="2E3640"/>
                </a:solidFill>
                <a:latin typeface="Cambria Math"/>
              </a:rPr>
              <a:t> = β</a:t>
            </a:r>
            <a:r>
              <a:rPr lang="en-GB" sz="1400" baseline="-25000" dirty="0">
                <a:solidFill>
                  <a:srgbClr val="2E3640"/>
                </a:solidFill>
                <a:latin typeface="Cambria Math"/>
              </a:rPr>
              <a:t>0</a:t>
            </a:r>
            <a:r>
              <a:rPr lang="en-GB" sz="1400" dirty="0">
                <a:solidFill>
                  <a:srgbClr val="2E3640"/>
                </a:solidFill>
                <a:latin typeface="Cambria Math"/>
              </a:rPr>
              <a:t> + β</a:t>
            </a:r>
            <a:r>
              <a:rPr lang="en-GB" sz="1400" baseline="-25000" dirty="0">
                <a:solidFill>
                  <a:srgbClr val="2E3640"/>
                </a:solidFill>
                <a:latin typeface="Cambria Math"/>
              </a:rPr>
              <a:t>1</a:t>
            </a:r>
            <a:r>
              <a:rPr lang="en-GB" sz="1400" b="1" i="1" dirty="0">
                <a:solidFill>
                  <a:srgbClr val="2E3640"/>
                </a:solidFill>
                <a:latin typeface="Cambria Math"/>
              </a:rPr>
              <a:t>x</a:t>
            </a:r>
            <a:r>
              <a:rPr lang="en-GB" sz="1400" b="1" i="1" baseline="-25000" dirty="0">
                <a:solidFill>
                  <a:srgbClr val="2E3640"/>
                </a:solidFill>
                <a:latin typeface="Cambria Math"/>
              </a:rPr>
              <a:t>i</a:t>
            </a:r>
            <a:r>
              <a:rPr lang="en-GB" sz="1400" dirty="0">
                <a:solidFill>
                  <a:srgbClr val="2E3640"/>
                </a:solidFill>
                <a:latin typeface="Cambria Math"/>
              </a:rPr>
              <a:t> + </a:t>
            </a:r>
            <a:r>
              <a:rPr lang="en-GB" sz="1400" dirty="0" err="1">
                <a:solidFill>
                  <a:srgbClr val="2E3640"/>
                </a:solidFill>
                <a:latin typeface="Cambria Math"/>
              </a:rPr>
              <a:t>ε</a:t>
            </a:r>
            <a:r>
              <a:rPr lang="en-GB" sz="1400" baseline="-25000" dirty="0" err="1">
                <a:solidFill>
                  <a:srgbClr val="2E3640"/>
                </a:solidFill>
                <a:latin typeface="Cambria Math"/>
              </a:rPr>
              <a:t>i</a:t>
            </a:r>
            <a:r>
              <a:rPr lang="en-GB" sz="1200" i="1" dirty="0">
                <a:solidFill>
                  <a:srgbClr val="7A8A95"/>
                </a:solidFill>
              </a:rPr>
              <a:t>   regression 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6A1A79-57EE-2F20-4107-70F7D35C0F6F}"/>
              </a:ext>
            </a:extLst>
          </p:cNvPr>
          <p:cNvSpPr/>
          <p:nvPr/>
        </p:nvSpPr>
        <p:spPr>
          <a:xfrm>
            <a:off x="1220972" y="3278652"/>
            <a:ext cx="347786" cy="248683"/>
          </a:xfrm>
          <a:prstGeom prst="rect">
            <a:avLst/>
          </a:prstGeom>
          <a:solidFill>
            <a:srgbClr val="C13419">
              <a:alpha val="10980"/>
            </a:srgbClr>
          </a:solidFill>
          <a:ln>
            <a:solidFill>
              <a:srgbClr val="C134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42A946-C29A-328A-0460-98D4C4180610}"/>
              </a:ext>
            </a:extLst>
          </p:cNvPr>
          <p:cNvSpPr/>
          <p:nvPr/>
        </p:nvSpPr>
        <p:spPr>
          <a:xfrm>
            <a:off x="1698937" y="3278652"/>
            <a:ext cx="347786" cy="248683"/>
          </a:xfrm>
          <a:prstGeom prst="rect">
            <a:avLst/>
          </a:prstGeom>
          <a:solidFill>
            <a:srgbClr val="DFA02B">
              <a:alpha val="15294"/>
            </a:srgbClr>
          </a:solidFill>
          <a:ln>
            <a:solidFill>
              <a:srgbClr val="DFA0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ummyHeader">
            <a:extLst>
              <a:ext uri="{FF2B5EF4-FFF2-40B4-BE49-F238E27FC236}">
                <a16:creationId xmlns:a16="http://schemas.microsoft.com/office/drawing/2014/main" id="{B38292CB-65F6-0D49-A2E0-C368BF0D37ED}"/>
              </a:ext>
            </a:extLst>
          </p:cNvPr>
          <p:cNvSpPr/>
          <p:nvPr/>
        </p:nvSpPr>
        <p:spPr>
          <a:xfrm>
            <a:off x="4278086" y="3929380"/>
            <a:ext cx="4865914" cy="310048"/>
          </a:xfrm>
          <a:prstGeom prst="rect">
            <a:avLst/>
          </a:prstGeom>
          <a:solidFill>
            <a:srgbClr val="EE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tIns="18000" rIns="45720" bIns="180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“Dummy” variable: sexmale</a:t>
            </a:r>
          </a:p>
        </p:txBody>
      </p:sp>
      <p:sp>
        <p:nvSpPr>
          <p:cNvPr id="10" name="DummyBox">
            <a:extLst>
              <a:ext uri="{FF2B5EF4-FFF2-40B4-BE49-F238E27FC236}">
                <a16:creationId xmlns:a16="http://schemas.microsoft.com/office/drawing/2014/main" id="{1799ACD1-4237-B547-B429-2055D6B8201D}"/>
              </a:ext>
            </a:extLst>
          </p:cNvPr>
          <p:cNvSpPr/>
          <p:nvPr/>
        </p:nvSpPr>
        <p:spPr>
          <a:xfrm>
            <a:off x="4278086" y="4234179"/>
            <a:ext cx="4865914" cy="756929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2000" tIns="36000" rIns="45720" bIns="36000" rtlCol="0" anchor="ctr"/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 err="1">
                <a:solidFill>
                  <a:srgbClr val="2E3640"/>
                </a:solidFill>
              </a:rPr>
              <a:t>weight_kg</a:t>
            </a:r>
            <a:r>
              <a:rPr lang="en-GB" sz="1400" b="1" dirty="0">
                <a:solidFill>
                  <a:srgbClr val="2E3640"/>
                </a:solidFill>
              </a:rPr>
              <a:t> = 3.18 + 0.16 (</a:t>
            </a:r>
            <a:r>
              <a:rPr lang="en-GB" sz="1400" b="1" dirty="0" err="1">
                <a:solidFill>
                  <a:srgbClr val="2E3640"/>
                </a:solidFill>
              </a:rPr>
              <a:t>sexmale</a:t>
            </a:r>
            <a:r>
              <a:rPr lang="en-GB" sz="1400" b="1" dirty="0">
                <a:solidFill>
                  <a:srgbClr val="2E3640"/>
                </a:solidFill>
              </a:rPr>
              <a:t>)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2E3640"/>
                </a:solidFill>
              </a:rPr>
              <a:t>When sex is female, </a:t>
            </a:r>
            <a:r>
              <a:rPr lang="en-GB" sz="1400" b="1" dirty="0" err="1">
                <a:solidFill>
                  <a:srgbClr val="2E3640"/>
                </a:solidFill>
              </a:rPr>
              <a:t>sexmale</a:t>
            </a:r>
            <a:r>
              <a:rPr lang="en-GB" sz="1400" b="1" dirty="0">
                <a:solidFill>
                  <a:srgbClr val="2E3640"/>
                </a:solidFill>
              </a:rPr>
              <a:t> is 0 </a:t>
            </a:r>
            <a:r>
              <a:rPr lang="en-GB" sz="1400" dirty="0">
                <a:solidFill>
                  <a:srgbClr val="2E3640"/>
                </a:solidFill>
              </a:rPr>
              <a:t>:  ŷ = 3.18 + 0.16·0 = </a:t>
            </a:r>
            <a:r>
              <a:rPr lang="en-GB" sz="1400" b="1" dirty="0">
                <a:solidFill>
                  <a:srgbClr val="2D6B75"/>
                </a:solidFill>
              </a:rPr>
              <a:t>3.18 kg</a:t>
            </a:r>
            <a:endParaRPr lang="en-GB" sz="1400" dirty="0">
              <a:solidFill>
                <a:srgbClr val="7A8A95"/>
              </a:solidFill>
            </a:endParaRPr>
          </a:p>
          <a:p>
            <a:r>
              <a:rPr lang="en-GB" sz="1400" b="1" dirty="0">
                <a:solidFill>
                  <a:srgbClr val="2E3640"/>
                </a:solidFill>
              </a:rPr>
              <a:t>When sex is male, </a:t>
            </a:r>
            <a:r>
              <a:rPr lang="en-GB" sz="1400" b="1" dirty="0" err="1">
                <a:solidFill>
                  <a:srgbClr val="2E3640"/>
                </a:solidFill>
              </a:rPr>
              <a:t>sexmale</a:t>
            </a:r>
            <a:r>
              <a:rPr lang="en-GB" sz="1400" b="1" dirty="0">
                <a:solidFill>
                  <a:srgbClr val="2E3640"/>
                </a:solidFill>
              </a:rPr>
              <a:t> is 1</a:t>
            </a:r>
            <a:r>
              <a:rPr lang="en-GB" sz="1400" dirty="0">
                <a:solidFill>
                  <a:srgbClr val="2E3640"/>
                </a:solidFill>
              </a:rPr>
              <a:t>:  ŷ = 3.18 + 0.16·1 = </a:t>
            </a:r>
            <a:r>
              <a:rPr lang="en-GB" sz="1400" b="1" dirty="0">
                <a:solidFill>
                  <a:srgbClr val="2D6B75"/>
                </a:solidFill>
              </a:rPr>
              <a:t>3.34 kg</a:t>
            </a:r>
            <a:r>
              <a:rPr lang="en-GB" sz="1400" dirty="0">
                <a:solidFill>
                  <a:srgbClr val="7A8A95"/>
                </a:solidFill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75BAC4-8620-2342-6773-E8AA6B670A33}"/>
              </a:ext>
            </a:extLst>
          </p:cNvPr>
          <p:cNvSpPr/>
          <p:nvPr/>
        </p:nvSpPr>
        <p:spPr>
          <a:xfrm>
            <a:off x="1220971" y="2123363"/>
            <a:ext cx="717243" cy="191525"/>
          </a:xfrm>
          <a:prstGeom prst="rect">
            <a:avLst/>
          </a:prstGeom>
          <a:solidFill>
            <a:srgbClr val="C13419">
              <a:alpha val="10980"/>
            </a:srgbClr>
          </a:solidFill>
          <a:ln>
            <a:solidFill>
              <a:srgbClr val="C134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F1C107-5EBB-9273-2FD7-5AC9F07434CA}"/>
              </a:ext>
            </a:extLst>
          </p:cNvPr>
          <p:cNvSpPr/>
          <p:nvPr/>
        </p:nvSpPr>
        <p:spPr>
          <a:xfrm>
            <a:off x="1220971" y="2320206"/>
            <a:ext cx="717242" cy="170544"/>
          </a:xfrm>
          <a:prstGeom prst="rect">
            <a:avLst/>
          </a:prstGeom>
          <a:solidFill>
            <a:srgbClr val="DFA02B">
              <a:alpha val="15294"/>
            </a:srgbClr>
          </a:solidFill>
          <a:ln>
            <a:solidFill>
              <a:srgbClr val="DFA0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8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27" grpId="0" animBg="1"/>
      <p:bldP spid="58" grpId="0"/>
      <p:bldP spid="61" grpId="0"/>
      <p:bldP spid="62" grpId="0"/>
      <p:bldP spid="2" grpId="0" animBg="1"/>
      <p:bldP spid="3" grpId="0" animBg="1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061"/>
                </a:solidFill>
                <a:latin typeface="Calibri" pitchFamily="34" charset="0"/>
              </a:rPr>
              <a:t>Progress check  |  </a:t>
            </a:r>
            <a:r>
              <a:rPr lang="en-US" sz="2400" b="0" dirty="0">
                <a:solidFill>
                  <a:srgbClr val="6B7B8A"/>
                </a:solidFill>
                <a:latin typeface="Calibri" pitchFamily="34" charset="0"/>
              </a:rPr>
              <a:t>Objectives 1–2 covered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866077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Extend simple linear regression to a binary predictor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1460437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Interpret the intercept and slope as group means and a difference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054797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 and 95% CI for the group difference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49157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 value as a standardized distance from zero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243517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 into a p-value via tail area</a:t>
            </a:r>
            <a:endParaRPr lang="en-US" sz="1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24C9CA1-7A34-3CAB-94C7-4057777BE49B}"/>
              </a:ext>
            </a:extLst>
          </p:cNvPr>
          <p:cNvSpPr/>
          <p:nvPr/>
        </p:nvSpPr>
        <p:spPr>
          <a:xfrm>
            <a:off x="1005840" y="1089397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A 0/1 encoded x variable still fits inside the same y = b₀ + </a:t>
            </a:r>
            <a:r>
              <a:rPr lang="en-US" sz="1400" dirty="0" err="1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b₁x</a:t>
            </a:r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 model framework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82700C99-E24F-DD18-C080-E9B1C552A3A7}"/>
              </a:ext>
            </a:extLst>
          </p:cNvPr>
          <p:cNvSpPr/>
          <p:nvPr/>
        </p:nvSpPr>
        <p:spPr>
          <a:xfrm>
            <a:off x="1005840" y="1683757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b₀ = reference group mean, b₁ = difference between the two group means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5FB46EF5-8253-E8A3-0184-1B6E136E6E1F}"/>
              </a:ext>
            </a:extLst>
          </p:cNvPr>
          <p:cNvSpPr/>
          <p:nvPr/>
        </p:nvSpPr>
        <p:spPr>
          <a:xfrm>
            <a:off x="1005840" y="2278117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Same logic as before: the CI is a plausible range for the population difference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E9D4F037-7560-EEED-CD9F-DDF9C6D7FA71}"/>
              </a:ext>
            </a:extLst>
          </p:cNvPr>
          <p:cNvSpPr/>
          <p:nvPr/>
        </p:nvSpPr>
        <p:spPr>
          <a:xfrm>
            <a:off x="1005840" y="2872477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estimate / SE asks: how many SEs is the estimate away from no effect?</a:t>
            </a:r>
            <a:endParaRPr lang="en-US" sz="14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770B50AC-9634-D551-0CC6-BB957D6957C9}"/>
              </a:ext>
            </a:extLst>
          </p:cNvPr>
          <p:cNvSpPr/>
          <p:nvPr/>
        </p:nvSpPr>
        <p:spPr>
          <a:xfrm>
            <a:off x="1005840" y="3466837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|t| pushes further into the tail and gives a smaller p-value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9822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956F-1EE7-E052-535F-013A352F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6CD3B9BA-135A-E780-892F-F771CDE6E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95251"/>
            <a:ext cx="7886700" cy="524690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altLang="en-US" dirty="0"/>
              <a:t>Practice: Length of Stay ~ Emergency</a:t>
            </a:r>
            <a:endParaRPr lang="en-US" altLang="en-US" dirty="0">
              <a:latin typeface="Montserrat"/>
            </a:endParaRPr>
          </a:p>
        </p:txBody>
      </p:sp>
      <p:sp>
        <p:nvSpPr>
          <p:cNvPr id="4" name="Setup">
            <a:extLst>
              <a:ext uri="{FF2B5EF4-FFF2-40B4-BE49-F238E27FC236}">
                <a16:creationId xmlns:a16="http://schemas.microsoft.com/office/drawing/2014/main" id="{E883E27B-59A5-F333-0B44-EDD392B82EDD}"/>
              </a:ext>
            </a:extLst>
          </p:cNvPr>
          <p:cNvSpPr/>
          <p:nvPr/>
        </p:nvSpPr>
        <p:spPr>
          <a:xfrm>
            <a:off x="273663" y="530122"/>
            <a:ext cx="87884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E3640"/>
                </a:solidFill>
                <a:latin typeface="Open Sans"/>
              </a:rPr>
              <a:t>A model predicts hospital length of stay (days) based on emergency admission (1 = yes, 0 =no), n = 240 patients. </a:t>
            </a:r>
            <a:r>
              <a:rPr lang="en-US" sz="1200" b="1" i="1" dirty="0">
                <a:solidFill>
                  <a:srgbClr val="2E6B75"/>
                </a:solidFill>
                <a:latin typeface="Open Sans"/>
              </a:rPr>
              <a:t>R output below:</a:t>
            </a:r>
          </a:p>
        </p:txBody>
      </p:sp>
      <p:sp>
        <p:nvSpPr>
          <p:cNvPr id="10" name="ROutput">
            <a:extLst>
              <a:ext uri="{FF2B5EF4-FFF2-40B4-BE49-F238E27FC236}">
                <a16:creationId xmlns:a16="http://schemas.microsoft.com/office/drawing/2014/main" id="{FA8F97AB-D617-77CA-4F57-A3A9C2EAA05D}"/>
              </a:ext>
            </a:extLst>
          </p:cNvPr>
          <p:cNvSpPr/>
          <p:nvPr/>
        </p:nvSpPr>
        <p:spPr>
          <a:xfrm>
            <a:off x="273663" y="784122"/>
            <a:ext cx="8788400" cy="965200"/>
          </a:xfrm>
          <a:prstGeom prst="rect">
            <a:avLst/>
          </a:prstGeom>
          <a:solidFill>
            <a:srgbClr val="FBFBFB"/>
          </a:solidFill>
          <a:ln w="9525">
            <a:solidFill>
              <a:srgbClr val="2E3640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Coefficients: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               </a:t>
            </a:r>
            <a:r>
              <a:rPr lang="en-US" sz="1100" b="1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  Estimate  Std.Error  t value  Pr(&gt;|t|)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(Intercept)         4.220      0.180    23.44   &lt; 2e-16</a:t>
            </a:r>
            <a:r>
              <a:rPr lang="en-US" sz="1100" b="1" dirty="0">
                <a:solidFill>
                  <a:srgbClr val="D94535"/>
                </a:solidFill>
                <a:latin typeface="Consolas" pitchFamily="49" charset="0"/>
                <a:cs typeface="Consolas"/>
              </a:rPr>
              <a:t> ***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emergency           2.640      0.290     9.10   1.8e-17</a:t>
            </a:r>
            <a:r>
              <a:rPr lang="en-US" sz="1100" b="1" dirty="0">
                <a:solidFill>
                  <a:srgbClr val="D94535"/>
                </a:solidFill>
                <a:latin typeface="Consolas" pitchFamily="49" charset="0"/>
                <a:cs typeface="Consolas"/>
              </a:rPr>
              <a:t> ***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6B7480"/>
                </a:solidFill>
                <a:latin typeface="Consolas" pitchFamily="49" charset="0"/>
                <a:cs typeface="Consolas"/>
              </a:rPr>
              <a:t>Signif. codes:  0 '***' 0.001 '**' 0.01 '*' 0.05 '.' 0.1 ' ' 1</a:t>
            </a:r>
          </a:p>
        </p:txBody>
      </p:sp>
      <p:sp>
        <p:nvSpPr>
          <p:cNvPr id="12" name="Q1Hdr">
            <a:extLst>
              <a:ext uri="{FF2B5EF4-FFF2-40B4-BE49-F238E27FC236}">
                <a16:creationId xmlns:a16="http://schemas.microsoft.com/office/drawing/2014/main" id="{2D423691-D33F-9D4D-810E-C1FA0D8B8FDD}"/>
              </a:ext>
            </a:extLst>
          </p:cNvPr>
          <p:cNvSpPr/>
          <p:nvPr/>
        </p:nvSpPr>
        <p:spPr>
          <a:xfrm>
            <a:off x="273663" y="1820906"/>
            <a:ext cx="4191000" cy="4064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FFFFFF"/>
                </a:solidFill>
                <a:latin typeface="Open Sans"/>
              </a:rPr>
              <a:t>Interpret the emergency coefficient (2.64).</a:t>
            </a:r>
          </a:p>
        </p:txBody>
      </p:sp>
      <p:sp>
        <p:nvSpPr>
          <p:cNvPr id="13" name="Q1OptA">
            <a:extLst>
              <a:ext uri="{FF2B5EF4-FFF2-40B4-BE49-F238E27FC236}">
                <a16:creationId xmlns:a16="http://schemas.microsoft.com/office/drawing/2014/main" id="{2A74383C-3BEA-740E-E8F9-BCACB04F7B1C}"/>
              </a:ext>
            </a:extLst>
          </p:cNvPr>
          <p:cNvSpPr/>
          <p:nvPr/>
        </p:nvSpPr>
        <p:spPr>
          <a:xfrm>
            <a:off x="293328" y="2296133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Emergencies stay 2.64 days in the hospital, on average.</a:t>
            </a:r>
          </a:p>
        </p:txBody>
      </p:sp>
      <p:sp>
        <p:nvSpPr>
          <p:cNvPr id="14" name="Q1OptB">
            <a:extLst>
              <a:ext uri="{FF2B5EF4-FFF2-40B4-BE49-F238E27FC236}">
                <a16:creationId xmlns:a16="http://schemas.microsoft.com/office/drawing/2014/main" id="{A24A3485-9259-E773-A486-EADAB5074EA0}"/>
              </a:ext>
            </a:extLst>
          </p:cNvPr>
          <p:cNvSpPr/>
          <p:nvPr/>
        </p:nvSpPr>
        <p:spPr>
          <a:xfrm>
            <a:off x="293328" y="2588233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Emergencies stay 2.64 days longer than planned admissions.</a:t>
            </a:r>
          </a:p>
        </p:txBody>
      </p:sp>
      <p:sp>
        <p:nvSpPr>
          <p:cNvPr id="15" name="Q1Ans">
            <a:extLst>
              <a:ext uri="{FF2B5EF4-FFF2-40B4-BE49-F238E27FC236}">
                <a16:creationId xmlns:a16="http://schemas.microsoft.com/office/drawing/2014/main" id="{73B52E99-2A49-C951-F547-4FC0E6A6350C}"/>
              </a:ext>
            </a:extLst>
          </p:cNvPr>
          <p:cNvSpPr/>
          <p:nvPr/>
        </p:nvSpPr>
        <p:spPr>
          <a:xfrm>
            <a:off x="273663" y="2904585"/>
            <a:ext cx="1116295" cy="1708793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9525">
            <a:solidFill>
              <a:srgbClr val="2E6B75"/>
            </a:solidFill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Bef>
                <a:spcPct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For a binary predictor, the slope is the </a:t>
            </a:r>
            <a:r>
              <a:rPr lang="en-US" sz="1000" b="1" dirty="0">
                <a:solidFill>
                  <a:srgbClr val="2E3640"/>
                </a:solidFill>
                <a:latin typeface="Open Sans"/>
              </a:rPr>
              <a:t>difference in the group means</a:t>
            </a:r>
            <a:r>
              <a:rPr lang="en-US" sz="1000" dirty="0">
                <a:solidFill>
                  <a:srgbClr val="2E3640"/>
                </a:solidFill>
                <a:latin typeface="Open Sans"/>
              </a:rPr>
              <a:t> between the two levels.</a:t>
            </a:r>
          </a:p>
        </p:txBody>
      </p:sp>
      <p:sp>
        <p:nvSpPr>
          <p:cNvPr id="16" name="Q2Hdr">
            <a:extLst>
              <a:ext uri="{FF2B5EF4-FFF2-40B4-BE49-F238E27FC236}">
                <a16:creationId xmlns:a16="http://schemas.microsoft.com/office/drawing/2014/main" id="{563C03AC-4A47-E57D-4837-D0EBFCE3DD87}"/>
              </a:ext>
            </a:extLst>
          </p:cNvPr>
          <p:cNvSpPr/>
          <p:nvPr/>
        </p:nvSpPr>
        <p:spPr>
          <a:xfrm>
            <a:off x="4769463" y="1820906"/>
            <a:ext cx="4191000" cy="4064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FFFFFF"/>
                </a:solidFill>
                <a:latin typeface="Open Sans"/>
              </a:rPr>
              <a:t>Predicted stay for a non-emergency admission?</a:t>
            </a:r>
          </a:p>
        </p:txBody>
      </p:sp>
      <p:sp>
        <p:nvSpPr>
          <p:cNvPr id="17" name="Q2OptA">
            <a:extLst>
              <a:ext uri="{FF2B5EF4-FFF2-40B4-BE49-F238E27FC236}">
                <a16:creationId xmlns:a16="http://schemas.microsoft.com/office/drawing/2014/main" id="{4DBF49DC-FFD9-BFD0-42D4-957AC35F58AA}"/>
              </a:ext>
            </a:extLst>
          </p:cNvPr>
          <p:cNvSpPr/>
          <p:nvPr/>
        </p:nvSpPr>
        <p:spPr>
          <a:xfrm>
            <a:off x="4796505" y="2303506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~4.22 days</a:t>
            </a:r>
          </a:p>
        </p:txBody>
      </p:sp>
      <p:sp>
        <p:nvSpPr>
          <p:cNvPr id="18" name="Q2OptB">
            <a:extLst>
              <a:ext uri="{FF2B5EF4-FFF2-40B4-BE49-F238E27FC236}">
                <a16:creationId xmlns:a16="http://schemas.microsoft.com/office/drawing/2014/main" id="{B16A886D-37DD-C549-9090-C4D0AC5AE138}"/>
              </a:ext>
            </a:extLst>
          </p:cNvPr>
          <p:cNvSpPr/>
          <p:nvPr/>
        </p:nvSpPr>
        <p:spPr>
          <a:xfrm>
            <a:off x="4796505" y="2595606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~6.86 days</a:t>
            </a:r>
          </a:p>
        </p:txBody>
      </p:sp>
      <p:sp>
        <p:nvSpPr>
          <p:cNvPr id="19" name="Q2Ans">
            <a:extLst>
              <a:ext uri="{FF2B5EF4-FFF2-40B4-BE49-F238E27FC236}">
                <a16:creationId xmlns:a16="http://schemas.microsoft.com/office/drawing/2014/main" id="{9F618ADD-540D-F4BC-DEF9-FB42DD6C1FCB}"/>
              </a:ext>
            </a:extLst>
          </p:cNvPr>
          <p:cNvSpPr/>
          <p:nvPr/>
        </p:nvSpPr>
        <p:spPr>
          <a:xfrm>
            <a:off x="5005953" y="2976606"/>
            <a:ext cx="3954510" cy="1230262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9525">
            <a:solidFill>
              <a:srgbClr val="2E6B75"/>
            </a:solidFill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>
              <a:spcBef>
                <a:spcPct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For planned admissions, </a:t>
            </a:r>
            <a:r>
              <a:rPr lang="en-US" sz="1000" b="1" dirty="0">
                <a:solidFill>
                  <a:srgbClr val="2E3640"/>
                </a:solidFill>
                <a:latin typeface="Open Sans"/>
              </a:rPr>
              <a:t>emergency = 0</a:t>
            </a:r>
            <a:r>
              <a:rPr lang="en-US" sz="1000" dirty="0">
                <a:solidFill>
                  <a:srgbClr val="2E3640"/>
                </a:solidFill>
                <a:latin typeface="Open Sans"/>
              </a:rPr>
              <a:t>, so ŷ = 4.22 + 2.64 × 0.</a:t>
            </a:r>
          </a:p>
          <a:p>
            <a:pPr>
              <a:spcBef>
                <a:spcPct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That's just the intercept: </a:t>
            </a:r>
            <a:r>
              <a:rPr lang="en-US" sz="1000" b="1" dirty="0">
                <a:solidFill>
                  <a:srgbClr val="2E6B75"/>
                </a:solidFill>
                <a:latin typeface="Open Sans"/>
              </a:rPr>
              <a:t>4.22 days</a:t>
            </a:r>
          </a:p>
          <a:p>
            <a:pPr>
              <a:spcBef>
                <a:spcPct val="0"/>
              </a:spcBef>
              <a:spcAft>
                <a:spcPts val="200"/>
              </a:spcAft>
            </a:pPr>
            <a:endParaRPr lang="en-US" sz="1000" dirty="0">
              <a:solidFill>
                <a:srgbClr val="2E3640"/>
              </a:solidFill>
              <a:latin typeface="Open Sans"/>
            </a:endParaRPr>
          </a:p>
          <a:p>
            <a:pPr>
              <a:spcBef>
                <a:spcPct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Emergencies (option B, ≈ 6.86) get the intercept </a:t>
            </a:r>
            <a:r>
              <a:rPr lang="en-US" sz="1000" b="1" dirty="0">
                <a:solidFill>
                  <a:srgbClr val="2E3640"/>
                </a:solidFill>
                <a:latin typeface="Open Sans"/>
              </a:rPr>
              <a:t>plus</a:t>
            </a:r>
            <a:r>
              <a:rPr lang="en-US" sz="1000" dirty="0">
                <a:solidFill>
                  <a:srgbClr val="2E3640"/>
                </a:solidFill>
                <a:latin typeface="Open Sans"/>
              </a:rPr>
              <a:t> the slope.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B45D1-D701-328C-D761-9203BD7C4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90"/>
          <a:stretch>
            <a:fillRect/>
          </a:stretch>
        </p:blipFill>
        <p:spPr>
          <a:xfrm>
            <a:off x="1423352" y="2904585"/>
            <a:ext cx="3549207" cy="1793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71DD7E-D38E-63F6-A42F-FDA19FA68D47}"/>
              </a:ext>
            </a:extLst>
          </p:cNvPr>
          <p:cNvSpPr txBox="1"/>
          <p:nvPr/>
        </p:nvSpPr>
        <p:spPr>
          <a:xfrm>
            <a:off x="1722866" y="4698527"/>
            <a:ext cx="2553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2E3640"/>
                </a:solidFill>
              </a:rPr>
              <a:t>ŷ</a:t>
            </a:r>
            <a:r>
              <a:rPr lang="en-US" sz="1400" b="1" dirty="0">
                <a:solidFill>
                  <a:srgbClr val="2E3640"/>
                </a:solidFill>
              </a:rPr>
              <a:t> = 4.22 + 2.64 (emergency)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2847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956F-1EE7-E052-535F-013A352F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6CD3B9BA-135A-E780-892F-F771CDE6E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0" y="166917"/>
            <a:ext cx="7886700" cy="320218"/>
          </a:xfrm>
        </p:spPr>
        <p:txBody>
          <a:bodyPr anchor="ctr" anchorCtr="0">
            <a:normAutofit fontScale="90000"/>
          </a:bodyPr>
          <a:lstStyle/>
          <a:p>
            <a:pPr marL="0" indent="0">
              <a:buNone/>
            </a:pPr>
            <a:r>
              <a:rPr lang="en-US" altLang="en-US" dirty="0"/>
              <a:t>Practice: Binary predictor in lm()</a:t>
            </a:r>
          </a:p>
        </p:txBody>
      </p:sp>
      <p:sp>
        <p:nvSpPr>
          <p:cNvPr id="4" name="Setup">
            <a:extLst>
              <a:ext uri="{FF2B5EF4-FFF2-40B4-BE49-F238E27FC236}">
                <a16:creationId xmlns:a16="http://schemas.microsoft.com/office/drawing/2014/main" id="{E883E27B-59A5-F333-0B44-EDD392B82EDD}"/>
              </a:ext>
            </a:extLst>
          </p:cNvPr>
          <p:cNvSpPr/>
          <p:nvPr/>
        </p:nvSpPr>
        <p:spPr>
          <a:xfrm>
            <a:off x="228599" y="558800"/>
            <a:ext cx="8196939" cy="2222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E3640"/>
                </a:solidFill>
                <a:latin typeface="Open Sans"/>
              </a:rPr>
              <a:t>A model fit on the births data, with male as the reference:</a:t>
            </a:r>
          </a:p>
        </p:txBody>
      </p:sp>
      <p:cxnSp>
        <p:nvCxnSpPr>
          <p:cNvPr id="11" name="Divider">
            <a:extLst>
              <a:ext uri="{FF2B5EF4-FFF2-40B4-BE49-F238E27FC236}">
                <a16:creationId xmlns:a16="http://schemas.microsoft.com/office/drawing/2014/main" id="{A5DCB46C-E132-9667-F63F-23A95950F174}"/>
              </a:ext>
            </a:extLst>
          </p:cNvPr>
          <p:cNvCxnSpPr/>
          <p:nvPr/>
        </p:nvCxnSpPr>
        <p:spPr>
          <a:xfrm>
            <a:off x="4559579" y="1435100"/>
            <a:ext cx="0" cy="355600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2" name="Q1Hdr">
            <a:extLst>
              <a:ext uri="{FF2B5EF4-FFF2-40B4-BE49-F238E27FC236}">
                <a16:creationId xmlns:a16="http://schemas.microsoft.com/office/drawing/2014/main" id="{2D423691-D33F-9D4D-810E-C1FA0D8B8FDD}"/>
              </a:ext>
            </a:extLst>
          </p:cNvPr>
          <p:cNvSpPr/>
          <p:nvPr/>
        </p:nvSpPr>
        <p:spPr>
          <a:xfrm>
            <a:off x="102159" y="1658127"/>
            <a:ext cx="4318000" cy="2921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Q1.  What is the mean weight for a male baby?</a:t>
            </a:r>
          </a:p>
        </p:txBody>
      </p:sp>
      <p:sp>
        <p:nvSpPr>
          <p:cNvPr id="13" name="Q1OptA">
            <a:extLst>
              <a:ext uri="{FF2B5EF4-FFF2-40B4-BE49-F238E27FC236}">
                <a16:creationId xmlns:a16="http://schemas.microsoft.com/office/drawing/2014/main" id="{2A74383C-3BEA-740E-E8F9-BCACB04F7B1C}"/>
              </a:ext>
            </a:extLst>
          </p:cNvPr>
          <p:cNvSpPr/>
          <p:nvPr/>
        </p:nvSpPr>
        <p:spPr>
          <a:xfrm>
            <a:off x="152959" y="2013727"/>
            <a:ext cx="1249132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A) 3.345 kg</a:t>
            </a:r>
          </a:p>
        </p:txBody>
      </p:sp>
      <p:sp>
        <p:nvSpPr>
          <p:cNvPr id="14" name="Q1OptB">
            <a:extLst>
              <a:ext uri="{FF2B5EF4-FFF2-40B4-BE49-F238E27FC236}">
                <a16:creationId xmlns:a16="http://schemas.microsoft.com/office/drawing/2014/main" id="{A24A3485-9259-E773-A486-EADAB5074EA0}"/>
              </a:ext>
            </a:extLst>
          </p:cNvPr>
          <p:cNvSpPr/>
          <p:nvPr/>
        </p:nvSpPr>
        <p:spPr>
          <a:xfrm>
            <a:off x="152959" y="2305827"/>
            <a:ext cx="1249132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B) 3.183 kg</a:t>
            </a:r>
          </a:p>
        </p:txBody>
      </p:sp>
      <p:sp>
        <p:nvSpPr>
          <p:cNvPr id="16" name="Q2Hdr">
            <a:extLst>
              <a:ext uri="{FF2B5EF4-FFF2-40B4-BE49-F238E27FC236}">
                <a16:creationId xmlns:a16="http://schemas.microsoft.com/office/drawing/2014/main" id="{563C03AC-4A47-E57D-4837-D0EBFCE3DD87}"/>
              </a:ext>
            </a:extLst>
          </p:cNvPr>
          <p:cNvSpPr/>
          <p:nvPr/>
        </p:nvSpPr>
        <p:spPr>
          <a:xfrm>
            <a:off x="4607076" y="2715982"/>
            <a:ext cx="4474926" cy="279401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Q3.  Which statement is incorrect? </a:t>
            </a:r>
          </a:p>
        </p:txBody>
      </p:sp>
      <p:sp>
        <p:nvSpPr>
          <p:cNvPr id="2" name="Q1Hdr">
            <a:extLst>
              <a:ext uri="{FF2B5EF4-FFF2-40B4-BE49-F238E27FC236}">
                <a16:creationId xmlns:a16="http://schemas.microsoft.com/office/drawing/2014/main" id="{38DEF5E4-FF5A-A8C6-BECE-F9BC7677F2E2}"/>
              </a:ext>
            </a:extLst>
          </p:cNvPr>
          <p:cNvSpPr/>
          <p:nvPr/>
        </p:nvSpPr>
        <p:spPr>
          <a:xfrm>
            <a:off x="4648200" y="1317164"/>
            <a:ext cx="4318000" cy="255816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Q2.  What is the mean weight for a female baby?</a:t>
            </a:r>
          </a:p>
        </p:txBody>
      </p:sp>
      <p:sp>
        <p:nvSpPr>
          <p:cNvPr id="3" name="Q1OptA">
            <a:extLst>
              <a:ext uri="{FF2B5EF4-FFF2-40B4-BE49-F238E27FC236}">
                <a16:creationId xmlns:a16="http://schemas.microsoft.com/office/drawing/2014/main" id="{3E069482-40A1-6A3B-9D12-B3C3519D4D8A}"/>
              </a:ext>
            </a:extLst>
          </p:cNvPr>
          <p:cNvSpPr/>
          <p:nvPr/>
        </p:nvSpPr>
        <p:spPr>
          <a:xfrm>
            <a:off x="4699000" y="1636480"/>
            <a:ext cx="42164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A) 1.625 kg</a:t>
            </a:r>
          </a:p>
        </p:txBody>
      </p:sp>
      <p:sp>
        <p:nvSpPr>
          <p:cNvPr id="5" name="Q1OptB">
            <a:extLst>
              <a:ext uri="{FF2B5EF4-FFF2-40B4-BE49-F238E27FC236}">
                <a16:creationId xmlns:a16="http://schemas.microsoft.com/office/drawing/2014/main" id="{FFEED2E7-02B2-74DB-0B43-53B784CAC053}"/>
              </a:ext>
            </a:extLst>
          </p:cNvPr>
          <p:cNvSpPr/>
          <p:nvPr/>
        </p:nvSpPr>
        <p:spPr>
          <a:xfrm>
            <a:off x="4699000" y="1928580"/>
            <a:ext cx="42164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B) </a:t>
            </a:r>
            <a:r>
              <a:rPr lang="en-US" sz="1200" dirty="0">
                <a:solidFill>
                  <a:srgbClr val="2E3640"/>
                </a:solidFill>
              </a:rPr>
              <a:t>3.183 kg</a:t>
            </a:r>
            <a:endParaRPr lang="en-US" sz="1200" dirty="0">
              <a:solidFill>
                <a:srgbClr val="2E3640"/>
              </a:solidFill>
              <a:latin typeface="Open Sans"/>
            </a:endParaRPr>
          </a:p>
        </p:txBody>
      </p:sp>
      <p:sp>
        <p:nvSpPr>
          <p:cNvPr id="6" name="Q1AnsBg">
            <a:extLst>
              <a:ext uri="{FF2B5EF4-FFF2-40B4-BE49-F238E27FC236}">
                <a16:creationId xmlns:a16="http://schemas.microsoft.com/office/drawing/2014/main" id="{1B5C8215-933F-CC47-BD98-643F43B02D8C}"/>
              </a:ext>
            </a:extLst>
          </p:cNvPr>
          <p:cNvSpPr/>
          <p:nvPr/>
        </p:nvSpPr>
        <p:spPr>
          <a:xfrm>
            <a:off x="136046" y="4562025"/>
            <a:ext cx="4318000" cy="440869"/>
          </a:xfrm>
          <a:prstGeom prst="rect">
            <a:avLst/>
          </a:prstGeom>
          <a:solidFill>
            <a:srgbClr val="EAF4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1AnsTx">
            <a:extLst>
              <a:ext uri="{FF2B5EF4-FFF2-40B4-BE49-F238E27FC236}">
                <a16:creationId xmlns:a16="http://schemas.microsoft.com/office/drawing/2014/main" id="{C0B7DD1B-CC64-604E-824B-7F2E54F68B9C}"/>
              </a:ext>
            </a:extLst>
          </p:cNvPr>
          <p:cNvSpPr txBox="1"/>
          <p:nvPr/>
        </p:nvSpPr>
        <p:spPr>
          <a:xfrm>
            <a:off x="102159" y="4584700"/>
            <a:ext cx="4318000" cy="44086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A. 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For a male, sexfemale = 0, so weight = 3.345 + 0 = 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3.345 kg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. The intercept is the mean for the reference group.</a:t>
            </a:r>
          </a:p>
        </p:txBody>
      </p:sp>
      <p:sp>
        <p:nvSpPr>
          <p:cNvPr id="8" name="Q3AnsBg">
            <a:extLst>
              <a:ext uri="{FF2B5EF4-FFF2-40B4-BE49-F238E27FC236}">
                <a16:creationId xmlns:a16="http://schemas.microsoft.com/office/drawing/2014/main" id="{578E369D-0D6D-9849-8A60-33DF553FA7CE}"/>
              </a:ext>
            </a:extLst>
          </p:cNvPr>
          <p:cNvSpPr/>
          <p:nvPr/>
        </p:nvSpPr>
        <p:spPr>
          <a:xfrm>
            <a:off x="4648200" y="2246081"/>
            <a:ext cx="4318000" cy="406400"/>
          </a:xfrm>
          <a:prstGeom prst="rect">
            <a:avLst/>
          </a:prstGeom>
          <a:solidFill>
            <a:srgbClr val="EAF4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Q3AnsTx">
            <a:extLst>
              <a:ext uri="{FF2B5EF4-FFF2-40B4-BE49-F238E27FC236}">
                <a16:creationId xmlns:a16="http://schemas.microsoft.com/office/drawing/2014/main" id="{B796E2BF-A693-D94B-A061-84BE9B170046}"/>
              </a:ext>
            </a:extLst>
          </p:cNvPr>
          <p:cNvSpPr txBox="1"/>
          <p:nvPr/>
        </p:nvSpPr>
        <p:spPr>
          <a:xfrm>
            <a:off x="4648200" y="2246081"/>
            <a:ext cx="431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B. 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For a female, sexfemale = 1, so weight = </a:t>
            </a:r>
            <a:r>
              <a:rPr lang="en-US" sz="1100" dirty="0">
                <a:solidFill>
                  <a:srgbClr val="2E3640"/>
                </a:solidFill>
              </a:rPr>
              <a:t>3.345 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− 0.162 = 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3.183 kg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.</a:t>
            </a:r>
          </a:p>
        </p:txBody>
      </p:sp>
      <p:sp>
        <p:nvSpPr>
          <p:cNvPr id="20" name="Q2Opt0Bg">
            <a:extLst>
              <a:ext uri="{FF2B5EF4-FFF2-40B4-BE49-F238E27FC236}">
                <a16:creationId xmlns:a16="http://schemas.microsoft.com/office/drawing/2014/main" id="{5E5C227E-4F32-D44D-8568-2522C6200F20}"/>
              </a:ext>
            </a:extLst>
          </p:cNvPr>
          <p:cNvSpPr/>
          <p:nvPr/>
        </p:nvSpPr>
        <p:spPr>
          <a:xfrm>
            <a:off x="4607075" y="3058884"/>
            <a:ext cx="4474927" cy="279400"/>
          </a:xfrm>
          <a:prstGeom prst="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Q2Opt0Tx">
            <a:extLst>
              <a:ext uri="{FF2B5EF4-FFF2-40B4-BE49-F238E27FC236}">
                <a16:creationId xmlns:a16="http://schemas.microsoft.com/office/drawing/2014/main" id="{F0935F79-A8F6-1642-880C-4709F452594B}"/>
              </a:ext>
            </a:extLst>
          </p:cNvPr>
          <p:cNvSpPr txBox="1"/>
          <p:nvPr/>
        </p:nvSpPr>
        <p:spPr>
          <a:xfrm>
            <a:off x="4607075" y="3058884"/>
            <a:ext cx="4474927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1) The intercept (3.345) is the mean for the reference group</a:t>
            </a:r>
          </a:p>
        </p:txBody>
      </p:sp>
      <p:sp>
        <p:nvSpPr>
          <p:cNvPr id="22" name="Q2Opt1Bg">
            <a:extLst>
              <a:ext uri="{FF2B5EF4-FFF2-40B4-BE49-F238E27FC236}">
                <a16:creationId xmlns:a16="http://schemas.microsoft.com/office/drawing/2014/main" id="{5D07A078-0A52-A64A-8B86-4CABECA1E55B}"/>
              </a:ext>
            </a:extLst>
          </p:cNvPr>
          <p:cNvSpPr/>
          <p:nvPr/>
        </p:nvSpPr>
        <p:spPr>
          <a:xfrm>
            <a:off x="4607075" y="3376384"/>
            <a:ext cx="4474927" cy="279400"/>
          </a:xfrm>
          <a:prstGeom prst="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2Opt1Tx">
            <a:extLst>
              <a:ext uri="{FF2B5EF4-FFF2-40B4-BE49-F238E27FC236}">
                <a16:creationId xmlns:a16="http://schemas.microsoft.com/office/drawing/2014/main" id="{2F7FB9A1-CEDC-924C-8307-693CE1D32486}"/>
              </a:ext>
            </a:extLst>
          </p:cNvPr>
          <p:cNvSpPr txBox="1"/>
          <p:nvPr/>
        </p:nvSpPr>
        <p:spPr>
          <a:xfrm>
            <a:off x="4607075" y="3376384"/>
            <a:ext cx="4474927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2) The reference group lacks a row in the regression output</a:t>
            </a:r>
          </a:p>
        </p:txBody>
      </p:sp>
      <p:sp>
        <p:nvSpPr>
          <p:cNvPr id="24" name="Q2Opt2Bg">
            <a:extLst>
              <a:ext uri="{FF2B5EF4-FFF2-40B4-BE49-F238E27FC236}">
                <a16:creationId xmlns:a16="http://schemas.microsoft.com/office/drawing/2014/main" id="{36F91FD4-3A9A-314D-8058-C62CA25A909D}"/>
              </a:ext>
            </a:extLst>
          </p:cNvPr>
          <p:cNvSpPr/>
          <p:nvPr/>
        </p:nvSpPr>
        <p:spPr>
          <a:xfrm>
            <a:off x="4607075" y="3693884"/>
            <a:ext cx="4474927" cy="430892"/>
          </a:xfrm>
          <a:prstGeom prst="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Q2Opt2Tx">
            <a:extLst>
              <a:ext uri="{FF2B5EF4-FFF2-40B4-BE49-F238E27FC236}">
                <a16:creationId xmlns:a16="http://schemas.microsoft.com/office/drawing/2014/main" id="{FB50DCDD-0C30-114C-AA44-FD985A82DE81}"/>
              </a:ext>
            </a:extLst>
          </p:cNvPr>
          <p:cNvSpPr txBox="1"/>
          <p:nvPr/>
        </p:nvSpPr>
        <p:spPr>
          <a:xfrm>
            <a:off x="4607075" y="3714751"/>
            <a:ext cx="4474927" cy="430892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3) To get the non-reference group mean, calculate 3.345 –0.162 kg</a:t>
            </a:r>
          </a:p>
        </p:txBody>
      </p:sp>
      <p:sp>
        <p:nvSpPr>
          <p:cNvPr id="28" name="Q2Opt4Bg">
            <a:extLst>
              <a:ext uri="{FF2B5EF4-FFF2-40B4-BE49-F238E27FC236}">
                <a16:creationId xmlns:a16="http://schemas.microsoft.com/office/drawing/2014/main" id="{D5AB7E7A-E738-F244-9FB2-1C592E8D5823}"/>
              </a:ext>
            </a:extLst>
          </p:cNvPr>
          <p:cNvSpPr/>
          <p:nvPr/>
        </p:nvSpPr>
        <p:spPr>
          <a:xfrm>
            <a:off x="4607075" y="4183743"/>
            <a:ext cx="4474927" cy="279400"/>
          </a:xfrm>
          <a:prstGeom prst="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Q2Opt4Tx">
            <a:extLst>
              <a:ext uri="{FF2B5EF4-FFF2-40B4-BE49-F238E27FC236}">
                <a16:creationId xmlns:a16="http://schemas.microsoft.com/office/drawing/2014/main" id="{134AC420-09C6-C042-990D-B5D3F617E46A}"/>
              </a:ext>
            </a:extLst>
          </p:cNvPr>
          <p:cNvSpPr txBox="1"/>
          <p:nvPr/>
        </p:nvSpPr>
        <p:spPr>
          <a:xfrm>
            <a:off x="4607075" y="4183743"/>
            <a:ext cx="4474927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4) The intercept does not depend on the reference group.</a:t>
            </a:r>
          </a:p>
        </p:txBody>
      </p:sp>
      <p:sp>
        <p:nvSpPr>
          <p:cNvPr id="30" name="Q2AnsBg">
            <a:extLst>
              <a:ext uri="{FF2B5EF4-FFF2-40B4-BE49-F238E27FC236}">
                <a16:creationId xmlns:a16="http://schemas.microsoft.com/office/drawing/2014/main" id="{E455ACEB-C560-284D-B626-4783DBDB1392}"/>
              </a:ext>
            </a:extLst>
          </p:cNvPr>
          <p:cNvSpPr/>
          <p:nvPr/>
        </p:nvSpPr>
        <p:spPr>
          <a:xfrm>
            <a:off x="4607076" y="4501243"/>
            <a:ext cx="4216400" cy="501651"/>
          </a:xfrm>
          <a:prstGeom prst="rect">
            <a:avLst/>
          </a:prstGeom>
          <a:solidFill>
            <a:srgbClr val="EAF4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Q2AnsTx">
            <a:extLst>
              <a:ext uri="{FF2B5EF4-FFF2-40B4-BE49-F238E27FC236}">
                <a16:creationId xmlns:a16="http://schemas.microsoft.com/office/drawing/2014/main" id="{946F7DCB-EC06-234A-B4D7-B18F6C92252B}"/>
              </a:ext>
            </a:extLst>
          </p:cNvPr>
          <p:cNvSpPr txBox="1"/>
          <p:nvPr/>
        </p:nvSpPr>
        <p:spPr>
          <a:xfrm>
            <a:off x="4607076" y="4501243"/>
            <a:ext cx="4216400" cy="663123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4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latin typeface="Open Sans"/>
              </a:rPr>
              <a:t>The intercept DOES depend on the reference group</a:t>
            </a:r>
          </a:p>
        </p:txBody>
      </p:sp>
      <p:sp>
        <p:nvSpPr>
          <p:cNvPr id="10" name="RCodeBg">
            <a:extLst>
              <a:ext uri="{FF2B5EF4-FFF2-40B4-BE49-F238E27FC236}">
                <a16:creationId xmlns:a16="http://schemas.microsoft.com/office/drawing/2014/main" id="{26EF4A52-FFED-2D43-B75F-8D88E4F1A05D}"/>
              </a:ext>
            </a:extLst>
          </p:cNvPr>
          <p:cNvSpPr/>
          <p:nvPr/>
        </p:nvSpPr>
        <p:spPr>
          <a:xfrm>
            <a:off x="4572000" y="166918"/>
            <a:ext cx="4590136" cy="1046836"/>
          </a:xfrm>
          <a:prstGeom prst="rect">
            <a:avLst/>
          </a:prstGeom>
          <a:solidFill>
            <a:srgbClr val="F4F7F8"/>
          </a:solidFill>
          <a:ln w="6350" cap="flat" cmpd="sng" algn="ctr">
            <a:solidFill>
              <a:srgbClr val="D9E2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sz="1100" b="1" dirty="0">
                <a:solidFill>
                  <a:srgbClr val="2E6B75"/>
                </a:solidFill>
                <a:latin typeface="Consolas"/>
                <a:cs typeface="Consolas"/>
              </a:rPr>
              <a:t>births &lt;- births14 %&gt;%
  mutate(</a:t>
            </a:r>
            <a:r>
              <a:rPr lang="en-US" sz="1100" b="1" dirty="0" err="1">
                <a:solidFill>
                  <a:srgbClr val="2E6B75"/>
                </a:solidFill>
                <a:latin typeface="Consolas"/>
                <a:cs typeface="Consolas"/>
              </a:rPr>
              <a:t>weight_kg</a:t>
            </a:r>
            <a:r>
              <a:rPr lang="en-US" sz="1100" b="1" dirty="0">
                <a:solidFill>
                  <a:srgbClr val="2E6B75"/>
                </a:solidFill>
                <a:latin typeface="Consolas"/>
                <a:cs typeface="Consolas"/>
              </a:rPr>
              <a:t> = weight * 0.45359,
    sex = factor(sex, levels = c("male", "female")))
mod &lt;- </a:t>
            </a:r>
            <a:r>
              <a:rPr lang="en-US" sz="1100" b="1" dirty="0" err="1">
                <a:solidFill>
                  <a:srgbClr val="2E6B75"/>
                </a:solidFill>
                <a:latin typeface="Consolas"/>
                <a:cs typeface="Consolas"/>
              </a:rPr>
              <a:t>lm</a:t>
            </a:r>
            <a:r>
              <a:rPr lang="en-US" sz="1100" b="1" dirty="0">
                <a:solidFill>
                  <a:srgbClr val="2E6B75"/>
                </a:solidFill>
                <a:latin typeface="Consolas"/>
                <a:cs typeface="Consolas"/>
              </a:rPr>
              <a:t>(</a:t>
            </a:r>
            <a:r>
              <a:rPr lang="en-US" sz="1100" b="1" dirty="0" err="1">
                <a:solidFill>
                  <a:srgbClr val="2E6B75"/>
                </a:solidFill>
                <a:latin typeface="Consolas"/>
                <a:cs typeface="Consolas"/>
              </a:rPr>
              <a:t>weight_kg</a:t>
            </a:r>
            <a:r>
              <a:rPr lang="en-US" sz="1100" b="1" dirty="0">
                <a:solidFill>
                  <a:srgbClr val="2E6B75"/>
                </a:solidFill>
                <a:latin typeface="Consolas"/>
                <a:cs typeface="Consolas"/>
              </a:rPr>
              <a:t> ~ sex, data = births)
summary(mod)</a:t>
            </a:r>
          </a:p>
          <a:p>
            <a:pPr algn="l"/>
            <a:endParaRPr lang="en-US" sz="1100" b="1" dirty="0"/>
          </a:p>
        </p:txBody>
      </p:sp>
      <p:sp>
        <p:nvSpPr>
          <p:cNvPr id="17" name="RCodeBg">
            <a:extLst>
              <a:ext uri="{FF2B5EF4-FFF2-40B4-BE49-F238E27FC236}">
                <a16:creationId xmlns:a16="http://schemas.microsoft.com/office/drawing/2014/main" id="{BCD26724-59D3-C092-B74C-50725F1801EA}"/>
              </a:ext>
            </a:extLst>
          </p:cNvPr>
          <p:cNvSpPr/>
          <p:nvPr/>
        </p:nvSpPr>
        <p:spPr>
          <a:xfrm>
            <a:off x="186846" y="841373"/>
            <a:ext cx="4216400" cy="745672"/>
          </a:xfrm>
          <a:prstGeom prst="rect">
            <a:avLst/>
          </a:prstGeom>
          <a:solidFill>
            <a:srgbClr val="F4F7F8"/>
          </a:solidFill>
          <a:ln w="6350" cap="flat" cmpd="sng" algn="ctr">
            <a:solidFill>
              <a:srgbClr val="D9E2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sz="1100" b="1" dirty="0">
                <a:solidFill>
                  <a:schemeClr val="tx1"/>
                </a:solidFill>
                <a:latin typeface="Consolas"/>
                <a:cs typeface="Consolas"/>
              </a:rPr>
              <a:t>            Estimate Std. Error t value </a:t>
            </a:r>
            <a:r>
              <a:rPr lang="en-US" sz="1100" b="1" dirty="0" err="1">
                <a:solidFill>
                  <a:schemeClr val="tx1"/>
                </a:solidFill>
                <a:latin typeface="Consolas"/>
                <a:cs typeface="Consolas"/>
              </a:rPr>
              <a:t>Pr</a:t>
            </a:r>
            <a:r>
              <a:rPr lang="en-US" sz="1100" b="1" dirty="0">
                <a:solidFill>
                  <a:schemeClr val="tx1"/>
                </a:solidFill>
                <a:latin typeface="Consolas"/>
                <a:cs typeface="Consolas"/>
              </a:rPr>
              <a:t>(&gt;|t|)   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/>
                <a:cs typeface="Consolas"/>
              </a:rPr>
              <a:t>(Intercept)  3.34545    0.02614 127.979  &lt; 2e-16 ***</a:t>
            </a:r>
          </a:p>
          <a:p>
            <a:r>
              <a:rPr lang="en-US" sz="1100" b="1" dirty="0" err="1">
                <a:solidFill>
                  <a:schemeClr val="tx1"/>
                </a:solidFill>
                <a:latin typeface="Consolas"/>
                <a:cs typeface="Consolas"/>
              </a:rPr>
              <a:t>sexfemale</a:t>
            </a:r>
            <a:r>
              <a:rPr lang="en-US" sz="1100" b="1" dirty="0">
                <a:solidFill>
                  <a:schemeClr val="tx1"/>
                </a:solidFill>
                <a:latin typeface="Consolas"/>
                <a:cs typeface="Consolas"/>
              </a:rPr>
              <a:t>   -0.16249    0.03715  -4.373 1.35e-05 ***</a:t>
            </a:r>
          </a:p>
          <a:p>
            <a:pPr algn="l"/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34" name="Q1EqBox">
            <a:extLst>
              <a:ext uri="{FF2B5EF4-FFF2-40B4-BE49-F238E27FC236}">
                <a16:creationId xmlns:a16="http://schemas.microsoft.com/office/drawing/2014/main" id="{179419B6-ED3C-9E46-A575-1D52F68A4179}"/>
              </a:ext>
            </a:extLst>
          </p:cNvPr>
          <p:cNvSpPr/>
          <p:nvPr/>
        </p:nvSpPr>
        <p:spPr>
          <a:xfrm>
            <a:off x="1575359" y="2015543"/>
            <a:ext cx="2844800" cy="546100"/>
          </a:xfrm>
          <a:prstGeom prst="rect">
            <a:avLst/>
          </a:prstGeom>
          <a:solidFill>
            <a:srgbClr val="F5F8F9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tIns="36000" rIns="45720" bIns="3600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1" u="sng" dirty="0">
                <a:solidFill>
                  <a:srgbClr val="2E3640"/>
                </a:solidFill>
                <a:latin typeface="Cambria Math"/>
              </a:rPr>
              <a:t>weight_kg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= </a:t>
            </a:r>
            <a:r>
              <a:rPr lang="en-GB" sz="1300" b="1" dirty="0">
                <a:solidFill>
                  <a:srgbClr val="2D6B75"/>
                </a:solidFill>
                <a:latin typeface="Cambria Math"/>
              </a:rPr>
              <a:t>3.345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</a:t>
            </a:r>
            <a:r>
              <a:rPr lang="en-GB" sz="1300" b="1" dirty="0">
                <a:solidFill>
                  <a:srgbClr val="DFA019"/>
                </a:solidFill>
                <a:latin typeface="Cambria Math"/>
              </a:rPr>
              <a:t>−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</a:t>
            </a:r>
            <a:r>
              <a:rPr lang="en-GB" sz="1300" b="1" dirty="0">
                <a:solidFill>
                  <a:srgbClr val="DFA019"/>
                </a:solidFill>
                <a:latin typeface="Cambria Math"/>
              </a:rPr>
              <a:t>0.162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· </a:t>
            </a:r>
            <a:r>
              <a:rPr lang="en-GB" sz="1300" dirty="0" err="1">
                <a:solidFill>
                  <a:srgbClr val="2E3640"/>
                </a:solidFill>
                <a:latin typeface="Cambria Math"/>
              </a:rPr>
              <a:t>sex</a:t>
            </a:r>
            <a:r>
              <a:rPr lang="en-GB" sz="1300" i="1" baseline="-25000" dirty="0" err="1">
                <a:solidFill>
                  <a:srgbClr val="2E3640"/>
                </a:solidFill>
                <a:latin typeface="Cambria Math"/>
              </a:rPr>
              <a:t>female</a:t>
            </a:r>
            <a:endParaRPr lang="en-GB" sz="1300" i="1" baseline="-25000" dirty="0">
              <a:solidFill>
                <a:srgbClr val="2E3640"/>
              </a:solidFill>
              <a:latin typeface="Cambria Math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F22728-B78E-E92C-CA2A-2456B04E2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68" y="2611254"/>
            <a:ext cx="3325201" cy="183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4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  <p:bldP spid="2" grpId="0" animBg="1"/>
      <p:bldP spid="3" grpId="0" animBg="1"/>
      <p:bldP spid="5" grpId="0" animBg="1"/>
      <p:bldP spid="7" grpId="0"/>
      <p:bldP spid="8" grpId="0" animBg="1"/>
      <p:bldP spid="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8" grpId="0" animBg="1"/>
      <p:bldP spid="29" grpId="0"/>
      <p:bldP spid="30" grpId="0" animBg="1"/>
      <p:bldP spid="31" grpId="0"/>
      <p:bldP spid="10" grpId="0" animBg="1"/>
      <p:bldP spid="17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956F-1EE7-E052-535F-013A352F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6CD3B9BA-135A-E780-892F-F771CDE6E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6" y="182290"/>
            <a:ext cx="7886700" cy="320218"/>
          </a:xfrm>
        </p:spPr>
        <p:txBody>
          <a:bodyPr anchor="ctr" anchorCtr="0">
            <a:normAutofit fontScale="90000"/>
          </a:bodyPr>
          <a:lstStyle/>
          <a:p>
            <a:pPr marL="0" indent="0">
              <a:buNone/>
            </a:pPr>
            <a:r>
              <a:rPr lang="en-US" altLang="en-US" dirty="0"/>
              <a:t>Practice: Smoking &amp; birth weight</a:t>
            </a:r>
          </a:p>
        </p:txBody>
      </p:sp>
      <p:sp>
        <p:nvSpPr>
          <p:cNvPr id="4" name="Setup">
            <a:extLst>
              <a:ext uri="{FF2B5EF4-FFF2-40B4-BE49-F238E27FC236}">
                <a16:creationId xmlns:a16="http://schemas.microsoft.com/office/drawing/2014/main" id="{E883E27B-59A5-F333-0B44-EDD392B82EDD}"/>
              </a:ext>
            </a:extLst>
          </p:cNvPr>
          <p:cNvSpPr/>
          <p:nvPr/>
        </p:nvSpPr>
        <p:spPr>
          <a:xfrm>
            <a:off x="228599" y="558800"/>
            <a:ext cx="8196939" cy="2222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E3640"/>
                </a:solidFill>
                <a:latin typeface="Open Sans"/>
              </a:rPr>
              <a:t>A model fit on the births data, with nonsmoker as the reference:</a:t>
            </a:r>
          </a:p>
        </p:txBody>
      </p:sp>
      <p:cxnSp>
        <p:nvCxnSpPr>
          <p:cNvPr id="11" name="Divider">
            <a:extLst>
              <a:ext uri="{FF2B5EF4-FFF2-40B4-BE49-F238E27FC236}">
                <a16:creationId xmlns:a16="http://schemas.microsoft.com/office/drawing/2014/main" id="{A5DCB46C-E132-9667-F63F-23A95950F174}"/>
              </a:ext>
            </a:extLst>
          </p:cNvPr>
          <p:cNvCxnSpPr/>
          <p:nvPr/>
        </p:nvCxnSpPr>
        <p:spPr>
          <a:xfrm>
            <a:off x="4559579" y="1435100"/>
            <a:ext cx="0" cy="355600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2" name="Q1Hdr">
            <a:extLst>
              <a:ext uri="{FF2B5EF4-FFF2-40B4-BE49-F238E27FC236}">
                <a16:creationId xmlns:a16="http://schemas.microsoft.com/office/drawing/2014/main" id="{2D423691-D33F-9D4D-810E-C1FA0D8B8FDD}"/>
              </a:ext>
            </a:extLst>
          </p:cNvPr>
          <p:cNvSpPr/>
          <p:nvPr/>
        </p:nvSpPr>
        <p:spPr>
          <a:xfrm>
            <a:off x="102159" y="1658127"/>
            <a:ext cx="4318000" cy="2921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 fontScale="85000" lnSpcReduction="1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Q1.  What is the mean weight for a nonsmoker's baby?</a:t>
            </a:r>
          </a:p>
        </p:txBody>
      </p:sp>
      <p:sp>
        <p:nvSpPr>
          <p:cNvPr id="13" name="Q1OptA">
            <a:extLst>
              <a:ext uri="{FF2B5EF4-FFF2-40B4-BE49-F238E27FC236}">
                <a16:creationId xmlns:a16="http://schemas.microsoft.com/office/drawing/2014/main" id="{2A74383C-3BEA-740E-E8F9-BCACB04F7B1C}"/>
              </a:ext>
            </a:extLst>
          </p:cNvPr>
          <p:cNvSpPr/>
          <p:nvPr/>
        </p:nvSpPr>
        <p:spPr>
          <a:xfrm>
            <a:off x="152959" y="2013727"/>
            <a:ext cx="1249132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A) 3.298 kg</a:t>
            </a:r>
          </a:p>
        </p:txBody>
      </p:sp>
      <p:sp>
        <p:nvSpPr>
          <p:cNvPr id="14" name="Q1OptB">
            <a:extLst>
              <a:ext uri="{FF2B5EF4-FFF2-40B4-BE49-F238E27FC236}">
                <a16:creationId xmlns:a16="http://schemas.microsoft.com/office/drawing/2014/main" id="{A24A3485-9259-E773-A486-EADAB5074EA0}"/>
              </a:ext>
            </a:extLst>
          </p:cNvPr>
          <p:cNvSpPr/>
          <p:nvPr/>
        </p:nvSpPr>
        <p:spPr>
          <a:xfrm>
            <a:off x="152959" y="2305827"/>
            <a:ext cx="1249132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B) 3.029 kg</a:t>
            </a:r>
          </a:p>
        </p:txBody>
      </p:sp>
      <p:sp>
        <p:nvSpPr>
          <p:cNvPr id="16" name="Q2Hdr">
            <a:extLst>
              <a:ext uri="{FF2B5EF4-FFF2-40B4-BE49-F238E27FC236}">
                <a16:creationId xmlns:a16="http://schemas.microsoft.com/office/drawing/2014/main" id="{563C03AC-4A47-E57D-4837-D0EBFCE3DD87}"/>
              </a:ext>
            </a:extLst>
          </p:cNvPr>
          <p:cNvSpPr/>
          <p:nvPr/>
        </p:nvSpPr>
        <p:spPr>
          <a:xfrm>
            <a:off x="4607076" y="2715982"/>
            <a:ext cx="4474926" cy="279401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Q3.  How should we interpret the slope (−0.269)?</a:t>
            </a:r>
          </a:p>
        </p:txBody>
      </p:sp>
      <p:sp>
        <p:nvSpPr>
          <p:cNvPr id="2" name="Q1Hdr">
            <a:extLst>
              <a:ext uri="{FF2B5EF4-FFF2-40B4-BE49-F238E27FC236}">
                <a16:creationId xmlns:a16="http://schemas.microsoft.com/office/drawing/2014/main" id="{38DEF5E4-FF5A-A8C6-BECE-F9BC7677F2E2}"/>
              </a:ext>
            </a:extLst>
          </p:cNvPr>
          <p:cNvSpPr/>
          <p:nvPr/>
        </p:nvSpPr>
        <p:spPr>
          <a:xfrm>
            <a:off x="4648200" y="1317164"/>
            <a:ext cx="4318000" cy="255816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Q2.  What is the mean weight for a smoker's baby?</a:t>
            </a:r>
          </a:p>
        </p:txBody>
      </p:sp>
      <p:sp>
        <p:nvSpPr>
          <p:cNvPr id="3" name="Q1OptA">
            <a:extLst>
              <a:ext uri="{FF2B5EF4-FFF2-40B4-BE49-F238E27FC236}">
                <a16:creationId xmlns:a16="http://schemas.microsoft.com/office/drawing/2014/main" id="{3E069482-40A1-6A3B-9D12-B3C3519D4D8A}"/>
              </a:ext>
            </a:extLst>
          </p:cNvPr>
          <p:cNvSpPr/>
          <p:nvPr/>
        </p:nvSpPr>
        <p:spPr>
          <a:xfrm>
            <a:off x="4699000" y="1636480"/>
            <a:ext cx="42164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A) 3.567 kg</a:t>
            </a:r>
          </a:p>
        </p:txBody>
      </p:sp>
      <p:sp>
        <p:nvSpPr>
          <p:cNvPr id="5" name="Q1OptB">
            <a:extLst>
              <a:ext uri="{FF2B5EF4-FFF2-40B4-BE49-F238E27FC236}">
                <a16:creationId xmlns:a16="http://schemas.microsoft.com/office/drawing/2014/main" id="{FFEED2E7-02B2-74DB-0B43-53B784CAC053}"/>
              </a:ext>
            </a:extLst>
          </p:cNvPr>
          <p:cNvSpPr/>
          <p:nvPr/>
        </p:nvSpPr>
        <p:spPr>
          <a:xfrm>
            <a:off x="4699000" y="1928580"/>
            <a:ext cx="42164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B) 3.029 kg</a:t>
            </a:r>
          </a:p>
        </p:txBody>
      </p:sp>
      <p:sp>
        <p:nvSpPr>
          <p:cNvPr id="6" name="Q1AnsBg">
            <a:extLst>
              <a:ext uri="{FF2B5EF4-FFF2-40B4-BE49-F238E27FC236}">
                <a16:creationId xmlns:a16="http://schemas.microsoft.com/office/drawing/2014/main" id="{1B5C8215-933F-CC47-BD98-643F43B02D8C}"/>
              </a:ext>
            </a:extLst>
          </p:cNvPr>
          <p:cNvSpPr/>
          <p:nvPr/>
        </p:nvSpPr>
        <p:spPr>
          <a:xfrm>
            <a:off x="136046" y="4495800"/>
            <a:ext cx="4318000" cy="440869"/>
          </a:xfrm>
          <a:prstGeom prst="rect">
            <a:avLst/>
          </a:prstGeom>
          <a:solidFill>
            <a:srgbClr val="EAF4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1AnsTx">
            <a:extLst>
              <a:ext uri="{FF2B5EF4-FFF2-40B4-BE49-F238E27FC236}">
                <a16:creationId xmlns:a16="http://schemas.microsoft.com/office/drawing/2014/main" id="{C0B7DD1B-CC64-604E-824B-7F2E54F68B9C}"/>
              </a:ext>
            </a:extLst>
          </p:cNvPr>
          <p:cNvSpPr txBox="1"/>
          <p:nvPr/>
        </p:nvSpPr>
        <p:spPr>
          <a:xfrm>
            <a:off x="102159" y="4495800"/>
            <a:ext cx="4318000" cy="44086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A. 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habitsmoker = 0, so weight = 3.298 + 0 = 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3.298 kg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 (the reference group's mean).</a:t>
            </a:r>
          </a:p>
        </p:txBody>
      </p:sp>
      <p:sp>
        <p:nvSpPr>
          <p:cNvPr id="8" name="Q3AnsBg">
            <a:extLst>
              <a:ext uri="{FF2B5EF4-FFF2-40B4-BE49-F238E27FC236}">
                <a16:creationId xmlns:a16="http://schemas.microsoft.com/office/drawing/2014/main" id="{578E369D-0D6D-9849-8A60-33DF553FA7CE}"/>
              </a:ext>
            </a:extLst>
          </p:cNvPr>
          <p:cNvSpPr/>
          <p:nvPr/>
        </p:nvSpPr>
        <p:spPr>
          <a:xfrm>
            <a:off x="4648200" y="2246081"/>
            <a:ext cx="4318000" cy="406400"/>
          </a:xfrm>
          <a:prstGeom prst="rect">
            <a:avLst/>
          </a:prstGeom>
          <a:solidFill>
            <a:srgbClr val="EAF4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Q3AnsTx">
            <a:extLst>
              <a:ext uri="{FF2B5EF4-FFF2-40B4-BE49-F238E27FC236}">
                <a16:creationId xmlns:a16="http://schemas.microsoft.com/office/drawing/2014/main" id="{B796E2BF-A693-D94B-A061-84BE9B170046}"/>
              </a:ext>
            </a:extLst>
          </p:cNvPr>
          <p:cNvSpPr txBox="1"/>
          <p:nvPr/>
        </p:nvSpPr>
        <p:spPr>
          <a:xfrm>
            <a:off x="4648200" y="2246081"/>
            <a:ext cx="431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B. 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habitsmoker = 1, so 3.298 − 0.269 = 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3.029 kg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.</a:t>
            </a:r>
          </a:p>
        </p:txBody>
      </p:sp>
      <p:sp>
        <p:nvSpPr>
          <p:cNvPr id="20" name="Q2Opt0Bg">
            <a:extLst>
              <a:ext uri="{FF2B5EF4-FFF2-40B4-BE49-F238E27FC236}">
                <a16:creationId xmlns:a16="http://schemas.microsoft.com/office/drawing/2014/main" id="{5E5C227E-4F32-D44D-8568-2522C6200F20}"/>
              </a:ext>
            </a:extLst>
          </p:cNvPr>
          <p:cNvSpPr/>
          <p:nvPr/>
        </p:nvSpPr>
        <p:spPr>
          <a:xfrm>
            <a:off x="4607075" y="3058884"/>
            <a:ext cx="4474927" cy="279400"/>
          </a:xfrm>
          <a:prstGeom prst="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Q2Opt0Tx">
            <a:extLst>
              <a:ext uri="{FF2B5EF4-FFF2-40B4-BE49-F238E27FC236}">
                <a16:creationId xmlns:a16="http://schemas.microsoft.com/office/drawing/2014/main" id="{F0935F79-A8F6-1642-880C-4709F452594B}"/>
              </a:ext>
            </a:extLst>
          </p:cNvPr>
          <p:cNvSpPr txBox="1"/>
          <p:nvPr/>
        </p:nvSpPr>
        <p:spPr>
          <a:xfrm>
            <a:off x="4607075" y="3058884"/>
            <a:ext cx="4474927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Smokers' babies weigh 0.269 kg more on average</a:t>
            </a:r>
          </a:p>
        </p:txBody>
      </p:sp>
      <p:sp>
        <p:nvSpPr>
          <p:cNvPr id="22" name="Q2Opt1Bg">
            <a:extLst>
              <a:ext uri="{FF2B5EF4-FFF2-40B4-BE49-F238E27FC236}">
                <a16:creationId xmlns:a16="http://schemas.microsoft.com/office/drawing/2014/main" id="{5D07A078-0A52-A64A-8B86-4CABECA1E55B}"/>
              </a:ext>
            </a:extLst>
          </p:cNvPr>
          <p:cNvSpPr/>
          <p:nvPr/>
        </p:nvSpPr>
        <p:spPr>
          <a:xfrm>
            <a:off x="4607075" y="3376384"/>
            <a:ext cx="4474927" cy="279400"/>
          </a:xfrm>
          <a:prstGeom prst="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2Opt1Tx">
            <a:extLst>
              <a:ext uri="{FF2B5EF4-FFF2-40B4-BE49-F238E27FC236}">
                <a16:creationId xmlns:a16="http://schemas.microsoft.com/office/drawing/2014/main" id="{2F7FB9A1-CEDC-924C-8307-693CE1D32486}"/>
              </a:ext>
            </a:extLst>
          </p:cNvPr>
          <p:cNvSpPr txBox="1"/>
          <p:nvPr/>
        </p:nvSpPr>
        <p:spPr>
          <a:xfrm>
            <a:off x="4607075" y="3376384"/>
            <a:ext cx="4474927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Smokers' babies weigh 0.269 kg less on average</a:t>
            </a:r>
          </a:p>
        </p:txBody>
      </p:sp>
      <p:sp>
        <p:nvSpPr>
          <p:cNvPr id="24" name="Q2Opt2Bg">
            <a:extLst>
              <a:ext uri="{FF2B5EF4-FFF2-40B4-BE49-F238E27FC236}">
                <a16:creationId xmlns:a16="http://schemas.microsoft.com/office/drawing/2014/main" id="{36F91FD4-3A9A-314D-8058-C62CA25A909D}"/>
              </a:ext>
            </a:extLst>
          </p:cNvPr>
          <p:cNvSpPr/>
          <p:nvPr/>
        </p:nvSpPr>
        <p:spPr>
          <a:xfrm>
            <a:off x="4607075" y="3693884"/>
            <a:ext cx="4474927" cy="331037"/>
          </a:xfrm>
          <a:prstGeom prst="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Q2Opt2Tx">
            <a:extLst>
              <a:ext uri="{FF2B5EF4-FFF2-40B4-BE49-F238E27FC236}">
                <a16:creationId xmlns:a16="http://schemas.microsoft.com/office/drawing/2014/main" id="{FB50DCDD-0C30-114C-AA44-FD985A82DE81}"/>
              </a:ext>
            </a:extLst>
          </p:cNvPr>
          <p:cNvSpPr txBox="1"/>
          <p:nvPr/>
        </p:nvSpPr>
        <p:spPr>
          <a:xfrm>
            <a:off x="4607075" y="3714751"/>
            <a:ext cx="4474927" cy="31017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C) Smoking causes a 0.269 kg drop in birth weight</a:t>
            </a:r>
          </a:p>
        </p:txBody>
      </p:sp>
      <p:sp>
        <p:nvSpPr>
          <p:cNvPr id="30" name="Q2AnsBg">
            <a:extLst>
              <a:ext uri="{FF2B5EF4-FFF2-40B4-BE49-F238E27FC236}">
                <a16:creationId xmlns:a16="http://schemas.microsoft.com/office/drawing/2014/main" id="{E455ACEB-C560-284D-B626-4783DBDB1392}"/>
              </a:ext>
            </a:extLst>
          </p:cNvPr>
          <p:cNvSpPr/>
          <p:nvPr/>
        </p:nvSpPr>
        <p:spPr>
          <a:xfrm>
            <a:off x="4607075" y="4138385"/>
            <a:ext cx="4216400" cy="427129"/>
          </a:xfrm>
          <a:prstGeom prst="rect">
            <a:avLst/>
          </a:prstGeom>
          <a:solidFill>
            <a:srgbClr val="EAF4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Q2AnsTx">
            <a:extLst>
              <a:ext uri="{FF2B5EF4-FFF2-40B4-BE49-F238E27FC236}">
                <a16:creationId xmlns:a16="http://schemas.microsoft.com/office/drawing/2014/main" id="{946F7DCB-EC06-234A-B4D7-B18F6C92252B}"/>
              </a:ext>
            </a:extLst>
          </p:cNvPr>
          <p:cNvSpPr txBox="1"/>
          <p:nvPr/>
        </p:nvSpPr>
        <p:spPr>
          <a:xfrm>
            <a:off x="4607075" y="4213336"/>
            <a:ext cx="4216400" cy="34468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B.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 The slope is an association, not a causal effect.</a:t>
            </a:r>
          </a:p>
        </p:txBody>
      </p:sp>
      <p:sp>
        <p:nvSpPr>
          <p:cNvPr id="10" name="RCodeBg">
            <a:extLst>
              <a:ext uri="{FF2B5EF4-FFF2-40B4-BE49-F238E27FC236}">
                <a16:creationId xmlns:a16="http://schemas.microsoft.com/office/drawing/2014/main" id="{26EF4A52-FFED-2D43-B75F-8D88E4F1A05D}"/>
              </a:ext>
            </a:extLst>
          </p:cNvPr>
          <p:cNvSpPr/>
          <p:nvPr/>
        </p:nvSpPr>
        <p:spPr>
          <a:xfrm>
            <a:off x="4572000" y="166918"/>
            <a:ext cx="4590136" cy="1046836"/>
          </a:xfrm>
          <a:prstGeom prst="rect">
            <a:avLst/>
          </a:prstGeom>
          <a:solidFill>
            <a:srgbClr val="F4F7F8"/>
          </a:solidFill>
          <a:ln w="6350" cap="flat" cmpd="sng" algn="ctr">
            <a:solidFill>
              <a:srgbClr val="D9E2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sz="1050" b="1" dirty="0">
                <a:solidFill>
                  <a:srgbClr val="2E6B75"/>
                </a:solidFill>
                <a:latin typeface="Consolas"/>
                <a:cs typeface="Consolas"/>
              </a:rPr>
              <a:t>births &lt;- births14 %&gt;%
  mutate(weight_kg = weight * 0.45359,
    habit = factor(habit, levels = c("nonsmoker","smoker")))
</a:t>
            </a:r>
          </a:p>
          <a:p>
            <a:r>
              <a:rPr lang="en-US" sz="1050" b="1" dirty="0">
                <a:solidFill>
                  <a:srgbClr val="2E6B75"/>
                </a:solidFill>
                <a:latin typeface="Consolas"/>
                <a:cs typeface="Consolas"/>
              </a:rPr>
              <a:t>mod &lt;- lm(weight_kg ~ habit, data = births)
summary(mod)</a:t>
            </a:r>
          </a:p>
        </p:txBody>
      </p:sp>
      <p:sp>
        <p:nvSpPr>
          <p:cNvPr id="17" name="RCodeBg">
            <a:extLst>
              <a:ext uri="{FF2B5EF4-FFF2-40B4-BE49-F238E27FC236}">
                <a16:creationId xmlns:a16="http://schemas.microsoft.com/office/drawing/2014/main" id="{BCD26724-59D3-C092-B74C-50725F1801EA}"/>
              </a:ext>
            </a:extLst>
          </p:cNvPr>
          <p:cNvSpPr/>
          <p:nvPr/>
        </p:nvSpPr>
        <p:spPr>
          <a:xfrm>
            <a:off x="186845" y="841373"/>
            <a:ext cx="4325233" cy="745672"/>
          </a:xfrm>
          <a:prstGeom prst="rect">
            <a:avLst/>
          </a:prstGeom>
          <a:solidFill>
            <a:srgbClr val="F4F7F8"/>
          </a:solidFill>
          <a:ln w="6350" cap="flat" cmpd="sng" algn="ctr">
            <a:solidFill>
              <a:srgbClr val="D9E2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r>
              <a:rPr lang="en-US" sz="1100" b="1" dirty="0">
                <a:solidFill>
                  <a:schemeClr val="tx1"/>
                </a:solidFill>
                <a:latin typeface="Consolas"/>
                <a:cs typeface="Consolas"/>
              </a:rPr>
              <a:t>            Estimate Std. Error t value Pr(&gt;|t|)   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/>
                <a:cs typeface="Consolas"/>
              </a:rPr>
              <a:t>(Intercept)    3.29754    0.01972 167.218  &lt; 2e-16 ***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/>
                <a:cs typeface="Consolas"/>
              </a:rPr>
              <a:t>habitsmoker   -0.26883    0.05785  -4.647 3.82e-06 ***</a:t>
            </a:r>
          </a:p>
        </p:txBody>
      </p:sp>
      <p:sp>
        <p:nvSpPr>
          <p:cNvPr id="34" name="Q1EqBox">
            <a:extLst>
              <a:ext uri="{FF2B5EF4-FFF2-40B4-BE49-F238E27FC236}">
                <a16:creationId xmlns:a16="http://schemas.microsoft.com/office/drawing/2014/main" id="{179419B6-ED3C-9E46-A575-1D52F68A4179}"/>
              </a:ext>
            </a:extLst>
          </p:cNvPr>
          <p:cNvSpPr/>
          <p:nvPr/>
        </p:nvSpPr>
        <p:spPr>
          <a:xfrm>
            <a:off x="1575359" y="2015543"/>
            <a:ext cx="2844800" cy="546100"/>
          </a:xfrm>
          <a:prstGeom prst="rect">
            <a:avLst/>
          </a:prstGeom>
          <a:solidFill>
            <a:srgbClr val="F5F8F9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tIns="36000" rIns="45720" bIns="3600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1" u="sng" dirty="0">
                <a:solidFill>
                  <a:srgbClr val="2E3640"/>
                </a:solidFill>
                <a:latin typeface="Cambria Math"/>
              </a:rPr>
              <a:t>weight_kg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= </a:t>
            </a:r>
            <a:r>
              <a:rPr lang="en-GB" sz="1300" b="1" dirty="0">
                <a:solidFill>
                  <a:srgbClr val="2D6B75"/>
                </a:solidFill>
                <a:latin typeface="Cambria Math"/>
              </a:rPr>
              <a:t>3.298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</a:t>
            </a:r>
            <a:r>
              <a:rPr lang="en-GB" sz="1300" b="1" dirty="0">
                <a:solidFill>
                  <a:srgbClr val="DFA019"/>
                </a:solidFill>
                <a:latin typeface="Cambria Math"/>
              </a:rPr>
              <a:t>−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</a:t>
            </a:r>
            <a:r>
              <a:rPr lang="en-GB" sz="1300" b="1" dirty="0">
                <a:solidFill>
                  <a:srgbClr val="DFA019"/>
                </a:solidFill>
                <a:latin typeface="Cambria Math"/>
              </a:rPr>
              <a:t>0.269</a:t>
            </a:r>
            <a:r>
              <a:rPr lang="en-GB" sz="1300" dirty="0">
                <a:solidFill>
                  <a:srgbClr val="2E3640"/>
                </a:solidFill>
                <a:latin typeface="Cambria Math"/>
              </a:rPr>
              <a:t> · habit</a:t>
            </a:r>
            <a:r>
              <a:rPr lang="en-GB" sz="1300" i="1" baseline="-25000" dirty="0">
                <a:solidFill>
                  <a:srgbClr val="2E3640"/>
                </a:solidFill>
                <a:latin typeface="Cambria Math"/>
              </a:rPr>
              <a:t>smoker</a:t>
            </a:r>
          </a:p>
        </p:txBody>
      </p:sp>
      <p:sp>
        <p:nvSpPr>
          <p:cNvPr id="15" name="EncHdr">
            <a:extLst>
              <a:ext uri="{FF2B5EF4-FFF2-40B4-BE49-F238E27FC236}">
                <a16:creationId xmlns:a16="http://schemas.microsoft.com/office/drawing/2014/main" id="{C13179D4-436D-3547-82B8-0FA8DDE48D71}"/>
              </a:ext>
            </a:extLst>
          </p:cNvPr>
          <p:cNvSpPr/>
          <p:nvPr/>
        </p:nvSpPr>
        <p:spPr>
          <a:xfrm>
            <a:off x="152400" y="2730500"/>
            <a:ext cx="4267200" cy="254000"/>
          </a:xfrm>
          <a:prstGeom prst="rect">
            <a:avLst/>
          </a:prstGeom>
          <a:solidFill>
            <a:srgbClr val="EEF3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tIns="18000" rIns="45720" bIns="1800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2E6B75"/>
                </a:solidFill>
                <a:latin typeface="Consolas"/>
              </a:rPr>
              <a:t>Dummy variable: habitsmoker</a:t>
            </a:r>
          </a:p>
        </p:txBody>
      </p:sp>
      <p:sp>
        <p:nvSpPr>
          <p:cNvPr id="18" name="EncBody">
            <a:extLst>
              <a:ext uri="{FF2B5EF4-FFF2-40B4-BE49-F238E27FC236}">
                <a16:creationId xmlns:a16="http://schemas.microsoft.com/office/drawing/2014/main" id="{57C682B2-5AB5-DF44-BA4A-8136669CCA80}"/>
              </a:ext>
            </a:extLst>
          </p:cNvPr>
          <p:cNvSpPr/>
          <p:nvPr/>
        </p:nvSpPr>
        <p:spPr>
          <a:xfrm>
            <a:off x="152400" y="2984500"/>
            <a:ext cx="4267200" cy="1333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2000" tIns="36000" rIns="45720" bIns="36000" rtlCol="0" anchor="ctr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b="1" dirty="0">
                <a:solidFill>
                  <a:srgbClr val="2E3640"/>
                </a:solidFill>
              </a:rPr>
              <a:t>habitsmoker = 0 </a:t>
            </a:r>
            <a:r>
              <a:rPr lang="en-GB" sz="1100" dirty="0">
                <a:solidFill>
                  <a:srgbClr val="2E3640"/>
                </a:solidFill>
              </a:rPr>
              <a:t>(nonsmoker, the reference):</a:t>
            </a:r>
          </a:p>
          <a:p>
            <a:pPr marL="18000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2E3640"/>
                </a:solidFill>
              </a:rPr>
              <a:t>ŷ = 3.298 − 0.269·0 = </a:t>
            </a:r>
            <a:r>
              <a:rPr lang="en-GB" sz="1100" b="1" dirty="0">
                <a:solidFill>
                  <a:srgbClr val="2D6B75"/>
                </a:solidFill>
              </a:rPr>
              <a:t>3.298 kg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b="1" dirty="0">
                <a:solidFill>
                  <a:srgbClr val="2E3640"/>
                </a:solidFill>
              </a:rPr>
              <a:t>habitsmoker = 1 </a:t>
            </a:r>
            <a:r>
              <a:rPr lang="en-GB" sz="1100" dirty="0">
                <a:solidFill>
                  <a:srgbClr val="2E3640"/>
                </a:solidFill>
              </a:rPr>
              <a:t>(smoker):</a:t>
            </a:r>
          </a:p>
          <a:p>
            <a:pPr marL="18000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2E3640"/>
                </a:solidFill>
              </a:rPr>
              <a:t>ŷ = 3.298 − 0.269·1 = </a:t>
            </a:r>
            <a:r>
              <a:rPr lang="en-GB" sz="1100" b="1" dirty="0">
                <a:solidFill>
                  <a:srgbClr val="DFA019"/>
                </a:solidFill>
              </a:rPr>
              <a:t>3.029 kg</a:t>
            </a:r>
          </a:p>
        </p:txBody>
      </p:sp>
    </p:spTree>
    <p:extLst>
      <p:ext uri="{BB962C8B-B14F-4D97-AF65-F5344CB8AC3E}">
        <p14:creationId xmlns:p14="http://schemas.microsoft.com/office/powerpoint/2010/main" val="352286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3" grpId="0" animBg="1"/>
      <p:bldP spid="14" grpId="0" animBg="1"/>
      <p:bldP spid="16" grpId="0" animBg="1"/>
      <p:bldP spid="2" grpId="0" animBg="1"/>
      <p:bldP spid="3" grpId="0" animBg="1"/>
      <p:bldP spid="5" grpId="0" animBg="1"/>
      <p:bldP spid="6" grpId="0" animBg="1"/>
      <p:bldP spid="7" grpId="0"/>
      <p:bldP spid="8" grpId="0" animBg="1"/>
      <p:bldP spid="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30" grpId="0" animBg="1"/>
      <p:bldP spid="31" grpId="0"/>
      <p:bldP spid="10" grpId="0" animBg="1"/>
      <p:bldP spid="17" grpId="0" animBg="1"/>
      <p:bldP spid="34" grpId="0" animBg="1"/>
      <p:bldP spid="15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B1DCD-61A6-7419-BCA7-41411963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">
            <a:extLst>
              <a:ext uri="{FF2B5EF4-FFF2-40B4-BE49-F238E27FC236}">
                <a16:creationId xmlns:a16="http://schemas.microsoft.com/office/drawing/2014/main" id="{C63DC582-50C9-FF66-61C2-1EE5AE937A7A}"/>
              </a:ext>
            </a:extLst>
          </p:cNvPr>
          <p:cNvSpPr/>
          <p:nvPr/>
        </p:nvSpPr>
        <p:spPr>
          <a:xfrm>
            <a:off x="208345" y="206871"/>
            <a:ext cx="33484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</a:t>
            </a:r>
            <a:r>
              <a:rPr lang="en-US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</a:t>
            </a: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4CC678-7F72-3600-C6C3-113712A42C49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B89CF1-4469-F567-C532-4422E40A54E9}"/>
              </a:ext>
            </a:extLst>
          </p:cNvPr>
          <p:cNvSpPr/>
          <p:nvPr/>
        </p:nvSpPr>
        <p:spPr>
          <a:xfrm>
            <a:off x="1" y="5061204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415079-1FF4-BEFF-6E0B-2A559B23E10D}"/>
              </a:ext>
            </a:extLst>
          </p:cNvPr>
          <p:cNvSpPr/>
          <p:nvPr/>
        </p:nvSpPr>
        <p:spPr>
          <a:xfrm>
            <a:off x="223694" y="579106"/>
            <a:ext cx="3846086" cy="48112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97853-06B7-F384-CB7F-8FFC0EB3D26B}"/>
              </a:ext>
            </a:extLst>
          </p:cNvPr>
          <p:cNvSpPr txBox="1"/>
          <p:nvPr/>
        </p:nvSpPr>
        <p:spPr>
          <a:xfrm>
            <a:off x="223694" y="579106"/>
            <a:ext cx="3644879" cy="430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 &lt;- </a:t>
            </a:r>
            <a:r>
              <a:rPr sz="1100" b="1" i="0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sz="1100" b="1" i="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sex, data = births)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(mod)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361FC6-4274-AD4E-E2EE-55CE27F9B440}"/>
              </a:ext>
            </a:extLst>
          </p:cNvPr>
          <p:cNvSpPr txBox="1"/>
          <p:nvPr/>
        </p:nvSpPr>
        <p:spPr>
          <a:xfrm>
            <a:off x="223694" y="1820274"/>
            <a:ext cx="4133348" cy="450585"/>
          </a:xfrm>
          <a:prstGeom prst="roundRect">
            <a:avLst>
              <a:gd name="adj" fmla="val 4383"/>
            </a:avLst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Uncertainty: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 if we drew other samples of births from the population, how much would the estimated female mean shift?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BD0706-E9DF-B0D5-E582-3C01DF32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019" r="77194" b="33651"/>
          <a:stretch>
            <a:fillRect/>
          </a:stretch>
        </p:blipFill>
        <p:spPr>
          <a:xfrm>
            <a:off x="312573" y="2957345"/>
            <a:ext cx="1031220" cy="262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E371B3-812E-98BE-3DA2-6B16AD477D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12" t="15016" r="2777" b="14873"/>
          <a:stretch>
            <a:fillRect/>
          </a:stretch>
        </p:blipFill>
        <p:spPr>
          <a:xfrm>
            <a:off x="312573" y="3523765"/>
            <a:ext cx="2660093" cy="5638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9738FE-3FC8-E23A-F44B-E9A02077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65" r="5826" b="5518"/>
          <a:stretch>
            <a:fillRect/>
          </a:stretch>
        </p:blipFill>
        <p:spPr>
          <a:xfrm>
            <a:off x="312573" y="4349265"/>
            <a:ext cx="3453387" cy="614983"/>
          </a:xfrm>
          <a:prstGeom prst="rect">
            <a:avLst/>
          </a:prstGeom>
        </p:spPr>
      </p:pic>
      <p:sp>
        <p:nvSpPr>
          <p:cNvPr id="203" name="StepLabel203"/>
          <p:cNvSpPr txBox="1"/>
          <p:nvPr/>
        </p:nvSpPr>
        <p:spPr>
          <a:xfrm>
            <a:off x="312573" y="2754145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50" dirty="0">
                <a:solidFill>
                  <a:srgbClr val="2D6B75"/>
                </a:solidFill>
                <a:latin typeface="Montserrat"/>
              </a:rPr>
              <a:t>STEP 1   RESIDUAL</a:t>
            </a:r>
          </a:p>
        </p:txBody>
      </p:sp>
      <p:sp>
        <p:nvSpPr>
          <p:cNvPr id="204" name="StepLabel204"/>
          <p:cNvSpPr txBox="1"/>
          <p:nvPr/>
        </p:nvSpPr>
        <p:spPr>
          <a:xfrm>
            <a:off x="312573" y="3320565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50" dirty="0">
                <a:solidFill>
                  <a:srgbClr val="2D6B75"/>
                </a:solidFill>
                <a:latin typeface="Montserrat"/>
              </a:rPr>
              <a:t>STEP 2   RESIDUAL STANDARD ERROR</a:t>
            </a:r>
          </a:p>
        </p:txBody>
      </p:sp>
      <p:sp>
        <p:nvSpPr>
          <p:cNvPr id="205" name="StepLabel205"/>
          <p:cNvSpPr txBox="1"/>
          <p:nvPr/>
        </p:nvSpPr>
        <p:spPr>
          <a:xfrm>
            <a:off x="312573" y="4120665"/>
            <a:ext cx="3556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50" dirty="0">
                <a:solidFill>
                  <a:srgbClr val="2D6B75"/>
                </a:solidFill>
                <a:latin typeface="Montserrat"/>
              </a:rPr>
              <a:t>STEP 3   STANDARD ERROR OF THE INTERCEPT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63FF4B-80B6-E9D3-D7EC-35E8F5D05D19}"/>
              </a:ext>
            </a:extLst>
          </p:cNvPr>
          <p:cNvGrpSpPr/>
          <p:nvPr/>
        </p:nvGrpSpPr>
        <p:grpSpPr>
          <a:xfrm>
            <a:off x="4658035" y="176988"/>
            <a:ext cx="4371571" cy="719014"/>
            <a:chOff x="4521299" y="176988"/>
            <a:chExt cx="4371571" cy="71901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34D5C4-57E0-CA6F-EE5D-83088B1A4CD5}"/>
                </a:ext>
              </a:extLst>
            </p:cNvPr>
            <p:cNvSpPr txBox="1"/>
            <p:nvPr/>
          </p:nvSpPr>
          <p:spPr>
            <a:xfrm>
              <a:off x="4521299" y="355587"/>
              <a:ext cx="4205438" cy="51077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</a:rPr>
                <a:t>Larger residuals  →  larger SE</a:t>
              </a:r>
            </a:p>
            <a:p>
              <a:r>
                <a:rPr lang="en-US" sz="1200" b="1" dirty="0">
                  <a:solidFill>
                    <a:schemeClr val="tx1"/>
                  </a:solidFill>
                </a:rPr>
                <a:t>Larger sample size   →  smaller SE</a:t>
              </a:r>
            </a:p>
          </p:txBody>
        </p:sp>
        <p:sp>
          <p:nvSpPr>
            <p:cNvPr id="27" name="KeyPointTag">
              <a:extLst>
                <a:ext uri="{FF2B5EF4-FFF2-40B4-BE49-F238E27FC236}">
                  <a16:creationId xmlns:a16="http://schemas.microsoft.com/office/drawing/2014/main" id="{84C45A5F-0831-C156-E66A-3D2E17349BBC}"/>
                </a:ext>
              </a:extLst>
            </p:cNvPr>
            <p:cNvSpPr/>
            <p:nvPr/>
          </p:nvSpPr>
          <p:spPr>
            <a:xfrm>
              <a:off x="4521299" y="176988"/>
              <a:ext cx="1066800" cy="228600"/>
            </a:xfrm>
            <a:prstGeom prst="roundRect">
              <a:avLst>
                <a:gd name="adj" fmla="val 50000"/>
              </a:avLst>
            </a:prstGeom>
            <a:solidFill>
              <a:srgbClr val="1F5061"/>
            </a:solidFill>
            <a:ln>
              <a:noFill/>
            </a:ln>
          </p:spPr>
          <p:txBody>
            <a:bodyPr wrap="none" lIns="72000" tIns="0" rIns="72000" bIns="0" anchor="ctr" anchorCtr="1"/>
            <a:lstStyle/>
            <a:p>
              <a:pPr algn="ctr">
                <a:buNone/>
              </a:pPr>
              <a:r>
                <a:rPr lang="en-US" sz="900" b="1" spc="100" dirty="0">
                  <a:solidFill>
                    <a:srgbClr val="FFFFFF"/>
                  </a:solidFill>
                  <a:latin typeface="Montserrat"/>
                </a:rPr>
                <a:t>INTUITION</a:t>
              </a:r>
            </a:p>
          </p:txBody>
        </p:sp>
        <p:sp>
          <p:nvSpPr>
            <p:cNvPr id="32" name="IntuitionLine">
              <a:extLst>
                <a:ext uri="{FF2B5EF4-FFF2-40B4-BE49-F238E27FC236}">
                  <a16:creationId xmlns:a16="http://schemas.microsoft.com/office/drawing/2014/main" id="{0D5D1735-DE34-6AE0-5CAF-6B24DA57F808}"/>
                </a:ext>
              </a:extLst>
            </p:cNvPr>
            <p:cNvSpPr txBox="1"/>
            <p:nvPr/>
          </p:nvSpPr>
          <p:spPr>
            <a:xfrm>
              <a:off x="4574870" y="692802"/>
              <a:ext cx="4318000" cy="2032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b="1" dirty="0">
                <a:solidFill>
                  <a:srgbClr val="2E3640"/>
                </a:solidFill>
                <a:latin typeface="Calibri"/>
              </a:endParaRPr>
            </a:p>
          </p:txBody>
        </p:sp>
      </p:grpSp>
      <p:pic>
        <p:nvPicPr>
          <p:cNvPr id="33" name="Picture 32" descr="plot_basic.png">
            <a:extLst>
              <a:ext uri="{FF2B5EF4-FFF2-40B4-BE49-F238E27FC236}">
                <a16:creationId xmlns:a16="http://schemas.microsoft.com/office/drawing/2014/main" id="{86780B0F-CA4C-F18B-8B48-5888F0EB7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71" y="1078452"/>
            <a:ext cx="4659893" cy="3132701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B22C0C-26CE-FC6F-6499-E0CB2E74FEF9}"/>
              </a:ext>
            </a:extLst>
          </p:cNvPr>
          <p:cNvCxnSpPr>
            <a:cxnSpLocks/>
          </p:cNvCxnSpPr>
          <p:nvPr/>
        </p:nvCxnSpPr>
        <p:spPr>
          <a:xfrm>
            <a:off x="5219233" y="2189284"/>
            <a:ext cx="1625874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8C83D0-CC2C-31B3-D665-132736C0E413}"/>
              </a:ext>
            </a:extLst>
          </p:cNvPr>
          <p:cNvCxnSpPr>
            <a:cxnSpLocks/>
          </p:cNvCxnSpPr>
          <p:nvPr/>
        </p:nvCxnSpPr>
        <p:spPr>
          <a:xfrm>
            <a:off x="7012665" y="2042746"/>
            <a:ext cx="1681475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791F91-E6F3-A344-1A09-63AB25455773}"/>
              </a:ext>
            </a:extLst>
          </p:cNvPr>
          <p:cNvCxnSpPr>
            <a:cxnSpLocks/>
          </p:cNvCxnSpPr>
          <p:nvPr/>
        </p:nvCxnSpPr>
        <p:spPr>
          <a:xfrm>
            <a:off x="8540497" y="2042746"/>
            <a:ext cx="0" cy="234462"/>
          </a:xfrm>
          <a:prstGeom prst="straightConnector1">
            <a:avLst/>
          </a:prstGeom>
          <a:ln w="9525">
            <a:solidFill>
              <a:srgbClr val="DFA01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B778999-9946-F619-9E53-0028216E65C1}"/>
              </a:ext>
            </a:extLst>
          </p:cNvPr>
          <p:cNvCxnSpPr/>
          <p:nvPr/>
        </p:nvCxnSpPr>
        <p:spPr>
          <a:xfrm flipV="1">
            <a:off x="5963795" y="2042746"/>
            <a:ext cx="1909482" cy="146538"/>
          </a:xfrm>
          <a:prstGeom prst="line">
            <a:avLst/>
          </a:prstGeom>
          <a:ln w="19050">
            <a:solidFill>
              <a:srgbClr val="DFA0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09C925E-B03C-E0BB-9797-96AEE32982E8}"/>
              </a:ext>
            </a:extLst>
          </p:cNvPr>
          <p:cNvSpPr txBox="1"/>
          <p:nvPr/>
        </p:nvSpPr>
        <p:spPr>
          <a:xfrm>
            <a:off x="8535472" y="2022932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DFA019"/>
                </a:solidFill>
              </a:rPr>
              <a:t>0.162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EFAC2B-7E27-16CC-AF42-7C1709AE989A}"/>
              </a:ext>
            </a:extLst>
          </p:cNvPr>
          <p:cNvSpPr txBox="1"/>
          <p:nvPr/>
        </p:nvSpPr>
        <p:spPr>
          <a:xfrm>
            <a:off x="4810323" y="2070835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D6B75"/>
                </a:solidFill>
              </a:rPr>
              <a:t>3.18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EE85D2-83B5-A1B1-1DB6-084B4D89AC33}"/>
              </a:ext>
            </a:extLst>
          </p:cNvPr>
          <p:cNvSpPr txBox="1"/>
          <p:nvPr/>
        </p:nvSpPr>
        <p:spPr>
          <a:xfrm>
            <a:off x="6615717" y="1869195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D6B75"/>
                </a:solidFill>
              </a:rPr>
              <a:t>3.34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BD41B6-EE45-5F5A-02F8-5A04FC1A019F}"/>
              </a:ext>
            </a:extLst>
          </p:cNvPr>
          <p:cNvSpPr/>
          <p:nvPr/>
        </p:nvSpPr>
        <p:spPr>
          <a:xfrm>
            <a:off x="5289926" y="2130670"/>
            <a:ext cx="1446016" cy="128717"/>
          </a:xfrm>
          <a:prstGeom prst="rect">
            <a:avLst/>
          </a:prstGeom>
          <a:solidFill>
            <a:srgbClr val="388792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C81AD-A2F3-D34B-83E2-CBA9DB25EB28}"/>
              </a:ext>
            </a:extLst>
          </p:cNvPr>
          <p:cNvSpPr/>
          <p:nvPr/>
        </p:nvSpPr>
        <p:spPr>
          <a:xfrm>
            <a:off x="223694" y="1056215"/>
            <a:ext cx="4205477" cy="723664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Estimate Std. Error t value </a:t>
            </a:r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(Intercept)  3.18296    </a:t>
            </a:r>
            <a:r>
              <a:rPr lang="en-GB" sz="1100" dirty="0">
                <a:solidFill>
                  <a:schemeClr val="bg1"/>
                </a:solidFill>
                <a:highlight>
                  <a:srgbClr val="388792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0.02640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120.552  &lt; 2e-16 ***</a:t>
            </a:r>
          </a:p>
          <a:p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0.16249    0.03715   4.373 1.35e-05 ***</a:t>
            </a:r>
          </a:p>
          <a:p>
            <a:endParaRPr sz="1100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06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50" grpId="0" build="p" animBg="1"/>
      <p:bldP spid="203" grpId="0"/>
      <p:bldP spid="204" grpId="0"/>
      <p:bldP spid="205" grpId="0"/>
      <p:bldP spid="39" grpId="0"/>
      <p:bldP spid="40" grpId="0"/>
      <p:bldP spid="41" grpId="0"/>
      <p:bldP spid="42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C772-CCFC-E52A-BCAA-793986C5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lot_basic.png">
            <a:extLst>
              <a:ext uri="{FF2B5EF4-FFF2-40B4-BE49-F238E27FC236}">
                <a16:creationId xmlns:a16="http://schemas.microsoft.com/office/drawing/2014/main" id="{8951B3C2-AB25-A6CE-4FD3-B237786FF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27" y="1432372"/>
            <a:ext cx="4659893" cy="313270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5417A4-CA3F-EDC2-EF9D-CE1DD48AA538}"/>
              </a:ext>
            </a:extLst>
          </p:cNvPr>
          <p:cNvCxnSpPr>
            <a:cxnSpLocks/>
          </p:cNvCxnSpPr>
          <p:nvPr/>
        </p:nvCxnSpPr>
        <p:spPr>
          <a:xfrm>
            <a:off x="5217889" y="2543204"/>
            <a:ext cx="1625874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348F03-CAF4-353C-2C2C-2E13950DA651}"/>
              </a:ext>
            </a:extLst>
          </p:cNvPr>
          <p:cNvCxnSpPr>
            <a:cxnSpLocks/>
          </p:cNvCxnSpPr>
          <p:nvPr/>
        </p:nvCxnSpPr>
        <p:spPr>
          <a:xfrm>
            <a:off x="7011321" y="2396666"/>
            <a:ext cx="1681475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363DED-5FEF-3F54-1783-74C832DB0E90}"/>
              </a:ext>
            </a:extLst>
          </p:cNvPr>
          <p:cNvCxnSpPr>
            <a:cxnSpLocks/>
          </p:cNvCxnSpPr>
          <p:nvPr/>
        </p:nvCxnSpPr>
        <p:spPr>
          <a:xfrm>
            <a:off x="8539153" y="2396666"/>
            <a:ext cx="0" cy="234462"/>
          </a:xfrm>
          <a:prstGeom prst="straightConnector1">
            <a:avLst/>
          </a:prstGeom>
          <a:ln w="9525">
            <a:solidFill>
              <a:srgbClr val="DFA01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884EE4-976E-B8AD-EC6F-C32BD13CBFBC}"/>
              </a:ext>
            </a:extLst>
          </p:cNvPr>
          <p:cNvCxnSpPr/>
          <p:nvPr/>
        </p:nvCxnSpPr>
        <p:spPr>
          <a:xfrm flipV="1">
            <a:off x="5962451" y="2396666"/>
            <a:ext cx="1909482" cy="146538"/>
          </a:xfrm>
          <a:prstGeom prst="line">
            <a:avLst/>
          </a:prstGeom>
          <a:ln w="19050">
            <a:solidFill>
              <a:srgbClr val="DFA0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854A6B-D9EE-890C-485D-89FEF97E95AB}"/>
              </a:ext>
            </a:extLst>
          </p:cNvPr>
          <p:cNvSpPr txBox="1"/>
          <p:nvPr/>
        </p:nvSpPr>
        <p:spPr>
          <a:xfrm>
            <a:off x="8534128" y="2376852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DFA019"/>
                </a:solidFill>
              </a:rPr>
              <a:t>0.162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A8C52-B879-A41C-3653-54A1729215FE}"/>
              </a:ext>
            </a:extLst>
          </p:cNvPr>
          <p:cNvSpPr txBox="1"/>
          <p:nvPr/>
        </p:nvSpPr>
        <p:spPr>
          <a:xfrm>
            <a:off x="4808979" y="2424755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D6B75"/>
                </a:solidFill>
              </a:rPr>
              <a:t>3.18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58B41B-790F-4267-70B2-FBAFE5CD9064}"/>
              </a:ext>
            </a:extLst>
          </p:cNvPr>
          <p:cNvSpPr txBox="1"/>
          <p:nvPr/>
        </p:nvSpPr>
        <p:spPr>
          <a:xfrm>
            <a:off x="6614373" y="2223115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D6B75"/>
                </a:solidFill>
              </a:rPr>
              <a:t>3.34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B6D75-751E-C00F-5D61-DC2719BCB516}"/>
              </a:ext>
            </a:extLst>
          </p:cNvPr>
          <p:cNvSpPr/>
          <p:nvPr/>
        </p:nvSpPr>
        <p:spPr>
          <a:xfrm>
            <a:off x="5288582" y="2484590"/>
            <a:ext cx="1446016" cy="128717"/>
          </a:xfrm>
          <a:prstGeom prst="rect">
            <a:avLst/>
          </a:prstGeom>
          <a:solidFill>
            <a:srgbClr val="388792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0712031-51E2-36EF-A4F0-55A55AFD9A31}"/>
              </a:ext>
            </a:extLst>
          </p:cNvPr>
          <p:cNvSpPr/>
          <p:nvPr/>
        </p:nvSpPr>
        <p:spPr>
          <a:xfrm>
            <a:off x="223694" y="579106"/>
            <a:ext cx="3846086" cy="48112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83171E-7CC1-EF8D-8784-15341D847999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07B6B4-4563-0205-9DED-7D37AFC11CD5}"/>
              </a:ext>
            </a:extLst>
          </p:cNvPr>
          <p:cNvSpPr/>
          <p:nvPr/>
        </p:nvSpPr>
        <p:spPr>
          <a:xfrm>
            <a:off x="1" y="5061204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AA446B-B54D-C8ED-C7DB-127B504AA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43" y="4396500"/>
            <a:ext cx="4903238" cy="6228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5A498F-8150-E83D-AA71-51167D559B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019" r="77194" b="33651"/>
          <a:stretch>
            <a:fillRect/>
          </a:stretch>
        </p:blipFill>
        <p:spPr>
          <a:xfrm>
            <a:off x="304028" y="3097224"/>
            <a:ext cx="1031220" cy="2623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620F144-72FA-6A87-048C-E5FC6EED29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012" t="15016" r="2777" b="14873"/>
          <a:stretch>
            <a:fillRect/>
          </a:stretch>
        </p:blipFill>
        <p:spPr>
          <a:xfrm>
            <a:off x="304028" y="3663644"/>
            <a:ext cx="2660093" cy="563812"/>
          </a:xfrm>
          <a:prstGeom prst="rect">
            <a:avLst/>
          </a:prstGeom>
        </p:spPr>
      </p:pic>
      <p:sp>
        <p:nvSpPr>
          <p:cNvPr id="32" name="StepLabel203">
            <a:extLst>
              <a:ext uri="{FF2B5EF4-FFF2-40B4-BE49-F238E27FC236}">
                <a16:creationId xmlns:a16="http://schemas.microsoft.com/office/drawing/2014/main" id="{2D93E051-CAD9-AE28-1677-DA222BDCF46D}"/>
              </a:ext>
            </a:extLst>
          </p:cNvPr>
          <p:cNvSpPr txBox="1"/>
          <p:nvPr/>
        </p:nvSpPr>
        <p:spPr>
          <a:xfrm>
            <a:off x="304028" y="2894024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50" dirty="0">
                <a:solidFill>
                  <a:srgbClr val="2D6B75"/>
                </a:solidFill>
                <a:latin typeface="Montserrat"/>
              </a:rPr>
              <a:t>STEP 1   RESIDUAL</a:t>
            </a:r>
          </a:p>
        </p:txBody>
      </p:sp>
      <p:sp>
        <p:nvSpPr>
          <p:cNvPr id="33" name="StepLabel204">
            <a:extLst>
              <a:ext uri="{FF2B5EF4-FFF2-40B4-BE49-F238E27FC236}">
                <a16:creationId xmlns:a16="http://schemas.microsoft.com/office/drawing/2014/main" id="{447B282D-956B-2CFB-8303-C2BC25EDD07D}"/>
              </a:ext>
            </a:extLst>
          </p:cNvPr>
          <p:cNvSpPr txBox="1"/>
          <p:nvPr/>
        </p:nvSpPr>
        <p:spPr>
          <a:xfrm>
            <a:off x="304028" y="3460444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50" dirty="0">
                <a:solidFill>
                  <a:srgbClr val="2D6B75"/>
                </a:solidFill>
                <a:latin typeface="Montserrat"/>
              </a:rPr>
              <a:t>STEP 2   RESIDUAL STANDARD ERROR</a:t>
            </a:r>
          </a:p>
        </p:txBody>
      </p:sp>
      <p:sp>
        <p:nvSpPr>
          <p:cNvPr id="35" name="StepLabel205">
            <a:extLst>
              <a:ext uri="{FF2B5EF4-FFF2-40B4-BE49-F238E27FC236}">
                <a16:creationId xmlns:a16="http://schemas.microsoft.com/office/drawing/2014/main" id="{9579A4A7-D2A0-9038-C97B-3703A386E042}"/>
              </a:ext>
            </a:extLst>
          </p:cNvPr>
          <p:cNvSpPr txBox="1"/>
          <p:nvPr/>
        </p:nvSpPr>
        <p:spPr>
          <a:xfrm>
            <a:off x="304028" y="4260379"/>
            <a:ext cx="3556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50" dirty="0">
                <a:solidFill>
                  <a:srgbClr val="2D6B75"/>
                </a:solidFill>
                <a:latin typeface="Montserrat"/>
              </a:rPr>
              <a:t>STEP 3   STANDARD ERROR OF THE SLOPE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046628-044D-F007-CD04-66DDFA147FB9}"/>
              </a:ext>
            </a:extLst>
          </p:cNvPr>
          <p:cNvGrpSpPr/>
          <p:nvPr/>
        </p:nvGrpSpPr>
        <p:grpSpPr>
          <a:xfrm>
            <a:off x="4658035" y="176988"/>
            <a:ext cx="4205438" cy="1098000"/>
            <a:chOff x="4521299" y="176988"/>
            <a:chExt cx="4205438" cy="109800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7E4B8A1-63C9-D0DD-73CC-AC1A02FB02D3}"/>
                </a:ext>
              </a:extLst>
            </p:cNvPr>
            <p:cNvSpPr txBox="1"/>
            <p:nvPr/>
          </p:nvSpPr>
          <p:spPr>
            <a:xfrm>
              <a:off x="4521299" y="355587"/>
              <a:ext cx="4205438" cy="9194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</a:rPr>
                <a:t>Larger residuals  →  larger SE</a:t>
              </a:r>
            </a:p>
            <a:p>
              <a:r>
                <a:rPr lang="en-US" sz="1200" b="1" dirty="0">
                  <a:solidFill>
                    <a:schemeClr val="tx1"/>
                  </a:solidFill>
                </a:rPr>
                <a:t>Larger sample size   →  smaller SE</a:t>
              </a:r>
            </a:p>
            <a:p>
              <a:r>
                <a:rPr lang="en-US" sz="1200" b="1" dirty="0">
                  <a:solidFill>
                    <a:schemeClr val="tx1"/>
                  </a:solidFill>
                </a:rPr>
                <a:t>SE of estimate of slope takes into account variability of female mean + variability of male mean</a:t>
              </a:r>
            </a:p>
          </p:txBody>
        </p:sp>
        <p:sp>
          <p:nvSpPr>
            <p:cNvPr id="38" name="KeyPointTag">
              <a:extLst>
                <a:ext uri="{FF2B5EF4-FFF2-40B4-BE49-F238E27FC236}">
                  <a16:creationId xmlns:a16="http://schemas.microsoft.com/office/drawing/2014/main" id="{9A84D0C0-A29E-1155-0EA8-F05C7C11BCDC}"/>
                </a:ext>
              </a:extLst>
            </p:cNvPr>
            <p:cNvSpPr/>
            <p:nvPr/>
          </p:nvSpPr>
          <p:spPr>
            <a:xfrm>
              <a:off x="4521299" y="176988"/>
              <a:ext cx="1066800" cy="228600"/>
            </a:xfrm>
            <a:prstGeom prst="roundRect">
              <a:avLst>
                <a:gd name="adj" fmla="val 50000"/>
              </a:avLst>
            </a:prstGeom>
            <a:solidFill>
              <a:srgbClr val="1F5061"/>
            </a:solidFill>
            <a:ln>
              <a:noFill/>
            </a:ln>
          </p:spPr>
          <p:txBody>
            <a:bodyPr wrap="none" lIns="72000" tIns="0" rIns="72000" bIns="0" anchor="ctr" anchorCtr="1"/>
            <a:lstStyle/>
            <a:p>
              <a:pPr algn="ctr">
                <a:buNone/>
              </a:pPr>
              <a:r>
                <a:rPr lang="en-US" sz="900" b="1" spc="100" dirty="0">
                  <a:solidFill>
                    <a:srgbClr val="FFFFFF"/>
                  </a:solidFill>
                  <a:latin typeface="Montserrat"/>
                </a:rPr>
                <a:t>INTUITION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0815A89-31AB-3EA9-1A13-80E840A539E2}"/>
              </a:ext>
            </a:extLst>
          </p:cNvPr>
          <p:cNvSpPr/>
          <p:nvPr/>
        </p:nvSpPr>
        <p:spPr>
          <a:xfrm rot="21289538">
            <a:off x="6165580" y="2361989"/>
            <a:ext cx="1446016" cy="214455"/>
          </a:xfrm>
          <a:prstGeom prst="rect">
            <a:avLst/>
          </a:prstGeom>
          <a:solidFill>
            <a:srgbClr val="F0AD1C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B1B5027A-1772-9F2C-6496-178D9B003ED2}"/>
              </a:ext>
            </a:extLst>
          </p:cNvPr>
          <p:cNvSpPr/>
          <p:nvPr/>
        </p:nvSpPr>
        <p:spPr>
          <a:xfrm>
            <a:off x="208345" y="206871"/>
            <a:ext cx="33484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</a:t>
            </a:r>
            <a:r>
              <a:rPr lang="en-US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</a:t>
            </a: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B969B7-455E-CA40-9199-649583546FEB}"/>
              </a:ext>
            </a:extLst>
          </p:cNvPr>
          <p:cNvSpPr txBox="1"/>
          <p:nvPr/>
        </p:nvSpPr>
        <p:spPr>
          <a:xfrm>
            <a:off x="223694" y="579106"/>
            <a:ext cx="4527353" cy="430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 &lt;- </a:t>
            </a:r>
            <a:r>
              <a:rPr sz="1100" b="1" i="0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sz="1100" b="1" i="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sex, data = births)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(mod)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457F1DC-C71F-2404-56D4-E09D0759F0D5}"/>
              </a:ext>
            </a:extLst>
          </p:cNvPr>
          <p:cNvSpPr/>
          <p:nvPr/>
        </p:nvSpPr>
        <p:spPr>
          <a:xfrm>
            <a:off x="223694" y="1056215"/>
            <a:ext cx="4247189" cy="723664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Estimate Std. Error t value </a:t>
            </a:r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(Intercept)  3.18296    0.02640 120.552  &lt; 2e-16 ***</a:t>
            </a:r>
          </a:p>
          <a:p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0.16249    </a:t>
            </a:r>
            <a:r>
              <a:rPr lang="en-GB" sz="1100" dirty="0">
                <a:solidFill>
                  <a:schemeClr val="bg1"/>
                </a:solidFill>
                <a:highlight>
                  <a:srgbClr val="DFA02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0.03715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4.373 1.35e-05 ***</a:t>
            </a:r>
          </a:p>
          <a:p>
            <a:endParaRPr sz="1100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6DE13A-5BCC-F3A8-A811-CFC021246513}"/>
              </a:ext>
            </a:extLst>
          </p:cNvPr>
          <p:cNvSpPr txBox="1"/>
          <p:nvPr/>
        </p:nvSpPr>
        <p:spPr>
          <a:xfrm>
            <a:off x="223694" y="1820274"/>
            <a:ext cx="4133348" cy="638823"/>
          </a:xfrm>
          <a:prstGeom prst="roundRect">
            <a:avLst>
              <a:gd name="adj" fmla="val 4383"/>
            </a:avLst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Uncertainty: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 if we drew other samples of births from the population, how much would the estimated male–female difference shift?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C2D86-56F2-0C9A-07F7-D2A8B88396A2}"/>
              </a:ext>
            </a:extLst>
          </p:cNvPr>
          <p:cNvSpPr/>
          <p:nvPr/>
        </p:nvSpPr>
        <p:spPr>
          <a:xfrm>
            <a:off x="7129050" y="2326866"/>
            <a:ext cx="1446016" cy="128717"/>
          </a:xfrm>
          <a:prstGeom prst="rect">
            <a:avLst/>
          </a:prstGeom>
          <a:solidFill>
            <a:srgbClr val="388792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  <p:bldP spid="13" grpId="0" animBg="1"/>
      <p:bldP spid="2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2B93-D14A-B380-EEB2-596B11418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65100"/>
            <a:ext cx="8788400" cy="317500"/>
          </a:xfrm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3640"/>
                </a:solidFill>
              </a:rPr>
              <a:t>Practice: Reading SEs from R output</a:t>
            </a:r>
          </a:p>
        </p:txBody>
      </p:sp>
      <p:sp>
        <p:nvSpPr>
          <p:cNvPr id="4" name="BotBar">
            <a:extLst>
              <a:ext uri="{FF2B5EF4-FFF2-40B4-BE49-F238E27FC236}">
                <a16:creationId xmlns:a16="http://schemas.microsoft.com/office/drawing/2014/main" id="{FF4DE7B4-F9A4-214A-AE66-881C7BBC9B20}"/>
              </a:ext>
            </a:extLst>
          </p:cNvPr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utputBg">
            <a:extLst>
              <a:ext uri="{FF2B5EF4-FFF2-40B4-BE49-F238E27FC236}">
                <a16:creationId xmlns:a16="http://schemas.microsoft.com/office/drawing/2014/main" id="{8916384C-9949-6F4A-AF6C-E53D1F9317E6}"/>
              </a:ext>
            </a:extLst>
          </p:cNvPr>
          <p:cNvSpPr/>
          <p:nvPr/>
        </p:nvSpPr>
        <p:spPr>
          <a:xfrm>
            <a:off x="152400" y="584200"/>
            <a:ext cx="8839200" cy="1841500"/>
          </a:xfrm>
          <a:prstGeom prst="rect">
            <a:avLst/>
          </a:prstGeom>
          <a:solidFill>
            <a:srgbClr val="F5F7F8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8000" tIns="54000" rIns="54000" bIns="36000" rtlCol="0" anchor="t"/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E6B75"/>
                </a:solidFill>
                <a:latin typeface="Consolas"/>
              </a:rPr>
              <a:t>Coefficients: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E3640"/>
                </a:solidFill>
                <a:latin typeface="Consolas"/>
              </a:rPr>
              <a:t>             Estimate  Std. Error  t value  Pr(&gt;|t|)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E3640"/>
                </a:solidFill>
                <a:latin typeface="Consolas"/>
              </a:rPr>
              <a:t>(Intercept)    3.298     0.020    164.9    &lt; 2e-16 ***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2E3640"/>
                </a:solidFill>
                <a:latin typeface="Consolas"/>
              </a:rPr>
              <a:t>habitsmoker</a:t>
            </a:r>
            <a:r>
              <a:rPr lang="en-US" sz="1400" dirty="0">
                <a:solidFill>
                  <a:srgbClr val="2E3640"/>
                </a:solidFill>
                <a:latin typeface="Consolas"/>
              </a:rPr>
              <a:t>   −0.269     0.058    −4.64    4.0e-06 ***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i="1" dirty="0">
                <a:solidFill>
                  <a:srgbClr val="6B7680"/>
                </a:solidFill>
                <a:latin typeface="Open Sans"/>
              </a:rPr>
              <a:t>Reference group: nonsmoker.  Outcome is birth weight in kg.</a:t>
            </a:r>
          </a:p>
        </p:txBody>
      </p:sp>
      <p:sp>
        <p:nvSpPr>
          <p:cNvPr id="18" name="OutputCaption">
            <a:extLst>
              <a:ext uri="{FF2B5EF4-FFF2-40B4-BE49-F238E27FC236}">
                <a16:creationId xmlns:a16="http://schemas.microsoft.com/office/drawing/2014/main" id="{6E7FBE66-E708-324E-B6A9-829AA68991D6}"/>
              </a:ext>
            </a:extLst>
          </p:cNvPr>
          <p:cNvSpPr txBox="1"/>
          <p:nvPr/>
        </p:nvSpPr>
        <p:spPr>
          <a:xfrm>
            <a:off x="152400" y="613391"/>
            <a:ext cx="8839200" cy="221018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 vertOverflow="overflow" vert="horz" wrap="square" lIns="45720" tIns="18000" rIns="45720" bIns="18000" rtlCol="0" anchor="ctr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Open Sans"/>
              </a:rPr>
              <a:t>  lm(weight_kg ~ habit, data = births)   </a:t>
            </a:r>
            <a:r>
              <a:rPr lang="en-US" sz="1050" i="1" dirty="0">
                <a:solidFill>
                  <a:srgbClr val="EEF3F4"/>
                </a:solidFill>
                <a:latin typeface="Open Sans"/>
              </a:rPr>
              <a:t>Birth weight (kg) on smoking status</a:t>
            </a:r>
          </a:p>
        </p:txBody>
      </p:sp>
      <p:sp>
        <p:nvSpPr>
          <p:cNvPr id="19" name="Q1Hdr">
            <a:extLst>
              <a:ext uri="{FF2B5EF4-FFF2-40B4-BE49-F238E27FC236}">
                <a16:creationId xmlns:a16="http://schemas.microsoft.com/office/drawing/2014/main" id="{A6D24BE2-6809-6A44-940D-E9C854270EE4}"/>
              </a:ext>
            </a:extLst>
          </p:cNvPr>
          <p:cNvSpPr/>
          <p:nvPr/>
        </p:nvSpPr>
        <p:spPr>
          <a:xfrm>
            <a:off x="4680694" y="2597150"/>
            <a:ext cx="4141933" cy="4064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Interpret SE = 0.020 on the intercept</a:t>
            </a:r>
          </a:p>
        </p:txBody>
      </p:sp>
      <p:sp>
        <p:nvSpPr>
          <p:cNvPr id="20" name="Q1Body">
            <a:extLst>
              <a:ext uri="{FF2B5EF4-FFF2-40B4-BE49-F238E27FC236}">
                <a16:creationId xmlns:a16="http://schemas.microsoft.com/office/drawing/2014/main" id="{F71CD580-64DA-B64F-AC20-92E00A66F478}"/>
              </a:ext>
            </a:extLst>
          </p:cNvPr>
          <p:cNvSpPr/>
          <p:nvPr/>
        </p:nvSpPr>
        <p:spPr>
          <a:xfrm>
            <a:off x="4680695" y="3003550"/>
            <a:ext cx="4141932" cy="105056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2000" tIns="54000" rIns="54000" bIns="36000" rtlCol="0" anchor="t"/>
          <a:lstStyle/>
          <a:p>
            <a:pPr marL="155000" indent="-15500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3640"/>
                </a:solidFill>
                <a:latin typeface="Open Sans"/>
              </a:rPr>
              <a:t>A)  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The mean weight of nonsmokers' babies would very by ~0.020 kg across other samples</a:t>
            </a:r>
          </a:p>
          <a:p>
            <a:pPr marL="155000" indent="-15500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3640"/>
                </a:solidFill>
                <a:latin typeface="Open Sans"/>
              </a:rPr>
              <a:t>B)  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Each baby was weighed to within 0.020 kg by the weighing apparatus used in the study</a:t>
            </a:r>
          </a:p>
        </p:txBody>
      </p:sp>
      <p:sp>
        <p:nvSpPr>
          <p:cNvPr id="21" name="Q1Ans">
            <a:extLst>
              <a:ext uri="{FF2B5EF4-FFF2-40B4-BE49-F238E27FC236}">
                <a16:creationId xmlns:a16="http://schemas.microsoft.com/office/drawing/2014/main" id="{83D71471-D229-DC4E-8DC2-2ED2D25DC67A}"/>
              </a:ext>
            </a:extLst>
          </p:cNvPr>
          <p:cNvSpPr/>
          <p:nvPr/>
        </p:nvSpPr>
        <p:spPr>
          <a:xfrm>
            <a:off x="4680693" y="4120643"/>
            <a:ext cx="4141932" cy="661749"/>
          </a:xfrm>
          <a:prstGeom prst="rect">
            <a:avLst/>
          </a:prstGeom>
          <a:solidFill>
            <a:srgbClr val="EEF3F4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2000" tIns="18000" rIns="54000" bIns="1800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2E6B75"/>
                </a:solidFill>
                <a:latin typeface="Open Sans"/>
              </a:rPr>
              <a:t>A.  </a:t>
            </a:r>
            <a:r>
              <a:rPr lang="en-US" sz="950" dirty="0">
                <a:solidFill>
                  <a:srgbClr val="2E3640"/>
                </a:solidFill>
                <a:latin typeface="Open Sans"/>
              </a:rPr>
              <a:t>SE captures sampling variability. True mean within 3.298 ± 0.020 (~68%), 3.298 ± 0.040 (~95%).</a:t>
            </a:r>
          </a:p>
        </p:txBody>
      </p:sp>
      <p:sp>
        <p:nvSpPr>
          <p:cNvPr id="25" name="Q3Hdr">
            <a:extLst>
              <a:ext uri="{FF2B5EF4-FFF2-40B4-BE49-F238E27FC236}">
                <a16:creationId xmlns:a16="http://schemas.microsoft.com/office/drawing/2014/main" id="{B639C0D6-4013-4047-9431-61B920F816DF}"/>
              </a:ext>
            </a:extLst>
          </p:cNvPr>
          <p:cNvSpPr/>
          <p:nvPr/>
        </p:nvSpPr>
        <p:spPr>
          <a:xfrm>
            <a:off x="321372" y="2592823"/>
            <a:ext cx="3854118" cy="406400"/>
          </a:xfrm>
          <a:prstGeom prst="rect">
            <a:avLst/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300" b="1" dirty="0">
                <a:solidFill>
                  <a:srgbClr val="FFFFFF"/>
                </a:solidFill>
              </a:rPr>
              <a:t>Which estimate is more precise?</a:t>
            </a:r>
          </a:p>
        </p:txBody>
      </p:sp>
      <p:sp>
        <p:nvSpPr>
          <p:cNvPr id="26" name="Q3Body">
            <a:extLst>
              <a:ext uri="{FF2B5EF4-FFF2-40B4-BE49-F238E27FC236}">
                <a16:creationId xmlns:a16="http://schemas.microsoft.com/office/drawing/2014/main" id="{7B5BA48A-5462-924F-A425-F4509689420A}"/>
              </a:ext>
            </a:extLst>
          </p:cNvPr>
          <p:cNvSpPr/>
          <p:nvPr/>
        </p:nvSpPr>
        <p:spPr>
          <a:xfrm>
            <a:off x="321372" y="2999223"/>
            <a:ext cx="3854118" cy="968997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2000" tIns="54000" rIns="54000" bIns="36000" rtlCol="0" anchor="t"/>
          <a:lstStyle/>
          <a:p>
            <a:pPr marL="155000" indent="-15500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3640"/>
                </a:solidFill>
                <a:latin typeface="Open Sans"/>
              </a:rPr>
              <a:t>A)  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The intercept</a:t>
            </a:r>
          </a:p>
          <a:p>
            <a:pPr marL="155000" indent="-15500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3640"/>
                </a:solidFill>
                <a:latin typeface="Open Sans"/>
              </a:rPr>
              <a:t>B)  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The slope </a:t>
            </a:r>
          </a:p>
          <a:p>
            <a:pPr marL="155000" indent="-15500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3640"/>
                </a:solidFill>
                <a:latin typeface="Open Sans"/>
              </a:rPr>
              <a:t>C)  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Can't tell from this output</a:t>
            </a:r>
          </a:p>
        </p:txBody>
      </p:sp>
      <p:sp>
        <p:nvSpPr>
          <p:cNvPr id="27" name="Q3Ans">
            <a:extLst>
              <a:ext uri="{FF2B5EF4-FFF2-40B4-BE49-F238E27FC236}">
                <a16:creationId xmlns:a16="http://schemas.microsoft.com/office/drawing/2014/main" id="{EA80E5CA-7C48-3E4F-ADB1-B0BBA41AB0F4}"/>
              </a:ext>
            </a:extLst>
          </p:cNvPr>
          <p:cNvSpPr/>
          <p:nvPr/>
        </p:nvSpPr>
        <p:spPr>
          <a:xfrm>
            <a:off x="321371" y="4120643"/>
            <a:ext cx="3854118" cy="661749"/>
          </a:xfrm>
          <a:prstGeom prst="rect">
            <a:avLst/>
          </a:prstGeom>
          <a:solidFill>
            <a:srgbClr val="EEF3F4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72000" tIns="18000" rIns="54000" bIns="1800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E6B75"/>
                </a:solidFill>
                <a:latin typeface="Open Sans"/>
              </a:rPr>
              <a:t>A.  </a:t>
            </a:r>
            <a:r>
              <a:rPr lang="en-US" sz="1050" dirty="0">
                <a:solidFill>
                  <a:srgbClr val="2E3640"/>
                </a:solidFill>
                <a:latin typeface="Open Sans"/>
              </a:rPr>
              <a:t>Intercept SE/est = 0.006; slope SE/est = 0.22 — intercept is far tighter.</a:t>
            </a:r>
          </a:p>
        </p:txBody>
      </p:sp>
    </p:spTree>
    <p:extLst>
      <p:ext uri="{BB962C8B-B14F-4D97-AF65-F5344CB8AC3E}">
        <p14:creationId xmlns:p14="http://schemas.microsoft.com/office/powerpoint/2010/main" val="355214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92108" y="3887592"/>
            <a:ext cx="2283069" cy="1075862"/>
          </a:xfrm>
          <a:prstGeom prst="roundRect">
            <a:avLst>
              <a:gd name="adj" fmla="val 10729"/>
            </a:avLst>
          </a:prstGeom>
          <a:solidFill>
            <a:srgbClr val="F2F4FF"/>
          </a:solidFill>
          <a:ln w="19050">
            <a:solidFill>
              <a:srgbClr val="2B6CB0"/>
            </a:solidFill>
          </a:ln>
        </p:spPr>
        <p:txBody>
          <a:bodyPr wrap="square" lIns="10800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6C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=  b₁ ± t* x SE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2B6C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0.162 ± 1.96 x 0.0372   </a:t>
            </a:r>
          </a:p>
          <a:p>
            <a:r>
              <a:rPr lang="en-US" sz="1600" dirty="0">
                <a:solidFill>
                  <a:srgbClr val="2B6C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0.162 ± 0.0729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2B6C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[0.090, 0.235]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58BF64-6DE6-D7DE-F7A3-436F7FEA365C}"/>
              </a:ext>
            </a:extLst>
          </p:cNvPr>
          <p:cNvSpPr/>
          <p:nvPr/>
        </p:nvSpPr>
        <p:spPr>
          <a:xfrm>
            <a:off x="226189" y="2070370"/>
            <a:ext cx="1417981" cy="30984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b="1" dirty="0" err="1">
                <a:solidFill>
                  <a:srgbClr val="2E6B75"/>
                </a:solidFill>
                <a:latin typeface="Courier New"/>
              </a:rPr>
              <a:t>confint</a:t>
            </a:r>
            <a:r>
              <a:rPr lang="en-GB" sz="1000" dirty="0">
                <a:solidFill>
                  <a:srgbClr val="2E6B75"/>
                </a:solidFill>
                <a:latin typeface="Courier New"/>
              </a:rPr>
              <a:t>(</a:t>
            </a:r>
            <a:r>
              <a:rPr lang="en-GB" sz="1050" b="1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</a:t>
            </a:r>
            <a:r>
              <a:rPr lang="en-GB" sz="105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289019-9E90-93FF-30DE-1E5DFF708044}"/>
              </a:ext>
            </a:extLst>
          </p:cNvPr>
          <p:cNvSpPr/>
          <p:nvPr/>
        </p:nvSpPr>
        <p:spPr>
          <a:xfrm>
            <a:off x="218852" y="2380216"/>
            <a:ext cx="3131092" cy="510600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2.5 %    97.5 %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(Intercept) 3.13114336 3.2347678</a:t>
            </a:r>
          </a:p>
          <a:p>
            <a:r>
              <a:rPr lang="en-GB" sz="11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0.08958085 0.2354006</a:t>
            </a:r>
            <a:endParaRPr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2E3737E-98BA-F290-0E13-57EBA6F053A4}"/>
              </a:ext>
            </a:extLst>
          </p:cNvPr>
          <p:cNvSpPr/>
          <p:nvPr/>
        </p:nvSpPr>
        <p:spPr>
          <a:xfrm>
            <a:off x="1" y="5061204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1" name="NL6">
            <a:extLst>
              <a:ext uri="{FF2B5EF4-FFF2-40B4-BE49-F238E27FC236}">
                <a16:creationId xmlns:a16="http://schemas.microsoft.com/office/drawing/2014/main" id="{FD59CA89-49C9-B24C-8152-BFE56A5E08A2}"/>
              </a:ext>
            </a:extLst>
          </p:cNvPr>
          <p:cNvSpPr/>
          <p:nvPr/>
        </p:nvSpPr>
        <p:spPr>
          <a:xfrm flipV="1">
            <a:off x="4697022" y="3555418"/>
            <a:ext cx="3661116" cy="16857"/>
          </a:xfrm>
          <a:prstGeom prst="line">
            <a:avLst/>
          </a:prstGeom>
          <a:ln w="15875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2" name="NL6Tk0">
            <a:extLst>
              <a:ext uri="{FF2B5EF4-FFF2-40B4-BE49-F238E27FC236}">
                <a16:creationId xmlns:a16="http://schemas.microsoft.com/office/drawing/2014/main" id="{A724AC03-0E99-1D3A-3C98-2D91C04B8510}"/>
              </a:ext>
            </a:extLst>
          </p:cNvPr>
          <p:cNvSpPr/>
          <p:nvPr/>
        </p:nvSpPr>
        <p:spPr>
          <a:xfrm>
            <a:off x="4703465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3" name="NL6TL0">
            <a:extLst>
              <a:ext uri="{FF2B5EF4-FFF2-40B4-BE49-F238E27FC236}">
                <a16:creationId xmlns:a16="http://schemas.microsoft.com/office/drawing/2014/main" id="{D4DE7EF4-740F-C3DF-4EA0-91B6F027B9AE}"/>
              </a:ext>
            </a:extLst>
          </p:cNvPr>
          <p:cNvSpPr/>
          <p:nvPr/>
        </p:nvSpPr>
        <p:spPr>
          <a:xfrm>
            <a:off x="4512055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0.0</a:t>
            </a:r>
          </a:p>
        </p:txBody>
      </p:sp>
      <p:sp>
        <p:nvSpPr>
          <p:cNvPr id="254" name="NL6Tk0.1">
            <a:extLst>
              <a:ext uri="{FF2B5EF4-FFF2-40B4-BE49-F238E27FC236}">
                <a16:creationId xmlns:a16="http://schemas.microsoft.com/office/drawing/2014/main" id="{A8D33E21-91AC-9C96-450B-8574D6665558}"/>
              </a:ext>
            </a:extLst>
          </p:cNvPr>
          <p:cNvSpPr/>
          <p:nvPr/>
        </p:nvSpPr>
        <p:spPr>
          <a:xfrm>
            <a:off x="5273427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5" name="NL6Tk0.2">
            <a:extLst>
              <a:ext uri="{FF2B5EF4-FFF2-40B4-BE49-F238E27FC236}">
                <a16:creationId xmlns:a16="http://schemas.microsoft.com/office/drawing/2014/main" id="{E8071489-A8EE-0118-D1EA-2FED3FD4B54D}"/>
              </a:ext>
            </a:extLst>
          </p:cNvPr>
          <p:cNvSpPr/>
          <p:nvPr/>
        </p:nvSpPr>
        <p:spPr>
          <a:xfrm>
            <a:off x="5849835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6" name="NL6TL0.2">
            <a:extLst>
              <a:ext uri="{FF2B5EF4-FFF2-40B4-BE49-F238E27FC236}">
                <a16:creationId xmlns:a16="http://schemas.microsoft.com/office/drawing/2014/main" id="{8373C56B-9368-B119-B25B-95F40C1F65DC}"/>
              </a:ext>
            </a:extLst>
          </p:cNvPr>
          <p:cNvSpPr/>
          <p:nvPr/>
        </p:nvSpPr>
        <p:spPr>
          <a:xfrm>
            <a:off x="5658424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0.1</a:t>
            </a:r>
          </a:p>
        </p:txBody>
      </p:sp>
      <p:sp>
        <p:nvSpPr>
          <p:cNvPr id="257" name="NL6Tk0.3">
            <a:extLst>
              <a:ext uri="{FF2B5EF4-FFF2-40B4-BE49-F238E27FC236}">
                <a16:creationId xmlns:a16="http://schemas.microsoft.com/office/drawing/2014/main" id="{E2303D1B-C369-9D82-88DF-1A924B3B8AD2}"/>
              </a:ext>
            </a:extLst>
          </p:cNvPr>
          <p:cNvSpPr/>
          <p:nvPr/>
        </p:nvSpPr>
        <p:spPr>
          <a:xfrm>
            <a:off x="6448651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8" name="NL6Tk0.4">
            <a:extLst>
              <a:ext uri="{FF2B5EF4-FFF2-40B4-BE49-F238E27FC236}">
                <a16:creationId xmlns:a16="http://schemas.microsoft.com/office/drawing/2014/main" id="{0947CA90-D4B5-FE2D-5FE4-32ABB3819656}"/>
              </a:ext>
            </a:extLst>
          </p:cNvPr>
          <p:cNvSpPr/>
          <p:nvPr/>
        </p:nvSpPr>
        <p:spPr>
          <a:xfrm>
            <a:off x="7002648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9" name="NL6TL0.4">
            <a:extLst>
              <a:ext uri="{FF2B5EF4-FFF2-40B4-BE49-F238E27FC236}">
                <a16:creationId xmlns:a16="http://schemas.microsoft.com/office/drawing/2014/main" id="{F6FAD66A-0781-E71B-B202-C0419F189909}"/>
              </a:ext>
            </a:extLst>
          </p:cNvPr>
          <p:cNvSpPr/>
          <p:nvPr/>
        </p:nvSpPr>
        <p:spPr>
          <a:xfrm>
            <a:off x="6811236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0.2</a:t>
            </a:r>
          </a:p>
        </p:txBody>
      </p:sp>
      <p:sp>
        <p:nvSpPr>
          <p:cNvPr id="260" name="NL6Tk0.5">
            <a:extLst>
              <a:ext uri="{FF2B5EF4-FFF2-40B4-BE49-F238E27FC236}">
                <a16:creationId xmlns:a16="http://schemas.microsoft.com/office/drawing/2014/main" id="{C9467136-6ED5-16F5-F0D2-A712839BE389}"/>
              </a:ext>
            </a:extLst>
          </p:cNvPr>
          <p:cNvSpPr/>
          <p:nvPr/>
        </p:nvSpPr>
        <p:spPr>
          <a:xfrm>
            <a:off x="7579054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61" name="NL6Tk0.6">
            <a:extLst>
              <a:ext uri="{FF2B5EF4-FFF2-40B4-BE49-F238E27FC236}">
                <a16:creationId xmlns:a16="http://schemas.microsoft.com/office/drawing/2014/main" id="{EAC85290-C7E1-159C-BD6F-373AC438BCEB}"/>
              </a:ext>
            </a:extLst>
          </p:cNvPr>
          <p:cNvSpPr/>
          <p:nvPr/>
        </p:nvSpPr>
        <p:spPr>
          <a:xfrm>
            <a:off x="8155459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62" name="NL6TL0.6">
            <a:extLst>
              <a:ext uri="{FF2B5EF4-FFF2-40B4-BE49-F238E27FC236}">
                <a16:creationId xmlns:a16="http://schemas.microsoft.com/office/drawing/2014/main" id="{BB2BDC9C-B2FE-E8D7-E65D-9BDB9D0AF07D}"/>
              </a:ext>
            </a:extLst>
          </p:cNvPr>
          <p:cNvSpPr/>
          <p:nvPr/>
        </p:nvSpPr>
        <p:spPr>
          <a:xfrm>
            <a:off x="7964050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0.3</a:t>
            </a:r>
          </a:p>
        </p:txBody>
      </p:sp>
      <p:sp>
        <p:nvSpPr>
          <p:cNvPr id="200" name="B1Dot6">
            <a:extLst>
              <a:ext uri="{FF2B5EF4-FFF2-40B4-BE49-F238E27FC236}">
                <a16:creationId xmlns:a16="http://schemas.microsoft.com/office/drawing/2014/main" id="{14A24685-8E72-D7DD-3486-C059DB07839E}"/>
              </a:ext>
            </a:extLst>
          </p:cNvPr>
          <p:cNvSpPr/>
          <p:nvPr/>
        </p:nvSpPr>
        <p:spPr>
          <a:xfrm>
            <a:off x="6446482" y="3482877"/>
            <a:ext cx="139209" cy="1633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4535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cxnSp>
        <p:nvCxnSpPr>
          <p:cNvPr id="201" name="DotLine">
            <a:extLst>
              <a:ext uri="{FF2B5EF4-FFF2-40B4-BE49-F238E27FC236}">
                <a16:creationId xmlns:a16="http://schemas.microsoft.com/office/drawing/2014/main" id="{A8F97921-5942-24F2-3890-9EC3042DDFED}"/>
              </a:ext>
            </a:extLst>
          </p:cNvPr>
          <p:cNvCxnSpPr>
            <a:cxnSpLocks/>
            <a:endCxn id="200" idx="4"/>
          </p:cNvCxnSpPr>
          <p:nvPr/>
        </p:nvCxnSpPr>
        <p:spPr>
          <a:xfrm>
            <a:off x="6516088" y="2569350"/>
            <a:ext cx="0" cy="1076913"/>
          </a:xfrm>
          <a:prstGeom prst="line">
            <a:avLst/>
          </a:prstGeom>
          <a:ln w="19050">
            <a:solidFill>
              <a:srgbClr val="D94535"/>
            </a:solidFill>
            <a:prstDash val="dash"/>
          </a:ln>
        </p:spPr>
      </p:cxnSp>
      <p:sp>
        <p:nvSpPr>
          <p:cNvPr id="202" name="BLabel">
            <a:extLst>
              <a:ext uri="{FF2B5EF4-FFF2-40B4-BE49-F238E27FC236}">
                <a16:creationId xmlns:a16="http://schemas.microsoft.com/office/drawing/2014/main" id="{B9C185F7-94E6-174B-F479-D51C3C991F04}"/>
              </a:ext>
            </a:extLst>
          </p:cNvPr>
          <p:cNvSpPr/>
          <p:nvPr/>
        </p:nvSpPr>
        <p:spPr>
          <a:xfrm>
            <a:off x="6061098" y="2381121"/>
            <a:ext cx="1015607" cy="185817"/>
          </a:xfrm>
          <a:prstGeom prst="roundRect">
            <a:avLst>
              <a:gd name="adj" fmla="val 16667"/>
            </a:avLst>
          </a:prstGeom>
          <a:solidFill>
            <a:srgbClr val="D94535"/>
          </a:solidFill>
          <a:ln>
            <a:noFill/>
          </a:ln>
        </p:spPr>
        <p:txBody>
          <a:bodyPr wrap="none" lIns="36000" tIns="0" rIns="3600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</a:rPr>
              <a:t>b₁ = 0.162</a:t>
            </a:r>
          </a:p>
        </p:txBody>
      </p: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AD2CA11-8D57-5EB5-9509-0DFF8A135E08}"/>
              </a:ext>
            </a:extLst>
          </p:cNvPr>
          <p:cNvGrpSpPr/>
          <p:nvPr/>
        </p:nvGrpSpPr>
        <p:grpSpPr>
          <a:xfrm>
            <a:off x="5644843" y="3549137"/>
            <a:ext cx="1788784" cy="1329253"/>
            <a:chOff x="5941765" y="3595561"/>
            <a:chExt cx="1317398" cy="1308729"/>
          </a:xfrm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697AEAD5-824B-9E76-3038-A789DFFAFA69}"/>
                </a:ext>
              </a:extLst>
            </p:cNvPr>
            <p:cNvGrpSpPr/>
            <p:nvPr/>
          </p:nvGrpSpPr>
          <p:grpSpPr>
            <a:xfrm>
              <a:off x="5953230" y="3595561"/>
              <a:ext cx="1305933" cy="1308729"/>
              <a:chOff x="9290941" y="3529467"/>
              <a:chExt cx="2289137" cy="1308729"/>
            </a:xfrm>
          </p:grpSpPr>
          <p:sp>
            <p:nvSpPr>
              <p:cNvPr id="229" name="CILW7">
                <a:extLst>
                  <a:ext uri="{FF2B5EF4-FFF2-40B4-BE49-F238E27FC236}">
                    <a16:creationId xmlns:a16="http://schemas.microsoft.com/office/drawing/2014/main" id="{079B9BCC-AAE8-D6A8-63AE-ED89BB945B00}"/>
                  </a:ext>
                </a:extLst>
              </p:cNvPr>
              <p:cNvSpPr/>
              <p:nvPr/>
            </p:nvSpPr>
            <p:spPr>
              <a:xfrm>
                <a:off x="9290941" y="3543783"/>
                <a:ext cx="4320" cy="1294413"/>
              </a:xfrm>
              <a:prstGeom prst="line">
                <a:avLst/>
              </a:prstGeom>
              <a:ln w="15875">
                <a:solidFill>
                  <a:srgbClr val="2B6CB0"/>
                </a:solidFill>
                <a:prstDash val="sysDash"/>
              </a:ln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30" name="CILVal7">
                <a:extLst>
                  <a:ext uri="{FF2B5EF4-FFF2-40B4-BE49-F238E27FC236}">
                    <a16:creationId xmlns:a16="http://schemas.microsoft.com/office/drawing/2014/main" id="{F30CE107-E4A7-4C63-13B0-13F23B08B78B}"/>
                  </a:ext>
                </a:extLst>
              </p:cNvPr>
              <p:cNvSpPr/>
              <p:nvPr/>
            </p:nvSpPr>
            <p:spPr>
              <a:xfrm>
                <a:off x="9295260" y="4118848"/>
                <a:ext cx="523661" cy="126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0.090</a:t>
                </a:r>
              </a:p>
            </p:txBody>
          </p:sp>
          <p:sp>
            <p:nvSpPr>
              <p:cNvPr id="231" name="CIRVal7">
                <a:extLst>
                  <a:ext uri="{FF2B5EF4-FFF2-40B4-BE49-F238E27FC236}">
                    <a16:creationId xmlns:a16="http://schemas.microsoft.com/office/drawing/2014/main" id="{02A99139-4FC4-1517-C6C6-FC5E4352DE96}"/>
                  </a:ext>
                </a:extLst>
              </p:cNvPr>
              <p:cNvSpPr/>
              <p:nvPr/>
            </p:nvSpPr>
            <p:spPr>
              <a:xfrm>
                <a:off x="10950810" y="4129271"/>
                <a:ext cx="629268" cy="108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0.235</a:t>
                </a:r>
              </a:p>
            </p:txBody>
          </p:sp>
          <p:sp>
            <p:nvSpPr>
              <p:cNvPr id="232" name="CIBar7">
                <a:extLst>
                  <a:ext uri="{FF2B5EF4-FFF2-40B4-BE49-F238E27FC236}">
                    <a16:creationId xmlns:a16="http://schemas.microsoft.com/office/drawing/2014/main" id="{E1B88F0B-8939-1727-D86C-BEC924785556}"/>
                  </a:ext>
                </a:extLst>
              </p:cNvPr>
              <p:cNvSpPr/>
              <p:nvPr/>
            </p:nvSpPr>
            <p:spPr>
              <a:xfrm>
                <a:off x="9299580" y="4464570"/>
                <a:ext cx="2233933" cy="373625"/>
              </a:xfrm>
              <a:prstGeom prst="rect">
                <a:avLst/>
              </a:prstGeom>
              <a:solidFill>
                <a:srgbClr val="F1F4FF"/>
              </a:solidFill>
              <a:ln>
                <a:solidFill>
                  <a:srgbClr val="0070C0"/>
                </a:solidFill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kern="0" dirty="0">
                    <a:solidFill>
                      <a:srgbClr val="2B6CB0"/>
                    </a:solidFill>
                    <a:latin typeface="Open Sans"/>
                  </a:rPr>
                  <a:t>95% CI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kern="0" dirty="0">
                    <a:solidFill>
                      <a:srgbClr val="2B6CB0"/>
                    </a:solidFill>
                    <a:latin typeface="Open Sans"/>
                  </a:rPr>
                  <a:t>b₁ ± t* x SE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endParaRPr>
              </a:p>
            </p:txBody>
          </p:sp>
          <p:sp>
            <p:nvSpPr>
              <p:cNvPr id="233" name="CIRW7">
                <a:extLst>
                  <a:ext uri="{FF2B5EF4-FFF2-40B4-BE49-F238E27FC236}">
                    <a16:creationId xmlns:a16="http://schemas.microsoft.com/office/drawing/2014/main" id="{5087B5D3-245A-E5D8-D4F0-87E978D27745}"/>
                  </a:ext>
                </a:extLst>
              </p:cNvPr>
              <p:cNvSpPr/>
              <p:nvPr/>
            </p:nvSpPr>
            <p:spPr>
              <a:xfrm flipH="1">
                <a:off x="11529192" y="3529467"/>
                <a:ext cx="4320" cy="1294414"/>
              </a:xfrm>
              <a:prstGeom prst="line">
                <a:avLst/>
              </a:prstGeom>
              <a:ln w="15875">
                <a:solidFill>
                  <a:srgbClr val="2B6CB0"/>
                </a:solidFill>
                <a:prstDash val="sysDash"/>
              </a:ln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0B46864-BD25-0E9C-4C3C-77BD34C4C3FC}"/>
                </a:ext>
              </a:extLst>
            </p:cNvPr>
            <p:cNvGrpSpPr/>
            <p:nvPr/>
          </p:nvGrpSpPr>
          <p:grpSpPr>
            <a:xfrm>
              <a:off x="6267305" y="4389898"/>
              <a:ext cx="327363" cy="137873"/>
              <a:chOff x="9647669" y="5455717"/>
              <a:chExt cx="954308" cy="309645"/>
            </a:xfrm>
          </p:grpSpPr>
          <p:sp>
            <p:nvSpPr>
              <p:cNvPr id="213" name="CIBar7">
                <a:extLst>
                  <a:ext uri="{FF2B5EF4-FFF2-40B4-BE49-F238E27FC236}">
                    <a16:creationId xmlns:a16="http://schemas.microsoft.com/office/drawing/2014/main" id="{249EF605-561B-11F5-FDA8-072205F5A443}"/>
                  </a:ext>
                </a:extLst>
              </p:cNvPr>
              <p:cNvSpPr/>
              <p:nvPr/>
            </p:nvSpPr>
            <p:spPr>
              <a:xfrm>
                <a:off x="9664279" y="5471419"/>
                <a:ext cx="937695" cy="29359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14" name="CILW7">
                <a:extLst>
                  <a:ext uri="{FF2B5EF4-FFF2-40B4-BE49-F238E27FC236}">
                    <a16:creationId xmlns:a16="http://schemas.microsoft.com/office/drawing/2014/main" id="{D96AC2C9-C0FA-11F6-6CEA-EC6194002F78}"/>
                  </a:ext>
                </a:extLst>
              </p:cNvPr>
              <p:cNvSpPr/>
              <p:nvPr/>
            </p:nvSpPr>
            <p:spPr>
              <a:xfrm>
                <a:off x="9647669" y="546056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15" name="CILW7">
                <a:extLst>
                  <a:ext uri="{FF2B5EF4-FFF2-40B4-BE49-F238E27FC236}">
                    <a16:creationId xmlns:a16="http://schemas.microsoft.com/office/drawing/2014/main" id="{0DFD39AF-B9CA-D3D9-3B25-1259A062032F}"/>
                  </a:ext>
                </a:extLst>
              </p:cNvPr>
              <p:cNvSpPr/>
              <p:nvPr/>
            </p:nvSpPr>
            <p:spPr>
              <a:xfrm>
                <a:off x="10601977" y="5455717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281" name="CIBar7">
              <a:extLst>
                <a:ext uri="{FF2B5EF4-FFF2-40B4-BE49-F238E27FC236}">
                  <a16:creationId xmlns:a16="http://schemas.microsoft.com/office/drawing/2014/main" id="{314BD0E5-4ADC-137F-1F6A-03770CF0235C}"/>
                </a:ext>
              </a:extLst>
            </p:cNvPr>
            <p:cNvSpPr/>
            <p:nvPr/>
          </p:nvSpPr>
          <p:spPr>
            <a:xfrm>
              <a:off x="5941765" y="4398014"/>
              <a:ext cx="321664" cy="13072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3" name="CILW7">
              <a:extLst>
                <a:ext uri="{FF2B5EF4-FFF2-40B4-BE49-F238E27FC236}">
                  <a16:creationId xmlns:a16="http://schemas.microsoft.com/office/drawing/2014/main" id="{21049969-7155-314C-3713-BB1782B2F8D9}"/>
                </a:ext>
              </a:extLst>
            </p:cNvPr>
            <p:cNvSpPr/>
            <p:nvPr/>
          </p:nvSpPr>
          <p:spPr>
            <a:xfrm>
              <a:off x="6263430" y="4391023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5" name="CIBar7">
              <a:extLst>
                <a:ext uri="{FF2B5EF4-FFF2-40B4-BE49-F238E27FC236}">
                  <a16:creationId xmlns:a16="http://schemas.microsoft.com/office/drawing/2014/main" id="{81AB9285-DF46-2F0B-6A5D-B0B370E06BA1}"/>
                </a:ext>
              </a:extLst>
            </p:cNvPr>
            <p:cNvSpPr/>
            <p:nvPr/>
          </p:nvSpPr>
          <p:spPr>
            <a:xfrm>
              <a:off x="6930030" y="4394055"/>
              <a:ext cx="321664" cy="13072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6" name="CILW7">
              <a:extLst>
                <a:ext uri="{FF2B5EF4-FFF2-40B4-BE49-F238E27FC236}">
                  <a16:creationId xmlns:a16="http://schemas.microsoft.com/office/drawing/2014/main" id="{1896AE72-C013-12BD-4B8C-30800AB31AC7}"/>
                </a:ext>
              </a:extLst>
            </p:cNvPr>
            <p:cNvSpPr/>
            <p:nvPr/>
          </p:nvSpPr>
          <p:spPr>
            <a:xfrm>
              <a:off x="6924332" y="4389221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938E4FA8-BAA1-CF3B-D202-260069A87F5A}"/>
                </a:ext>
              </a:extLst>
            </p:cNvPr>
            <p:cNvGrpSpPr/>
            <p:nvPr/>
          </p:nvGrpSpPr>
          <p:grpSpPr>
            <a:xfrm>
              <a:off x="6593093" y="4388190"/>
              <a:ext cx="327363" cy="137873"/>
              <a:chOff x="9647669" y="5455717"/>
              <a:chExt cx="954308" cy="309645"/>
            </a:xfrm>
          </p:grpSpPr>
          <p:sp>
            <p:nvSpPr>
              <p:cNvPr id="289" name="CIBar7">
                <a:extLst>
                  <a:ext uri="{FF2B5EF4-FFF2-40B4-BE49-F238E27FC236}">
                    <a16:creationId xmlns:a16="http://schemas.microsoft.com/office/drawing/2014/main" id="{ADD9F8CA-6D25-F75E-861C-42A8875BAA64}"/>
                  </a:ext>
                </a:extLst>
              </p:cNvPr>
              <p:cNvSpPr/>
              <p:nvPr/>
            </p:nvSpPr>
            <p:spPr>
              <a:xfrm>
                <a:off x="9664279" y="5471419"/>
                <a:ext cx="937695" cy="29359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90" name="CILW7">
                <a:extLst>
                  <a:ext uri="{FF2B5EF4-FFF2-40B4-BE49-F238E27FC236}">
                    <a16:creationId xmlns:a16="http://schemas.microsoft.com/office/drawing/2014/main" id="{FCA17B13-D116-E1F7-6C46-EACC65F40171}"/>
                  </a:ext>
                </a:extLst>
              </p:cNvPr>
              <p:cNvSpPr/>
              <p:nvPr/>
            </p:nvSpPr>
            <p:spPr>
              <a:xfrm>
                <a:off x="9647669" y="546056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91" name="CILW7">
                <a:extLst>
                  <a:ext uri="{FF2B5EF4-FFF2-40B4-BE49-F238E27FC236}">
                    <a16:creationId xmlns:a16="http://schemas.microsoft.com/office/drawing/2014/main" id="{FBB8CBCC-5C93-C252-7A3B-4FA5A5EE9992}"/>
                  </a:ext>
                </a:extLst>
              </p:cNvPr>
              <p:cNvSpPr/>
              <p:nvPr/>
            </p:nvSpPr>
            <p:spPr>
              <a:xfrm>
                <a:off x="10601977" y="5455717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0E6AC267-3A42-278B-F0F6-B8D36C32D7D8}"/>
              </a:ext>
            </a:extLst>
          </p:cNvPr>
          <p:cNvGrpSpPr/>
          <p:nvPr/>
        </p:nvGrpSpPr>
        <p:grpSpPr>
          <a:xfrm>
            <a:off x="6517974" y="3846072"/>
            <a:ext cx="382822" cy="135808"/>
            <a:chOff x="9647669" y="5455717"/>
            <a:chExt cx="954308" cy="309645"/>
          </a:xfrm>
        </p:grpSpPr>
        <p:sp>
          <p:nvSpPr>
            <p:cNvPr id="298" name="CIBar7">
              <a:extLst>
                <a:ext uri="{FF2B5EF4-FFF2-40B4-BE49-F238E27FC236}">
                  <a16:creationId xmlns:a16="http://schemas.microsoft.com/office/drawing/2014/main" id="{626258B7-9034-4B4A-0BD3-C799A759FB04}"/>
                </a:ext>
              </a:extLst>
            </p:cNvPr>
            <p:cNvSpPr/>
            <p:nvPr/>
          </p:nvSpPr>
          <p:spPr>
            <a:xfrm>
              <a:off x="9664279" y="5471419"/>
              <a:ext cx="937695" cy="29359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99" name="CILW7">
              <a:extLst>
                <a:ext uri="{FF2B5EF4-FFF2-40B4-BE49-F238E27FC236}">
                  <a16:creationId xmlns:a16="http://schemas.microsoft.com/office/drawing/2014/main" id="{233B0F9F-ECD1-AF61-9A3D-0D70B02400D0}"/>
                </a:ext>
              </a:extLst>
            </p:cNvPr>
            <p:cNvSpPr/>
            <p:nvPr/>
          </p:nvSpPr>
          <p:spPr>
            <a:xfrm>
              <a:off x="9647669" y="5460562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00" name="CILW7">
              <a:extLst>
                <a:ext uri="{FF2B5EF4-FFF2-40B4-BE49-F238E27FC236}">
                  <a16:creationId xmlns:a16="http://schemas.microsoft.com/office/drawing/2014/main" id="{5B612614-0964-4B08-66AF-F0B8C9A6CF40}"/>
                </a:ext>
              </a:extLst>
            </p:cNvPr>
            <p:cNvSpPr/>
            <p:nvPr/>
          </p:nvSpPr>
          <p:spPr>
            <a:xfrm>
              <a:off x="10601977" y="5455717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</p:grpSp>
      <p:sp>
        <p:nvSpPr>
          <p:cNvPr id="345" name="Rectangle 344">
            <a:extLst>
              <a:ext uri="{FF2B5EF4-FFF2-40B4-BE49-F238E27FC236}">
                <a16:creationId xmlns:a16="http://schemas.microsoft.com/office/drawing/2014/main" id="{C0E65AD1-099A-C44D-7403-C295BED9EA73}"/>
              </a:ext>
            </a:extLst>
          </p:cNvPr>
          <p:cNvSpPr/>
          <p:nvPr/>
        </p:nvSpPr>
        <p:spPr>
          <a:xfrm>
            <a:off x="218852" y="631455"/>
            <a:ext cx="3846086" cy="48112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7C5F6818-55C4-2B2D-A9DB-5AEC918CBE3D}"/>
              </a:ext>
            </a:extLst>
          </p:cNvPr>
          <p:cNvSpPr/>
          <p:nvPr/>
        </p:nvSpPr>
        <p:spPr>
          <a:xfrm>
            <a:off x="226189" y="1098534"/>
            <a:ext cx="4394726" cy="854682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Estimate Std. Error t value </a:t>
            </a:r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(Intercept)  3.18296    0.02640 120.552  &lt; 2e-16 ***</a:t>
            </a:r>
          </a:p>
          <a:p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0.16249    0.03715   4.373 1.35e-05 ***</a:t>
            </a:r>
          </a:p>
          <a:p>
            <a:endParaRPr sz="1100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A23B9A84-F8C1-1521-45DD-97AB195F673A}"/>
              </a:ext>
            </a:extLst>
          </p:cNvPr>
          <p:cNvSpPr txBox="1"/>
          <p:nvPr/>
        </p:nvSpPr>
        <p:spPr>
          <a:xfrm>
            <a:off x="218853" y="631455"/>
            <a:ext cx="3348444" cy="430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 &lt;- </a:t>
            </a:r>
            <a:r>
              <a:rPr sz="1100" b="1" i="0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sz="1100" b="1" i="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sex, data = births)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(mod)</a:t>
            </a:r>
          </a:p>
        </p:txBody>
      </p:sp>
      <p:sp>
        <p:nvSpPr>
          <p:cNvPr id="348" name="Text 2">
            <a:extLst>
              <a:ext uri="{FF2B5EF4-FFF2-40B4-BE49-F238E27FC236}">
                <a16:creationId xmlns:a16="http://schemas.microsoft.com/office/drawing/2014/main" id="{D3D0049A-D6EE-782C-8F07-F10D8555DE75}"/>
              </a:ext>
            </a:extLst>
          </p:cNvPr>
          <p:cNvSpPr/>
          <p:nvPr/>
        </p:nvSpPr>
        <p:spPr>
          <a:xfrm>
            <a:off x="201300" y="195952"/>
            <a:ext cx="61116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standard error to the confidence interval (CI)</a:t>
            </a:r>
            <a:endParaRPr lang="en-US" dirty="0"/>
          </a:p>
        </p:txBody>
      </p:sp>
      <p:pic>
        <p:nvPicPr>
          <p:cNvPr id="350" name="Picture 349" descr="plot_basic.png">
            <a:extLst>
              <a:ext uri="{FF2B5EF4-FFF2-40B4-BE49-F238E27FC236}">
                <a16:creationId xmlns:a16="http://schemas.microsoft.com/office/drawing/2014/main" id="{813DCA4E-A32A-02AE-230B-DF27B94A6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28"/>
          <a:stretch>
            <a:fillRect/>
          </a:stretch>
        </p:blipFill>
        <p:spPr>
          <a:xfrm>
            <a:off x="5902248" y="313921"/>
            <a:ext cx="2647650" cy="1818495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0EF3EAC5-994E-48CD-AC75-64C28D57C972}"/>
              </a:ext>
            </a:extLst>
          </p:cNvPr>
          <p:cNvCxnSpPr>
            <a:cxnSpLocks/>
          </p:cNvCxnSpPr>
          <p:nvPr/>
        </p:nvCxnSpPr>
        <p:spPr>
          <a:xfrm>
            <a:off x="6351144" y="1012751"/>
            <a:ext cx="923786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102090CA-30FE-1398-0149-576B8E670A63}"/>
              </a:ext>
            </a:extLst>
          </p:cNvPr>
          <p:cNvCxnSpPr>
            <a:cxnSpLocks/>
          </p:cNvCxnSpPr>
          <p:nvPr/>
        </p:nvCxnSpPr>
        <p:spPr>
          <a:xfrm>
            <a:off x="7370133" y="920563"/>
            <a:ext cx="955378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265C4967-EA2A-70F4-9107-DA1A71561960}"/>
              </a:ext>
            </a:extLst>
          </p:cNvPr>
          <p:cNvCxnSpPr>
            <a:cxnSpLocks/>
          </p:cNvCxnSpPr>
          <p:nvPr/>
        </p:nvCxnSpPr>
        <p:spPr>
          <a:xfrm>
            <a:off x="8238214" y="920563"/>
            <a:ext cx="0" cy="147501"/>
          </a:xfrm>
          <a:prstGeom prst="straightConnector1">
            <a:avLst/>
          </a:prstGeom>
          <a:ln w="9525">
            <a:solidFill>
              <a:srgbClr val="DFA019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025FD0E2-838C-6871-BC15-3F98B1308E16}"/>
              </a:ext>
            </a:extLst>
          </p:cNvPr>
          <p:cNvCxnSpPr/>
          <p:nvPr/>
        </p:nvCxnSpPr>
        <p:spPr>
          <a:xfrm flipV="1">
            <a:off x="6774188" y="920563"/>
            <a:ext cx="1084926" cy="92188"/>
          </a:xfrm>
          <a:prstGeom prst="line">
            <a:avLst/>
          </a:prstGeom>
          <a:ln w="19050">
            <a:solidFill>
              <a:srgbClr val="DFA0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A8CEAE38-4D7C-8A5D-B21A-4D7DD3F8E82B}"/>
              </a:ext>
            </a:extLst>
          </p:cNvPr>
          <p:cNvSpPr txBox="1"/>
          <p:nvPr/>
        </p:nvSpPr>
        <p:spPr>
          <a:xfrm>
            <a:off x="8153922" y="1044612"/>
            <a:ext cx="37851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DFA019"/>
                </a:solidFill>
              </a:rPr>
              <a:t>0.162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D0193242-1148-D317-6BAF-364B75722606}"/>
              </a:ext>
            </a:extLst>
          </p:cNvPr>
          <p:cNvSpPr txBox="1"/>
          <p:nvPr/>
        </p:nvSpPr>
        <p:spPr>
          <a:xfrm>
            <a:off x="6227868" y="993589"/>
            <a:ext cx="4267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2D6B75"/>
                </a:solidFill>
              </a:rPr>
              <a:t>3.18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535F516D-0FA2-9AB0-68ED-142ABB856F53}"/>
              </a:ext>
            </a:extLst>
          </p:cNvPr>
          <p:cNvSpPr txBox="1"/>
          <p:nvPr/>
        </p:nvSpPr>
        <p:spPr>
          <a:xfrm>
            <a:off x="7287448" y="708633"/>
            <a:ext cx="4267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2D6B75"/>
                </a:solidFill>
              </a:rPr>
              <a:t>3.34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309EB698-5744-B5C4-92CA-99203C2319E3}"/>
              </a:ext>
            </a:extLst>
          </p:cNvPr>
          <p:cNvSpPr/>
          <p:nvPr/>
        </p:nvSpPr>
        <p:spPr>
          <a:xfrm>
            <a:off x="6391310" y="975876"/>
            <a:ext cx="821595" cy="80976"/>
          </a:xfrm>
          <a:prstGeom prst="rect">
            <a:avLst/>
          </a:prstGeom>
          <a:solidFill>
            <a:srgbClr val="388792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23BB9F92-1887-C98D-F354-D4BE33C8848E}"/>
              </a:ext>
            </a:extLst>
          </p:cNvPr>
          <p:cNvSpPr/>
          <p:nvPr/>
        </p:nvSpPr>
        <p:spPr>
          <a:xfrm rot="21289538">
            <a:off x="6865138" y="920683"/>
            <a:ext cx="821595" cy="134915"/>
          </a:xfrm>
          <a:prstGeom prst="rect">
            <a:avLst/>
          </a:prstGeom>
          <a:solidFill>
            <a:srgbClr val="F0AD1C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8AFABC3B-47F1-881D-39AF-006FBE90E50A}"/>
              </a:ext>
            </a:extLst>
          </p:cNvPr>
          <p:cNvSpPr/>
          <p:nvPr/>
        </p:nvSpPr>
        <p:spPr>
          <a:xfrm>
            <a:off x="7444354" y="883683"/>
            <a:ext cx="821595" cy="80976"/>
          </a:xfrm>
          <a:prstGeom prst="rect">
            <a:avLst/>
          </a:prstGeom>
          <a:solidFill>
            <a:srgbClr val="388792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CIExplainHdr">
            <a:extLst>
              <a:ext uri="{FF2B5EF4-FFF2-40B4-BE49-F238E27FC236}">
                <a16:creationId xmlns:a16="http://schemas.microsoft.com/office/drawing/2014/main" id="{84831B60-0B9D-144E-8B07-11F0CE9F893B}"/>
              </a:ext>
            </a:extLst>
          </p:cNvPr>
          <p:cNvSpPr/>
          <p:nvPr/>
        </p:nvSpPr>
        <p:spPr>
          <a:xfrm>
            <a:off x="228600" y="2971800"/>
            <a:ext cx="2794000" cy="254000"/>
          </a:xfrm>
          <a:prstGeom prst="rect">
            <a:avLst/>
          </a:prstGeom>
          <a:solidFill>
            <a:srgbClr val="2E6B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8000" tIns="18000" rIns="54000" bIns="1800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Open Sans"/>
              </a:rPr>
              <a:t>What the 95% CI tells us</a:t>
            </a:r>
          </a:p>
        </p:txBody>
      </p:sp>
      <p:sp>
        <p:nvSpPr>
          <p:cNvPr id="4" name="CIExplainBody">
            <a:extLst>
              <a:ext uri="{FF2B5EF4-FFF2-40B4-BE49-F238E27FC236}">
                <a16:creationId xmlns:a16="http://schemas.microsoft.com/office/drawing/2014/main" id="{89CA5A29-4A47-BC42-9CDC-D26196ADEE01}"/>
              </a:ext>
            </a:extLst>
          </p:cNvPr>
          <p:cNvSpPr/>
          <p:nvPr/>
        </p:nvSpPr>
        <p:spPr>
          <a:xfrm>
            <a:off x="228600" y="3225800"/>
            <a:ext cx="2794000" cy="15004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8000" tIns="36000" rIns="54000" bIns="36000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• A range of plausible values for the </a:t>
            </a:r>
            <a:r>
              <a:rPr lang="en-US" sz="1100" b="1" i="1" dirty="0">
                <a:solidFill>
                  <a:srgbClr val="2E3640"/>
                </a:solidFill>
                <a:latin typeface="Open Sans"/>
              </a:rPr>
              <a:t>true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 male–female difference. We are 95% confident the true difference lies in [0.090, 0.235] kg.</a:t>
            </a:r>
            <a:br>
              <a:rPr lang="en-US" sz="1100" dirty="0">
                <a:solidFill>
                  <a:srgbClr val="2E3640"/>
                </a:solidFill>
                <a:latin typeface="Open Sans"/>
              </a:rPr>
            </a:br>
            <a:endParaRPr lang="en-US" sz="1100" dirty="0">
              <a:solidFill>
                <a:srgbClr val="2E3640"/>
              </a:solidFill>
              <a:latin typeface="Open Sans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• The 95% CI does not include 0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: We can reject the null hypothesis at an alpha of 0.05</a:t>
            </a:r>
          </a:p>
        </p:txBody>
      </p:sp>
    </p:spTree>
    <p:extLst>
      <p:ext uri="{BB962C8B-B14F-4D97-AF65-F5344CB8AC3E}">
        <p14:creationId xmlns:p14="http://schemas.microsoft.com/office/powerpoint/2010/main" val="377245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4" grpId="0" animBg="1"/>
      <p:bldP spid="55" grpId="0" animBg="1"/>
      <p:bldP spid="251" grpId="0" animBg="1"/>
      <p:bldP spid="252" grpId="0" animBg="1"/>
      <p:bldP spid="253" grpId="0"/>
      <p:bldP spid="254" grpId="0" animBg="1"/>
      <p:bldP spid="255" grpId="0" animBg="1"/>
      <p:bldP spid="256" grpId="0"/>
      <p:bldP spid="257" grpId="0" animBg="1"/>
      <p:bldP spid="257" grpId="1" animBg="1"/>
      <p:bldP spid="258" grpId="0" animBg="1"/>
      <p:bldP spid="259" grpId="0"/>
      <p:bldP spid="260" grpId="0" animBg="1"/>
      <p:bldP spid="261" grpId="0" animBg="1"/>
      <p:bldP spid="262" grpId="0"/>
      <p:bldP spid="200" grpId="0" animBg="1"/>
      <p:bldP spid="202" grpId="0" animBg="1"/>
      <p:bldP spid="345" grpId="0" animBg="1"/>
      <p:bldP spid="346" grpId="0" animBg="1"/>
      <p:bldP spid="347" grpId="0"/>
      <p:bldP spid="355" grpId="0"/>
      <p:bldP spid="356" grpId="0"/>
      <p:bldP spid="357" grpId="0"/>
      <p:bldP spid="358" grpId="0" animBg="1"/>
      <p:bldP spid="359" grpId="0" animBg="1"/>
      <p:bldP spid="360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061"/>
                </a:solidFill>
                <a:latin typeface="Calibri" pitchFamily="34" charset="0"/>
              </a:rPr>
              <a:t>Progress check  |  </a:t>
            </a:r>
            <a:r>
              <a:rPr lang="en-US" sz="2400" b="0" dirty="0">
                <a:solidFill>
                  <a:srgbClr val="6B7B8A"/>
                </a:solidFill>
                <a:latin typeface="Calibri" pitchFamily="34" charset="0"/>
              </a:rPr>
              <a:t>Objectives 1–3 covered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65B2BEBD-115C-ED53-3218-119E435DAE80}"/>
              </a:ext>
            </a:extLst>
          </p:cNvPr>
          <p:cNvSpPr/>
          <p:nvPr/>
        </p:nvSpPr>
        <p:spPr>
          <a:xfrm>
            <a:off x="1005840" y="1097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A 0/1 encoded x variable still fits inside the same y = b₀ + </a:t>
            </a:r>
            <a:r>
              <a:rPr lang="en-US" sz="1400" dirty="0" err="1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b₁x</a:t>
            </a:r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 model framework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C5763CB5-7146-5664-0E55-CAE78D513CC3}"/>
              </a:ext>
            </a:extLst>
          </p:cNvPr>
          <p:cNvSpPr/>
          <p:nvPr/>
        </p:nvSpPr>
        <p:spPr>
          <a:xfrm>
            <a:off x="1005840" y="1691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b₀ = reference group mean, b₁ = difference between the two group means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9DDF21E-4A27-A22F-F63F-EBDBE3A65024}"/>
              </a:ext>
            </a:extLst>
          </p:cNvPr>
          <p:cNvSpPr/>
          <p:nvPr/>
        </p:nvSpPr>
        <p:spPr>
          <a:xfrm>
            <a:off x="1005840" y="2286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Same logic as before: the CI is a plausible range for the population difference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44882862-2321-7241-B865-C6C72420D3CB}"/>
              </a:ext>
            </a:extLst>
          </p:cNvPr>
          <p:cNvSpPr/>
          <p:nvPr/>
        </p:nvSpPr>
        <p:spPr>
          <a:xfrm>
            <a:off x="1005840" y="2880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estimate / SE asks: how many SEs is the estimate away from no effect?</a:t>
            </a:r>
            <a:endParaRPr lang="en-US" sz="14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571107F0-D232-F6B3-2586-D46CD56339BC}"/>
              </a:ext>
            </a:extLst>
          </p:cNvPr>
          <p:cNvSpPr/>
          <p:nvPr/>
        </p:nvSpPr>
        <p:spPr>
          <a:xfrm>
            <a:off x="1005840" y="34747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|t| pushes further into the tail and gives a smaller p-value</a:t>
            </a:r>
            <a:endParaRPr lang="en-US" sz="14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B7B18EDF-95F8-E4AC-2A76-F6A6C40EF5D9}"/>
              </a:ext>
            </a:extLst>
          </p:cNvPr>
          <p:cNvSpPr/>
          <p:nvPr/>
        </p:nvSpPr>
        <p:spPr>
          <a:xfrm>
            <a:off x="1005840" y="83454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Extend simple linear regression to a binary predictor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25A277F3-34BD-C24F-9A1B-FE8CF555CCEF}"/>
              </a:ext>
            </a:extLst>
          </p:cNvPr>
          <p:cNvSpPr/>
          <p:nvPr/>
        </p:nvSpPr>
        <p:spPr>
          <a:xfrm>
            <a:off x="1005840" y="142890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Interpret the intercept and slope as group means and a difference</a:t>
            </a: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E87F412F-EEB0-2433-6DD4-705B6ED0192C}"/>
              </a:ext>
            </a:extLst>
          </p:cNvPr>
          <p:cNvSpPr/>
          <p:nvPr/>
        </p:nvSpPr>
        <p:spPr>
          <a:xfrm>
            <a:off x="1005840" y="202326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 and 95% CI for the group difference</a:t>
            </a:r>
            <a:endParaRPr lang="en-US" sz="14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466A7940-46BE-7EE3-9071-C252519E81DB}"/>
              </a:ext>
            </a:extLst>
          </p:cNvPr>
          <p:cNvSpPr/>
          <p:nvPr/>
        </p:nvSpPr>
        <p:spPr>
          <a:xfrm>
            <a:off x="1005840" y="261762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 value as a standardized distance from zero</a:t>
            </a:r>
            <a:endParaRPr lang="en-US" sz="14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67E3D563-89CD-1E45-F41C-36D3D50AE021}"/>
              </a:ext>
            </a:extLst>
          </p:cNvPr>
          <p:cNvSpPr/>
          <p:nvPr/>
        </p:nvSpPr>
        <p:spPr>
          <a:xfrm>
            <a:off x="1005840" y="321198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 into a p-value via tail area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2803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5000"/>
            <a:ext cx="8321040" cy="45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2E6B75"/>
                </a:solidFill>
                <a:latin typeface="+mj-lt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rgbClr val="2E6B75"/>
                </a:solidFill>
                <a:latin typeface="Montserrat" pitchFamily="2" charset="77"/>
              </a:defRPr>
            </a:lvl9pPr>
          </a:lstStyle>
          <a:p>
            <a:r>
              <a:rPr dirty="0"/>
              <a:t>Practice: SE and 95% CI for the group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00"/>
            <a:ext cx="8321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200" i="1" dirty="0">
                <a:solidFill>
                  <a:srgbClr val="2C3E50"/>
                </a:solidFill>
                <a:latin typeface="Calibri"/>
              </a:rPr>
              <a:t>A model predicts hospital length of stay (days) based on emergency admission (1 = yes, 0 =no), n = 240 patients. R output below: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89999"/>
            <a:ext cx="8321040" cy="11418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50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1480" y="960000"/>
            <a:ext cx="8081040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2E3640"/>
                </a:solidFill>
                <a:latin typeface="Consolas"/>
              </a:rPr>
              <a:t>Coefficients:</a:t>
            </a:r>
          </a:p>
          <a:p>
            <a:pPr algn="l"/>
            <a:r>
              <a:rPr sz="1100" b="0" dirty="0">
                <a:solidFill>
                  <a:srgbClr val="2E3640"/>
                </a:solidFill>
                <a:latin typeface="Consolas"/>
              </a:rPr>
              <a:t>             Estimate  </a:t>
            </a:r>
            <a:r>
              <a:rPr sz="1100" b="0" dirty="0" err="1">
                <a:solidFill>
                  <a:srgbClr val="2E3640"/>
                </a:solidFill>
                <a:latin typeface="Consolas"/>
              </a:rPr>
              <a:t>Std.Error</a:t>
            </a:r>
            <a:r>
              <a:rPr sz="1100" b="0" dirty="0">
                <a:solidFill>
                  <a:srgbClr val="2E3640"/>
                </a:solidFill>
                <a:latin typeface="Consolas"/>
              </a:rPr>
              <a:t>  t value  </a:t>
            </a:r>
            <a:r>
              <a:rPr sz="1100" b="0" dirty="0" err="1">
                <a:solidFill>
                  <a:srgbClr val="2E3640"/>
                </a:solidFill>
                <a:latin typeface="Consolas"/>
              </a:rPr>
              <a:t>Pr</a:t>
            </a:r>
            <a:r>
              <a:rPr sz="1100" b="0" dirty="0">
                <a:solidFill>
                  <a:srgbClr val="2E3640"/>
                </a:solidFill>
                <a:latin typeface="Consolas"/>
              </a:rPr>
              <a:t>(&gt;|t|)</a:t>
            </a:r>
          </a:p>
          <a:p>
            <a:pPr algn="l"/>
            <a:r>
              <a:rPr sz="1100" b="0" dirty="0">
                <a:solidFill>
                  <a:srgbClr val="2E3640"/>
                </a:solidFill>
                <a:latin typeface="Consolas"/>
              </a:rPr>
              <a:t>(Intercept)     4.220      0.180    23.44   &lt; 2e-16 ***</a:t>
            </a:r>
          </a:p>
          <a:p>
            <a:pPr algn="l"/>
            <a:r>
              <a:rPr sz="1100" b="0" dirty="0">
                <a:solidFill>
                  <a:srgbClr val="2E3640"/>
                </a:solidFill>
                <a:latin typeface="Consolas"/>
              </a:rPr>
              <a:t>emergency       2.640      0.290     9.10   1.8e-17 ***</a:t>
            </a:r>
          </a:p>
          <a:p>
            <a:pPr algn="l"/>
            <a:endParaRPr lang="en-US" sz="1100" b="0" dirty="0">
              <a:solidFill>
                <a:srgbClr val="6B7B8A"/>
              </a:solidFill>
              <a:latin typeface="Consolas"/>
            </a:endParaRPr>
          </a:p>
          <a:p>
            <a:pPr algn="l"/>
            <a:r>
              <a:rPr sz="1100" b="0" dirty="0" err="1">
                <a:latin typeface="Consolas"/>
              </a:rPr>
              <a:t>confint</a:t>
            </a:r>
            <a:r>
              <a:rPr sz="1100" b="0" dirty="0">
                <a:latin typeface="Consolas"/>
              </a:rPr>
              <a:t>(mod)  -&gt;  emergency: 2.5% = 2.069, 97.5% = 3.211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67755"/>
            <a:ext cx="4090000" cy="330000"/>
          </a:xfrm>
          <a:prstGeom prst="roundRect">
            <a:avLst>
              <a:gd name="adj" fmla="val 10000"/>
            </a:avLst>
          </a:prstGeom>
          <a:solidFill>
            <a:srgbClr val="1F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1480" y="2067755"/>
            <a:ext cx="381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Best one-sentence reading of the 95% CI [2.07, 3.21]?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458239"/>
            <a:ext cx="4090000" cy="4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1480" y="2508089"/>
            <a:ext cx="381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F5061"/>
                </a:solidFill>
                <a:latin typeface="Calibri"/>
              </a:rPr>
              <a:t>A)  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We are 95% confident emergenc</a:t>
            </a:r>
            <a:r>
              <a:rPr lang="en-US" sz="1200" b="0" i="0" dirty="0">
                <a:solidFill>
                  <a:srgbClr val="2C3E50"/>
                </a:solidFill>
                <a:latin typeface="Calibri"/>
              </a:rPr>
              <a:t>y admissions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stay</a:t>
            </a:r>
            <a:r>
              <a:rPr lang="en-US" sz="1200" b="0" i="0" dirty="0">
                <a:solidFill>
                  <a:srgbClr val="2C3E50"/>
                </a:solidFill>
                <a:latin typeface="Calibri"/>
              </a:rPr>
              <a:t> on average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 2.07–3.21 days longer than planned</a:t>
            </a:r>
            <a:r>
              <a:rPr lang="en-US" sz="1200" b="0" i="0" dirty="0">
                <a:solidFill>
                  <a:srgbClr val="2C3E50"/>
                </a:solidFill>
                <a:latin typeface="Calibri"/>
              </a:rPr>
              <a:t> admissions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012" y="2968239"/>
            <a:ext cx="4090000" cy="4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3012" y="3017755"/>
            <a:ext cx="3810000" cy="3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F5061"/>
                </a:solidFill>
                <a:latin typeface="Calibri"/>
              </a:rPr>
              <a:t>B)  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95% of emergency patients stay between 2.07 and 3.21 days longer.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507997"/>
            <a:ext cx="4090000" cy="1310000"/>
          </a:xfrm>
          <a:prstGeom prst="roundRect">
            <a:avLst>
              <a:gd name="adj" fmla="val 6000"/>
            </a:avLst>
          </a:prstGeom>
          <a:solidFill>
            <a:srgbClr val="EAF4F6"/>
          </a:solidFill>
          <a:ln w="9525">
            <a:solidFill>
              <a:srgbClr val="2E6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1480" y="3677997"/>
            <a:ext cx="381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200" b="1" dirty="0">
                <a:solidFill>
                  <a:srgbClr val="2C3E50"/>
                </a:solidFill>
                <a:latin typeface="Calibri"/>
              </a:rPr>
              <a:t>Answer: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480" y="3897997"/>
            <a:ext cx="38100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The CI is for the </a:t>
            </a:r>
            <a:r>
              <a:rPr sz="1200" b="1" i="0" dirty="0">
                <a:solidFill>
                  <a:srgbClr val="1F5061"/>
                </a:solidFill>
                <a:latin typeface="Calibri"/>
              </a:rPr>
              <a:t>population mean difference</a:t>
            </a:r>
            <a:r>
              <a:rPr sz="1200" b="0" i="0" dirty="0">
                <a:solidFill>
                  <a:srgbClr val="2C3E50"/>
                </a:solidFill>
                <a:latin typeface="Calibri"/>
              </a:rPr>
              <a:t>, not for individual patients.</a:t>
            </a:r>
          </a:p>
          <a:p>
            <a:pPr algn="l"/>
            <a:r>
              <a:rPr sz="1200" b="0" i="0" dirty="0">
                <a:solidFill>
                  <a:srgbClr val="2C3E50"/>
                </a:solidFill>
                <a:latin typeface="Calibri"/>
              </a:rPr>
              <a:t>Option B describes the spread of individual stays, which is much wider than this interval.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2480" y="2067755"/>
            <a:ext cx="4090000" cy="330000"/>
          </a:xfrm>
          <a:prstGeom prst="roundRect">
            <a:avLst>
              <a:gd name="adj" fmla="val 10000"/>
            </a:avLst>
          </a:prstGeom>
          <a:solidFill>
            <a:srgbClr val="1F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22480" y="2132727"/>
            <a:ext cx="3810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1300" b="1" dirty="0">
                <a:solidFill>
                  <a:srgbClr val="FFFFFF"/>
                </a:solidFill>
                <a:latin typeface="Calibri"/>
              </a:rPr>
              <a:t>How do we calculate this 95% 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2480" y="2474691"/>
            <a:ext cx="4404084" cy="25017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2480" y="2517199"/>
            <a:ext cx="410258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 dirty="0">
                <a:solidFill>
                  <a:srgbClr val="1F5061"/>
                </a:solidFill>
                <a:latin typeface="Calibri"/>
              </a:rPr>
              <a:t>A)</a:t>
            </a:r>
            <a:r>
              <a:rPr lang="en-US" sz="1200" b="1" i="0" dirty="0">
                <a:solidFill>
                  <a:srgbClr val="1F5061"/>
                </a:solidFill>
                <a:latin typeface="Calibri"/>
              </a:rPr>
              <a:t> </a:t>
            </a:r>
            <a:r>
              <a:rPr lang="en-US" sz="1200" i="0" dirty="0">
                <a:solidFill>
                  <a:srgbClr val="1F5061"/>
                </a:solidFill>
                <a:latin typeface="Calibri"/>
              </a:rPr>
              <a:t>Expand the estimate to the 5% bounds of modal distribution</a:t>
            </a:r>
            <a:r>
              <a:rPr lang="en-US" sz="1200" b="1" i="0" dirty="0">
                <a:solidFill>
                  <a:srgbClr val="1F5061"/>
                </a:solidFill>
                <a:latin typeface="Calibri"/>
              </a:rPr>
              <a:t> </a:t>
            </a:r>
            <a:endParaRPr sz="120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42480" y="2785250"/>
            <a:ext cx="4404084" cy="2283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26929" y="2811084"/>
            <a:ext cx="410258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 dirty="0">
                <a:solidFill>
                  <a:srgbClr val="1F5061"/>
                </a:solidFill>
                <a:latin typeface="Calibri"/>
              </a:rPr>
              <a:t>B) </a:t>
            </a:r>
            <a:r>
              <a:rPr lang="en-US" sz="1200" i="0" dirty="0">
                <a:solidFill>
                  <a:srgbClr val="1F5061"/>
                </a:solidFill>
                <a:latin typeface="Calibri"/>
              </a:rPr>
              <a:t>The estimate p</a:t>
            </a:r>
            <a:r>
              <a:rPr lang="en-US" sz="1200" dirty="0">
                <a:solidFill>
                  <a:srgbClr val="1F5061"/>
                </a:solidFill>
                <a:latin typeface="Calibri"/>
              </a:rPr>
              <a:t>lus or minus 1.96 x Standard Error</a:t>
            </a:r>
            <a:endParaRPr sz="120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42480" y="3071318"/>
            <a:ext cx="4404084" cy="284419"/>
          </a:xfrm>
          <a:prstGeom prst="roundRect">
            <a:avLst>
              <a:gd name="adj" fmla="val 6000"/>
            </a:avLst>
          </a:prstGeom>
          <a:solidFill>
            <a:srgbClr val="EAF4F6"/>
          </a:solidFill>
          <a:ln w="9525">
            <a:solidFill>
              <a:srgbClr val="2E6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66437" y="3145150"/>
            <a:ext cx="410258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100" b="1" dirty="0">
                <a:solidFill>
                  <a:srgbClr val="2C3E50"/>
                </a:solidFill>
                <a:latin typeface="Calibri"/>
              </a:rPr>
              <a:t>Answer: B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072A8EE-913B-0C02-0AE5-AB74E2ACF8E4}"/>
              </a:ext>
            </a:extLst>
          </p:cNvPr>
          <p:cNvGrpSpPr/>
          <p:nvPr/>
        </p:nvGrpSpPr>
        <p:grpSpPr>
          <a:xfrm>
            <a:off x="4950729" y="3486352"/>
            <a:ext cx="3846083" cy="1395513"/>
            <a:chOff x="4512055" y="3482877"/>
            <a:chExt cx="3846083" cy="1395513"/>
          </a:xfrm>
        </p:grpSpPr>
        <p:sp>
          <p:nvSpPr>
            <p:cNvPr id="24" name="NL6">
              <a:extLst>
                <a:ext uri="{FF2B5EF4-FFF2-40B4-BE49-F238E27FC236}">
                  <a16:creationId xmlns:a16="http://schemas.microsoft.com/office/drawing/2014/main" id="{31906493-74E7-AB98-4366-63165D1F28ED}"/>
                </a:ext>
              </a:extLst>
            </p:cNvPr>
            <p:cNvSpPr/>
            <p:nvPr/>
          </p:nvSpPr>
          <p:spPr>
            <a:xfrm flipV="1">
              <a:off x="4697022" y="3555418"/>
              <a:ext cx="3661116" cy="16857"/>
            </a:xfrm>
            <a:prstGeom prst="line">
              <a:avLst/>
            </a:prstGeom>
            <a:ln w="15875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6" name="NL6Tk0">
              <a:extLst>
                <a:ext uri="{FF2B5EF4-FFF2-40B4-BE49-F238E27FC236}">
                  <a16:creationId xmlns:a16="http://schemas.microsoft.com/office/drawing/2014/main" id="{65EAAE6E-FD06-57FF-3ACA-B65F9F8877C2}"/>
                </a:ext>
              </a:extLst>
            </p:cNvPr>
            <p:cNvSpPr/>
            <p:nvPr/>
          </p:nvSpPr>
          <p:spPr>
            <a:xfrm>
              <a:off x="4703465" y="3491723"/>
              <a:ext cx="0" cy="16110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7" name="NL6TL0">
              <a:extLst>
                <a:ext uri="{FF2B5EF4-FFF2-40B4-BE49-F238E27FC236}">
                  <a16:creationId xmlns:a16="http://schemas.microsoft.com/office/drawing/2014/main" id="{5731C86E-5249-FE81-F9FB-CE56F8C042E5}"/>
                </a:ext>
              </a:extLst>
            </p:cNvPr>
            <p:cNvSpPr/>
            <p:nvPr/>
          </p:nvSpPr>
          <p:spPr>
            <a:xfrm>
              <a:off x="4512055" y="3679678"/>
              <a:ext cx="382821" cy="241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/>
                </a:rPr>
                <a:t>0.0</a:t>
              </a:r>
            </a:p>
          </p:txBody>
        </p:sp>
        <p:sp>
          <p:nvSpPr>
            <p:cNvPr id="28" name="NL6Tk0.1">
              <a:extLst>
                <a:ext uri="{FF2B5EF4-FFF2-40B4-BE49-F238E27FC236}">
                  <a16:creationId xmlns:a16="http://schemas.microsoft.com/office/drawing/2014/main" id="{58D2D7A7-5BC1-8DA3-293F-13A2F1FBB744}"/>
                </a:ext>
              </a:extLst>
            </p:cNvPr>
            <p:cNvSpPr/>
            <p:nvPr/>
          </p:nvSpPr>
          <p:spPr>
            <a:xfrm>
              <a:off x="5273427" y="3531999"/>
              <a:ext cx="0" cy="80551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9" name="NL6Tk0.2">
              <a:extLst>
                <a:ext uri="{FF2B5EF4-FFF2-40B4-BE49-F238E27FC236}">
                  <a16:creationId xmlns:a16="http://schemas.microsoft.com/office/drawing/2014/main" id="{94E7B986-D652-7A31-9B16-667DF830F52C}"/>
                </a:ext>
              </a:extLst>
            </p:cNvPr>
            <p:cNvSpPr/>
            <p:nvPr/>
          </p:nvSpPr>
          <p:spPr>
            <a:xfrm>
              <a:off x="5849835" y="3491723"/>
              <a:ext cx="0" cy="16110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0" name="NL6TL0.2">
              <a:extLst>
                <a:ext uri="{FF2B5EF4-FFF2-40B4-BE49-F238E27FC236}">
                  <a16:creationId xmlns:a16="http://schemas.microsoft.com/office/drawing/2014/main" id="{DB232FCF-37E2-9F43-3612-7AF9B9B54286}"/>
                </a:ext>
              </a:extLst>
            </p:cNvPr>
            <p:cNvSpPr/>
            <p:nvPr/>
          </p:nvSpPr>
          <p:spPr>
            <a:xfrm>
              <a:off x="5658424" y="3679678"/>
              <a:ext cx="382821" cy="241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/>
                </a:rPr>
                <a:t>0.1</a:t>
              </a:r>
            </a:p>
          </p:txBody>
        </p:sp>
        <p:sp>
          <p:nvSpPr>
            <p:cNvPr id="31" name="NL6Tk0.3">
              <a:extLst>
                <a:ext uri="{FF2B5EF4-FFF2-40B4-BE49-F238E27FC236}">
                  <a16:creationId xmlns:a16="http://schemas.microsoft.com/office/drawing/2014/main" id="{3B132157-9182-D0DB-BEF7-7A6BC3C6D3C2}"/>
                </a:ext>
              </a:extLst>
            </p:cNvPr>
            <p:cNvSpPr/>
            <p:nvPr/>
          </p:nvSpPr>
          <p:spPr>
            <a:xfrm>
              <a:off x="6448651" y="3531999"/>
              <a:ext cx="0" cy="80551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2" name="NL6Tk0.4">
              <a:extLst>
                <a:ext uri="{FF2B5EF4-FFF2-40B4-BE49-F238E27FC236}">
                  <a16:creationId xmlns:a16="http://schemas.microsoft.com/office/drawing/2014/main" id="{9DA53A31-C739-393F-D79B-F974651E3317}"/>
                </a:ext>
              </a:extLst>
            </p:cNvPr>
            <p:cNvSpPr/>
            <p:nvPr/>
          </p:nvSpPr>
          <p:spPr>
            <a:xfrm>
              <a:off x="7002648" y="3491723"/>
              <a:ext cx="0" cy="16110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3" name="NL6TL0.4">
              <a:extLst>
                <a:ext uri="{FF2B5EF4-FFF2-40B4-BE49-F238E27FC236}">
                  <a16:creationId xmlns:a16="http://schemas.microsoft.com/office/drawing/2014/main" id="{D7C80896-9FBA-2674-2E64-BE244872CF33}"/>
                </a:ext>
              </a:extLst>
            </p:cNvPr>
            <p:cNvSpPr/>
            <p:nvPr/>
          </p:nvSpPr>
          <p:spPr>
            <a:xfrm>
              <a:off x="6811236" y="3679678"/>
              <a:ext cx="382821" cy="241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/>
                </a:rPr>
                <a:t>0.2</a:t>
              </a:r>
            </a:p>
          </p:txBody>
        </p:sp>
        <p:sp>
          <p:nvSpPr>
            <p:cNvPr id="34" name="NL6Tk0.5">
              <a:extLst>
                <a:ext uri="{FF2B5EF4-FFF2-40B4-BE49-F238E27FC236}">
                  <a16:creationId xmlns:a16="http://schemas.microsoft.com/office/drawing/2014/main" id="{2A8359F6-2431-4481-8249-1BB125079649}"/>
                </a:ext>
              </a:extLst>
            </p:cNvPr>
            <p:cNvSpPr/>
            <p:nvPr/>
          </p:nvSpPr>
          <p:spPr>
            <a:xfrm>
              <a:off x="7579054" y="3531999"/>
              <a:ext cx="0" cy="80551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5" name="NL6Tk0.6">
              <a:extLst>
                <a:ext uri="{FF2B5EF4-FFF2-40B4-BE49-F238E27FC236}">
                  <a16:creationId xmlns:a16="http://schemas.microsoft.com/office/drawing/2014/main" id="{FA740EB6-0FFB-558B-F0F5-72D8C1C87C5E}"/>
                </a:ext>
              </a:extLst>
            </p:cNvPr>
            <p:cNvSpPr/>
            <p:nvPr/>
          </p:nvSpPr>
          <p:spPr>
            <a:xfrm>
              <a:off x="8155459" y="3491723"/>
              <a:ext cx="0" cy="16110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6" name="NL6TL0.6">
              <a:extLst>
                <a:ext uri="{FF2B5EF4-FFF2-40B4-BE49-F238E27FC236}">
                  <a16:creationId xmlns:a16="http://schemas.microsoft.com/office/drawing/2014/main" id="{57307F23-4A71-EDE7-851D-77792D117308}"/>
                </a:ext>
              </a:extLst>
            </p:cNvPr>
            <p:cNvSpPr/>
            <p:nvPr/>
          </p:nvSpPr>
          <p:spPr>
            <a:xfrm>
              <a:off x="7964050" y="3679678"/>
              <a:ext cx="382821" cy="241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/>
                </a:rPr>
                <a:t>0.3</a:t>
              </a:r>
            </a:p>
          </p:txBody>
        </p:sp>
        <p:sp>
          <p:nvSpPr>
            <p:cNvPr id="37" name="B1Dot6">
              <a:extLst>
                <a:ext uri="{FF2B5EF4-FFF2-40B4-BE49-F238E27FC236}">
                  <a16:creationId xmlns:a16="http://schemas.microsoft.com/office/drawing/2014/main" id="{BA21BC83-8CF0-0663-3A99-6DE41AAE3371}"/>
                </a:ext>
              </a:extLst>
            </p:cNvPr>
            <p:cNvSpPr/>
            <p:nvPr/>
          </p:nvSpPr>
          <p:spPr>
            <a:xfrm>
              <a:off x="6446482" y="3482877"/>
              <a:ext cx="139209" cy="16338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94535"/>
              </a:solidFill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6AB75A3-8FDF-8555-93DE-135E2E1DC294}"/>
                </a:ext>
              </a:extLst>
            </p:cNvPr>
            <p:cNvGrpSpPr/>
            <p:nvPr/>
          </p:nvGrpSpPr>
          <p:grpSpPr>
            <a:xfrm>
              <a:off x="5644841" y="3549137"/>
              <a:ext cx="1778642" cy="1329253"/>
              <a:chOff x="5941765" y="3595561"/>
              <a:chExt cx="1309929" cy="1308729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7A28EEC-23DB-1C2D-CC29-131718C00F74}"/>
                  </a:ext>
                </a:extLst>
              </p:cNvPr>
              <p:cNvGrpSpPr/>
              <p:nvPr/>
            </p:nvGrpSpPr>
            <p:grpSpPr>
              <a:xfrm>
                <a:off x="5953230" y="3595561"/>
                <a:ext cx="1279368" cy="1308729"/>
                <a:chOff x="9290941" y="3529467"/>
                <a:chExt cx="2242572" cy="1308729"/>
              </a:xfrm>
            </p:grpSpPr>
            <p:sp>
              <p:nvSpPr>
                <p:cNvPr id="52" name="CILW7">
                  <a:extLst>
                    <a:ext uri="{FF2B5EF4-FFF2-40B4-BE49-F238E27FC236}">
                      <a16:creationId xmlns:a16="http://schemas.microsoft.com/office/drawing/2014/main" id="{E40A2B00-7A9C-BF81-92CD-35C84D9ED95C}"/>
                    </a:ext>
                  </a:extLst>
                </p:cNvPr>
                <p:cNvSpPr/>
                <p:nvPr/>
              </p:nvSpPr>
              <p:spPr>
                <a:xfrm>
                  <a:off x="9290941" y="3543783"/>
                  <a:ext cx="4320" cy="1294413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  <a:prstDash val="sysDash"/>
                </a:ln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55" name="CIBar7">
                  <a:extLst>
                    <a:ext uri="{FF2B5EF4-FFF2-40B4-BE49-F238E27FC236}">
                      <a16:creationId xmlns:a16="http://schemas.microsoft.com/office/drawing/2014/main" id="{65941344-4A5A-8548-5B21-93D8452F9BC2}"/>
                    </a:ext>
                  </a:extLst>
                </p:cNvPr>
                <p:cNvSpPr/>
                <p:nvPr/>
              </p:nvSpPr>
              <p:spPr>
                <a:xfrm>
                  <a:off x="9299580" y="4464570"/>
                  <a:ext cx="2233933" cy="373625"/>
                </a:xfrm>
                <a:prstGeom prst="rect">
                  <a:avLst/>
                </a:prstGeom>
                <a:solidFill>
                  <a:srgbClr val="F1F4FF"/>
                </a:solidFill>
                <a:ln>
                  <a:solidFill>
                    <a:srgbClr val="0070C0"/>
                  </a:solidFill>
                </a:ln>
              </p:spPr>
              <p:txBody>
                <a:bodyPr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kern="0" dirty="0">
                      <a:solidFill>
                        <a:srgbClr val="2B6CB0"/>
                      </a:solidFill>
                      <a:latin typeface="Open Sans"/>
                    </a:rPr>
                    <a:t>95% CI</a:t>
                  </a:r>
                  <a:endPara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endParaRPr>
                </a:p>
                <a:p>
                  <a:pPr lvl="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kern="0" dirty="0">
                      <a:solidFill>
                        <a:srgbClr val="2B6CB0"/>
                      </a:solidFill>
                      <a:latin typeface="Open Sans"/>
                    </a:rPr>
                    <a:t>b₁ ± t* x SE</a:t>
                  </a:r>
                  <a:endPara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endParaRPr>
                </a:p>
              </p:txBody>
            </p:sp>
            <p:sp>
              <p:nvSpPr>
                <p:cNvPr id="56" name="CIRW7">
                  <a:extLst>
                    <a:ext uri="{FF2B5EF4-FFF2-40B4-BE49-F238E27FC236}">
                      <a16:creationId xmlns:a16="http://schemas.microsoft.com/office/drawing/2014/main" id="{001E23DE-4018-215A-A55A-A0AF0B1E7AAA}"/>
                    </a:ext>
                  </a:extLst>
                </p:cNvPr>
                <p:cNvSpPr/>
                <p:nvPr/>
              </p:nvSpPr>
              <p:spPr>
                <a:xfrm flipH="1">
                  <a:off x="11529192" y="3529467"/>
                  <a:ext cx="4320" cy="1294414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  <a:prstDash val="sysDash"/>
                </a:ln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5F811F48-EDE3-E1BE-3755-75C6424F7A1D}"/>
                  </a:ext>
                </a:extLst>
              </p:cNvPr>
              <p:cNvGrpSpPr/>
              <p:nvPr/>
            </p:nvGrpSpPr>
            <p:grpSpPr>
              <a:xfrm>
                <a:off x="6267305" y="4389898"/>
                <a:ext cx="327363" cy="137873"/>
                <a:chOff x="9647669" y="5455717"/>
                <a:chExt cx="954308" cy="309645"/>
              </a:xfrm>
            </p:grpSpPr>
            <p:sp>
              <p:nvSpPr>
                <p:cNvPr id="49" name="CIBar7">
                  <a:extLst>
                    <a:ext uri="{FF2B5EF4-FFF2-40B4-BE49-F238E27FC236}">
                      <a16:creationId xmlns:a16="http://schemas.microsoft.com/office/drawing/2014/main" id="{B1C9E269-DAE1-62B3-BE03-345523A5A56A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50" name="CILW7">
                  <a:extLst>
                    <a:ext uri="{FF2B5EF4-FFF2-40B4-BE49-F238E27FC236}">
                      <a16:creationId xmlns:a16="http://schemas.microsoft.com/office/drawing/2014/main" id="{D3FF545E-5494-84A1-1362-81FB336D7E61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51" name="CILW7">
                  <a:extLst>
                    <a:ext uri="{FF2B5EF4-FFF2-40B4-BE49-F238E27FC236}">
                      <a16:creationId xmlns:a16="http://schemas.microsoft.com/office/drawing/2014/main" id="{9FDBD490-1512-0D33-2A06-60E727F5D153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sp>
            <p:nvSpPr>
              <p:cNvPr id="41" name="CIBar7">
                <a:extLst>
                  <a:ext uri="{FF2B5EF4-FFF2-40B4-BE49-F238E27FC236}">
                    <a16:creationId xmlns:a16="http://schemas.microsoft.com/office/drawing/2014/main" id="{DE925F3D-F18D-5526-F0FF-FC9E575FC4C8}"/>
                  </a:ext>
                </a:extLst>
              </p:cNvPr>
              <p:cNvSpPr/>
              <p:nvPr/>
            </p:nvSpPr>
            <p:spPr>
              <a:xfrm>
                <a:off x="5941765" y="4398014"/>
                <a:ext cx="321664" cy="13072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42" name="CILW7">
                <a:extLst>
                  <a:ext uri="{FF2B5EF4-FFF2-40B4-BE49-F238E27FC236}">
                    <a16:creationId xmlns:a16="http://schemas.microsoft.com/office/drawing/2014/main" id="{4859F3FE-0B1F-6E28-6319-33A64802B051}"/>
                  </a:ext>
                </a:extLst>
              </p:cNvPr>
              <p:cNvSpPr/>
              <p:nvPr/>
            </p:nvSpPr>
            <p:spPr>
              <a:xfrm>
                <a:off x="6263430" y="4391023"/>
                <a:ext cx="0" cy="135716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43" name="CIBar7">
                <a:extLst>
                  <a:ext uri="{FF2B5EF4-FFF2-40B4-BE49-F238E27FC236}">
                    <a16:creationId xmlns:a16="http://schemas.microsoft.com/office/drawing/2014/main" id="{C11C91BD-A7B8-9F7C-B2E6-74555A1AB9C8}"/>
                  </a:ext>
                </a:extLst>
              </p:cNvPr>
              <p:cNvSpPr/>
              <p:nvPr/>
            </p:nvSpPr>
            <p:spPr>
              <a:xfrm>
                <a:off x="6930030" y="4394055"/>
                <a:ext cx="321664" cy="13072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44" name="CILW7">
                <a:extLst>
                  <a:ext uri="{FF2B5EF4-FFF2-40B4-BE49-F238E27FC236}">
                    <a16:creationId xmlns:a16="http://schemas.microsoft.com/office/drawing/2014/main" id="{BBBC6169-0BA6-1804-58A6-148314EDCA6E}"/>
                  </a:ext>
                </a:extLst>
              </p:cNvPr>
              <p:cNvSpPr/>
              <p:nvPr/>
            </p:nvSpPr>
            <p:spPr>
              <a:xfrm>
                <a:off x="6924332" y="4389221"/>
                <a:ext cx="0" cy="135716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423D6FE8-31A7-D357-B15C-B241B2E6B577}"/>
                  </a:ext>
                </a:extLst>
              </p:cNvPr>
              <p:cNvGrpSpPr/>
              <p:nvPr/>
            </p:nvGrpSpPr>
            <p:grpSpPr>
              <a:xfrm>
                <a:off x="6593093" y="4388190"/>
                <a:ext cx="327363" cy="137873"/>
                <a:chOff x="9647669" y="5455717"/>
                <a:chExt cx="954308" cy="309645"/>
              </a:xfrm>
            </p:grpSpPr>
            <p:sp>
              <p:nvSpPr>
                <p:cNvPr id="46" name="CIBar7">
                  <a:extLst>
                    <a:ext uri="{FF2B5EF4-FFF2-40B4-BE49-F238E27FC236}">
                      <a16:creationId xmlns:a16="http://schemas.microsoft.com/office/drawing/2014/main" id="{0972DA22-E9C5-1E86-1E60-7A88EC785D97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47" name="CILW7">
                  <a:extLst>
                    <a:ext uri="{FF2B5EF4-FFF2-40B4-BE49-F238E27FC236}">
                      <a16:creationId xmlns:a16="http://schemas.microsoft.com/office/drawing/2014/main" id="{6BF0BD81-5E7B-66FB-03E5-92C22285A295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48" name="CILW7">
                  <a:extLst>
                    <a:ext uri="{FF2B5EF4-FFF2-40B4-BE49-F238E27FC236}">
                      <a16:creationId xmlns:a16="http://schemas.microsoft.com/office/drawing/2014/main" id="{1C9EA0A5-34DE-4F63-4AD5-7FEEFBD19B7E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DB9F-3D0F-F4B7-5052-48B0FB77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81C94D-7593-2C47-4D10-DA0F5DD1C232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AE8910-D62F-773F-EAA5-5361F8618EE0}"/>
              </a:ext>
            </a:extLst>
          </p:cNvPr>
          <p:cNvSpPr/>
          <p:nvPr/>
        </p:nvSpPr>
        <p:spPr>
          <a:xfrm>
            <a:off x="4613578" y="6920236"/>
            <a:ext cx="685800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0549279-16FF-5EB2-8D49-DFE95D892C8F}"/>
              </a:ext>
            </a:extLst>
          </p:cNvPr>
          <p:cNvSpPr/>
          <p:nvPr/>
        </p:nvSpPr>
        <p:spPr>
          <a:xfrm>
            <a:off x="4613578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BD7D3B-C601-C9EA-1128-6439E92F64C8}"/>
              </a:ext>
            </a:extLst>
          </p:cNvPr>
          <p:cNvSpPr/>
          <p:nvPr/>
        </p:nvSpPr>
        <p:spPr>
          <a:xfrm>
            <a:off x="4339258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-0.05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1BD5922-CCC7-F7CD-E697-DBDB496D3D8A}"/>
              </a:ext>
            </a:extLst>
          </p:cNvPr>
          <p:cNvSpPr/>
          <p:nvPr/>
        </p:nvSpPr>
        <p:spPr>
          <a:xfrm>
            <a:off x="5593292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2278252-3546-C64B-9AE9-6A3AAE6CDD78}"/>
              </a:ext>
            </a:extLst>
          </p:cNvPr>
          <p:cNvSpPr/>
          <p:nvPr/>
        </p:nvSpPr>
        <p:spPr>
          <a:xfrm>
            <a:off x="5318972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0.00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0EF0CA-D063-41F6-37C9-DA972F1C42E1}"/>
              </a:ext>
            </a:extLst>
          </p:cNvPr>
          <p:cNvSpPr/>
          <p:nvPr/>
        </p:nvSpPr>
        <p:spPr>
          <a:xfrm>
            <a:off x="6573007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E46127F-5BFA-8855-EF86-26FE70D8306A}"/>
              </a:ext>
            </a:extLst>
          </p:cNvPr>
          <p:cNvSpPr/>
          <p:nvPr/>
        </p:nvSpPr>
        <p:spPr>
          <a:xfrm>
            <a:off x="6298687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0.05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FE8CFA9-6403-01FA-2521-52B6FD954E37}"/>
              </a:ext>
            </a:extLst>
          </p:cNvPr>
          <p:cNvSpPr/>
          <p:nvPr/>
        </p:nvSpPr>
        <p:spPr>
          <a:xfrm>
            <a:off x="7552721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791AA3F-44FA-1757-60E7-2E7BA6F25E4F}"/>
              </a:ext>
            </a:extLst>
          </p:cNvPr>
          <p:cNvSpPr/>
          <p:nvPr/>
        </p:nvSpPr>
        <p:spPr>
          <a:xfrm>
            <a:off x="7278401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0.10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97F3634-9692-3546-A2E8-B03A6A017B34}"/>
              </a:ext>
            </a:extLst>
          </p:cNvPr>
          <p:cNvSpPr/>
          <p:nvPr/>
        </p:nvSpPr>
        <p:spPr>
          <a:xfrm>
            <a:off x="8532435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26B625D-D34D-F0A1-3D0B-C4CE3FCDBD38}"/>
              </a:ext>
            </a:extLst>
          </p:cNvPr>
          <p:cNvSpPr/>
          <p:nvPr/>
        </p:nvSpPr>
        <p:spPr>
          <a:xfrm>
            <a:off x="8258115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0.15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EB2F71D-C258-1017-12DA-08EDB1BA9941}"/>
              </a:ext>
            </a:extLst>
          </p:cNvPr>
          <p:cNvSpPr/>
          <p:nvPr/>
        </p:nvSpPr>
        <p:spPr>
          <a:xfrm>
            <a:off x="9512149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38F3252-1069-1399-AE37-1EE667B47D58}"/>
              </a:ext>
            </a:extLst>
          </p:cNvPr>
          <p:cNvSpPr/>
          <p:nvPr/>
        </p:nvSpPr>
        <p:spPr>
          <a:xfrm>
            <a:off x="9237829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0.20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25B098F-48F5-EA2E-C9D9-9A37F1EC2339}"/>
              </a:ext>
            </a:extLst>
          </p:cNvPr>
          <p:cNvSpPr/>
          <p:nvPr/>
        </p:nvSpPr>
        <p:spPr>
          <a:xfrm>
            <a:off x="10491864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4715E3A-ED6B-5E04-1143-85699795AC74}"/>
              </a:ext>
            </a:extLst>
          </p:cNvPr>
          <p:cNvSpPr/>
          <p:nvPr/>
        </p:nvSpPr>
        <p:spPr>
          <a:xfrm>
            <a:off x="10217544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0.25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445742A-ADDF-9C78-D178-77A5B4591D22}"/>
              </a:ext>
            </a:extLst>
          </p:cNvPr>
          <p:cNvSpPr/>
          <p:nvPr/>
        </p:nvSpPr>
        <p:spPr>
          <a:xfrm>
            <a:off x="11471578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FE6636B-6278-E86F-D549-36268037164D}"/>
              </a:ext>
            </a:extLst>
          </p:cNvPr>
          <p:cNvSpPr/>
          <p:nvPr/>
        </p:nvSpPr>
        <p:spPr>
          <a:xfrm>
            <a:off x="11197258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0.30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6E1652C-8D5B-464B-FEBF-40998EDB5925}"/>
              </a:ext>
            </a:extLst>
          </p:cNvPr>
          <p:cNvSpPr/>
          <p:nvPr/>
        </p:nvSpPr>
        <p:spPr>
          <a:xfrm>
            <a:off x="8042578" y="6463036"/>
            <a:ext cx="1449977" cy="292608"/>
          </a:xfrm>
          <a:prstGeom prst="rect">
            <a:avLst/>
          </a:prstGeom>
          <a:solidFill>
            <a:srgbClr val="A8D5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579EF95-DF50-29A6-6F12-455A819EC59B}"/>
              </a:ext>
            </a:extLst>
          </p:cNvPr>
          <p:cNvSpPr/>
          <p:nvPr/>
        </p:nvSpPr>
        <p:spPr>
          <a:xfrm>
            <a:off x="8042578" y="6417316"/>
            <a:ext cx="0" cy="365760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88B826B-3045-9EE9-A2D0-F9D6652CC083}"/>
              </a:ext>
            </a:extLst>
          </p:cNvPr>
          <p:cNvSpPr/>
          <p:nvPr/>
        </p:nvSpPr>
        <p:spPr>
          <a:xfrm>
            <a:off x="9492555" y="6417316"/>
            <a:ext cx="0" cy="365760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B4BD794-554A-54A5-45CB-0C40E7693FD7}"/>
              </a:ext>
            </a:extLst>
          </p:cNvPr>
          <p:cNvSpPr/>
          <p:nvPr/>
        </p:nvSpPr>
        <p:spPr>
          <a:xfrm>
            <a:off x="8042578" y="6508756"/>
            <a:ext cx="14499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± 1 SE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70CF28B-9A80-3EDC-26C3-9A86DAB29C7F}"/>
              </a:ext>
            </a:extLst>
          </p:cNvPr>
          <p:cNvSpPr/>
          <p:nvPr/>
        </p:nvSpPr>
        <p:spPr>
          <a:xfrm>
            <a:off x="7768258" y="62070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0.125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97AB573-4988-0EEE-2D7E-0BBB7AFBEF8C}"/>
              </a:ext>
            </a:extLst>
          </p:cNvPr>
          <p:cNvSpPr/>
          <p:nvPr/>
        </p:nvSpPr>
        <p:spPr>
          <a:xfrm>
            <a:off x="9218235" y="62070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0.199</a:t>
            </a:r>
            <a:endParaRPr lang="en-US" sz="9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FA98C2A-74B1-8CD2-79FB-D88145387D93}"/>
              </a:ext>
            </a:extLst>
          </p:cNvPr>
          <p:cNvSpPr/>
          <p:nvPr/>
        </p:nvSpPr>
        <p:spPr>
          <a:xfrm>
            <a:off x="7356778" y="7423156"/>
            <a:ext cx="2841171" cy="256032"/>
          </a:xfrm>
          <a:prstGeom prst="rect">
            <a:avLst/>
          </a:prstGeom>
          <a:solidFill>
            <a:srgbClr val="D4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937C22E-68AD-7476-AAB9-A9C3A6208B08}"/>
              </a:ext>
            </a:extLst>
          </p:cNvPr>
          <p:cNvSpPr/>
          <p:nvPr/>
        </p:nvSpPr>
        <p:spPr>
          <a:xfrm>
            <a:off x="7356778" y="7377436"/>
            <a:ext cx="0" cy="347472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DDFEF03-9A04-DFF4-5318-C1A05A3A8384}"/>
              </a:ext>
            </a:extLst>
          </p:cNvPr>
          <p:cNvSpPr/>
          <p:nvPr/>
        </p:nvSpPr>
        <p:spPr>
          <a:xfrm>
            <a:off x="10197949" y="7377436"/>
            <a:ext cx="0" cy="347472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4F8F7D9-CB96-2017-A943-48E35C2D9FCE}"/>
              </a:ext>
            </a:extLst>
          </p:cNvPr>
          <p:cNvSpPr/>
          <p:nvPr/>
        </p:nvSpPr>
        <p:spPr>
          <a:xfrm>
            <a:off x="7356778" y="7423156"/>
            <a:ext cx="28411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061"/>
                </a:solidFill>
              </a:rPr>
              <a:t>± 1.96 SE  95% CI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FBAB17D-E5A7-DF92-468D-7D712C1E6EDC}"/>
              </a:ext>
            </a:extLst>
          </p:cNvPr>
          <p:cNvSpPr/>
          <p:nvPr/>
        </p:nvSpPr>
        <p:spPr>
          <a:xfrm>
            <a:off x="7082458" y="76974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0.090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CCF485B-B9DB-D60D-E5DE-EC0911D91083}"/>
              </a:ext>
            </a:extLst>
          </p:cNvPr>
          <p:cNvSpPr/>
          <p:nvPr/>
        </p:nvSpPr>
        <p:spPr>
          <a:xfrm>
            <a:off x="9923629" y="76974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0.235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373AB09C-BA3A-CD2D-942E-B71EF1053F26}"/>
              </a:ext>
            </a:extLst>
          </p:cNvPr>
          <p:cNvSpPr/>
          <p:nvPr/>
        </p:nvSpPr>
        <p:spPr>
          <a:xfrm>
            <a:off x="8694415" y="6847084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8F8D9DC-1F22-CB05-F942-853426F3BB40}"/>
              </a:ext>
            </a:extLst>
          </p:cNvPr>
          <p:cNvSpPr/>
          <p:nvPr/>
        </p:nvSpPr>
        <p:spPr>
          <a:xfrm>
            <a:off x="5593292" y="6325876"/>
            <a:ext cx="0" cy="141732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3118601-47A2-AD08-7523-56A53C7EC231}"/>
              </a:ext>
            </a:extLst>
          </p:cNvPr>
          <p:cNvSpPr/>
          <p:nvPr/>
        </p:nvSpPr>
        <p:spPr>
          <a:xfrm>
            <a:off x="5318972" y="77889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zero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708D52A-F719-AB74-0843-6E12ED9EACAB}"/>
              </a:ext>
            </a:extLst>
          </p:cNvPr>
          <p:cNvSpPr/>
          <p:nvPr/>
        </p:nvSpPr>
        <p:spPr>
          <a:xfrm>
            <a:off x="3927778" y="8246116"/>
            <a:ext cx="8321040" cy="594360"/>
          </a:xfrm>
          <a:prstGeom prst="roundRect">
            <a:avLst>
              <a:gd name="adj" fmla="val 7692"/>
            </a:avLst>
          </a:prstGeom>
          <a:solidFill>
            <a:srgbClr val="FCF3DC"/>
          </a:solidFill>
          <a:ln w="1905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74367C0-8255-0E41-6E3A-B4D5B2E18265}"/>
              </a:ext>
            </a:extLst>
          </p:cNvPr>
          <p:cNvSpPr/>
          <p:nvPr/>
        </p:nvSpPr>
        <p:spPr>
          <a:xfrm>
            <a:off x="4064938" y="829183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061"/>
                </a:solidFill>
              </a:rPr>
              <a:t>Zero is not in the interval [0.090, 0.235].</a:t>
            </a:r>
            <a:endParaRPr lang="en-US" sz="16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13731B3-3A5D-46D0-13EA-6E2F567497DB}"/>
              </a:ext>
            </a:extLst>
          </p:cNvPr>
          <p:cNvSpPr/>
          <p:nvPr/>
        </p:nvSpPr>
        <p:spPr>
          <a:xfrm>
            <a:off x="4064938" y="85387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So we are 95% confident the true male−female mean difference is positive. Statistically significant at 5%.</a:t>
            </a:r>
            <a:endParaRPr lang="en-US" sz="14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C3DC14E-A471-6A99-6404-2E888C676D46}"/>
              </a:ext>
            </a:extLst>
          </p:cNvPr>
          <p:cNvSpPr/>
          <p:nvPr/>
        </p:nvSpPr>
        <p:spPr>
          <a:xfrm>
            <a:off x="1" y="5061204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1" name="NL6">
            <a:extLst>
              <a:ext uri="{FF2B5EF4-FFF2-40B4-BE49-F238E27FC236}">
                <a16:creationId xmlns:a16="http://schemas.microsoft.com/office/drawing/2014/main" id="{6F326E83-D7B6-5048-F7B9-26804EF74E7E}"/>
              </a:ext>
            </a:extLst>
          </p:cNvPr>
          <p:cNvSpPr/>
          <p:nvPr/>
        </p:nvSpPr>
        <p:spPr>
          <a:xfrm flipV="1">
            <a:off x="4697022" y="3555418"/>
            <a:ext cx="3661116" cy="16857"/>
          </a:xfrm>
          <a:prstGeom prst="line">
            <a:avLst/>
          </a:prstGeom>
          <a:ln w="15875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2" name="NL6Tk0">
            <a:extLst>
              <a:ext uri="{FF2B5EF4-FFF2-40B4-BE49-F238E27FC236}">
                <a16:creationId xmlns:a16="http://schemas.microsoft.com/office/drawing/2014/main" id="{A593D137-0335-AA93-F706-7CF6F6F48F20}"/>
              </a:ext>
            </a:extLst>
          </p:cNvPr>
          <p:cNvSpPr/>
          <p:nvPr/>
        </p:nvSpPr>
        <p:spPr>
          <a:xfrm>
            <a:off x="4703465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3" name="NL6TL0">
            <a:extLst>
              <a:ext uri="{FF2B5EF4-FFF2-40B4-BE49-F238E27FC236}">
                <a16:creationId xmlns:a16="http://schemas.microsoft.com/office/drawing/2014/main" id="{10021548-1119-EA10-D5B0-C47D90918556}"/>
              </a:ext>
            </a:extLst>
          </p:cNvPr>
          <p:cNvSpPr/>
          <p:nvPr/>
        </p:nvSpPr>
        <p:spPr>
          <a:xfrm>
            <a:off x="4512055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0.0</a:t>
            </a:r>
          </a:p>
        </p:txBody>
      </p:sp>
      <p:sp>
        <p:nvSpPr>
          <p:cNvPr id="254" name="NL6Tk0.1">
            <a:extLst>
              <a:ext uri="{FF2B5EF4-FFF2-40B4-BE49-F238E27FC236}">
                <a16:creationId xmlns:a16="http://schemas.microsoft.com/office/drawing/2014/main" id="{3703249A-7112-48FD-6ED7-56E5448875BF}"/>
              </a:ext>
            </a:extLst>
          </p:cNvPr>
          <p:cNvSpPr/>
          <p:nvPr/>
        </p:nvSpPr>
        <p:spPr>
          <a:xfrm>
            <a:off x="5273427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5" name="NL6Tk0.2">
            <a:extLst>
              <a:ext uri="{FF2B5EF4-FFF2-40B4-BE49-F238E27FC236}">
                <a16:creationId xmlns:a16="http://schemas.microsoft.com/office/drawing/2014/main" id="{02B898F5-30D6-7EA6-301E-0D36336EA33D}"/>
              </a:ext>
            </a:extLst>
          </p:cNvPr>
          <p:cNvSpPr/>
          <p:nvPr/>
        </p:nvSpPr>
        <p:spPr>
          <a:xfrm>
            <a:off x="5849835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6" name="NL6TL0.2">
            <a:extLst>
              <a:ext uri="{FF2B5EF4-FFF2-40B4-BE49-F238E27FC236}">
                <a16:creationId xmlns:a16="http://schemas.microsoft.com/office/drawing/2014/main" id="{5078E11C-36EB-47BA-9B93-6A4089E3E7CC}"/>
              </a:ext>
            </a:extLst>
          </p:cNvPr>
          <p:cNvSpPr/>
          <p:nvPr/>
        </p:nvSpPr>
        <p:spPr>
          <a:xfrm>
            <a:off x="5658424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0.1</a:t>
            </a:r>
          </a:p>
        </p:txBody>
      </p:sp>
      <p:sp>
        <p:nvSpPr>
          <p:cNvPr id="257" name="NL6Tk0.3">
            <a:extLst>
              <a:ext uri="{FF2B5EF4-FFF2-40B4-BE49-F238E27FC236}">
                <a16:creationId xmlns:a16="http://schemas.microsoft.com/office/drawing/2014/main" id="{71290CF0-084A-1396-AA11-73D63472A05A}"/>
              </a:ext>
            </a:extLst>
          </p:cNvPr>
          <p:cNvSpPr/>
          <p:nvPr/>
        </p:nvSpPr>
        <p:spPr>
          <a:xfrm>
            <a:off x="6448651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8" name="NL6Tk0.4">
            <a:extLst>
              <a:ext uri="{FF2B5EF4-FFF2-40B4-BE49-F238E27FC236}">
                <a16:creationId xmlns:a16="http://schemas.microsoft.com/office/drawing/2014/main" id="{7D31A768-D181-310F-64A1-7AAD0D60B266}"/>
              </a:ext>
            </a:extLst>
          </p:cNvPr>
          <p:cNvSpPr/>
          <p:nvPr/>
        </p:nvSpPr>
        <p:spPr>
          <a:xfrm>
            <a:off x="7002648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9" name="NL6TL0.4">
            <a:extLst>
              <a:ext uri="{FF2B5EF4-FFF2-40B4-BE49-F238E27FC236}">
                <a16:creationId xmlns:a16="http://schemas.microsoft.com/office/drawing/2014/main" id="{0743AB59-EA63-4D8A-F711-6992622991F2}"/>
              </a:ext>
            </a:extLst>
          </p:cNvPr>
          <p:cNvSpPr/>
          <p:nvPr/>
        </p:nvSpPr>
        <p:spPr>
          <a:xfrm>
            <a:off x="6811236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0.2</a:t>
            </a:r>
          </a:p>
        </p:txBody>
      </p:sp>
      <p:sp>
        <p:nvSpPr>
          <p:cNvPr id="260" name="NL6Tk0.5">
            <a:extLst>
              <a:ext uri="{FF2B5EF4-FFF2-40B4-BE49-F238E27FC236}">
                <a16:creationId xmlns:a16="http://schemas.microsoft.com/office/drawing/2014/main" id="{31EAD205-D58D-3928-733C-2254BC6BD6CF}"/>
              </a:ext>
            </a:extLst>
          </p:cNvPr>
          <p:cNvSpPr/>
          <p:nvPr/>
        </p:nvSpPr>
        <p:spPr>
          <a:xfrm>
            <a:off x="7579054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61" name="NL6Tk0.6">
            <a:extLst>
              <a:ext uri="{FF2B5EF4-FFF2-40B4-BE49-F238E27FC236}">
                <a16:creationId xmlns:a16="http://schemas.microsoft.com/office/drawing/2014/main" id="{83C5BE4B-647B-BE06-5F12-44478B91C1A1}"/>
              </a:ext>
            </a:extLst>
          </p:cNvPr>
          <p:cNvSpPr/>
          <p:nvPr/>
        </p:nvSpPr>
        <p:spPr>
          <a:xfrm>
            <a:off x="8155459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62" name="NL6TL0.6">
            <a:extLst>
              <a:ext uri="{FF2B5EF4-FFF2-40B4-BE49-F238E27FC236}">
                <a16:creationId xmlns:a16="http://schemas.microsoft.com/office/drawing/2014/main" id="{E3B292BA-51E6-44A6-1EAD-41E147BEA9E7}"/>
              </a:ext>
            </a:extLst>
          </p:cNvPr>
          <p:cNvSpPr/>
          <p:nvPr/>
        </p:nvSpPr>
        <p:spPr>
          <a:xfrm>
            <a:off x="7964050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0.3</a:t>
            </a:r>
          </a:p>
        </p:txBody>
      </p:sp>
      <p:sp>
        <p:nvSpPr>
          <p:cNvPr id="200" name="B1Dot6">
            <a:extLst>
              <a:ext uri="{FF2B5EF4-FFF2-40B4-BE49-F238E27FC236}">
                <a16:creationId xmlns:a16="http://schemas.microsoft.com/office/drawing/2014/main" id="{8AAEA185-1D77-F4F6-AC05-72893E167DAC}"/>
              </a:ext>
            </a:extLst>
          </p:cNvPr>
          <p:cNvSpPr/>
          <p:nvPr/>
        </p:nvSpPr>
        <p:spPr>
          <a:xfrm>
            <a:off x="6446482" y="3482877"/>
            <a:ext cx="139209" cy="1633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4535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cxnSp>
        <p:nvCxnSpPr>
          <p:cNvPr id="201" name="DotLine">
            <a:extLst>
              <a:ext uri="{FF2B5EF4-FFF2-40B4-BE49-F238E27FC236}">
                <a16:creationId xmlns:a16="http://schemas.microsoft.com/office/drawing/2014/main" id="{52685C23-62FE-9B46-DD2F-94D44C8194F9}"/>
              </a:ext>
            </a:extLst>
          </p:cNvPr>
          <p:cNvCxnSpPr>
            <a:cxnSpLocks/>
            <a:endCxn id="200" idx="4"/>
          </p:cNvCxnSpPr>
          <p:nvPr/>
        </p:nvCxnSpPr>
        <p:spPr>
          <a:xfrm>
            <a:off x="6516088" y="2569350"/>
            <a:ext cx="0" cy="1076913"/>
          </a:xfrm>
          <a:prstGeom prst="line">
            <a:avLst/>
          </a:prstGeom>
          <a:ln w="19050">
            <a:solidFill>
              <a:srgbClr val="D94535"/>
            </a:solidFill>
            <a:prstDash val="dash"/>
          </a:ln>
        </p:spPr>
      </p:cxnSp>
      <p:sp>
        <p:nvSpPr>
          <p:cNvPr id="202" name="BLabel">
            <a:extLst>
              <a:ext uri="{FF2B5EF4-FFF2-40B4-BE49-F238E27FC236}">
                <a16:creationId xmlns:a16="http://schemas.microsoft.com/office/drawing/2014/main" id="{95322E67-A4DF-9A9D-D866-A7B2B45E03A5}"/>
              </a:ext>
            </a:extLst>
          </p:cNvPr>
          <p:cNvSpPr/>
          <p:nvPr/>
        </p:nvSpPr>
        <p:spPr>
          <a:xfrm>
            <a:off x="6061098" y="2381121"/>
            <a:ext cx="1015607" cy="185817"/>
          </a:xfrm>
          <a:prstGeom prst="roundRect">
            <a:avLst>
              <a:gd name="adj" fmla="val 16667"/>
            </a:avLst>
          </a:prstGeom>
          <a:solidFill>
            <a:srgbClr val="D94535"/>
          </a:solidFill>
          <a:ln>
            <a:noFill/>
          </a:ln>
        </p:spPr>
        <p:txBody>
          <a:bodyPr wrap="none" lIns="36000" tIns="0" rIns="3600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</a:rPr>
              <a:t>b₁ = 0.162</a:t>
            </a:r>
          </a:p>
        </p:txBody>
      </p:sp>
      <p:sp>
        <p:nvSpPr>
          <p:cNvPr id="210" name="TLabel">
            <a:extLst>
              <a:ext uri="{FF2B5EF4-FFF2-40B4-BE49-F238E27FC236}">
                <a16:creationId xmlns:a16="http://schemas.microsoft.com/office/drawing/2014/main" id="{6683117F-64DD-B07A-681A-71A5E987B257}"/>
              </a:ext>
            </a:extLst>
          </p:cNvPr>
          <p:cNvSpPr/>
          <p:nvPr/>
        </p:nvSpPr>
        <p:spPr>
          <a:xfrm>
            <a:off x="4679099" y="2722369"/>
            <a:ext cx="1814575" cy="442234"/>
          </a:xfrm>
          <a:prstGeom prst="homePlate">
            <a:avLst/>
          </a:prstGeom>
          <a:solidFill>
            <a:srgbClr val="FFFFFF"/>
          </a:solidFill>
          <a:ln w="12700">
            <a:solidFill>
              <a:srgbClr val="2C8B2C"/>
            </a:solidFill>
          </a:ln>
        </p:spPr>
        <p:txBody>
          <a:bodyPr wrap="none" lIns="36000" tIns="0" rIns="36000" bIns="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0" dirty="0">
                <a:solidFill>
                  <a:srgbClr val="2C8B2C"/>
                </a:solidFill>
                <a:latin typeface="Open Sans"/>
              </a:rPr>
              <a:t>       t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-value = b</a:t>
            </a:r>
            <a:r>
              <a:rPr kumimoji="0" lang="en-US" sz="900" b="1" i="0" u="none" strike="noStrike" kern="0" cap="none" spc="0" normalizeH="0" baseline="-2500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1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 / SE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                     = 0.162/0.037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0" dirty="0">
                <a:solidFill>
                  <a:srgbClr val="2C8B2C"/>
                </a:solidFill>
                <a:latin typeface="Open Sans"/>
              </a:rPr>
              <a:t>                     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= 4.37</a:t>
            </a:r>
          </a:p>
        </p:txBody>
      </p: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B4D4433-F7E4-8D95-8349-15EB42A6CB7F}"/>
              </a:ext>
            </a:extLst>
          </p:cNvPr>
          <p:cNvGrpSpPr/>
          <p:nvPr/>
        </p:nvGrpSpPr>
        <p:grpSpPr>
          <a:xfrm>
            <a:off x="5644843" y="3549137"/>
            <a:ext cx="1788784" cy="1329253"/>
            <a:chOff x="5941765" y="3595561"/>
            <a:chExt cx="1317398" cy="1308729"/>
          </a:xfrm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F635626A-5A41-6824-EEE1-C12B2B31AC38}"/>
                </a:ext>
              </a:extLst>
            </p:cNvPr>
            <p:cNvGrpSpPr/>
            <p:nvPr/>
          </p:nvGrpSpPr>
          <p:grpSpPr>
            <a:xfrm>
              <a:off x="5953230" y="3595561"/>
              <a:ext cx="1305933" cy="1308729"/>
              <a:chOff x="9290941" y="3529467"/>
              <a:chExt cx="2289137" cy="1308729"/>
            </a:xfrm>
          </p:grpSpPr>
          <p:sp>
            <p:nvSpPr>
              <p:cNvPr id="229" name="CILW7">
                <a:extLst>
                  <a:ext uri="{FF2B5EF4-FFF2-40B4-BE49-F238E27FC236}">
                    <a16:creationId xmlns:a16="http://schemas.microsoft.com/office/drawing/2014/main" id="{40572598-D773-3545-4DC6-11A72B3A0B2A}"/>
                  </a:ext>
                </a:extLst>
              </p:cNvPr>
              <p:cNvSpPr/>
              <p:nvPr/>
            </p:nvSpPr>
            <p:spPr>
              <a:xfrm>
                <a:off x="9290941" y="3543783"/>
                <a:ext cx="4320" cy="1294413"/>
              </a:xfrm>
              <a:prstGeom prst="line">
                <a:avLst/>
              </a:prstGeom>
              <a:ln w="15875">
                <a:solidFill>
                  <a:srgbClr val="2B6CB0"/>
                </a:solidFill>
                <a:prstDash val="sysDash"/>
              </a:ln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30" name="CILVal7">
                <a:extLst>
                  <a:ext uri="{FF2B5EF4-FFF2-40B4-BE49-F238E27FC236}">
                    <a16:creationId xmlns:a16="http://schemas.microsoft.com/office/drawing/2014/main" id="{A6E0CAAF-5060-0007-CD25-A2A8928B1444}"/>
                  </a:ext>
                </a:extLst>
              </p:cNvPr>
              <p:cNvSpPr/>
              <p:nvPr/>
            </p:nvSpPr>
            <p:spPr>
              <a:xfrm>
                <a:off x="9295260" y="4118848"/>
                <a:ext cx="523661" cy="126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0.090</a:t>
                </a:r>
              </a:p>
            </p:txBody>
          </p:sp>
          <p:sp>
            <p:nvSpPr>
              <p:cNvPr id="231" name="CIRVal7">
                <a:extLst>
                  <a:ext uri="{FF2B5EF4-FFF2-40B4-BE49-F238E27FC236}">
                    <a16:creationId xmlns:a16="http://schemas.microsoft.com/office/drawing/2014/main" id="{7F79A64C-3D33-AF4C-C11C-FE80E53DB53A}"/>
                  </a:ext>
                </a:extLst>
              </p:cNvPr>
              <p:cNvSpPr/>
              <p:nvPr/>
            </p:nvSpPr>
            <p:spPr>
              <a:xfrm>
                <a:off x="10950810" y="4129271"/>
                <a:ext cx="629268" cy="108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0.235</a:t>
                </a:r>
              </a:p>
            </p:txBody>
          </p:sp>
          <p:sp>
            <p:nvSpPr>
              <p:cNvPr id="232" name="CIBar7">
                <a:extLst>
                  <a:ext uri="{FF2B5EF4-FFF2-40B4-BE49-F238E27FC236}">
                    <a16:creationId xmlns:a16="http://schemas.microsoft.com/office/drawing/2014/main" id="{7F4C404D-108D-4C81-23D3-F4568EADC613}"/>
                  </a:ext>
                </a:extLst>
              </p:cNvPr>
              <p:cNvSpPr/>
              <p:nvPr/>
            </p:nvSpPr>
            <p:spPr>
              <a:xfrm>
                <a:off x="9299580" y="4464570"/>
                <a:ext cx="2233933" cy="373625"/>
              </a:xfrm>
              <a:prstGeom prst="rect">
                <a:avLst/>
              </a:prstGeom>
              <a:solidFill>
                <a:srgbClr val="F1F4FF"/>
              </a:solidFill>
              <a:ln>
                <a:solidFill>
                  <a:srgbClr val="0070C0"/>
                </a:solidFill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kern="0" dirty="0">
                    <a:solidFill>
                      <a:srgbClr val="2B6CB0"/>
                    </a:solidFill>
                    <a:latin typeface="Open Sans"/>
                  </a:rPr>
                  <a:t>95% CI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kern="0" dirty="0">
                    <a:solidFill>
                      <a:srgbClr val="2B6CB0"/>
                    </a:solidFill>
                    <a:latin typeface="Open Sans"/>
                  </a:rPr>
                  <a:t>b₁ ± t* x SE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endParaRPr>
              </a:p>
            </p:txBody>
          </p:sp>
          <p:sp>
            <p:nvSpPr>
              <p:cNvPr id="233" name="CIRW7">
                <a:extLst>
                  <a:ext uri="{FF2B5EF4-FFF2-40B4-BE49-F238E27FC236}">
                    <a16:creationId xmlns:a16="http://schemas.microsoft.com/office/drawing/2014/main" id="{20C93939-C240-85C8-FA5A-C3B3A1E9B12C}"/>
                  </a:ext>
                </a:extLst>
              </p:cNvPr>
              <p:cNvSpPr/>
              <p:nvPr/>
            </p:nvSpPr>
            <p:spPr>
              <a:xfrm flipH="1">
                <a:off x="11529192" y="3529467"/>
                <a:ext cx="4320" cy="1294414"/>
              </a:xfrm>
              <a:prstGeom prst="line">
                <a:avLst/>
              </a:prstGeom>
              <a:ln w="15875">
                <a:solidFill>
                  <a:srgbClr val="2B6CB0"/>
                </a:solidFill>
                <a:prstDash val="sysDash"/>
              </a:ln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955121-57A7-7B98-90D7-DACB6E4B68B3}"/>
                </a:ext>
              </a:extLst>
            </p:cNvPr>
            <p:cNvGrpSpPr/>
            <p:nvPr/>
          </p:nvGrpSpPr>
          <p:grpSpPr>
            <a:xfrm>
              <a:off x="6267305" y="4389898"/>
              <a:ext cx="327363" cy="137873"/>
              <a:chOff x="9647669" y="5455717"/>
              <a:chExt cx="954308" cy="309645"/>
            </a:xfrm>
          </p:grpSpPr>
          <p:sp>
            <p:nvSpPr>
              <p:cNvPr id="213" name="CIBar7">
                <a:extLst>
                  <a:ext uri="{FF2B5EF4-FFF2-40B4-BE49-F238E27FC236}">
                    <a16:creationId xmlns:a16="http://schemas.microsoft.com/office/drawing/2014/main" id="{AA60205C-D0F7-523C-8259-6C5191CE6A76}"/>
                  </a:ext>
                </a:extLst>
              </p:cNvPr>
              <p:cNvSpPr/>
              <p:nvPr/>
            </p:nvSpPr>
            <p:spPr>
              <a:xfrm>
                <a:off x="9664279" y="5471419"/>
                <a:ext cx="937695" cy="29359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14" name="CILW7">
                <a:extLst>
                  <a:ext uri="{FF2B5EF4-FFF2-40B4-BE49-F238E27FC236}">
                    <a16:creationId xmlns:a16="http://schemas.microsoft.com/office/drawing/2014/main" id="{E3131072-13C5-BDF3-7EA4-F088A664D294}"/>
                  </a:ext>
                </a:extLst>
              </p:cNvPr>
              <p:cNvSpPr/>
              <p:nvPr/>
            </p:nvSpPr>
            <p:spPr>
              <a:xfrm>
                <a:off x="9647669" y="546056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15" name="CILW7">
                <a:extLst>
                  <a:ext uri="{FF2B5EF4-FFF2-40B4-BE49-F238E27FC236}">
                    <a16:creationId xmlns:a16="http://schemas.microsoft.com/office/drawing/2014/main" id="{D5AC6E6E-1E81-9591-1351-FA90CD5BFE35}"/>
                  </a:ext>
                </a:extLst>
              </p:cNvPr>
              <p:cNvSpPr/>
              <p:nvPr/>
            </p:nvSpPr>
            <p:spPr>
              <a:xfrm>
                <a:off x="10601977" y="5455717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281" name="CIBar7">
              <a:extLst>
                <a:ext uri="{FF2B5EF4-FFF2-40B4-BE49-F238E27FC236}">
                  <a16:creationId xmlns:a16="http://schemas.microsoft.com/office/drawing/2014/main" id="{42A8E772-197C-1DB0-E9FF-85A60AC9B6DB}"/>
                </a:ext>
              </a:extLst>
            </p:cNvPr>
            <p:cNvSpPr/>
            <p:nvPr/>
          </p:nvSpPr>
          <p:spPr>
            <a:xfrm>
              <a:off x="5941765" y="4398014"/>
              <a:ext cx="321664" cy="13072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3" name="CILW7">
              <a:extLst>
                <a:ext uri="{FF2B5EF4-FFF2-40B4-BE49-F238E27FC236}">
                  <a16:creationId xmlns:a16="http://schemas.microsoft.com/office/drawing/2014/main" id="{B08C6394-BA01-CBE8-55B0-E1E0DF34329C}"/>
                </a:ext>
              </a:extLst>
            </p:cNvPr>
            <p:cNvSpPr/>
            <p:nvPr/>
          </p:nvSpPr>
          <p:spPr>
            <a:xfrm>
              <a:off x="6263430" y="4391023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5" name="CIBar7">
              <a:extLst>
                <a:ext uri="{FF2B5EF4-FFF2-40B4-BE49-F238E27FC236}">
                  <a16:creationId xmlns:a16="http://schemas.microsoft.com/office/drawing/2014/main" id="{1256544E-0168-60CA-0660-7D3915F8F561}"/>
                </a:ext>
              </a:extLst>
            </p:cNvPr>
            <p:cNvSpPr/>
            <p:nvPr/>
          </p:nvSpPr>
          <p:spPr>
            <a:xfrm>
              <a:off x="6930030" y="4394055"/>
              <a:ext cx="321664" cy="13072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6" name="CILW7">
              <a:extLst>
                <a:ext uri="{FF2B5EF4-FFF2-40B4-BE49-F238E27FC236}">
                  <a16:creationId xmlns:a16="http://schemas.microsoft.com/office/drawing/2014/main" id="{1254C349-B302-E85C-B300-8A8A3EDC84D6}"/>
                </a:ext>
              </a:extLst>
            </p:cNvPr>
            <p:cNvSpPr/>
            <p:nvPr/>
          </p:nvSpPr>
          <p:spPr>
            <a:xfrm>
              <a:off x="6924332" y="4389221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521AEBC7-5D81-1ECE-9694-78F8EF08C297}"/>
                </a:ext>
              </a:extLst>
            </p:cNvPr>
            <p:cNvGrpSpPr/>
            <p:nvPr/>
          </p:nvGrpSpPr>
          <p:grpSpPr>
            <a:xfrm>
              <a:off x="6593093" y="4388190"/>
              <a:ext cx="327363" cy="137873"/>
              <a:chOff x="9647669" y="5455717"/>
              <a:chExt cx="954308" cy="309645"/>
            </a:xfrm>
          </p:grpSpPr>
          <p:sp>
            <p:nvSpPr>
              <p:cNvPr id="289" name="CIBar7">
                <a:extLst>
                  <a:ext uri="{FF2B5EF4-FFF2-40B4-BE49-F238E27FC236}">
                    <a16:creationId xmlns:a16="http://schemas.microsoft.com/office/drawing/2014/main" id="{F98791D8-E998-8B6B-1FB5-777E8F384B4E}"/>
                  </a:ext>
                </a:extLst>
              </p:cNvPr>
              <p:cNvSpPr/>
              <p:nvPr/>
            </p:nvSpPr>
            <p:spPr>
              <a:xfrm>
                <a:off x="9664279" y="5471419"/>
                <a:ext cx="937695" cy="29359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90" name="CILW7">
                <a:extLst>
                  <a:ext uri="{FF2B5EF4-FFF2-40B4-BE49-F238E27FC236}">
                    <a16:creationId xmlns:a16="http://schemas.microsoft.com/office/drawing/2014/main" id="{C1BFD156-2909-3BF6-16B6-A85CB8455440}"/>
                  </a:ext>
                </a:extLst>
              </p:cNvPr>
              <p:cNvSpPr/>
              <p:nvPr/>
            </p:nvSpPr>
            <p:spPr>
              <a:xfrm>
                <a:off x="9647669" y="546056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91" name="CILW7">
                <a:extLst>
                  <a:ext uri="{FF2B5EF4-FFF2-40B4-BE49-F238E27FC236}">
                    <a16:creationId xmlns:a16="http://schemas.microsoft.com/office/drawing/2014/main" id="{64434B25-BD9B-9C97-9016-900DAB4873C2}"/>
                  </a:ext>
                </a:extLst>
              </p:cNvPr>
              <p:cNvSpPr/>
              <p:nvPr/>
            </p:nvSpPr>
            <p:spPr>
              <a:xfrm>
                <a:off x="10601977" y="5455717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1FE15F4-310F-D635-D4A3-9EB2824B9524}"/>
              </a:ext>
            </a:extLst>
          </p:cNvPr>
          <p:cNvGrpSpPr/>
          <p:nvPr/>
        </p:nvGrpSpPr>
        <p:grpSpPr>
          <a:xfrm>
            <a:off x="6517974" y="3846072"/>
            <a:ext cx="382822" cy="135808"/>
            <a:chOff x="9647669" y="5455717"/>
            <a:chExt cx="954308" cy="309645"/>
          </a:xfrm>
        </p:grpSpPr>
        <p:sp>
          <p:nvSpPr>
            <p:cNvPr id="298" name="CIBar7">
              <a:extLst>
                <a:ext uri="{FF2B5EF4-FFF2-40B4-BE49-F238E27FC236}">
                  <a16:creationId xmlns:a16="http://schemas.microsoft.com/office/drawing/2014/main" id="{2A21598A-68C3-255E-87AC-D43B65DA7CFB}"/>
                </a:ext>
              </a:extLst>
            </p:cNvPr>
            <p:cNvSpPr/>
            <p:nvPr/>
          </p:nvSpPr>
          <p:spPr>
            <a:xfrm>
              <a:off x="9664279" y="5471419"/>
              <a:ext cx="937695" cy="29359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99" name="CILW7">
              <a:extLst>
                <a:ext uri="{FF2B5EF4-FFF2-40B4-BE49-F238E27FC236}">
                  <a16:creationId xmlns:a16="http://schemas.microsoft.com/office/drawing/2014/main" id="{5F716AFB-6AAC-4E25-B247-718154DEEEB5}"/>
                </a:ext>
              </a:extLst>
            </p:cNvPr>
            <p:cNvSpPr/>
            <p:nvPr/>
          </p:nvSpPr>
          <p:spPr>
            <a:xfrm>
              <a:off x="9647669" y="5460562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00" name="CILW7">
              <a:extLst>
                <a:ext uri="{FF2B5EF4-FFF2-40B4-BE49-F238E27FC236}">
                  <a16:creationId xmlns:a16="http://schemas.microsoft.com/office/drawing/2014/main" id="{C2E72C82-8715-43A4-4533-5D8DC98F3099}"/>
                </a:ext>
              </a:extLst>
            </p:cNvPr>
            <p:cNvSpPr/>
            <p:nvPr/>
          </p:nvSpPr>
          <p:spPr>
            <a:xfrm>
              <a:off x="10601977" y="5455717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1447-72A8-82DB-18EB-A984FCADF88D}"/>
              </a:ext>
            </a:extLst>
          </p:cNvPr>
          <p:cNvGrpSpPr/>
          <p:nvPr/>
        </p:nvGrpSpPr>
        <p:grpSpPr>
          <a:xfrm>
            <a:off x="4679099" y="3207303"/>
            <a:ext cx="1814566" cy="161105"/>
            <a:chOff x="5230517" y="3297074"/>
            <a:chExt cx="1446584" cy="141600"/>
          </a:xfrm>
        </p:grpSpPr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5544E56F-EE7A-1991-E63E-6CF02FE25BC6}"/>
                </a:ext>
              </a:extLst>
            </p:cNvPr>
            <p:cNvGrpSpPr/>
            <p:nvPr/>
          </p:nvGrpSpPr>
          <p:grpSpPr>
            <a:xfrm>
              <a:off x="5230517" y="3298151"/>
              <a:ext cx="1306198" cy="140523"/>
              <a:chOff x="5250800" y="3389754"/>
              <a:chExt cx="1306198" cy="140523"/>
            </a:xfrm>
          </p:grpSpPr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44BEC6E7-EE74-5156-B0A5-70E80234CF73}"/>
                  </a:ext>
                </a:extLst>
              </p:cNvPr>
              <p:cNvGrpSpPr/>
              <p:nvPr/>
            </p:nvGrpSpPr>
            <p:grpSpPr>
              <a:xfrm>
                <a:off x="5250800" y="3392404"/>
                <a:ext cx="327363" cy="137873"/>
                <a:chOff x="9647669" y="5455717"/>
                <a:chExt cx="954308" cy="309645"/>
              </a:xfrm>
            </p:grpSpPr>
            <p:sp>
              <p:nvSpPr>
                <p:cNvPr id="302" name="CIBar7">
                  <a:extLst>
                    <a:ext uri="{FF2B5EF4-FFF2-40B4-BE49-F238E27FC236}">
                      <a16:creationId xmlns:a16="http://schemas.microsoft.com/office/drawing/2014/main" id="{1AA22781-023E-7C16-5BBC-AFA2C9028679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3" name="CILW7">
                  <a:extLst>
                    <a:ext uri="{FF2B5EF4-FFF2-40B4-BE49-F238E27FC236}">
                      <a16:creationId xmlns:a16="http://schemas.microsoft.com/office/drawing/2014/main" id="{1479B6E4-C2A4-420E-C012-D498929BDDB9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4" name="CILW7">
                  <a:extLst>
                    <a:ext uri="{FF2B5EF4-FFF2-40B4-BE49-F238E27FC236}">
                      <a16:creationId xmlns:a16="http://schemas.microsoft.com/office/drawing/2014/main" id="{A917781A-C5B8-30FF-B002-52AA2224EEF3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0894A27A-6516-6BEF-92BB-0482B18BC588}"/>
                  </a:ext>
                </a:extLst>
              </p:cNvPr>
              <p:cNvGrpSpPr/>
              <p:nvPr/>
            </p:nvGrpSpPr>
            <p:grpSpPr>
              <a:xfrm>
                <a:off x="5576588" y="3390696"/>
                <a:ext cx="327363" cy="137873"/>
                <a:chOff x="9647669" y="5455717"/>
                <a:chExt cx="954308" cy="309645"/>
              </a:xfrm>
            </p:grpSpPr>
            <p:sp>
              <p:nvSpPr>
                <p:cNvPr id="306" name="CIBar7">
                  <a:extLst>
                    <a:ext uri="{FF2B5EF4-FFF2-40B4-BE49-F238E27FC236}">
                      <a16:creationId xmlns:a16="http://schemas.microsoft.com/office/drawing/2014/main" id="{84D5403B-D397-3FE3-61F2-D7BD2607A2BA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7" name="CILW7">
                  <a:extLst>
                    <a:ext uri="{FF2B5EF4-FFF2-40B4-BE49-F238E27FC236}">
                      <a16:creationId xmlns:a16="http://schemas.microsoft.com/office/drawing/2014/main" id="{7B1EE065-C18D-136E-D3FE-63DC79A41E7C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8" name="CILW7">
                  <a:extLst>
                    <a:ext uri="{FF2B5EF4-FFF2-40B4-BE49-F238E27FC236}">
                      <a16:creationId xmlns:a16="http://schemas.microsoft.com/office/drawing/2014/main" id="{D6CA3F8F-A877-8567-E061-7A43CEA56FB9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22A20F2A-3644-1880-8211-019154A4D0AD}"/>
                  </a:ext>
                </a:extLst>
              </p:cNvPr>
              <p:cNvGrpSpPr/>
              <p:nvPr/>
            </p:nvGrpSpPr>
            <p:grpSpPr>
              <a:xfrm>
                <a:off x="5903847" y="3391462"/>
                <a:ext cx="327363" cy="137873"/>
                <a:chOff x="9647669" y="5455717"/>
                <a:chExt cx="954308" cy="309645"/>
              </a:xfrm>
            </p:grpSpPr>
            <p:sp>
              <p:nvSpPr>
                <p:cNvPr id="310" name="CIBar7">
                  <a:extLst>
                    <a:ext uri="{FF2B5EF4-FFF2-40B4-BE49-F238E27FC236}">
                      <a16:creationId xmlns:a16="http://schemas.microsoft.com/office/drawing/2014/main" id="{5401684E-CDDC-EFB0-65B0-E89033233EEF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1" name="CILW7">
                  <a:extLst>
                    <a:ext uri="{FF2B5EF4-FFF2-40B4-BE49-F238E27FC236}">
                      <a16:creationId xmlns:a16="http://schemas.microsoft.com/office/drawing/2014/main" id="{3621A99D-3F28-D5B5-E22F-8A131419C524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2" name="CILW7">
                  <a:extLst>
                    <a:ext uri="{FF2B5EF4-FFF2-40B4-BE49-F238E27FC236}">
                      <a16:creationId xmlns:a16="http://schemas.microsoft.com/office/drawing/2014/main" id="{B6887BFC-2AAF-7B64-F5C0-0EE4BB3448E0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900FEF12-6F5E-48E8-E3BF-EEA3931F0985}"/>
                  </a:ext>
                </a:extLst>
              </p:cNvPr>
              <p:cNvGrpSpPr/>
              <p:nvPr/>
            </p:nvGrpSpPr>
            <p:grpSpPr>
              <a:xfrm>
                <a:off x="6229635" y="3389754"/>
                <a:ext cx="327363" cy="137873"/>
                <a:chOff x="9647669" y="5455717"/>
                <a:chExt cx="954308" cy="309645"/>
              </a:xfrm>
            </p:grpSpPr>
            <p:sp>
              <p:nvSpPr>
                <p:cNvPr id="314" name="CIBar7">
                  <a:extLst>
                    <a:ext uri="{FF2B5EF4-FFF2-40B4-BE49-F238E27FC236}">
                      <a16:creationId xmlns:a16="http://schemas.microsoft.com/office/drawing/2014/main" id="{F75B7D77-11E4-D932-3BE8-8917490E10E7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5" name="CILW7">
                  <a:extLst>
                    <a:ext uri="{FF2B5EF4-FFF2-40B4-BE49-F238E27FC236}">
                      <a16:creationId xmlns:a16="http://schemas.microsoft.com/office/drawing/2014/main" id="{1FA2E7B6-BB56-E777-35BE-20EB14434A90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6" name="CILW7">
                  <a:extLst>
                    <a:ext uri="{FF2B5EF4-FFF2-40B4-BE49-F238E27FC236}">
                      <a16:creationId xmlns:a16="http://schemas.microsoft.com/office/drawing/2014/main" id="{B6771AC9-1959-F4DF-4792-A8F488C3F533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</p:grpSp>
        <p:sp>
          <p:nvSpPr>
            <p:cNvPr id="332" name="CIBar7">
              <a:extLst>
                <a:ext uri="{FF2B5EF4-FFF2-40B4-BE49-F238E27FC236}">
                  <a16:creationId xmlns:a16="http://schemas.microsoft.com/office/drawing/2014/main" id="{57071DD2-9B23-9BD4-392F-692EACB784E1}"/>
                </a:ext>
              </a:extLst>
            </p:cNvPr>
            <p:cNvSpPr/>
            <p:nvPr/>
          </p:nvSpPr>
          <p:spPr>
            <a:xfrm>
              <a:off x="6538987" y="3301908"/>
              <a:ext cx="138114" cy="130882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33" name="CILW7">
              <a:extLst>
                <a:ext uri="{FF2B5EF4-FFF2-40B4-BE49-F238E27FC236}">
                  <a16:creationId xmlns:a16="http://schemas.microsoft.com/office/drawing/2014/main" id="{9FCEA03E-D0D7-4428-4C86-D3AA77A31020}"/>
                </a:ext>
              </a:extLst>
            </p:cNvPr>
            <p:cNvSpPr/>
            <p:nvPr/>
          </p:nvSpPr>
          <p:spPr>
            <a:xfrm>
              <a:off x="6533289" y="3297074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</p:grpSp>
      <p:sp>
        <p:nvSpPr>
          <p:cNvPr id="338" name="Text 2">
            <a:extLst>
              <a:ext uri="{FF2B5EF4-FFF2-40B4-BE49-F238E27FC236}">
                <a16:creationId xmlns:a16="http://schemas.microsoft.com/office/drawing/2014/main" id="{21496D5D-684D-FBA0-0EEE-376ADA967B8C}"/>
              </a:ext>
            </a:extLst>
          </p:cNvPr>
          <p:cNvSpPr/>
          <p:nvPr/>
        </p:nvSpPr>
        <p:spPr>
          <a:xfrm>
            <a:off x="218852" y="192283"/>
            <a:ext cx="33484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 value / t statistic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8D3C43-DC9E-4497-25F4-4FC03B95439F}"/>
              </a:ext>
            </a:extLst>
          </p:cNvPr>
          <p:cNvSpPr/>
          <p:nvPr/>
        </p:nvSpPr>
        <p:spPr>
          <a:xfrm>
            <a:off x="218852" y="631455"/>
            <a:ext cx="3846086" cy="48112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5B7B5B-1EBA-24BA-16F7-6F179F90797D}"/>
              </a:ext>
            </a:extLst>
          </p:cNvPr>
          <p:cNvSpPr/>
          <p:nvPr/>
        </p:nvSpPr>
        <p:spPr>
          <a:xfrm>
            <a:off x="226189" y="1098534"/>
            <a:ext cx="4394726" cy="854682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Estimate Std. Error t value </a:t>
            </a:r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(Intercept)  3.18296    0.02640 120.552  &lt; 2e-16 ***</a:t>
            </a:r>
          </a:p>
          <a:p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0.16249    0.03715   </a:t>
            </a:r>
            <a:r>
              <a:rPr lang="en-GB" sz="1100" dirty="0">
                <a:solidFill>
                  <a:schemeClr val="bg1"/>
                </a:solidFill>
                <a:highlight>
                  <a:srgbClr val="008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4.373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1.35e-05 ***</a:t>
            </a:r>
          </a:p>
          <a:p>
            <a:endParaRPr sz="1100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2425B-68D2-78E9-03C2-D6F659E2FFFE}"/>
              </a:ext>
            </a:extLst>
          </p:cNvPr>
          <p:cNvSpPr txBox="1"/>
          <p:nvPr/>
        </p:nvSpPr>
        <p:spPr>
          <a:xfrm>
            <a:off x="218853" y="631455"/>
            <a:ext cx="3348444" cy="430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 &lt;- </a:t>
            </a:r>
            <a:r>
              <a:rPr sz="1100" b="1" i="0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sz="1100" b="1" i="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sex, data = births)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(mod)</a:t>
            </a:r>
          </a:p>
        </p:txBody>
      </p:sp>
      <p:pic>
        <p:nvPicPr>
          <p:cNvPr id="25" name="Picture 24" descr="plot_basic.png">
            <a:extLst>
              <a:ext uri="{FF2B5EF4-FFF2-40B4-BE49-F238E27FC236}">
                <a16:creationId xmlns:a16="http://schemas.microsoft.com/office/drawing/2014/main" id="{B03ACACE-060C-F15E-3B0F-404ECF78F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28"/>
          <a:stretch>
            <a:fillRect/>
          </a:stretch>
        </p:blipFill>
        <p:spPr>
          <a:xfrm>
            <a:off x="5902248" y="313921"/>
            <a:ext cx="2647650" cy="1818495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C77AA37-B36D-4F33-E7FB-3799F7D3B175}"/>
              </a:ext>
            </a:extLst>
          </p:cNvPr>
          <p:cNvCxnSpPr>
            <a:cxnSpLocks/>
          </p:cNvCxnSpPr>
          <p:nvPr/>
        </p:nvCxnSpPr>
        <p:spPr>
          <a:xfrm>
            <a:off x="6351144" y="1012751"/>
            <a:ext cx="923786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C72201-C755-2369-C51C-C4AA4D42D7A6}"/>
              </a:ext>
            </a:extLst>
          </p:cNvPr>
          <p:cNvCxnSpPr>
            <a:cxnSpLocks/>
          </p:cNvCxnSpPr>
          <p:nvPr/>
        </p:nvCxnSpPr>
        <p:spPr>
          <a:xfrm>
            <a:off x="7370133" y="920563"/>
            <a:ext cx="955378" cy="0"/>
          </a:xfrm>
          <a:prstGeom prst="line">
            <a:avLst/>
          </a:prstGeom>
          <a:ln w="28575">
            <a:solidFill>
              <a:srgbClr val="3887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85DC88D-0F99-2864-224D-C88B6DD8FA46}"/>
              </a:ext>
            </a:extLst>
          </p:cNvPr>
          <p:cNvCxnSpPr>
            <a:cxnSpLocks/>
          </p:cNvCxnSpPr>
          <p:nvPr/>
        </p:nvCxnSpPr>
        <p:spPr>
          <a:xfrm>
            <a:off x="8238214" y="920563"/>
            <a:ext cx="0" cy="147501"/>
          </a:xfrm>
          <a:prstGeom prst="straightConnector1">
            <a:avLst/>
          </a:prstGeom>
          <a:ln w="9525">
            <a:solidFill>
              <a:srgbClr val="DFA019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FE06446-05D9-BC02-2C1D-377C960507E7}"/>
              </a:ext>
            </a:extLst>
          </p:cNvPr>
          <p:cNvCxnSpPr/>
          <p:nvPr/>
        </p:nvCxnSpPr>
        <p:spPr>
          <a:xfrm flipV="1">
            <a:off x="6774188" y="920563"/>
            <a:ext cx="1084926" cy="92188"/>
          </a:xfrm>
          <a:prstGeom prst="line">
            <a:avLst/>
          </a:prstGeom>
          <a:ln w="19050">
            <a:solidFill>
              <a:srgbClr val="DFA0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B70B71-3BB0-B3B7-6E76-E36F5AD4B898}"/>
              </a:ext>
            </a:extLst>
          </p:cNvPr>
          <p:cNvSpPr txBox="1"/>
          <p:nvPr/>
        </p:nvSpPr>
        <p:spPr>
          <a:xfrm>
            <a:off x="8153922" y="1044612"/>
            <a:ext cx="37851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DFA019"/>
                </a:solidFill>
              </a:rPr>
              <a:t>0.162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B0E1A6-0208-FA31-19F4-4DD8153B5376}"/>
              </a:ext>
            </a:extLst>
          </p:cNvPr>
          <p:cNvSpPr txBox="1"/>
          <p:nvPr/>
        </p:nvSpPr>
        <p:spPr>
          <a:xfrm>
            <a:off x="6227868" y="993589"/>
            <a:ext cx="4267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2D6B75"/>
                </a:solidFill>
              </a:rPr>
              <a:t>3.18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842434-B4BA-D040-3FE9-42210ED45AE8}"/>
              </a:ext>
            </a:extLst>
          </p:cNvPr>
          <p:cNvSpPr txBox="1"/>
          <p:nvPr/>
        </p:nvSpPr>
        <p:spPr>
          <a:xfrm>
            <a:off x="7287448" y="708633"/>
            <a:ext cx="4267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2D6B75"/>
                </a:solidFill>
              </a:rPr>
              <a:t>3.34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DC9BFE1-C8DE-2FE8-47A3-366B86B6CC01}"/>
              </a:ext>
            </a:extLst>
          </p:cNvPr>
          <p:cNvSpPr/>
          <p:nvPr/>
        </p:nvSpPr>
        <p:spPr>
          <a:xfrm>
            <a:off x="6391310" y="975876"/>
            <a:ext cx="821595" cy="80976"/>
          </a:xfrm>
          <a:prstGeom prst="rect">
            <a:avLst/>
          </a:prstGeom>
          <a:solidFill>
            <a:srgbClr val="388792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E09966-9A27-3595-E443-06E5DAA66A55}"/>
              </a:ext>
            </a:extLst>
          </p:cNvPr>
          <p:cNvSpPr/>
          <p:nvPr/>
        </p:nvSpPr>
        <p:spPr>
          <a:xfrm rot="21289538">
            <a:off x="6865138" y="920683"/>
            <a:ext cx="821595" cy="134915"/>
          </a:xfrm>
          <a:prstGeom prst="rect">
            <a:avLst/>
          </a:prstGeom>
          <a:solidFill>
            <a:srgbClr val="F0AD1C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487DFC7-EFD6-865F-5530-2EBB31AE3EE9}"/>
              </a:ext>
            </a:extLst>
          </p:cNvPr>
          <p:cNvSpPr/>
          <p:nvPr/>
        </p:nvSpPr>
        <p:spPr>
          <a:xfrm>
            <a:off x="7444354" y="883683"/>
            <a:ext cx="821595" cy="80976"/>
          </a:xfrm>
          <a:prstGeom prst="rect">
            <a:avLst/>
          </a:prstGeom>
          <a:solidFill>
            <a:srgbClr val="388792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TExplainHdr">
            <a:extLst>
              <a:ext uri="{FF2B5EF4-FFF2-40B4-BE49-F238E27FC236}">
                <a16:creationId xmlns:a16="http://schemas.microsoft.com/office/drawing/2014/main" id="{A4C2AF70-F281-264C-A0F8-051F4EE482E5}"/>
              </a:ext>
            </a:extLst>
          </p:cNvPr>
          <p:cNvSpPr/>
          <p:nvPr/>
        </p:nvSpPr>
        <p:spPr>
          <a:xfrm>
            <a:off x="226189" y="2202212"/>
            <a:ext cx="3390641" cy="254000"/>
          </a:xfrm>
          <a:prstGeom prst="rect">
            <a:avLst/>
          </a:prstGeom>
          <a:solidFill>
            <a:srgbClr val="2E6B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8000" tIns="18000" rIns="54000" bIns="1800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Open Sans"/>
              </a:rPr>
              <a:t>What the t-value tells us</a:t>
            </a:r>
          </a:p>
        </p:txBody>
      </p:sp>
      <p:sp>
        <p:nvSpPr>
          <p:cNvPr id="6" name="TExplainBody">
            <a:extLst>
              <a:ext uri="{FF2B5EF4-FFF2-40B4-BE49-F238E27FC236}">
                <a16:creationId xmlns:a16="http://schemas.microsoft.com/office/drawing/2014/main" id="{C8D76F48-F6F9-F749-8BBC-0004D6CD0136}"/>
              </a:ext>
            </a:extLst>
          </p:cNvPr>
          <p:cNvSpPr/>
          <p:nvPr/>
        </p:nvSpPr>
        <p:spPr>
          <a:xfrm>
            <a:off x="226190" y="2456212"/>
            <a:ext cx="3390646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8000" tIns="36000" rIns="54000" bIns="36000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How large is the association, accounting for the uncertainty?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endParaRPr lang="en-US" sz="1100" dirty="0">
              <a:solidFill>
                <a:srgbClr val="2E3640"/>
              </a:solidFill>
              <a:latin typeface="Open Sans"/>
            </a:endParaRP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Here, </a:t>
            </a:r>
            <a:r>
              <a:rPr lang="en-US" sz="1100" b="1" dirty="0">
                <a:solidFill>
                  <a:srgbClr val="2E6B75"/>
                </a:solidFill>
                <a:latin typeface="Open Sans"/>
              </a:rPr>
              <a:t>4.37 SEs above 0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. 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Well beyond the ±2 noise band.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endParaRPr lang="en-US" sz="1100" dirty="0">
              <a:solidFill>
                <a:srgbClr val="2E3640"/>
              </a:solidFill>
              <a:latin typeface="Open Sans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rgbClr val="6B7680"/>
                </a:solidFill>
                <a:latin typeface="Open Sans"/>
              </a:rPr>
              <a:t>How unlikely is that under chance? → </a:t>
            </a:r>
            <a:r>
              <a:rPr lang="en-US" sz="1100" b="1" i="1" dirty="0">
                <a:solidFill>
                  <a:srgbClr val="2E6B75"/>
                </a:solidFill>
                <a:latin typeface="Open Sans"/>
              </a:rPr>
              <a:t>p-value</a:t>
            </a:r>
            <a:r>
              <a:rPr lang="en-US" sz="1100" i="1" dirty="0">
                <a:solidFill>
                  <a:srgbClr val="6B7680"/>
                </a:solidFill>
                <a:latin typeface="Open Sans"/>
              </a:rPr>
              <a:t> (next).</a:t>
            </a:r>
          </a:p>
        </p:txBody>
      </p:sp>
      <p:sp>
        <p:nvSpPr>
          <p:cNvPr id="55" name="TExplainBody">
            <a:extLst>
              <a:ext uri="{FF2B5EF4-FFF2-40B4-BE49-F238E27FC236}">
                <a16:creationId xmlns:a16="http://schemas.microsoft.com/office/drawing/2014/main" id="{57F8DFD2-1E5C-F987-0BE9-9984C8E8B529}"/>
              </a:ext>
            </a:extLst>
          </p:cNvPr>
          <p:cNvSpPr/>
          <p:nvPr/>
        </p:nvSpPr>
        <p:spPr>
          <a:xfrm>
            <a:off x="218853" y="4379024"/>
            <a:ext cx="3390646" cy="4811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7DE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8000" tIns="36000" rIns="54000" bIns="36000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By the way, t-value (and p value) of the intercept is not particularly </a:t>
            </a:r>
            <a:r>
              <a:rPr lang="en-US" sz="1100" dirty="0" err="1">
                <a:solidFill>
                  <a:srgbClr val="2E3640"/>
                </a:solidFill>
                <a:latin typeface="Open Sans"/>
              </a:rPr>
              <a:t>meaninful</a:t>
            </a:r>
            <a:endParaRPr lang="en-US" sz="1100" i="1" dirty="0">
              <a:solidFill>
                <a:srgbClr val="6B7680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2048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nimBg="1"/>
      <p:bldP spid="3" grpId="0" animBg="1"/>
      <p:bldP spid="6" grpId="0" animBg="1"/>
      <p:bldP spid="5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061"/>
                </a:solidFill>
                <a:latin typeface="Calibri" pitchFamily="34" charset="0"/>
              </a:rPr>
              <a:t>Progress check  |  </a:t>
            </a:r>
            <a:r>
              <a:rPr lang="en-US" sz="2400" b="0" dirty="0">
                <a:solidFill>
                  <a:srgbClr val="6B7B8A"/>
                </a:solidFill>
                <a:latin typeface="Calibri" pitchFamily="34" charset="0"/>
              </a:rPr>
              <a:t>Objectives 1–4 covered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B12DE05B-627D-7EE7-33AB-C9A061840C52}"/>
              </a:ext>
            </a:extLst>
          </p:cNvPr>
          <p:cNvSpPr/>
          <p:nvPr/>
        </p:nvSpPr>
        <p:spPr>
          <a:xfrm>
            <a:off x="1005840" y="1097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A 0/1 encoded x variable still fits inside the same y = b₀ + </a:t>
            </a:r>
            <a:r>
              <a:rPr lang="en-US" sz="1400" dirty="0" err="1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b₁x</a:t>
            </a:r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 model framework</a:t>
            </a: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F7DB514E-F4C8-C23C-1C97-F228C91CD1D4}"/>
              </a:ext>
            </a:extLst>
          </p:cNvPr>
          <p:cNvSpPr/>
          <p:nvPr/>
        </p:nvSpPr>
        <p:spPr>
          <a:xfrm>
            <a:off x="1005840" y="1691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b₀ = reference group mean, b₁ = difference between the two group means</a:t>
            </a: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CE0DD51E-8009-E167-0934-4CBAA8ABD435}"/>
              </a:ext>
            </a:extLst>
          </p:cNvPr>
          <p:cNvSpPr/>
          <p:nvPr/>
        </p:nvSpPr>
        <p:spPr>
          <a:xfrm>
            <a:off x="1005840" y="2286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Same logic as before: the CI is a plausible range for the population difference</a:t>
            </a: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A48ECC2C-2358-F5CE-9F72-A2C65AB9DB3C}"/>
              </a:ext>
            </a:extLst>
          </p:cNvPr>
          <p:cNvSpPr/>
          <p:nvPr/>
        </p:nvSpPr>
        <p:spPr>
          <a:xfrm>
            <a:off x="1005840" y="2880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estimate / SE asks: how many SEs is the estimate away from no effect?</a:t>
            </a:r>
            <a:endParaRPr lang="en-US" sz="14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314AA4B8-251D-6A62-6464-3D3871FED338}"/>
              </a:ext>
            </a:extLst>
          </p:cNvPr>
          <p:cNvSpPr/>
          <p:nvPr/>
        </p:nvSpPr>
        <p:spPr>
          <a:xfrm>
            <a:off x="1005840" y="34747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|t| pushes further into the tail and gives a smaller p-value</a:t>
            </a:r>
            <a:endParaRPr lang="en-US" sz="14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0D156975-C9DC-4BB0-52E7-367A286918DD}"/>
              </a:ext>
            </a:extLst>
          </p:cNvPr>
          <p:cNvSpPr/>
          <p:nvPr/>
        </p:nvSpPr>
        <p:spPr>
          <a:xfrm>
            <a:off x="1005840" y="83454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Extend simple linear regression to a binary predictor</a:t>
            </a: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47AF772F-C2AF-BFA3-98D7-C242C6C80C6C}"/>
              </a:ext>
            </a:extLst>
          </p:cNvPr>
          <p:cNvSpPr/>
          <p:nvPr/>
        </p:nvSpPr>
        <p:spPr>
          <a:xfrm>
            <a:off x="1005840" y="142890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Interpret the intercept and slope as group means and a difference</a:t>
            </a: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43E63515-EB01-E670-473B-F512719A81B5}"/>
              </a:ext>
            </a:extLst>
          </p:cNvPr>
          <p:cNvSpPr/>
          <p:nvPr/>
        </p:nvSpPr>
        <p:spPr>
          <a:xfrm>
            <a:off x="1005840" y="202326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 and 95% CI for the group difference</a:t>
            </a:r>
            <a:endParaRPr lang="en-US" sz="14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50AD33F6-D4EB-1580-06F4-BCB99B73A7D1}"/>
              </a:ext>
            </a:extLst>
          </p:cNvPr>
          <p:cNvSpPr/>
          <p:nvPr/>
        </p:nvSpPr>
        <p:spPr>
          <a:xfrm>
            <a:off x="1005840" y="261762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 value as a standardized distance from zero</a:t>
            </a:r>
            <a:endParaRPr lang="en-US" sz="14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3C60F98F-CFED-B114-0103-279065164123}"/>
              </a:ext>
            </a:extLst>
          </p:cNvPr>
          <p:cNvSpPr/>
          <p:nvPr/>
        </p:nvSpPr>
        <p:spPr>
          <a:xfrm>
            <a:off x="1005840" y="321198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 into a p-value via tail area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37086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956F-1EE7-E052-535F-013A352F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6CD3B9BA-135A-E780-892F-F771CDE6E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95251"/>
            <a:ext cx="7886700" cy="524690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altLang="en-US" dirty="0"/>
              <a:t>Practice: Reading the t value</a:t>
            </a:r>
          </a:p>
        </p:txBody>
      </p:sp>
      <p:sp>
        <p:nvSpPr>
          <p:cNvPr id="4" name="Setup">
            <a:extLst>
              <a:ext uri="{FF2B5EF4-FFF2-40B4-BE49-F238E27FC236}">
                <a16:creationId xmlns:a16="http://schemas.microsoft.com/office/drawing/2014/main" id="{E883E27B-59A5-F333-0B44-EDD392B82EDD}"/>
              </a:ext>
            </a:extLst>
          </p:cNvPr>
          <p:cNvSpPr/>
          <p:nvPr/>
        </p:nvSpPr>
        <p:spPr>
          <a:xfrm>
            <a:off x="273663" y="530122"/>
            <a:ext cx="87884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E3640"/>
                </a:solidFill>
                <a:latin typeface="Open Sans"/>
              </a:rPr>
              <a:t>Same births model: </a:t>
            </a:r>
            <a:r>
              <a:rPr lang="en-US" sz="1200" b="1" i="1" dirty="0">
                <a:solidFill>
                  <a:srgbClr val="2E6B75"/>
                </a:solidFill>
                <a:latin typeface="Open Sans"/>
              </a:rPr>
              <a:t>R output:</a:t>
            </a:r>
          </a:p>
        </p:txBody>
      </p:sp>
      <p:sp>
        <p:nvSpPr>
          <p:cNvPr id="10" name="ROutput">
            <a:extLst>
              <a:ext uri="{FF2B5EF4-FFF2-40B4-BE49-F238E27FC236}">
                <a16:creationId xmlns:a16="http://schemas.microsoft.com/office/drawing/2014/main" id="{FA8F97AB-D617-77CA-4F57-A3A9C2EAA05D}"/>
              </a:ext>
            </a:extLst>
          </p:cNvPr>
          <p:cNvSpPr/>
          <p:nvPr/>
        </p:nvSpPr>
        <p:spPr>
          <a:xfrm>
            <a:off x="273663" y="784122"/>
            <a:ext cx="8788400" cy="965200"/>
          </a:xfrm>
          <a:prstGeom prst="rect">
            <a:avLst/>
          </a:prstGeom>
          <a:solidFill>
            <a:srgbClr val="FBFBFB"/>
          </a:solidFill>
          <a:ln w="9525">
            <a:solidFill>
              <a:srgbClr val="2E3640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3640"/>
                </a:solidFill>
                <a:latin typeface="Consolas"/>
              </a:rPr>
              <a:t>             Estimate Std.Error t value Pr(&gt;|t|)
(Intercept)    3.1830    0.0264   120.55  &lt; 2e-16
sexmale        0.1625    0.0372     4.37  1.4e-05</a:t>
            </a:r>
          </a:p>
        </p:txBody>
      </p:sp>
      <p:cxnSp>
        <p:nvCxnSpPr>
          <p:cNvPr id="11" name="Divider">
            <a:extLst>
              <a:ext uri="{FF2B5EF4-FFF2-40B4-BE49-F238E27FC236}">
                <a16:creationId xmlns:a16="http://schemas.microsoft.com/office/drawing/2014/main" id="{A5DCB46C-E132-9667-F63F-23A95950F174}"/>
              </a:ext>
            </a:extLst>
          </p:cNvPr>
          <p:cNvCxnSpPr/>
          <p:nvPr/>
        </p:nvCxnSpPr>
        <p:spPr>
          <a:xfrm>
            <a:off x="4621571" y="1876322"/>
            <a:ext cx="0" cy="311150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2" name="Q1Hdr">
            <a:extLst>
              <a:ext uri="{FF2B5EF4-FFF2-40B4-BE49-F238E27FC236}">
                <a16:creationId xmlns:a16="http://schemas.microsoft.com/office/drawing/2014/main" id="{2D423691-D33F-9D4D-810E-C1FA0D8B8FDD}"/>
              </a:ext>
            </a:extLst>
          </p:cNvPr>
          <p:cNvSpPr/>
          <p:nvPr/>
        </p:nvSpPr>
        <p:spPr>
          <a:xfrm>
            <a:off x="273663" y="1876322"/>
            <a:ext cx="4191000" cy="4064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FFFFFF"/>
                </a:solidFill>
                <a:latin typeface="Open Sans"/>
              </a:rPr>
              <a:t>How is the t value 4.37 computed?</a:t>
            </a:r>
          </a:p>
        </p:txBody>
      </p:sp>
      <p:sp>
        <p:nvSpPr>
          <p:cNvPr id="13" name="Q1OptA">
            <a:extLst>
              <a:ext uri="{FF2B5EF4-FFF2-40B4-BE49-F238E27FC236}">
                <a16:creationId xmlns:a16="http://schemas.microsoft.com/office/drawing/2014/main" id="{2A74383C-3BEA-740E-E8F9-BCACB04F7B1C}"/>
              </a:ext>
            </a:extLst>
          </p:cNvPr>
          <p:cNvSpPr/>
          <p:nvPr/>
        </p:nvSpPr>
        <p:spPr>
          <a:xfrm>
            <a:off x="293328" y="2351549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Estimate × SE = 0.1625 × 0.0372.</a:t>
            </a:r>
          </a:p>
        </p:txBody>
      </p:sp>
      <p:sp>
        <p:nvSpPr>
          <p:cNvPr id="14" name="Q1OptB">
            <a:extLst>
              <a:ext uri="{FF2B5EF4-FFF2-40B4-BE49-F238E27FC236}">
                <a16:creationId xmlns:a16="http://schemas.microsoft.com/office/drawing/2014/main" id="{A24A3485-9259-E773-A486-EADAB5074EA0}"/>
              </a:ext>
            </a:extLst>
          </p:cNvPr>
          <p:cNvSpPr/>
          <p:nvPr/>
        </p:nvSpPr>
        <p:spPr>
          <a:xfrm>
            <a:off x="293328" y="2643649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Estimate / SE = 0.1625 / 0.0372.</a:t>
            </a:r>
          </a:p>
        </p:txBody>
      </p:sp>
      <p:sp>
        <p:nvSpPr>
          <p:cNvPr id="15" name="Q1Ans">
            <a:extLst>
              <a:ext uri="{FF2B5EF4-FFF2-40B4-BE49-F238E27FC236}">
                <a16:creationId xmlns:a16="http://schemas.microsoft.com/office/drawing/2014/main" id="{73B52E99-2A49-C951-F547-4FC0E6A6350C}"/>
              </a:ext>
            </a:extLst>
          </p:cNvPr>
          <p:cNvSpPr/>
          <p:nvPr/>
        </p:nvSpPr>
        <p:spPr>
          <a:xfrm>
            <a:off x="273663" y="3032022"/>
            <a:ext cx="4172976" cy="1230262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9525">
            <a:solidFill>
              <a:srgbClr val="2E6B75"/>
            </a:solidFill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Bef>
                <a:spcPct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t = </a:t>
            </a:r>
            <a:r>
              <a:rPr lang="en-US" sz="1000" b="1" dirty="0">
                <a:solidFill>
                  <a:srgbClr val="2E3640"/>
                </a:solidFill>
                <a:latin typeface="Open Sans"/>
              </a:rPr>
              <a:t>estimate / SE</a:t>
            </a:r>
            <a:r>
              <a:rPr lang="en-US" sz="1000" dirty="0">
                <a:solidFill>
                  <a:srgbClr val="2E3640"/>
                </a:solidFill>
                <a:latin typeface="Open Sans"/>
              </a:rPr>
              <a:t>: how many SE units the estimate sits away from 0.</a:t>
            </a:r>
          </a:p>
          <a:p>
            <a:pPr>
              <a:spcBef>
                <a:spcPct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Check: 0.1625 / 0.0372 ≈ 4.37 ✓</a:t>
            </a:r>
          </a:p>
        </p:txBody>
      </p:sp>
      <p:sp>
        <p:nvSpPr>
          <p:cNvPr id="16" name="Q2Hdr">
            <a:extLst>
              <a:ext uri="{FF2B5EF4-FFF2-40B4-BE49-F238E27FC236}">
                <a16:creationId xmlns:a16="http://schemas.microsoft.com/office/drawing/2014/main" id="{563C03AC-4A47-E57D-4837-D0EBFCE3DD87}"/>
              </a:ext>
            </a:extLst>
          </p:cNvPr>
          <p:cNvSpPr/>
          <p:nvPr/>
        </p:nvSpPr>
        <p:spPr>
          <a:xfrm>
            <a:off x="4769463" y="1876322"/>
            <a:ext cx="4191000" cy="4064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FFFFFF"/>
                </a:solidFill>
                <a:latin typeface="Open Sans"/>
              </a:rPr>
              <a:t>Which would provide stronger evidence of an effect: a t-value of 3 or 4?</a:t>
            </a:r>
          </a:p>
        </p:txBody>
      </p:sp>
      <p:sp>
        <p:nvSpPr>
          <p:cNvPr id="17" name="Q2OptA">
            <a:extLst>
              <a:ext uri="{FF2B5EF4-FFF2-40B4-BE49-F238E27FC236}">
                <a16:creationId xmlns:a16="http://schemas.microsoft.com/office/drawing/2014/main" id="{4DBF49DC-FFD9-BFD0-42D4-957AC35F58AA}"/>
              </a:ext>
            </a:extLst>
          </p:cNvPr>
          <p:cNvSpPr/>
          <p:nvPr/>
        </p:nvSpPr>
        <p:spPr>
          <a:xfrm>
            <a:off x="4796505" y="2358922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3</a:t>
            </a:r>
          </a:p>
        </p:txBody>
      </p:sp>
      <p:sp>
        <p:nvSpPr>
          <p:cNvPr id="18" name="Q2OptB">
            <a:extLst>
              <a:ext uri="{FF2B5EF4-FFF2-40B4-BE49-F238E27FC236}">
                <a16:creationId xmlns:a16="http://schemas.microsoft.com/office/drawing/2014/main" id="{B16A886D-37DD-C549-9090-C4D0AC5AE138}"/>
              </a:ext>
            </a:extLst>
          </p:cNvPr>
          <p:cNvSpPr/>
          <p:nvPr/>
        </p:nvSpPr>
        <p:spPr>
          <a:xfrm>
            <a:off x="4796505" y="2651022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4</a:t>
            </a:r>
          </a:p>
        </p:txBody>
      </p:sp>
      <p:sp>
        <p:nvSpPr>
          <p:cNvPr id="19" name="Q2Ans">
            <a:extLst>
              <a:ext uri="{FF2B5EF4-FFF2-40B4-BE49-F238E27FC236}">
                <a16:creationId xmlns:a16="http://schemas.microsoft.com/office/drawing/2014/main" id="{9F618ADD-540D-F4BC-DEF9-FB42DD6C1FCB}"/>
              </a:ext>
            </a:extLst>
          </p:cNvPr>
          <p:cNvSpPr/>
          <p:nvPr/>
        </p:nvSpPr>
        <p:spPr>
          <a:xfrm>
            <a:off x="4769463" y="3251200"/>
            <a:ext cx="4191000" cy="524933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9525">
            <a:solidFill>
              <a:srgbClr val="2E6B75"/>
            </a:solidFill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100" dirty="0">
                <a:solidFill>
                  <a:srgbClr val="2E3640"/>
                </a:solidFill>
              </a:rPr>
              <a:t>Larger t means larger association</a:t>
            </a:r>
            <a:endParaRPr lang="en-US" sz="1100" dirty="0">
              <a:solidFill>
                <a:srgbClr val="2E6B75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7142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03DF-BA0B-A691-2E17-B64501BFB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8B8743-C9C1-D5E9-B2F9-8540504EB8AF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A13BB1B-F9D9-CA55-FC9F-C3975BE219EA}"/>
              </a:ext>
            </a:extLst>
          </p:cNvPr>
          <p:cNvSpPr/>
          <p:nvPr/>
        </p:nvSpPr>
        <p:spPr>
          <a:xfrm>
            <a:off x="4613578" y="6920236"/>
            <a:ext cx="685800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FD34554-4266-6C94-80FA-A45F10FF173D}"/>
              </a:ext>
            </a:extLst>
          </p:cNvPr>
          <p:cNvSpPr/>
          <p:nvPr/>
        </p:nvSpPr>
        <p:spPr>
          <a:xfrm>
            <a:off x="4613578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F5B759-0C67-7549-3491-32DD09E613E8}"/>
              </a:ext>
            </a:extLst>
          </p:cNvPr>
          <p:cNvSpPr/>
          <p:nvPr/>
        </p:nvSpPr>
        <p:spPr>
          <a:xfrm>
            <a:off x="4339258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-0.05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739099F-684B-556C-B10F-294697B44349}"/>
              </a:ext>
            </a:extLst>
          </p:cNvPr>
          <p:cNvSpPr/>
          <p:nvPr/>
        </p:nvSpPr>
        <p:spPr>
          <a:xfrm>
            <a:off x="5593292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BC4FDF-A8D6-8264-D1A4-0AFE1F20D77B}"/>
              </a:ext>
            </a:extLst>
          </p:cNvPr>
          <p:cNvSpPr/>
          <p:nvPr/>
        </p:nvSpPr>
        <p:spPr>
          <a:xfrm>
            <a:off x="5318972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0.00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0EED6DD-EF8B-F68D-8529-9071274128BA}"/>
              </a:ext>
            </a:extLst>
          </p:cNvPr>
          <p:cNvSpPr/>
          <p:nvPr/>
        </p:nvSpPr>
        <p:spPr>
          <a:xfrm>
            <a:off x="6573007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BBF6E57-446D-7AF2-1B1C-AD112362CDBC}"/>
              </a:ext>
            </a:extLst>
          </p:cNvPr>
          <p:cNvSpPr/>
          <p:nvPr/>
        </p:nvSpPr>
        <p:spPr>
          <a:xfrm>
            <a:off x="6298687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0.05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CA1C9DA-958A-0EE4-4F66-E8DA28CB4380}"/>
              </a:ext>
            </a:extLst>
          </p:cNvPr>
          <p:cNvSpPr/>
          <p:nvPr/>
        </p:nvSpPr>
        <p:spPr>
          <a:xfrm>
            <a:off x="7552721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EAAA4E4-7297-C456-CD8D-B34A753DAAF1}"/>
              </a:ext>
            </a:extLst>
          </p:cNvPr>
          <p:cNvSpPr/>
          <p:nvPr/>
        </p:nvSpPr>
        <p:spPr>
          <a:xfrm>
            <a:off x="7278401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0.10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1612C6C-1DEE-3E72-C331-41F13AAEAACB}"/>
              </a:ext>
            </a:extLst>
          </p:cNvPr>
          <p:cNvSpPr/>
          <p:nvPr/>
        </p:nvSpPr>
        <p:spPr>
          <a:xfrm>
            <a:off x="8532435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2BAB184-20F9-5CB1-3F24-773FF39F7879}"/>
              </a:ext>
            </a:extLst>
          </p:cNvPr>
          <p:cNvSpPr/>
          <p:nvPr/>
        </p:nvSpPr>
        <p:spPr>
          <a:xfrm>
            <a:off x="8258115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0.15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768114-9CC3-A0C0-43A3-01D719DBFDCB}"/>
              </a:ext>
            </a:extLst>
          </p:cNvPr>
          <p:cNvSpPr/>
          <p:nvPr/>
        </p:nvSpPr>
        <p:spPr>
          <a:xfrm>
            <a:off x="9512149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2BC0E80-18FF-F1B2-DD38-11DFD9EB9F22}"/>
              </a:ext>
            </a:extLst>
          </p:cNvPr>
          <p:cNvSpPr/>
          <p:nvPr/>
        </p:nvSpPr>
        <p:spPr>
          <a:xfrm>
            <a:off x="9237829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0.20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9DE468A-5E07-3AF9-67A3-69D275700A7A}"/>
              </a:ext>
            </a:extLst>
          </p:cNvPr>
          <p:cNvSpPr/>
          <p:nvPr/>
        </p:nvSpPr>
        <p:spPr>
          <a:xfrm>
            <a:off x="10491864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846211D-4DB2-C71F-7623-BF9B97BC45AC}"/>
              </a:ext>
            </a:extLst>
          </p:cNvPr>
          <p:cNvSpPr/>
          <p:nvPr/>
        </p:nvSpPr>
        <p:spPr>
          <a:xfrm>
            <a:off x="10217544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0.25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62C6FDD-BD11-480C-F688-FDCB6BA424DA}"/>
              </a:ext>
            </a:extLst>
          </p:cNvPr>
          <p:cNvSpPr/>
          <p:nvPr/>
        </p:nvSpPr>
        <p:spPr>
          <a:xfrm>
            <a:off x="11471578" y="6874516"/>
            <a:ext cx="0" cy="914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815E9A3-5F7F-1C24-FB42-1861294D05AE}"/>
              </a:ext>
            </a:extLst>
          </p:cNvPr>
          <p:cNvSpPr/>
          <p:nvPr/>
        </p:nvSpPr>
        <p:spPr>
          <a:xfrm>
            <a:off x="11197258" y="70116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A"/>
                </a:solidFill>
              </a:rPr>
              <a:t>0.30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FF7E07D-3886-EB5E-AD65-0728669A8D84}"/>
              </a:ext>
            </a:extLst>
          </p:cNvPr>
          <p:cNvSpPr/>
          <p:nvPr/>
        </p:nvSpPr>
        <p:spPr>
          <a:xfrm>
            <a:off x="8042578" y="6463036"/>
            <a:ext cx="1449977" cy="292608"/>
          </a:xfrm>
          <a:prstGeom prst="rect">
            <a:avLst/>
          </a:prstGeom>
          <a:solidFill>
            <a:srgbClr val="A8D5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59A60D4-2C8A-1A34-8210-86858078B262}"/>
              </a:ext>
            </a:extLst>
          </p:cNvPr>
          <p:cNvSpPr/>
          <p:nvPr/>
        </p:nvSpPr>
        <p:spPr>
          <a:xfrm>
            <a:off x="8042578" y="6417316"/>
            <a:ext cx="0" cy="365760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5F70468-BDE0-0920-7076-2771FAB06F5A}"/>
              </a:ext>
            </a:extLst>
          </p:cNvPr>
          <p:cNvSpPr/>
          <p:nvPr/>
        </p:nvSpPr>
        <p:spPr>
          <a:xfrm>
            <a:off x="9492555" y="6417316"/>
            <a:ext cx="0" cy="365760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E18D386-9B17-D9C4-8A24-20F7134F1E3A}"/>
              </a:ext>
            </a:extLst>
          </p:cNvPr>
          <p:cNvSpPr/>
          <p:nvPr/>
        </p:nvSpPr>
        <p:spPr>
          <a:xfrm>
            <a:off x="8042578" y="6508756"/>
            <a:ext cx="14499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± 1 SE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09641EF-AFE6-5F16-3B1E-668D97CA40D5}"/>
              </a:ext>
            </a:extLst>
          </p:cNvPr>
          <p:cNvSpPr/>
          <p:nvPr/>
        </p:nvSpPr>
        <p:spPr>
          <a:xfrm>
            <a:off x="7768258" y="62070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0.125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001D82B-33F2-B4D0-9080-40A7CEB0AEF9}"/>
              </a:ext>
            </a:extLst>
          </p:cNvPr>
          <p:cNvSpPr/>
          <p:nvPr/>
        </p:nvSpPr>
        <p:spPr>
          <a:xfrm>
            <a:off x="9218235" y="62070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0.199</a:t>
            </a:r>
            <a:endParaRPr lang="en-US" sz="9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27CED97-128C-8646-3484-AA5536CAE824}"/>
              </a:ext>
            </a:extLst>
          </p:cNvPr>
          <p:cNvSpPr/>
          <p:nvPr/>
        </p:nvSpPr>
        <p:spPr>
          <a:xfrm>
            <a:off x="7356778" y="7423156"/>
            <a:ext cx="2841171" cy="256032"/>
          </a:xfrm>
          <a:prstGeom prst="rect">
            <a:avLst/>
          </a:prstGeom>
          <a:solidFill>
            <a:srgbClr val="D4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3C0E2AD-BB31-3580-FF97-0F76B8422E58}"/>
              </a:ext>
            </a:extLst>
          </p:cNvPr>
          <p:cNvSpPr/>
          <p:nvPr/>
        </p:nvSpPr>
        <p:spPr>
          <a:xfrm>
            <a:off x="7356778" y="7377436"/>
            <a:ext cx="0" cy="347472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659EF01-4494-2D3D-8F71-D77F05C7288D}"/>
              </a:ext>
            </a:extLst>
          </p:cNvPr>
          <p:cNvSpPr/>
          <p:nvPr/>
        </p:nvSpPr>
        <p:spPr>
          <a:xfrm>
            <a:off x="10197949" y="7377436"/>
            <a:ext cx="0" cy="347472"/>
          </a:xfrm>
          <a:prstGeom prst="line">
            <a:avLst/>
          </a:prstGeom>
          <a:noFill/>
          <a:ln w="1905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E0D8392-2A36-F859-BD46-A69836353200}"/>
              </a:ext>
            </a:extLst>
          </p:cNvPr>
          <p:cNvSpPr/>
          <p:nvPr/>
        </p:nvSpPr>
        <p:spPr>
          <a:xfrm>
            <a:off x="7356778" y="7423156"/>
            <a:ext cx="28411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061"/>
                </a:solidFill>
              </a:rPr>
              <a:t>± 1.96 SE  95% CI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5D402B0-E066-A467-3FEE-EF2583AE7AE1}"/>
              </a:ext>
            </a:extLst>
          </p:cNvPr>
          <p:cNvSpPr/>
          <p:nvPr/>
        </p:nvSpPr>
        <p:spPr>
          <a:xfrm>
            <a:off x="7082458" y="76974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0.090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1DAB7FA-6EF2-D371-31B0-38FEE42E97FA}"/>
              </a:ext>
            </a:extLst>
          </p:cNvPr>
          <p:cNvSpPr/>
          <p:nvPr/>
        </p:nvSpPr>
        <p:spPr>
          <a:xfrm>
            <a:off x="9923629" y="76974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061"/>
                </a:solidFill>
              </a:rPr>
              <a:t>0.235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5155ACC-9710-0669-4E62-E2C992319826}"/>
              </a:ext>
            </a:extLst>
          </p:cNvPr>
          <p:cNvSpPr/>
          <p:nvPr/>
        </p:nvSpPr>
        <p:spPr>
          <a:xfrm>
            <a:off x="8694415" y="6847084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6DC80D8-89C1-11BF-0E6E-6F523A53D475}"/>
              </a:ext>
            </a:extLst>
          </p:cNvPr>
          <p:cNvSpPr/>
          <p:nvPr/>
        </p:nvSpPr>
        <p:spPr>
          <a:xfrm>
            <a:off x="5593292" y="6325876"/>
            <a:ext cx="0" cy="141732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9E4D4A3-9C01-0B94-CB96-7FF295C75829}"/>
              </a:ext>
            </a:extLst>
          </p:cNvPr>
          <p:cNvSpPr/>
          <p:nvPr/>
        </p:nvSpPr>
        <p:spPr>
          <a:xfrm>
            <a:off x="5318972" y="77889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zero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76EB5B8-0316-A886-8748-06DA3A54B113}"/>
              </a:ext>
            </a:extLst>
          </p:cNvPr>
          <p:cNvSpPr/>
          <p:nvPr/>
        </p:nvSpPr>
        <p:spPr>
          <a:xfrm>
            <a:off x="3927778" y="8246116"/>
            <a:ext cx="8321040" cy="594360"/>
          </a:xfrm>
          <a:prstGeom prst="roundRect">
            <a:avLst>
              <a:gd name="adj" fmla="val 7692"/>
            </a:avLst>
          </a:prstGeom>
          <a:solidFill>
            <a:srgbClr val="FCF3DC"/>
          </a:solidFill>
          <a:ln w="1905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2720181-0CFE-EA4F-97E9-3939D2C295AE}"/>
              </a:ext>
            </a:extLst>
          </p:cNvPr>
          <p:cNvSpPr/>
          <p:nvPr/>
        </p:nvSpPr>
        <p:spPr>
          <a:xfrm>
            <a:off x="4064938" y="829183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061"/>
                </a:solidFill>
              </a:rPr>
              <a:t>Zero is not in the interval [0.090, 0.235].</a:t>
            </a:r>
            <a:endParaRPr lang="en-US" sz="16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D8708D4-F857-3DA6-64FE-53D3D55C2156}"/>
              </a:ext>
            </a:extLst>
          </p:cNvPr>
          <p:cNvSpPr/>
          <p:nvPr/>
        </p:nvSpPr>
        <p:spPr>
          <a:xfrm>
            <a:off x="4064938" y="85387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So we are 95% confident the true male−female mean difference is positive. Statistically significant at 5%.</a:t>
            </a:r>
            <a:endParaRPr lang="en-US" sz="14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AF1959-AFF6-346E-5552-81145536C40E}"/>
              </a:ext>
            </a:extLst>
          </p:cNvPr>
          <p:cNvSpPr/>
          <p:nvPr/>
        </p:nvSpPr>
        <p:spPr>
          <a:xfrm>
            <a:off x="1" y="5061204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7" name="Bell">
            <a:extLst>
              <a:ext uri="{FF2B5EF4-FFF2-40B4-BE49-F238E27FC236}">
                <a16:creationId xmlns:a16="http://schemas.microsoft.com/office/drawing/2014/main" id="{1B245928-C210-9611-F82A-78ED1490AC74}"/>
              </a:ext>
            </a:extLst>
          </p:cNvPr>
          <p:cNvSpPr/>
          <p:nvPr/>
        </p:nvSpPr>
        <p:spPr>
          <a:xfrm>
            <a:off x="3383280" y="2286082"/>
            <a:ext cx="2655401" cy="1276131"/>
          </a:xfrm>
          <a:custGeom>
            <a:avLst/>
            <a:gdLst/>
            <a:ahLst/>
            <a:cxnLst/>
            <a:rect l="0" t="0" r="7033846" b="2540000"/>
            <a:pathLst>
              <a:path w="7033846" h="2540000">
                <a:moveTo>
                  <a:pt x="0" y="2538235"/>
                </a:moveTo>
                <a:lnTo>
                  <a:pt x="117231" y="2537157"/>
                </a:lnTo>
                <a:lnTo>
                  <a:pt x="234462" y="2535493"/>
                </a:lnTo>
                <a:lnTo>
                  <a:pt x="351693" y="2532972"/>
                </a:lnTo>
                <a:lnTo>
                  <a:pt x="468923" y="2529215"/>
                </a:lnTo>
                <a:lnTo>
                  <a:pt x="586154" y="2523716"/>
                </a:lnTo>
                <a:lnTo>
                  <a:pt x="703385" y="2515806"/>
                </a:lnTo>
                <a:lnTo>
                  <a:pt x="820616" y="2504631"/>
                </a:lnTo>
                <a:lnTo>
                  <a:pt x="937846" y="2489123"/>
                </a:lnTo>
                <a:lnTo>
                  <a:pt x="1055077" y="2467988"/>
                </a:lnTo>
                <a:lnTo>
                  <a:pt x="1172308" y="2439708"/>
                </a:lnTo>
                <a:lnTo>
                  <a:pt x="1289539" y="2402559"/>
                </a:lnTo>
                <a:lnTo>
                  <a:pt x="1406769" y="2354670"/>
                </a:lnTo>
                <a:lnTo>
                  <a:pt x="1524000" y="2294101"/>
                </a:lnTo>
                <a:lnTo>
                  <a:pt x="1641231" y="2218966"/>
                </a:lnTo>
                <a:lnTo>
                  <a:pt x="1758462" y="2127591"/>
                </a:lnTo>
                <a:lnTo>
                  <a:pt x="1875693" y="2018702"/>
                </a:lnTo>
                <a:lnTo>
                  <a:pt x="1992923" y="1891624"/>
                </a:lnTo>
                <a:lnTo>
                  <a:pt x="2110154" y="1746494"/>
                </a:lnTo>
                <a:lnTo>
                  <a:pt x="2227385" y="1584446"/>
                </a:lnTo>
                <a:lnTo>
                  <a:pt x="2344616" y="1407750"/>
                </a:lnTo>
                <a:lnTo>
                  <a:pt x="2461846" y="1219885"/>
                </a:lnTo>
                <a:lnTo>
                  <a:pt x="2579077" y="1025521"/>
                </a:lnTo>
                <a:lnTo>
                  <a:pt x="2696308" y="830391"/>
                </a:lnTo>
                <a:lnTo>
                  <a:pt x="2813539" y="641053"/>
                </a:lnTo>
                <a:lnTo>
                  <a:pt x="2930769" y="464557"/>
                </a:lnTo>
                <a:lnTo>
                  <a:pt x="3048000" y="308016"/>
                </a:lnTo>
                <a:lnTo>
                  <a:pt x="3165231" y="178144"/>
                </a:lnTo>
                <a:lnTo>
                  <a:pt x="3282462" y="80776"/>
                </a:lnTo>
                <a:lnTo>
                  <a:pt x="3399693" y="20439"/>
                </a:lnTo>
                <a:lnTo>
                  <a:pt x="3516923" y="0"/>
                </a:lnTo>
                <a:lnTo>
                  <a:pt x="3634154" y="20439"/>
                </a:lnTo>
                <a:lnTo>
                  <a:pt x="3751385" y="80776"/>
                </a:lnTo>
                <a:lnTo>
                  <a:pt x="3868616" y="178144"/>
                </a:lnTo>
                <a:lnTo>
                  <a:pt x="3985846" y="308016"/>
                </a:lnTo>
                <a:lnTo>
                  <a:pt x="4103077" y="464557"/>
                </a:lnTo>
                <a:lnTo>
                  <a:pt x="4220308" y="641053"/>
                </a:lnTo>
                <a:lnTo>
                  <a:pt x="4337539" y="830391"/>
                </a:lnTo>
                <a:lnTo>
                  <a:pt x="4454769" y="1025521"/>
                </a:lnTo>
                <a:lnTo>
                  <a:pt x="4572000" y="1219885"/>
                </a:lnTo>
                <a:lnTo>
                  <a:pt x="4689231" y="1407750"/>
                </a:lnTo>
                <a:lnTo>
                  <a:pt x="4806462" y="1584446"/>
                </a:lnTo>
                <a:lnTo>
                  <a:pt x="4923693" y="1746494"/>
                </a:lnTo>
                <a:lnTo>
                  <a:pt x="5040923" y="1891624"/>
                </a:lnTo>
                <a:lnTo>
                  <a:pt x="5158154" y="2018702"/>
                </a:lnTo>
                <a:lnTo>
                  <a:pt x="5275385" y="2127591"/>
                </a:lnTo>
                <a:lnTo>
                  <a:pt x="5392616" y="2218966"/>
                </a:lnTo>
                <a:lnTo>
                  <a:pt x="5509846" y="2294101"/>
                </a:lnTo>
                <a:lnTo>
                  <a:pt x="5627077" y="2354670"/>
                </a:lnTo>
                <a:lnTo>
                  <a:pt x="5744308" y="2402559"/>
                </a:lnTo>
                <a:lnTo>
                  <a:pt x="5861539" y="2439708"/>
                </a:lnTo>
                <a:lnTo>
                  <a:pt x="5978769" y="2467988"/>
                </a:lnTo>
                <a:lnTo>
                  <a:pt x="6096000" y="2489123"/>
                </a:lnTo>
                <a:lnTo>
                  <a:pt x="6213231" y="2504631"/>
                </a:lnTo>
                <a:lnTo>
                  <a:pt x="6330462" y="2515806"/>
                </a:lnTo>
                <a:lnTo>
                  <a:pt x="6447693" y="2523716"/>
                </a:lnTo>
                <a:lnTo>
                  <a:pt x="6564923" y="2529215"/>
                </a:lnTo>
                <a:lnTo>
                  <a:pt x="6682154" y="2532972"/>
                </a:lnTo>
                <a:lnTo>
                  <a:pt x="6799385" y="2535493"/>
                </a:lnTo>
                <a:lnTo>
                  <a:pt x="6916616" y="2537157"/>
                </a:lnTo>
                <a:lnTo>
                  <a:pt x="7033846" y="2538235"/>
                </a:lnTo>
                <a:lnTo>
                  <a:pt x="7033846" y="2540000"/>
                </a:lnTo>
                <a:lnTo>
                  <a:pt x="0" y="2540000"/>
                </a:lnTo>
                <a:close/>
              </a:path>
            </a:pathLst>
          </a:custGeom>
          <a:solidFill>
            <a:srgbClr val="F5C451">
              <a:alpha val="20000"/>
            </a:srgbClr>
          </a:solidFill>
          <a:ln w="3175" cap="rnd">
            <a:solidFill>
              <a:srgbClr val="F5C451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1" name="NL6">
            <a:extLst>
              <a:ext uri="{FF2B5EF4-FFF2-40B4-BE49-F238E27FC236}">
                <a16:creationId xmlns:a16="http://schemas.microsoft.com/office/drawing/2014/main" id="{841E904F-DEF6-920B-03B4-A8138E6887E4}"/>
              </a:ext>
            </a:extLst>
          </p:cNvPr>
          <p:cNvSpPr/>
          <p:nvPr/>
        </p:nvSpPr>
        <p:spPr>
          <a:xfrm flipV="1">
            <a:off x="4697022" y="3555418"/>
            <a:ext cx="3661116" cy="16857"/>
          </a:xfrm>
          <a:prstGeom prst="line">
            <a:avLst/>
          </a:prstGeom>
          <a:ln w="15875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2" name="NL6Tk0">
            <a:extLst>
              <a:ext uri="{FF2B5EF4-FFF2-40B4-BE49-F238E27FC236}">
                <a16:creationId xmlns:a16="http://schemas.microsoft.com/office/drawing/2014/main" id="{A4A4ADA3-B888-EFA5-1A5F-437768BD5C07}"/>
              </a:ext>
            </a:extLst>
          </p:cNvPr>
          <p:cNvSpPr/>
          <p:nvPr/>
        </p:nvSpPr>
        <p:spPr>
          <a:xfrm>
            <a:off x="4703465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3" name="NL6TL0">
            <a:extLst>
              <a:ext uri="{FF2B5EF4-FFF2-40B4-BE49-F238E27FC236}">
                <a16:creationId xmlns:a16="http://schemas.microsoft.com/office/drawing/2014/main" id="{63C47B81-8111-17B0-33AA-0781DFF35786}"/>
              </a:ext>
            </a:extLst>
          </p:cNvPr>
          <p:cNvSpPr/>
          <p:nvPr/>
        </p:nvSpPr>
        <p:spPr>
          <a:xfrm>
            <a:off x="4512055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0.0</a:t>
            </a:r>
          </a:p>
        </p:txBody>
      </p:sp>
      <p:sp>
        <p:nvSpPr>
          <p:cNvPr id="254" name="NL6Tk0.1">
            <a:extLst>
              <a:ext uri="{FF2B5EF4-FFF2-40B4-BE49-F238E27FC236}">
                <a16:creationId xmlns:a16="http://schemas.microsoft.com/office/drawing/2014/main" id="{66C6C5B2-CFD9-9E12-A524-F135226CAE8B}"/>
              </a:ext>
            </a:extLst>
          </p:cNvPr>
          <p:cNvSpPr/>
          <p:nvPr/>
        </p:nvSpPr>
        <p:spPr>
          <a:xfrm>
            <a:off x="5273427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5" name="NL6Tk0.2">
            <a:extLst>
              <a:ext uri="{FF2B5EF4-FFF2-40B4-BE49-F238E27FC236}">
                <a16:creationId xmlns:a16="http://schemas.microsoft.com/office/drawing/2014/main" id="{7FD63CC1-DBCA-308F-1A7F-9F1918F90CCE}"/>
              </a:ext>
            </a:extLst>
          </p:cNvPr>
          <p:cNvSpPr/>
          <p:nvPr/>
        </p:nvSpPr>
        <p:spPr>
          <a:xfrm>
            <a:off x="5849835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6" name="NL6TL0.2">
            <a:extLst>
              <a:ext uri="{FF2B5EF4-FFF2-40B4-BE49-F238E27FC236}">
                <a16:creationId xmlns:a16="http://schemas.microsoft.com/office/drawing/2014/main" id="{A04D9D6B-3F18-646D-993A-00CA7C1295DF}"/>
              </a:ext>
            </a:extLst>
          </p:cNvPr>
          <p:cNvSpPr/>
          <p:nvPr/>
        </p:nvSpPr>
        <p:spPr>
          <a:xfrm>
            <a:off x="5658424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0.1</a:t>
            </a:r>
          </a:p>
        </p:txBody>
      </p:sp>
      <p:sp>
        <p:nvSpPr>
          <p:cNvPr id="257" name="NL6Tk0.3">
            <a:extLst>
              <a:ext uri="{FF2B5EF4-FFF2-40B4-BE49-F238E27FC236}">
                <a16:creationId xmlns:a16="http://schemas.microsoft.com/office/drawing/2014/main" id="{C6F0EB2D-18D2-2C02-2DF2-B51424FCED6B}"/>
              </a:ext>
            </a:extLst>
          </p:cNvPr>
          <p:cNvSpPr/>
          <p:nvPr/>
        </p:nvSpPr>
        <p:spPr>
          <a:xfrm>
            <a:off x="6448651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8" name="NL6Tk0.4">
            <a:extLst>
              <a:ext uri="{FF2B5EF4-FFF2-40B4-BE49-F238E27FC236}">
                <a16:creationId xmlns:a16="http://schemas.microsoft.com/office/drawing/2014/main" id="{75A76873-7532-3D0A-6660-CAFDA33B5498}"/>
              </a:ext>
            </a:extLst>
          </p:cNvPr>
          <p:cNvSpPr/>
          <p:nvPr/>
        </p:nvSpPr>
        <p:spPr>
          <a:xfrm>
            <a:off x="7002648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59" name="NL6TL0.4">
            <a:extLst>
              <a:ext uri="{FF2B5EF4-FFF2-40B4-BE49-F238E27FC236}">
                <a16:creationId xmlns:a16="http://schemas.microsoft.com/office/drawing/2014/main" id="{9DD2D19C-FF8D-6C40-02CE-B57C7EC99988}"/>
              </a:ext>
            </a:extLst>
          </p:cNvPr>
          <p:cNvSpPr/>
          <p:nvPr/>
        </p:nvSpPr>
        <p:spPr>
          <a:xfrm>
            <a:off x="6811236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0.2</a:t>
            </a:r>
          </a:p>
        </p:txBody>
      </p:sp>
      <p:sp>
        <p:nvSpPr>
          <p:cNvPr id="260" name="NL6Tk0.5">
            <a:extLst>
              <a:ext uri="{FF2B5EF4-FFF2-40B4-BE49-F238E27FC236}">
                <a16:creationId xmlns:a16="http://schemas.microsoft.com/office/drawing/2014/main" id="{46EB7DAC-CB16-16EE-4449-2498053528DE}"/>
              </a:ext>
            </a:extLst>
          </p:cNvPr>
          <p:cNvSpPr/>
          <p:nvPr/>
        </p:nvSpPr>
        <p:spPr>
          <a:xfrm>
            <a:off x="7579054" y="3531999"/>
            <a:ext cx="0" cy="80551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61" name="NL6Tk0.6">
            <a:extLst>
              <a:ext uri="{FF2B5EF4-FFF2-40B4-BE49-F238E27FC236}">
                <a16:creationId xmlns:a16="http://schemas.microsoft.com/office/drawing/2014/main" id="{31E3981F-9482-BCD4-9BAC-1729EAB634C7}"/>
              </a:ext>
            </a:extLst>
          </p:cNvPr>
          <p:cNvSpPr/>
          <p:nvPr/>
        </p:nvSpPr>
        <p:spPr>
          <a:xfrm>
            <a:off x="8155459" y="3491723"/>
            <a:ext cx="0" cy="161105"/>
          </a:xfrm>
          <a:prstGeom prst="line">
            <a:avLst/>
          </a:prstGeom>
          <a:ln w="12700">
            <a:solidFill>
              <a:srgbClr val="2E3640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sp>
        <p:nvSpPr>
          <p:cNvPr id="262" name="NL6TL0.6">
            <a:extLst>
              <a:ext uri="{FF2B5EF4-FFF2-40B4-BE49-F238E27FC236}">
                <a16:creationId xmlns:a16="http://schemas.microsoft.com/office/drawing/2014/main" id="{B2673BBD-E624-DFD2-588F-53078B6F7DD0}"/>
              </a:ext>
            </a:extLst>
          </p:cNvPr>
          <p:cNvSpPr/>
          <p:nvPr/>
        </p:nvSpPr>
        <p:spPr>
          <a:xfrm>
            <a:off x="7964050" y="3679678"/>
            <a:ext cx="382821" cy="241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/>
              </a:rPr>
              <a:t>0.3</a:t>
            </a:r>
          </a:p>
        </p:txBody>
      </p:sp>
      <p:sp>
        <p:nvSpPr>
          <p:cNvPr id="200" name="B1Dot6">
            <a:extLst>
              <a:ext uri="{FF2B5EF4-FFF2-40B4-BE49-F238E27FC236}">
                <a16:creationId xmlns:a16="http://schemas.microsoft.com/office/drawing/2014/main" id="{FC5B4905-D44A-E47B-8B96-81324CC8ABA7}"/>
              </a:ext>
            </a:extLst>
          </p:cNvPr>
          <p:cNvSpPr/>
          <p:nvPr/>
        </p:nvSpPr>
        <p:spPr>
          <a:xfrm>
            <a:off x="6446482" y="3482877"/>
            <a:ext cx="139209" cy="1633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4535"/>
            </a:solidFill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2E3640"/>
              </a:solidFill>
              <a:effectLst/>
              <a:uLnTx/>
              <a:uFillTx/>
              <a:latin typeface="Open Sans" panose="020B0606030504020204" pitchFamily="34" charset="0"/>
            </a:endParaRPr>
          </a:p>
        </p:txBody>
      </p:sp>
      <p:cxnSp>
        <p:nvCxnSpPr>
          <p:cNvPr id="201" name="DotLine">
            <a:extLst>
              <a:ext uri="{FF2B5EF4-FFF2-40B4-BE49-F238E27FC236}">
                <a16:creationId xmlns:a16="http://schemas.microsoft.com/office/drawing/2014/main" id="{B954E026-4B09-52EC-3073-59B7E50E07A1}"/>
              </a:ext>
            </a:extLst>
          </p:cNvPr>
          <p:cNvCxnSpPr>
            <a:cxnSpLocks/>
            <a:endCxn id="200" idx="4"/>
          </p:cNvCxnSpPr>
          <p:nvPr/>
        </p:nvCxnSpPr>
        <p:spPr>
          <a:xfrm>
            <a:off x="6516088" y="2569350"/>
            <a:ext cx="0" cy="1076913"/>
          </a:xfrm>
          <a:prstGeom prst="line">
            <a:avLst/>
          </a:prstGeom>
          <a:ln w="19050">
            <a:solidFill>
              <a:srgbClr val="D94535"/>
            </a:solidFill>
            <a:prstDash val="dash"/>
          </a:ln>
        </p:spPr>
      </p:cxnSp>
      <p:sp>
        <p:nvSpPr>
          <p:cNvPr id="202" name="BLabel">
            <a:extLst>
              <a:ext uri="{FF2B5EF4-FFF2-40B4-BE49-F238E27FC236}">
                <a16:creationId xmlns:a16="http://schemas.microsoft.com/office/drawing/2014/main" id="{76959142-E20D-D375-FC13-2790A29D7599}"/>
              </a:ext>
            </a:extLst>
          </p:cNvPr>
          <p:cNvSpPr/>
          <p:nvPr/>
        </p:nvSpPr>
        <p:spPr>
          <a:xfrm>
            <a:off x="6061098" y="2381121"/>
            <a:ext cx="1015607" cy="185817"/>
          </a:xfrm>
          <a:prstGeom prst="roundRect">
            <a:avLst>
              <a:gd name="adj" fmla="val 16667"/>
            </a:avLst>
          </a:prstGeom>
          <a:solidFill>
            <a:srgbClr val="D94535"/>
          </a:solidFill>
          <a:ln>
            <a:noFill/>
          </a:ln>
        </p:spPr>
        <p:txBody>
          <a:bodyPr wrap="none" lIns="36000" tIns="0" rIns="3600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</a:rPr>
              <a:t>b₁ = 0.16</a:t>
            </a: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7B21F412-EC4F-4BEE-5EE5-D6A3F321E454}"/>
              </a:ext>
            </a:extLst>
          </p:cNvPr>
          <p:cNvSpPr/>
          <p:nvPr/>
        </p:nvSpPr>
        <p:spPr>
          <a:xfrm>
            <a:off x="6696701" y="2892127"/>
            <a:ext cx="1644421" cy="503633"/>
          </a:xfrm>
          <a:prstGeom prst="roundRect">
            <a:avLst>
              <a:gd name="adj" fmla="val 9752"/>
            </a:avLst>
          </a:prstGeom>
          <a:solidFill>
            <a:srgbClr val="F8D377">
              <a:lumMod val="20000"/>
              <a:lumOff val="80000"/>
            </a:srgbClr>
          </a:solidFill>
          <a:ln w="6350" cap="flat" cmpd="sng" algn="ctr">
            <a:solidFill>
              <a:srgbClr val="F8D377">
                <a:lumMod val="50000"/>
              </a:srgbClr>
            </a:solidFill>
            <a:prstDash val="solid"/>
            <a:miter lim="800000"/>
          </a:ln>
          <a:effectLst/>
        </p:spPr>
        <p:txBody>
          <a:bodyPr vertOverflow="clip" horzOverflow="clip" lIns="36000" tIns="36000" rIns="36000" bIns="0" rtlCol="0"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110004020202020204"/>
                <a:ea typeface="+mn-ea"/>
                <a:cs typeface="+mn-cs"/>
              </a:rPr>
              <a:t>p-value </a:t>
            </a:r>
            <a:r>
              <a:rPr lang="en-US" sz="900" kern="0" dirty="0">
                <a:solidFill>
                  <a:srgbClr val="2E3640"/>
                </a:solidFill>
                <a:latin typeface="Open Sans" panose="02110004020202020204"/>
              </a:rPr>
              <a:t>= 0.00135%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110004020202020204"/>
                <a:ea typeface="+mn-ea"/>
                <a:cs typeface="+mn-cs"/>
              </a:rPr>
              <a:t>Area of null distribution as extreme as our t value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A9A4C24-602E-D938-42BF-054DFCF8AF63}"/>
              </a:ext>
            </a:extLst>
          </p:cNvPr>
          <p:cNvGrpSpPr/>
          <p:nvPr/>
        </p:nvGrpSpPr>
        <p:grpSpPr>
          <a:xfrm>
            <a:off x="4154904" y="3835873"/>
            <a:ext cx="980021" cy="544501"/>
            <a:chOff x="6831887" y="5541302"/>
            <a:chExt cx="1010652" cy="885553"/>
          </a:xfrm>
        </p:grpSpPr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4F42A35C-8C55-BB0D-A9AE-A764AE905C1F}"/>
                </a:ext>
              </a:extLst>
            </p:cNvPr>
            <p:cNvSpPr txBox="1"/>
            <p:nvPr/>
          </p:nvSpPr>
          <p:spPr>
            <a:xfrm>
              <a:off x="6831887" y="5762288"/>
              <a:ext cx="1010652" cy="664567"/>
            </a:xfrm>
            <a:prstGeom prst="roundRect">
              <a:avLst/>
            </a:prstGeom>
            <a:solidFill>
              <a:srgbClr val="FFFFFF"/>
            </a:solidFill>
            <a:ln w="19050" cap="flat" cmpd="sng" algn="ctr">
              <a:solidFill>
                <a:srgbClr val="F5C451"/>
              </a:solidFill>
              <a:prstDash val="solid"/>
              <a:miter lim="800000"/>
            </a:ln>
            <a:effectLst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F5C451">
                      <a:lumMod val="75000"/>
                    </a:srgbClr>
                  </a:solidFill>
                  <a:effectLst/>
                  <a:uLnTx/>
                  <a:uFillTx/>
                  <a:latin typeface="Open Sans" panose="02110004020202020204"/>
                  <a:ea typeface="+mn-ea"/>
                  <a:cs typeface="+mn-cs"/>
                </a:rPr>
                <a:t>Null hypothesis: 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F5C451">
                      <a:lumMod val="75000"/>
                    </a:srgbClr>
                  </a:solidFill>
                  <a:effectLst/>
                  <a:uLnTx/>
                  <a:uFillTx/>
                  <a:latin typeface="Open Sans" panose="02110004020202020204"/>
                  <a:ea typeface="+mn-ea"/>
                  <a:cs typeface="+mn-cs"/>
                </a:rPr>
                <a:t>slope should be here</a:t>
              </a:r>
            </a:p>
          </p:txBody>
        </p:sp>
        <p:cxnSp>
          <p:nvCxnSpPr>
            <p:cNvPr id="212" name="DotLine">
              <a:extLst>
                <a:ext uri="{FF2B5EF4-FFF2-40B4-BE49-F238E27FC236}">
                  <a16:creationId xmlns:a16="http://schemas.microsoft.com/office/drawing/2014/main" id="{1D719725-2897-6D00-4293-9AF555AF5205}"/>
                </a:ext>
              </a:extLst>
            </p:cNvPr>
            <p:cNvCxnSpPr>
              <a:cxnSpLocks/>
              <a:stCxn id="211" idx="0"/>
              <a:endCxn id="253" idx="2"/>
            </p:cNvCxnSpPr>
            <p:nvPr/>
          </p:nvCxnSpPr>
          <p:spPr>
            <a:xfrm flipV="1">
              <a:off x="7337213" y="5541302"/>
              <a:ext cx="25129" cy="220986"/>
            </a:xfrm>
            <a:prstGeom prst="line">
              <a:avLst/>
            </a:prstGeom>
            <a:ln w="19050">
              <a:solidFill>
                <a:srgbClr val="F5C451">
                  <a:lumMod val="75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210" name="TLabel">
            <a:extLst>
              <a:ext uri="{FF2B5EF4-FFF2-40B4-BE49-F238E27FC236}">
                <a16:creationId xmlns:a16="http://schemas.microsoft.com/office/drawing/2014/main" id="{FA1B67FE-121B-64A7-8962-5C4C77F2556C}"/>
              </a:ext>
            </a:extLst>
          </p:cNvPr>
          <p:cNvSpPr/>
          <p:nvPr/>
        </p:nvSpPr>
        <p:spPr>
          <a:xfrm>
            <a:off x="4679099" y="2722369"/>
            <a:ext cx="1814575" cy="442234"/>
          </a:xfrm>
          <a:prstGeom prst="homePlate">
            <a:avLst/>
          </a:prstGeom>
          <a:solidFill>
            <a:srgbClr val="FFFFFF"/>
          </a:solidFill>
          <a:ln w="12700">
            <a:solidFill>
              <a:srgbClr val="2C8B2C"/>
            </a:solidFill>
          </a:ln>
        </p:spPr>
        <p:txBody>
          <a:bodyPr wrap="none" lIns="36000" tIns="0" rIns="36000" bIns="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0" dirty="0">
                <a:solidFill>
                  <a:srgbClr val="2C8B2C"/>
                </a:solidFill>
                <a:latin typeface="Open Sans"/>
              </a:rPr>
              <a:t>       t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-value = b</a:t>
            </a:r>
            <a:r>
              <a:rPr kumimoji="0" lang="en-US" sz="900" b="1" i="0" u="none" strike="noStrike" kern="0" cap="none" spc="0" normalizeH="0" baseline="-2500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1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 / SE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                     = 0.162/0.037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0" dirty="0">
                <a:solidFill>
                  <a:srgbClr val="2C8B2C"/>
                </a:solidFill>
                <a:latin typeface="Open Sans"/>
              </a:rPr>
              <a:t>                     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C8B2C"/>
                </a:solidFill>
                <a:effectLst/>
                <a:uLnTx/>
                <a:uFillTx/>
                <a:latin typeface="Open Sans"/>
              </a:rPr>
              <a:t>= 4.37</a:t>
            </a:r>
          </a:p>
        </p:txBody>
      </p: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3B85B1E3-7C04-7C5B-4D19-BBBD8D6BEDC6}"/>
              </a:ext>
            </a:extLst>
          </p:cNvPr>
          <p:cNvGrpSpPr/>
          <p:nvPr/>
        </p:nvGrpSpPr>
        <p:grpSpPr>
          <a:xfrm>
            <a:off x="5644843" y="3549137"/>
            <a:ext cx="1788784" cy="1329253"/>
            <a:chOff x="5941765" y="3595561"/>
            <a:chExt cx="1317398" cy="1308729"/>
          </a:xfrm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9CDCA1DF-6F31-34DA-76B9-79A21EBFEEBE}"/>
                </a:ext>
              </a:extLst>
            </p:cNvPr>
            <p:cNvGrpSpPr/>
            <p:nvPr/>
          </p:nvGrpSpPr>
          <p:grpSpPr>
            <a:xfrm>
              <a:off x="5953230" y="3595561"/>
              <a:ext cx="1305933" cy="1308729"/>
              <a:chOff x="9290941" y="3529467"/>
              <a:chExt cx="2289137" cy="1308729"/>
            </a:xfrm>
          </p:grpSpPr>
          <p:sp>
            <p:nvSpPr>
              <p:cNvPr id="229" name="CILW7">
                <a:extLst>
                  <a:ext uri="{FF2B5EF4-FFF2-40B4-BE49-F238E27FC236}">
                    <a16:creationId xmlns:a16="http://schemas.microsoft.com/office/drawing/2014/main" id="{78FD4223-BB6C-0C8D-1488-6B6A2D074CA7}"/>
                  </a:ext>
                </a:extLst>
              </p:cNvPr>
              <p:cNvSpPr/>
              <p:nvPr/>
            </p:nvSpPr>
            <p:spPr>
              <a:xfrm>
                <a:off x="9290941" y="3543783"/>
                <a:ext cx="4320" cy="1294413"/>
              </a:xfrm>
              <a:prstGeom prst="line">
                <a:avLst/>
              </a:prstGeom>
              <a:ln w="15875">
                <a:solidFill>
                  <a:srgbClr val="2B6CB0"/>
                </a:solidFill>
                <a:prstDash val="sysDash"/>
              </a:ln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30" name="CILVal7">
                <a:extLst>
                  <a:ext uri="{FF2B5EF4-FFF2-40B4-BE49-F238E27FC236}">
                    <a16:creationId xmlns:a16="http://schemas.microsoft.com/office/drawing/2014/main" id="{58399284-D375-84D0-5F19-84294BEEFD41}"/>
                  </a:ext>
                </a:extLst>
              </p:cNvPr>
              <p:cNvSpPr/>
              <p:nvPr/>
            </p:nvSpPr>
            <p:spPr>
              <a:xfrm>
                <a:off x="9295260" y="4118848"/>
                <a:ext cx="523661" cy="126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0.090</a:t>
                </a:r>
              </a:p>
            </p:txBody>
          </p:sp>
          <p:sp>
            <p:nvSpPr>
              <p:cNvPr id="231" name="CIRVal7">
                <a:extLst>
                  <a:ext uri="{FF2B5EF4-FFF2-40B4-BE49-F238E27FC236}">
                    <a16:creationId xmlns:a16="http://schemas.microsoft.com/office/drawing/2014/main" id="{8F8AC89B-CE8C-7068-EFEB-9505182B1F6A}"/>
                  </a:ext>
                </a:extLst>
              </p:cNvPr>
              <p:cNvSpPr/>
              <p:nvPr/>
            </p:nvSpPr>
            <p:spPr>
              <a:xfrm>
                <a:off x="10950810" y="4129271"/>
                <a:ext cx="629268" cy="108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0.235</a:t>
                </a:r>
              </a:p>
            </p:txBody>
          </p:sp>
          <p:sp>
            <p:nvSpPr>
              <p:cNvPr id="232" name="CIBar7">
                <a:extLst>
                  <a:ext uri="{FF2B5EF4-FFF2-40B4-BE49-F238E27FC236}">
                    <a16:creationId xmlns:a16="http://schemas.microsoft.com/office/drawing/2014/main" id="{A1C63E3D-1469-DC14-1DDE-EE3D4D2DAA19}"/>
                  </a:ext>
                </a:extLst>
              </p:cNvPr>
              <p:cNvSpPr/>
              <p:nvPr/>
            </p:nvSpPr>
            <p:spPr>
              <a:xfrm>
                <a:off x="9299580" y="4464570"/>
                <a:ext cx="2233933" cy="373625"/>
              </a:xfrm>
              <a:prstGeom prst="rect">
                <a:avLst/>
              </a:prstGeom>
              <a:solidFill>
                <a:srgbClr val="F1F4FF"/>
              </a:solidFill>
              <a:ln>
                <a:solidFill>
                  <a:srgbClr val="0070C0"/>
                </a:solidFill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kern="0" dirty="0">
                    <a:solidFill>
                      <a:srgbClr val="2B6CB0"/>
                    </a:solidFill>
                    <a:latin typeface="Open Sans"/>
                  </a:rPr>
                  <a:t>95% CI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endParaRP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kern="0" dirty="0">
                    <a:solidFill>
                      <a:srgbClr val="2B6CB0"/>
                    </a:solidFill>
                    <a:latin typeface="Open Sans"/>
                  </a:rPr>
                  <a:t>b₁ ± t* x SE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endParaRPr>
              </a:p>
            </p:txBody>
          </p:sp>
          <p:sp>
            <p:nvSpPr>
              <p:cNvPr id="233" name="CIRW7">
                <a:extLst>
                  <a:ext uri="{FF2B5EF4-FFF2-40B4-BE49-F238E27FC236}">
                    <a16:creationId xmlns:a16="http://schemas.microsoft.com/office/drawing/2014/main" id="{10649D53-E6D2-8C99-D7AB-18366D1EFDF1}"/>
                  </a:ext>
                </a:extLst>
              </p:cNvPr>
              <p:cNvSpPr/>
              <p:nvPr/>
            </p:nvSpPr>
            <p:spPr>
              <a:xfrm flipH="1">
                <a:off x="11529192" y="3529467"/>
                <a:ext cx="4320" cy="1294414"/>
              </a:xfrm>
              <a:prstGeom prst="line">
                <a:avLst/>
              </a:prstGeom>
              <a:ln w="15875">
                <a:solidFill>
                  <a:srgbClr val="2B6CB0"/>
                </a:solidFill>
                <a:prstDash val="sysDash"/>
              </a:ln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CE27B229-B467-E828-4C2B-F281DC9273DC}"/>
                </a:ext>
              </a:extLst>
            </p:cNvPr>
            <p:cNvGrpSpPr/>
            <p:nvPr/>
          </p:nvGrpSpPr>
          <p:grpSpPr>
            <a:xfrm>
              <a:off x="6267305" y="4389898"/>
              <a:ext cx="327363" cy="137873"/>
              <a:chOff x="9647669" y="5455717"/>
              <a:chExt cx="954308" cy="309645"/>
            </a:xfrm>
          </p:grpSpPr>
          <p:sp>
            <p:nvSpPr>
              <p:cNvPr id="213" name="CIBar7">
                <a:extLst>
                  <a:ext uri="{FF2B5EF4-FFF2-40B4-BE49-F238E27FC236}">
                    <a16:creationId xmlns:a16="http://schemas.microsoft.com/office/drawing/2014/main" id="{CD667130-42CB-6C04-AD4D-203C0327BE86}"/>
                  </a:ext>
                </a:extLst>
              </p:cNvPr>
              <p:cNvSpPr/>
              <p:nvPr/>
            </p:nvSpPr>
            <p:spPr>
              <a:xfrm>
                <a:off x="9664279" y="5471419"/>
                <a:ext cx="937695" cy="29359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14" name="CILW7">
                <a:extLst>
                  <a:ext uri="{FF2B5EF4-FFF2-40B4-BE49-F238E27FC236}">
                    <a16:creationId xmlns:a16="http://schemas.microsoft.com/office/drawing/2014/main" id="{A008A287-6FD5-C481-4B94-04D7C23D4793}"/>
                  </a:ext>
                </a:extLst>
              </p:cNvPr>
              <p:cNvSpPr/>
              <p:nvPr/>
            </p:nvSpPr>
            <p:spPr>
              <a:xfrm>
                <a:off x="9647669" y="546056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15" name="CILW7">
                <a:extLst>
                  <a:ext uri="{FF2B5EF4-FFF2-40B4-BE49-F238E27FC236}">
                    <a16:creationId xmlns:a16="http://schemas.microsoft.com/office/drawing/2014/main" id="{AE85D18D-3BDA-7EF0-25C0-784B68102937}"/>
                  </a:ext>
                </a:extLst>
              </p:cNvPr>
              <p:cNvSpPr/>
              <p:nvPr/>
            </p:nvSpPr>
            <p:spPr>
              <a:xfrm>
                <a:off x="10601977" y="5455717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281" name="CIBar7">
              <a:extLst>
                <a:ext uri="{FF2B5EF4-FFF2-40B4-BE49-F238E27FC236}">
                  <a16:creationId xmlns:a16="http://schemas.microsoft.com/office/drawing/2014/main" id="{320D7898-029D-ED0E-2CC1-5C301B7D399D}"/>
                </a:ext>
              </a:extLst>
            </p:cNvPr>
            <p:cNvSpPr/>
            <p:nvPr/>
          </p:nvSpPr>
          <p:spPr>
            <a:xfrm>
              <a:off x="5941765" y="4398014"/>
              <a:ext cx="321664" cy="13072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3" name="CILW7">
              <a:extLst>
                <a:ext uri="{FF2B5EF4-FFF2-40B4-BE49-F238E27FC236}">
                  <a16:creationId xmlns:a16="http://schemas.microsoft.com/office/drawing/2014/main" id="{C672BE22-4A21-DB76-0110-FD82E9A3C80E}"/>
                </a:ext>
              </a:extLst>
            </p:cNvPr>
            <p:cNvSpPr/>
            <p:nvPr/>
          </p:nvSpPr>
          <p:spPr>
            <a:xfrm>
              <a:off x="6263430" y="4391023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5" name="CIBar7">
              <a:extLst>
                <a:ext uri="{FF2B5EF4-FFF2-40B4-BE49-F238E27FC236}">
                  <a16:creationId xmlns:a16="http://schemas.microsoft.com/office/drawing/2014/main" id="{80B5DF23-319F-9042-1B01-5B8CAD54D308}"/>
                </a:ext>
              </a:extLst>
            </p:cNvPr>
            <p:cNvSpPr/>
            <p:nvPr/>
          </p:nvSpPr>
          <p:spPr>
            <a:xfrm>
              <a:off x="6930030" y="4394055"/>
              <a:ext cx="321664" cy="13072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86" name="CILW7">
              <a:extLst>
                <a:ext uri="{FF2B5EF4-FFF2-40B4-BE49-F238E27FC236}">
                  <a16:creationId xmlns:a16="http://schemas.microsoft.com/office/drawing/2014/main" id="{73A017FE-D89A-C186-AC7B-878BF1D6317C}"/>
                </a:ext>
              </a:extLst>
            </p:cNvPr>
            <p:cNvSpPr/>
            <p:nvPr/>
          </p:nvSpPr>
          <p:spPr>
            <a:xfrm>
              <a:off x="6924332" y="4389221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6F3A0D58-8257-FCEC-DC09-1E24EACE22B8}"/>
                </a:ext>
              </a:extLst>
            </p:cNvPr>
            <p:cNvGrpSpPr/>
            <p:nvPr/>
          </p:nvGrpSpPr>
          <p:grpSpPr>
            <a:xfrm>
              <a:off x="6593093" y="4388190"/>
              <a:ext cx="327363" cy="137873"/>
              <a:chOff x="9647669" y="5455717"/>
              <a:chExt cx="954308" cy="309645"/>
            </a:xfrm>
          </p:grpSpPr>
          <p:sp>
            <p:nvSpPr>
              <p:cNvPr id="289" name="CIBar7">
                <a:extLst>
                  <a:ext uri="{FF2B5EF4-FFF2-40B4-BE49-F238E27FC236}">
                    <a16:creationId xmlns:a16="http://schemas.microsoft.com/office/drawing/2014/main" id="{E7CDAEEB-0CC0-3DA7-ECDB-08B820AF8044}"/>
                  </a:ext>
                </a:extLst>
              </p:cNvPr>
              <p:cNvSpPr/>
              <p:nvPr/>
            </p:nvSpPr>
            <p:spPr>
              <a:xfrm>
                <a:off x="9664279" y="5471419"/>
                <a:ext cx="937695" cy="293597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B6CB0"/>
                    </a:solidFill>
                    <a:effectLst/>
                    <a:uLnTx/>
                    <a:uFillTx/>
                    <a:latin typeface="Open Sans"/>
                  </a:rPr>
                  <a:t>1 SE</a:t>
                </a:r>
                <a:endPara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90" name="CILW7">
                <a:extLst>
                  <a:ext uri="{FF2B5EF4-FFF2-40B4-BE49-F238E27FC236}">
                    <a16:creationId xmlns:a16="http://schemas.microsoft.com/office/drawing/2014/main" id="{1C7D6B2B-498E-2737-CE43-19698ABD7724}"/>
                  </a:ext>
                </a:extLst>
              </p:cNvPr>
              <p:cNvSpPr/>
              <p:nvPr/>
            </p:nvSpPr>
            <p:spPr>
              <a:xfrm>
                <a:off x="9647669" y="546056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  <p:sp>
            <p:nvSpPr>
              <p:cNvPr id="291" name="CILW7">
                <a:extLst>
                  <a:ext uri="{FF2B5EF4-FFF2-40B4-BE49-F238E27FC236}">
                    <a16:creationId xmlns:a16="http://schemas.microsoft.com/office/drawing/2014/main" id="{87108798-AB29-611D-6856-6369AB0F7FDE}"/>
                  </a:ext>
                </a:extLst>
              </p:cNvPr>
              <p:cNvSpPr/>
              <p:nvPr/>
            </p:nvSpPr>
            <p:spPr>
              <a:xfrm>
                <a:off x="10601977" y="5455717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lIns="0" rIns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2E3640"/>
                  </a:solidFill>
                  <a:effectLst/>
                  <a:uLnTx/>
                  <a:uFillTx/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0C0ECBE8-C407-9FDE-DC23-2A98787FC23D}"/>
              </a:ext>
            </a:extLst>
          </p:cNvPr>
          <p:cNvGrpSpPr/>
          <p:nvPr/>
        </p:nvGrpSpPr>
        <p:grpSpPr>
          <a:xfrm>
            <a:off x="6517974" y="3846072"/>
            <a:ext cx="382822" cy="135808"/>
            <a:chOff x="9647669" y="5455717"/>
            <a:chExt cx="954308" cy="309645"/>
          </a:xfrm>
        </p:grpSpPr>
        <p:sp>
          <p:nvSpPr>
            <p:cNvPr id="298" name="CIBar7">
              <a:extLst>
                <a:ext uri="{FF2B5EF4-FFF2-40B4-BE49-F238E27FC236}">
                  <a16:creationId xmlns:a16="http://schemas.microsoft.com/office/drawing/2014/main" id="{CF8BBCE2-6DAA-6E76-DC5C-CFADB413A3A8}"/>
                </a:ext>
              </a:extLst>
            </p:cNvPr>
            <p:cNvSpPr/>
            <p:nvPr/>
          </p:nvSpPr>
          <p:spPr>
            <a:xfrm>
              <a:off x="9664279" y="5471419"/>
              <a:ext cx="937695" cy="29359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Open Sans"/>
                </a:rPr>
                <a:t>1 SE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299" name="CILW7">
              <a:extLst>
                <a:ext uri="{FF2B5EF4-FFF2-40B4-BE49-F238E27FC236}">
                  <a16:creationId xmlns:a16="http://schemas.microsoft.com/office/drawing/2014/main" id="{CC26C80B-2D33-AE9E-C30A-A29DF17B67C8}"/>
                </a:ext>
              </a:extLst>
            </p:cNvPr>
            <p:cNvSpPr/>
            <p:nvPr/>
          </p:nvSpPr>
          <p:spPr>
            <a:xfrm>
              <a:off x="9647669" y="5460562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00" name="CILW7">
              <a:extLst>
                <a:ext uri="{FF2B5EF4-FFF2-40B4-BE49-F238E27FC236}">
                  <a16:creationId xmlns:a16="http://schemas.microsoft.com/office/drawing/2014/main" id="{80570B6C-DC24-9F58-1973-EF1D36B8584D}"/>
                </a:ext>
              </a:extLst>
            </p:cNvPr>
            <p:cNvSpPr/>
            <p:nvPr/>
          </p:nvSpPr>
          <p:spPr>
            <a:xfrm>
              <a:off x="10601977" y="5455717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5B6FAAE1-8331-7808-36CF-CF9CB051BE71}"/>
              </a:ext>
            </a:extLst>
          </p:cNvPr>
          <p:cNvGrpSpPr/>
          <p:nvPr/>
        </p:nvGrpSpPr>
        <p:grpSpPr>
          <a:xfrm>
            <a:off x="4679099" y="3207303"/>
            <a:ext cx="1814566" cy="161105"/>
            <a:chOff x="5230517" y="3297074"/>
            <a:chExt cx="1446584" cy="141600"/>
          </a:xfrm>
        </p:grpSpPr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38D1F74-ACAD-BD94-DEAF-117A61636ECF}"/>
                </a:ext>
              </a:extLst>
            </p:cNvPr>
            <p:cNvGrpSpPr/>
            <p:nvPr/>
          </p:nvGrpSpPr>
          <p:grpSpPr>
            <a:xfrm>
              <a:off x="5230517" y="3298151"/>
              <a:ext cx="1306198" cy="140523"/>
              <a:chOff x="5250800" y="3389754"/>
              <a:chExt cx="1306198" cy="140523"/>
            </a:xfrm>
          </p:grpSpPr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2124AB2A-39CD-3A23-5904-72D68F3D470B}"/>
                  </a:ext>
                </a:extLst>
              </p:cNvPr>
              <p:cNvGrpSpPr/>
              <p:nvPr/>
            </p:nvGrpSpPr>
            <p:grpSpPr>
              <a:xfrm>
                <a:off x="5250800" y="3392404"/>
                <a:ext cx="327363" cy="137873"/>
                <a:chOff x="9647669" y="5455717"/>
                <a:chExt cx="954308" cy="309645"/>
              </a:xfrm>
            </p:grpSpPr>
            <p:sp>
              <p:nvSpPr>
                <p:cNvPr id="302" name="CIBar7">
                  <a:extLst>
                    <a:ext uri="{FF2B5EF4-FFF2-40B4-BE49-F238E27FC236}">
                      <a16:creationId xmlns:a16="http://schemas.microsoft.com/office/drawing/2014/main" id="{AAF8145B-2B45-9258-B5A6-E5F915B5C068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3" name="CILW7">
                  <a:extLst>
                    <a:ext uri="{FF2B5EF4-FFF2-40B4-BE49-F238E27FC236}">
                      <a16:creationId xmlns:a16="http://schemas.microsoft.com/office/drawing/2014/main" id="{4F6A4315-DD10-3F48-D297-013394CDA212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4" name="CILW7">
                  <a:extLst>
                    <a:ext uri="{FF2B5EF4-FFF2-40B4-BE49-F238E27FC236}">
                      <a16:creationId xmlns:a16="http://schemas.microsoft.com/office/drawing/2014/main" id="{95F61883-B772-F50C-E2A4-B89630319BAF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6DFCF83F-9F26-07F0-5A12-077503F12EA7}"/>
                  </a:ext>
                </a:extLst>
              </p:cNvPr>
              <p:cNvGrpSpPr/>
              <p:nvPr/>
            </p:nvGrpSpPr>
            <p:grpSpPr>
              <a:xfrm>
                <a:off x="5576588" y="3390696"/>
                <a:ext cx="327363" cy="137873"/>
                <a:chOff x="9647669" y="5455717"/>
                <a:chExt cx="954308" cy="309645"/>
              </a:xfrm>
            </p:grpSpPr>
            <p:sp>
              <p:nvSpPr>
                <p:cNvPr id="306" name="CIBar7">
                  <a:extLst>
                    <a:ext uri="{FF2B5EF4-FFF2-40B4-BE49-F238E27FC236}">
                      <a16:creationId xmlns:a16="http://schemas.microsoft.com/office/drawing/2014/main" id="{47186D0F-3E30-9280-6A22-F42B6312F69D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7" name="CILW7">
                  <a:extLst>
                    <a:ext uri="{FF2B5EF4-FFF2-40B4-BE49-F238E27FC236}">
                      <a16:creationId xmlns:a16="http://schemas.microsoft.com/office/drawing/2014/main" id="{85D52B40-F73B-BD85-4DF3-769A8D0FAA25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08" name="CILW7">
                  <a:extLst>
                    <a:ext uri="{FF2B5EF4-FFF2-40B4-BE49-F238E27FC236}">
                      <a16:creationId xmlns:a16="http://schemas.microsoft.com/office/drawing/2014/main" id="{7B727047-6F22-B2B2-B92C-D63E7BDF7522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01EB8211-483B-D989-3EEB-66390D1963C2}"/>
                  </a:ext>
                </a:extLst>
              </p:cNvPr>
              <p:cNvGrpSpPr/>
              <p:nvPr/>
            </p:nvGrpSpPr>
            <p:grpSpPr>
              <a:xfrm>
                <a:off x="5903847" y="3391462"/>
                <a:ext cx="327363" cy="137873"/>
                <a:chOff x="9647669" y="5455717"/>
                <a:chExt cx="954308" cy="309645"/>
              </a:xfrm>
            </p:grpSpPr>
            <p:sp>
              <p:nvSpPr>
                <p:cNvPr id="310" name="CIBar7">
                  <a:extLst>
                    <a:ext uri="{FF2B5EF4-FFF2-40B4-BE49-F238E27FC236}">
                      <a16:creationId xmlns:a16="http://schemas.microsoft.com/office/drawing/2014/main" id="{367F8953-781E-A952-D6F3-E8EE2588D80C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1" name="CILW7">
                  <a:extLst>
                    <a:ext uri="{FF2B5EF4-FFF2-40B4-BE49-F238E27FC236}">
                      <a16:creationId xmlns:a16="http://schemas.microsoft.com/office/drawing/2014/main" id="{21C15EBE-5EB9-82DC-0E7A-C3E093953300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2" name="CILW7">
                  <a:extLst>
                    <a:ext uri="{FF2B5EF4-FFF2-40B4-BE49-F238E27FC236}">
                      <a16:creationId xmlns:a16="http://schemas.microsoft.com/office/drawing/2014/main" id="{41B8C383-92AC-8106-4B33-96BB57CE7633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E0A9E17D-0C19-4886-73C6-FB4BC24B70EB}"/>
                  </a:ext>
                </a:extLst>
              </p:cNvPr>
              <p:cNvGrpSpPr/>
              <p:nvPr/>
            </p:nvGrpSpPr>
            <p:grpSpPr>
              <a:xfrm>
                <a:off x="6229635" y="3389754"/>
                <a:ext cx="327363" cy="137873"/>
                <a:chOff x="9647669" y="5455717"/>
                <a:chExt cx="954308" cy="309645"/>
              </a:xfrm>
            </p:grpSpPr>
            <p:sp>
              <p:nvSpPr>
                <p:cNvPr id="314" name="CIBar7">
                  <a:extLst>
                    <a:ext uri="{FF2B5EF4-FFF2-40B4-BE49-F238E27FC236}">
                      <a16:creationId xmlns:a16="http://schemas.microsoft.com/office/drawing/2014/main" id="{139BF785-E8C4-060C-2455-B0E31D4B4B73}"/>
                    </a:ext>
                  </a:extLst>
                </p:cNvPr>
                <p:cNvSpPr/>
                <p:nvPr/>
              </p:nvSpPr>
              <p:spPr>
                <a:xfrm>
                  <a:off x="9664279" y="5471419"/>
                  <a:ext cx="937695" cy="293597"/>
                </a:xfrm>
                <a:prstGeom prst="rect">
                  <a:avLst/>
                </a:prstGeom>
                <a:solidFill>
                  <a:srgbClr val="B8D4E8">
                    <a:alpha val="34902"/>
                  </a:srgbClr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B6CB0"/>
                      </a:solidFill>
                      <a:effectLst/>
                      <a:uLnTx/>
                      <a:uFillTx/>
                      <a:latin typeface="Open Sans"/>
                    </a:rPr>
                    <a:t>1 SE</a:t>
                  </a:r>
                  <a:endParaRPr kumimoji="0" 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5" name="CILW7">
                  <a:extLst>
                    <a:ext uri="{FF2B5EF4-FFF2-40B4-BE49-F238E27FC236}">
                      <a16:creationId xmlns:a16="http://schemas.microsoft.com/office/drawing/2014/main" id="{AC31D830-C987-E217-0327-6DD65F810D85}"/>
                    </a:ext>
                  </a:extLst>
                </p:cNvPr>
                <p:cNvSpPr/>
                <p:nvPr/>
              </p:nvSpPr>
              <p:spPr>
                <a:xfrm>
                  <a:off x="9647669" y="5460562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316" name="CILW7">
                  <a:extLst>
                    <a:ext uri="{FF2B5EF4-FFF2-40B4-BE49-F238E27FC236}">
                      <a16:creationId xmlns:a16="http://schemas.microsoft.com/office/drawing/2014/main" id="{428025C1-C98B-9123-6456-9120270C887E}"/>
                    </a:ext>
                  </a:extLst>
                </p:cNvPr>
                <p:cNvSpPr/>
                <p:nvPr/>
              </p:nvSpPr>
              <p:spPr>
                <a:xfrm>
                  <a:off x="10601977" y="5455717"/>
                  <a:ext cx="0" cy="304800"/>
                </a:xfrm>
                <a:prstGeom prst="line">
                  <a:avLst/>
                </a:prstGeom>
                <a:ln w="15875">
                  <a:solidFill>
                    <a:srgbClr val="2B6CB0"/>
                  </a:solidFill>
                </a:ln>
              </p:spPr>
              <p:txBody>
                <a:bodyPr lIns="0" rIns="0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2E3640"/>
                    </a:solidFill>
                    <a:effectLst/>
                    <a:uLnTx/>
                    <a:uFillTx/>
                    <a:latin typeface="Open Sans" panose="020B0606030504020204" pitchFamily="34" charset="0"/>
                  </a:endParaRPr>
                </a:p>
              </p:txBody>
            </p:sp>
          </p:grpSp>
        </p:grpSp>
        <p:sp>
          <p:nvSpPr>
            <p:cNvPr id="332" name="CIBar7">
              <a:extLst>
                <a:ext uri="{FF2B5EF4-FFF2-40B4-BE49-F238E27FC236}">
                  <a16:creationId xmlns:a16="http://schemas.microsoft.com/office/drawing/2014/main" id="{AC68A7FE-D359-F335-994D-01746742E61B}"/>
                </a:ext>
              </a:extLst>
            </p:cNvPr>
            <p:cNvSpPr/>
            <p:nvPr/>
          </p:nvSpPr>
          <p:spPr>
            <a:xfrm>
              <a:off x="6538987" y="3301908"/>
              <a:ext cx="138114" cy="130882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tIns="0" rIns="0" bIns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  <p:sp>
          <p:nvSpPr>
            <p:cNvPr id="333" name="CILW7">
              <a:extLst>
                <a:ext uri="{FF2B5EF4-FFF2-40B4-BE49-F238E27FC236}">
                  <a16:creationId xmlns:a16="http://schemas.microsoft.com/office/drawing/2014/main" id="{E0C8F5B6-A488-EE0E-8965-28B9047A0D2E}"/>
                </a:ext>
              </a:extLst>
            </p:cNvPr>
            <p:cNvSpPr/>
            <p:nvPr/>
          </p:nvSpPr>
          <p:spPr>
            <a:xfrm>
              <a:off x="6533289" y="3297074"/>
              <a:ext cx="0" cy="135716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lIns="0" rIns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Open Sans" panose="020B0606030504020204" pitchFamily="34" charset="0"/>
              </a:endParaRPr>
            </a:p>
          </p:txBody>
        </p:sp>
      </p:grpSp>
      <p:sp>
        <p:nvSpPr>
          <p:cNvPr id="338" name="Text 2">
            <a:extLst>
              <a:ext uri="{FF2B5EF4-FFF2-40B4-BE49-F238E27FC236}">
                <a16:creationId xmlns:a16="http://schemas.microsoft.com/office/drawing/2014/main" id="{7B64CCF5-F98D-FD8B-954D-B47812FA7B3A}"/>
              </a:ext>
            </a:extLst>
          </p:cNvPr>
          <p:cNvSpPr/>
          <p:nvPr/>
        </p:nvSpPr>
        <p:spPr>
          <a:xfrm>
            <a:off x="334794" y="153863"/>
            <a:ext cx="33484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 value</a:t>
            </a:r>
            <a:endParaRPr lang="en-US" dirty="0"/>
          </a:p>
        </p:txBody>
      </p:sp>
      <p:pic>
        <p:nvPicPr>
          <p:cNvPr id="3" name="Picture 2" descr="plot_basic.png">
            <a:extLst>
              <a:ext uri="{FF2B5EF4-FFF2-40B4-BE49-F238E27FC236}">
                <a16:creationId xmlns:a16="http://schemas.microsoft.com/office/drawing/2014/main" id="{87A20EBA-DD0C-31D3-602E-CE09FA35C7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28"/>
          <a:stretch>
            <a:fillRect/>
          </a:stretch>
        </p:blipFill>
        <p:spPr>
          <a:xfrm>
            <a:off x="5902248" y="313921"/>
            <a:ext cx="2647650" cy="1818495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AC1AFAE9-B42B-3475-252E-C51E434BA884}"/>
              </a:ext>
            </a:extLst>
          </p:cNvPr>
          <p:cNvSpPr/>
          <p:nvPr/>
        </p:nvSpPr>
        <p:spPr>
          <a:xfrm>
            <a:off x="226189" y="1098534"/>
            <a:ext cx="4394726" cy="854682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Estimate Std. Error t value </a:t>
            </a:r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(Intercept)  3.18296    0.02640 120.552  &lt; 2e-16 ***</a:t>
            </a:r>
          </a:p>
          <a:p>
            <a:r>
              <a:rPr lang="en-GB" sz="110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0.16249    0.03715   4.373 </a:t>
            </a:r>
            <a:r>
              <a:rPr lang="en-GB" sz="1100" dirty="0">
                <a:solidFill>
                  <a:schemeClr val="bg1"/>
                </a:solidFill>
                <a:highlight>
                  <a:srgbClr val="DFA019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1.35e-05 ***</a:t>
            </a:r>
          </a:p>
          <a:p>
            <a:endParaRPr sz="1100" dirty="0">
              <a:solidFill>
                <a:srgbClr val="2E36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26A73A27-9E7C-107B-869B-494D1176AA8C}"/>
              </a:ext>
            </a:extLst>
          </p:cNvPr>
          <p:cNvSpPr/>
          <p:nvPr/>
        </p:nvSpPr>
        <p:spPr>
          <a:xfrm>
            <a:off x="224571" y="2045787"/>
            <a:ext cx="3200400" cy="2991768"/>
          </a:xfrm>
          <a:prstGeom prst="roundRect">
            <a:avLst>
              <a:gd name="adj" fmla="val 1765"/>
            </a:avLst>
          </a:prstGeom>
          <a:solidFill>
            <a:srgbClr val="EAF4F6"/>
          </a:solidFill>
          <a:ln w="12700">
            <a:solidFill>
              <a:srgbClr val="A8C8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17F1363C-BD1A-6F1C-7408-BB146F222E23}"/>
              </a:ext>
            </a:extLst>
          </p:cNvPr>
          <p:cNvSpPr/>
          <p:nvPr/>
        </p:nvSpPr>
        <p:spPr>
          <a:xfrm>
            <a:off x="361731" y="2137227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061"/>
                </a:solidFill>
              </a:rPr>
              <a:t>From t-statistic to p-value</a:t>
            </a:r>
            <a:endParaRPr lang="en-US" sz="1400" dirty="0"/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CC3019A5-73EE-51B2-B1DA-2F1D0CD47134}"/>
              </a:ext>
            </a:extLst>
          </p:cNvPr>
          <p:cNvSpPr/>
          <p:nvPr/>
        </p:nvSpPr>
        <p:spPr>
          <a:xfrm>
            <a:off x="355600" y="2438400"/>
            <a:ext cx="2921000" cy="244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80000" indent="-18000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6B75"/>
                </a:solidFill>
                <a:latin typeface="Open Sans"/>
              </a:rPr>
              <a:t>• </a:t>
            </a:r>
            <a:r>
              <a:rPr lang="en-US" sz="1200" dirty="0">
                <a:solidFill>
                  <a:srgbClr val="2C3E50"/>
                </a:solidFill>
                <a:latin typeface="Open Sans"/>
              </a:rPr>
              <a:t>Under the null t-distribution, R computes the probability of seeing a t at least as extreme as </a:t>
            </a:r>
            <a:r>
              <a:rPr lang="en-US" sz="1200" b="1" dirty="0">
                <a:solidFill>
                  <a:srgbClr val="2C3E50"/>
                </a:solidFill>
                <a:latin typeface="Open Sans"/>
              </a:rPr>
              <a:t>4.37</a:t>
            </a:r>
            <a:r>
              <a:rPr lang="en-US" sz="1200" dirty="0">
                <a:solidFill>
                  <a:srgbClr val="2C3E50"/>
                </a:solidFill>
                <a:latin typeface="Open Sans"/>
              </a:rPr>
              <a:t>. (on both ends of the distribution)</a:t>
            </a:r>
          </a:p>
          <a:p>
            <a:pPr marL="180000" indent="-18000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Open Sans"/>
              </a:rPr>
              <a:t>• That probability is </a:t>
            </a:r>
            <a:r>
              <a:rPr lang="en-US" sz="1200" b="1" dirty="0">
                <a:solidFill>
                  <a:srgbClr val="C0392B"/>
                </a:solidFill>
                <a:latin typeface="Open Sans"/>
              </a:rPr>
              <a:t>p = 1.35 × 10⁻⁵</a:t>
            </a:r>
            <a:endParaRPr lang="en-US" sz="1200" dirty="0">
              <a:solidFill>
                <a:srgbClr val="2C3E50"/>
              </a:solidFill>
              <a:latin typeface="Open Sans"/>
            </a:endParaRPr>
          </a:p>
          <a:p>
            <a:pPr marL="180000" indent="-18000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Open Sans"/>
              </a:rPr>
              <a:t>• if there were no real male–female difference, we'd see a t this extreme only </a:t>
            </a:r>
            <a:r>
              <a:rPr lang="en-US" sz="1200" b="1" dirty="0">
                <a:solidFill>
                  <a:srgbClr val="C0392B"/>
                </a:solidFill>
                <a:latin typeface="Open Sans"/>
              </a:rPr>
              <a:t>1 in 74,000 times</a:t>
            </a:r>
            <a:r>
              <a:rPr lang="en-US" sz="1200" dirty="0">
                <a:solidFill>
                  <a:srgbClr val="2C3E50"/>
                </a:solidFill>
                <a:latin typeface="Open Sans"/>
              </a:rPr>
              <a:t>.</a:t>
            </a:r>
          </a:p>
          <a:p>
            <a:pPr marL="0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1" dirty="0">
                <a:solidFill>
                  <a:srgbClr val="2E6B75"/>
                </a:solidFill>
                <a:latin typeface="Open Sans"/>
              </a:rPr>
              <a:t>• Strong evidence the true difference is not zero.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694585-9A89-1004-4B6B-22BB7A70DCBE}"/>
              </a:ext>
            </a:extLst>
          </p:cNvPr>
          <p:cNvSpPr/>
          <p:nvPr/>
        </p:nvSpPr>
        <p:spPr>
          <a:xfrm>
            <a:off x="218852" y="631455"/>
            <a:ext cx="3846086" cy="48112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EB4B0D-AE0C-D261-038A-C3AB39E9623E}"/>
              </a:ext>
            </a:extLst>
          </p:cNvPr>
          <p:cNvSpPr txBox="1"/>
          <p:nvPr/>
        </p:nvSpPr>
        <p:spPr>
          <a:xfrm>
            <a:off x="218853" y="631455"/>
            <a:ext cx="3348444" cy="430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 &lt;- </a:t>
            </a:r>
            <a:r>
              <a:rPr sz="1100" b="1" i="0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sz="1100" b="1" i="0" dirty="0" err="1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sex, data = births)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sz="1100" b="1" i="0" dirty="0">
                <a:solidFill>
                  <a:srgbClr val="2E3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(mod)</a:t>
            </a:r>
          </a:p>
        </p:txBody>
      </p:sp>
    </p:spTree>
    <p:extLst>
      <p:ext uri="{BB962C8B-B14F-4D97-AF65-F5344CB8AC3E}">
        <p14:creationId xmlns:p14="http://schemas.microsoft.com/office/powerpoint/2010/main" val="166282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  <p:bldP spid="204" grpId="0" animBg="1"/>
      <p:bldP spid="52" grpId="0" animBg="1"/>
      <p:bldP spid="53" grpId="0" animBg="1"/>
      <p:bldP spid="19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061"/>
                </a:solidFill>
                <a:latin typeface="Calibri" pitchFamily="34" charset="0"/>
              </a:rPr>
              <a:t>Progress check  |  </a:t>
            </a:r>
            <a:r>
              <a:rPr lang="en-US" sz="2400" b="0" dirty="0">
                <a:solidFill>
                  <a:srgbClr val="6B7B8A"/>
                </a:solidFill>
                <a:latin typeface="Calibri" pitchFamily="34" charset="0"/>
              </a:rPr>
              <a:t>Objectives 1–5 covered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12355EDF-B98B-DFB8-9058-57726E5AF734}"/>
              </a:ext>
            </a:extLst>
          </p:cNvPr>
          <p:cNvSpPr/>
          <p:nvPr/>
        </p:nvSpPr>
        <p:spPr>
          <a:xfrm>
            <a:off x="1005840" y="1097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A 0/1 encoded x variable still fits inside the same y = b₀ + </a:t>
            </a:r>
            <a:r>
              <a:rPr lang="en-US" sz="1400" dirty="0" err="1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b₁x</a:t>
            </a:r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 model framework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66DB9244-ED3E-4CE7-B3F0-DF4C8749B8B0}"/>
              </a:ext>
            </a:extLst>
          </p:cNvPr>
          <p:cNvSpPr/>
          <p:nvPr/>
        </p:nvSpPr>
        <p:spPr>
          <a:xfrm>
            <a:off x="1005840" y="1691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b₀ = reference group mean, b₁ = difference between the two group means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D8B1A82-5747-A91B-3BDD-4AC979076217}"/>
              </a:ext>
            </a:extLst>
          </p:cNvPr>
          <p:cNvSpPr/>
          <p:nvPr/>
        </p:nvSpPr>
        <p:spPr>
          <a:xfrm>
            <a:off x="1005840" y="2286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Same logic as before: the CI is a plausible range for the population difference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FF0066C5-48AF-1DC3-7913-A12CA37DBE2E}"/>
              </a:ext>
            </a:extLst>
          </p:cNvPr>
          <p:cNvSpPr/>
          <p:nvPr/>
        </p:nvSpPr>
        <p:spPr>
          <a:xfrm>
            <a:off x="1005840" y="2880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estimate / SE asks: how many SEs is the estimate away from no effect?</a:t>
            </a:r>
            <a:endParaRPr lang="en-US" sz="14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6F0CB403-810D-4744-F149-5D1843D70A59}"/>
              </a:ext>
            </a:extLst>
          </p:cNvPr>
          <p:cNvSpPr/>
          <p:nvPr/>
        </p:nvSpPr>
        <p:spPr>
          <a:xfrm>
            <a:off x="1005840" y="34747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|t| pushes further into the tail and gives a smaller p-value</a:t>
            </a:r>
            <a:endParaRPr lang="en-US" sz="14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01A5502-E744-5C2F-A52D-80CDB8E6CE4F}"/>
              </a:ext>
            </a:extLst>
          </p:cNvPr>
          <p:cNvSpPr/>
          <p:nvPr/>
        </p:nvSpPr>
        <p:spPr>
          <a:xfrm>
            <a:off x="1005840" y="83454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Extend simple linear regression to a binary predictor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67BFBE40-D04B-FA0C-903C-D8A41E2B01C2}"/>
              </a:ext>
            </a:extLst>
          </p:cNvPr>
          <p:cNvSpPr/>
          <p:nvPr/>
        </p:nvSpPr>
        <p:spPr>
          <a:xfrm>
            <a:off x="1005840" y="142890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Interpret the intercept and slope as group means and a difference</a:t>
            </a: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9CE9CF1-F718-B51A-161C-CFED5C510D7B}"/>
              </a:ext>
            </a:extLst>
          </p:cNvPr>
          <p:cNvSpPr/>
          <p:nvPr/>
        </p:nvSpPr>
        <p:spPr>
          <a:xfrm>
            <a:off x="1005840" y="202326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 and 95% CI for the group difference</a:t>
            </a:r>
            <a:endParaRPr lang="en-US" sz="14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9A2A4ED2-2E08-3EC4-5A13-35D901F3DAA8}"/>
              </a:ext>
            </a:extLst>
          </p:cNvPr>
          <p:cNvSpPr/>
          <p:nvPr/>
        </p:nvSpPr>
        <p:spPr>
          <a:xfrm>
            <a:off x="1005840" y="261762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 value as a standardized distance from zero</a:t>
            </a:r>
            <a:endParaRPr lang="en-US" sz="14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2B8F285B-5E2C-547D-7C19-6129393ABC0A}"/>
              </a:ext>
            </a:extLst>
          </p:cNvPr>
          <p:cNvSpPr/>
          <p:nvPr/>
        </p:nvSpPr>
        <p:spPr>
          <a:xfrm>
            <a:off x="1005840" y="321198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 into a p-value via tail area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44669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956F-1EE7-E052-535F-013A352F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6CD3B9BA-135A-E780-892F-F771CDE6E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95251"/>
            <a:ext cx="7886700" cy="524690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altLang="en-US" dirty="0"/>
              <a:t>Practice: Reading the p-value</a:t>
            </a:r>
          </a:p>
        </p:txBody>
      </p:sp>
      <p:cxnSp>
        <p:nvCxnSpPr>
          <p:cNvPr id="11" name="Divider">
            <a:extLst>
              <a:ext uri="{FF2B5EF4-FFF2-40B4-BE49-F238E27FC236}">
                <a16:creationId xmlns:a16="http://schemas.microsoft.com/office/drawing/2014/main" id="{A5DCB46C-E132-9667-F63F-23A95950F174}"/>
              </a:ext>
            </a:extLst>
          </p:cNvPr>
          <p:cNvCxnSpPr/>
          <p:nvPr/>
        </p:nvCxnSpPr>
        <p:spPr>
          <a:xfrm>
            <a:off x="4621571" y="1876322"/>
            <a:ext cx="0" cy="311150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2" name="Q1Hdr">
            <a:extLst>
              <a:ext uri="{FF2B5EF4-FFF2-40B4-BE49-F238E27FC236}">
                <a16:creationId xmlns:a16="http://schemas.microsoft.com/office/drawing/2014/main" id="{2D423691-D33F-9D4D-810E-C1FA0D8B8FDD}"/>
              </a:ext>
            </a:extLst>
          </p:cNvPr>
          <p:cNvSpPr/>
          <p:nvPr/>
        </p:nvSpPr>
        <p:spPr>
          <a:xfrm>
            <a:off x="273663" y="1876322"/>
            <a:ext cx="4191000" cy="4064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FFFFFF"/>
                </a:solidFill>
                <a:latin typeface="Open Sans"/>
              </a:rPr>
              <a:t>What does p = </a:t>
            </a:r>
            <a:r>
              <a:rPr lang="en-US" sz="1200" b="1" dirty="0">
                <a:solidFill>
                  <a:srgbClr val="FFFFFF"/>
                </a:solidFill>
              </a:rPr>
              <a:t>1.8e-17 tell </a:t>
            </a:r>
            <a:r>
              <a:rPr lang="en-US" sz="1200" b="1" dirty="0">
                <a:solidFill>
                  <a:srgbClr val="FFFFFF"/>
                </a:solidFill>
                <a:latin typeface="Open Sans"/>
              </a:rPr>
              <a:t>you?</a:t>
            </a:r>
          </a:p>
        </p:txBody>
      </p:sp>
      <p:sp>
        <p:nvSpPr>
          <p:cNvPr id="13" name="Q1OptA">
            <a:extLst>
              <a:ext uri="{FF2B5EF4-FFF2-40B4-BE49-F238E27FC236}">
                <a16:creationId xmlns:a16="http://schemas.microsoft.com/office/drawing/2014/main" id="{2A74383C-3BEA-740E-E8F9-BCACB04F7B1C}"/>
              </a:ext>
            </a:extLst>
          </p:cNvPr>
          <p:cNvSpPr/>
          <p:nvPr/>
        </p:nvSpPr>
        <p:spPr>
          <a:xfrm>
            <a:off x="293328" y="2351548"/>
            <a:ext cx="4038600" cy="680473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We’re unlikely to get a mean difference as large </a:t>
            </a:r>
            <a:r>
              <a:rPr lang="en-US" sz="1100" dirty="0">
                <a:solidFill>
                  <a:srgbClr val="2E3640"/>
                </a:solidFill>
              </a:rPr>
              <a:t>as 2.640 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by chance if there were no relationship</a:t>
            </a:r>
          </a:p>
        </p:txBody>
      </p:sp>
      <p:sp>
        <p:nvSpPr>
          <p:cNvPr id="14" name="Q1OptB">
            <a:extLst>
              <a:ext uri="{FF2B5EF4-FFF2-40B4-BE49-F238E27FC236}">
                <a16:creationId xmlns:a16="http://schemas.microsoft.com/office/drawing/2014/main" id="{A24A3485-9259-E773-A486-EADAB5074EA0}"/>
              </a:ext>
            </a:extLst>
          </p:cNvPr>
          <p:cNvSpPr/>
          <p:nvPr/>
        </p:nvSpPr>
        <p:spPr>
          <a:xfrm>
            <a:off x="293328" y="3098596"/>
            <a:ext cx="4038600" cy="591166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The null hypothesis is significantly likely to be correct, after taking into account the standard error</a:t>
            </a:r>
          </a:p>
        </p:txBody>
      </p:sp>
      <p:sp>
        <p:nvSpPr>
          <p:cNvPr id="15" name="Q1Ans">
            <a:extLst>
              <a:ext uri="{FF2B5EF4-FFF2-40B4-BE49-F238E27FC236}">
                <a16:creationId xmlns:a16="http://schemas.microsoft.com/office/drawing/2014/main" id="{73B52E99-2A49-C951-F547-4FC0E6A6350C}"/>
              </a:ext>
            </a:extLst>
          </p:cNvPr>
          <p:cNvSpPr/>
          <p:nvPr/>
        </p:nvSpPr>
        <p:spPr>
          <a:xfrm>
            <a:off x="226140" y="3930444"/>
            <a:ext cx="4172976" cy="33184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9525">
            <a:solidFill>
              <a:srgbClr val="2E6B75"/>
            </a:solidFill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Answer: A</a:t>
            </a:r>
          </a:p>
        </p:txBody>
      </p:sp>
      <p:sp>
        <p:nvSpPr>
          <p:cNvPr id="16" name="Q2Hdr">
            <a:extLst>
              <a:ext uri="{FF2B5EF4-FFF2-40B4-BE49-F238E27FC236}">
                <a16:creationId xmlns:a16="http://schemas.microsoft.com/office/drawing/2014/main" id="{563C03AC-4A47-E57D-4837-D0EBFCE3DD87}"/>
              </a:ext>
            </a:extLst>
          </p:cNvPr>
          <p:cNvSpPr/>
          <p:nvPr/>
        </p:nvSpPr>
        <p:spPr>
          <a:xfrm>
            <a:off x="4769463" y="1876322"/>
            <a:ext cx="4191000" cy="406400"/>
          </a:xfrm>
          <a:prstGeom prst="roundRect">
            <a:avLst>
              <a:gd name="adj" fmla="val 8000"/>
            </a:avLst>
          </a:prstGeom>
          <a:solidFill>
            <a:srgbClr val="2E6B7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FFFFFF"/>
                </a:solidFill>
                <a:latin typeface="Open Sans"/>
              </a:rPr>
              <a:t>If |t| dropped from 9.1 to 1.20, the p-value would…</a:t>
            </a:r>
          </a:p>
        </p:txBody>
      </p:sp>
      <p:sp>
        <p:nvSpPr>
          <p:cNvPr id="17" name="Q2OptA">
            <a:extLst>
              <a:ext uri="{FF2B5EF4-FFF2-40B4-BE49-F238E27FC236}">
                <a16:creationId xmlns:a16="http://schemas.microsoft.com/office/drawing/2014/main" id="{4DBF49DC-FFD9-BFD0-42D4-957AC35F58AA}"/>
              </a:ext>
            </a:extLst>
          </p:cNvPr>
          <p:cNvSpPr/>
          <p:nvPr/>
        </p:nvSpPr>
        <p:spPr>
          <a:xfrm>
            <a:off x="4796505" y="2358922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Get smaller (more extreme).</a:t>
            </a:r>
          </a:p>
        </p:txBody>
      </p:sp>
      <p:sp>
        <p:nvSpPr>
          <p:cNvPr id="18" name="Q2OptB">
            <a:extLst>
              <a:ext uri="{FF2B5EF4-FFF2-40B4-BE49-F238E27FC236}">
                <a16:creationId xmlns:a16="http://schemas.microsoft.com/office/drawing/2014/main" id="{B16A886D-37DD-C549-9090-C4D0AC5AE138}"/>
              </a:ext>
            </a:extLst>
          </p:cNvPr>
          <p:cNvSpPr/>
          <p:nvPr/>
        </p:nvSpPr>
        <p:spPr>
          <a:xfrm>
            <a:off x="4796505" y="2651022"/>
            <a:ext cx="4038600" cy="25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Get larger (closer to 1).</a:t>
            </a:r>
          </a:p>
        </p:txBody>
      </p:sp>
      <p:sp>
        <p:nvSpPr>
          <p:cNvPr id="19" name="Q2Ans">
            <a:extLst>
              <a:ext uri="{FF2B5EF4-FFF2-40B4-BE49-F238E27FC236}">
                <a16:creationId xmlns:a16="http://schemas.microsoft.com/office/drawing/2014/main" id="{9F618ADD-540D-F4BC-DEF9-FB42DD6C1FCB}"/>
              </a:ext>
            </a:extLst>
          </p:cNvPr>
          <p:cNvSpPr/>
          <p:nvPr/>
        </p:nvSpPr>
        <p:spPr>
          <a:xfrm>
            <a:off x="4769463" y="3032022"/>
            <a:ext cx="4191000" cy="964245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9525">
            <a:solidFill>
              <a:srgbClr val="2E6B75"/>
            </a:solidFill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Answer</a:t>
            </a:r>
            <a:r>
              <a:rPr lang="en-US" sz="1100" b="1">
                <a:solidFill>
                  <a:srgbClr val="2E6B75"/>
                </a:solidFill>
                <a:latin typeface="Open Sans"/>
              </a:rPr>
              <a:t>: B</a:t>
            </a:r>
            <a:endParaRPr lang="en-US" sz="1100" b="1" dirty="0">
              <a:solidFill>
                <a:srgbClr val="2E6B75"/>
              </a:solidFill>
              <a:latin typeface="Open Sans"/>
            </a:endParaRPr>
          </a:p>
        </p:txBody>
      </p:sp>
      <p:sp>
        <p:nvSpPr>
          <p:cNvPr id="2" name="Setup">
            <a:extLst>
              <a:ext uri="{FF2B5EF4-FFF2-40B4-BE49-F238E27FC236}">
                <a16:creationId xmlns:a16="http://schemas.microsoft.com/office/drawing/2014/main" id="{EFC4C9CA-2A7D-576B-D56D-7AEB8D2AE289}"/>
              </a:ext>
            </a:extLst>
          </p:cNvPr>
          <p:cNvSpPr/>
          <p:nvPr/>
        </p:nvSpPr>
        <p:spPr>
          <a:xfrm>
            <a:off x="273663" y="530122"/>
            <a:ext cx="87884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E3640"/>
                </a:solidFill>
                <a:latin typeface="Open Sans"/>
              </a:rPr>
              <a:t>A model predicts hospital length of stay (days) based on emergency admission (1 = yes, 0 =no), n = 240 patients. </a:t>
            </a:r>
            <a:r>
              <a:rPr lang="en-US" sz="1200" b="1" i="1" dirty="0">
                <a:solidFill>
                  <a:srgbClr val="2E6B75"/>
                </a:solidFill>
                <a:latin typeface="Open Sans"/>
              </a:rPr>
              <a:t>R output below:</a:t>
            </a:r>
          </a:p>
        </p:txBody>
      </p:sp>
      <p:sp>
        <p:nvSpPr>
          <p:cNvPr id="3" name="ROutput">
            <a:extLst>
              <a:ext uri="{FF2B5EF4-FFF2-40B4-BE49-F238E27FC236}">
                <a16:creationId xmlns:a16="http://schemas.microsoft.com/office/drawing/2014/main" id="{15133530-635A-EF51-B966-B7C3BD272371}"/>
              </a:ext>
            </a:extLst>
          </p:cNvPr>
          <p:cNvSpPr/>
          <p:nvPr/>
        </p:nvSpPr>
        <p:spPr>
          <a:xfrm>
            <a:off x="273663" y="784122"/>
            <a:ext cx="8788400" cy="965200"/>
          </a:xfrm>
          <a:prstGeom prst="rect">
            <a:avLst/>
          </a:prstGeom>
          <a:solidFill>
            <a:srgbClr val="FBFBFB"/>
          </a:solidFill>
          <a:ln w="9525">
            <a:solidFill>
              <a:srgbClr val="2E3640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Coefficients: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               </a:t>
            </a:r>
            <a:r>
              <a:rPr lang="en-US" sz="1100" b="1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  Estimate  Std.Error  t value  Pr(&gt;|t|)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(Intercept)         4.220      0.180    23.44   &lt; 2e-16</a:t>
            </a:r>
            <a:r>
              <a:rPr lang="en-US" sz="1100" b="1" dirty="0">
                <a:solidFill>
                  <a:srgbClr val="D94535"/>
                </a:solidFill>
                <a:latin typeface="Consolas" pitchFamily="49" charset="0"/>
                <a:cs typeface="Consolas"/>
              </a:rPr>
              <a:t> ***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49" charset="0"/>
                <a:cs typeface="Consolas"/>
              </a:rPr>
              <a:t>emergency           2.640      0.290     9.10   1.8e-17</a:t>
            </a:r>
            <a:r>
              <a:rPr lang="en-US" sz="1100" b="1" dirty="0">
                <a:solidFill>
                  <a:srgbClr val="D94535"/>
                </a:solidFill>
                <a:latin typeface="Consolas" pitchFamily="49" charset="0"/>
                <a:cs typeface="Consolas"/>
              </a:rPr>
              <a:t> ***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>
                <a:solidFill>
                  <a:srgbClr val="6B7480"/>
                </a:solidFill>
                <a:latin typeface="Consolas" pitchFamily="49" charset="0"/>
                <a:cs typeface="Consolas"/>
              </a:rPr>
              <a:t>Signif. codes:  0 '***' 0.001 '**' 0.01 '*' 0.05 '.' 0.1 ' ' 1</a:t>
            </a:r>
          </a:p>
        </p:txBody>
      </p:sp>
    </p:spTree>
    <p:extLst>
      <p:ext uri="{BB962C8B-B14F-4D97-AF65-F5344CB8AC3E}">
        <p14:creationId xmlns:p14="http://schemas.microsoft.com/office/powerpoint/2010/main" val="89423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" grpId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061"/>
                </a:solidFill>
                <a:latin typeface="Calibri" pitchFamily="34" charset="0"/>
              </a:rPr>
              <a:t>All objectives covered</a:t>
            </a:r>
            <a:endParaRPr lang="en-US" sz="2400" b="0" dirty="0">
              <a:solidFill>
                <a:srgbClr val="1F8A5C"/>
              </a:solidFill>
              <a:latin typeface="Calibri" pitchFamily="34" charset="0"/>
            </a:endParaRPr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1EC1A89F-E13C-E883-9EC1-63093185008D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776E3C7C-7A25-E533-547D-DAF75F9816EE}"/>
              </a:ext>
            </a:extLst>
          </p:cNvPr>
          <p:cNvSpPr/>
          <p:nvPr/>
        </p:nvSpPr>
        <p:spPr>
          <a:xfrm>
            <a:off x="502920" y="86868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ACC68F2-02AA-C323-4CB9-1D2AEE1A3F3F}"/>
              </a:ext>
            </a:extLst>
          </p:cNvPr>
          <p:cNvSpPr/>
          <p:nvPr/>
        </p:nvSpPr>
        <p:spPr>
          <a:xfrm>
            <a:off x="50292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37E64F16-AA70-6EAF-95CD-D52FBC63E17B}"/>
              </a:ext>
            </a:extLst>
          </p:cNvPr>
          <p:cNvSpPr/>
          <p:nvPr/>
        </p:nvSpPr>
        <p:spPr>
          <a:xfrm>
            <a:off x="502920" y="146304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ADDB217B-D987-DE32-0419-4D246C219599}"/>
              </a:ext>
            </a:extLst>
          </p:cNvPr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9563CE02-B242-D4CD-4E3B-6E47B497B32B}"/>
              </a:ext>
            </a:extLst>
          </p:cNvPr>
          <p:cNvSpPr/>
          <p:nvPr/>
        </p:nvSpPr>
        <p:spPr>
          <a:xfrm>
            <a:off x="502920" y="205740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A0BF5A51-6FE9-2380-CD42-0DAB0E77F059}"/>
              </a:ext>
            </a:extLst>
          </p:cNvPr>
          <p:cNvSpPr/>
          <p:nvPr/>
        </p:nvSpPr>
        <p:spPr>
          <a:xfrm>
            <a:off x="5029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1187D3BA-BFE5-E737-DA65-D08097A385A2}"/>
              </a:ext>
            </a:extLst>
          </p:cNvPr>
          <p:cNvSpPr/>
          <p:nvPr/>
        </p:nvSpPr>
        <p:spPr>
          <a:xfrm>
            <a:off x="502920" y="265176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35D6F268-9BB1-6E07-D519-1F43C28728F0}"/>
              </a:ext>
            </a:extLst>
          </p:cNvPr>
          <p:cNvSpPr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4A6D18AB-171E-1994-FE88-F5D4C564F1E5}"/>
              </a:ext>
            </a:extLst>
          </p:cNvPr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BCFB6AE3-9689-DA0D-90FB-68BFAFF096FF}"/>
              </a:ext>
            </a:extLst>
          </p:cNvPr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1CB9E22B-938C-59EC-44CA-D1A76D47EEDC}"/>
              </a:ext>
            </a:extLst>
          </p:cNvPr>
          <p:cNvSpPr/>
          <p:nvPr/>
        </p:nvSpPr>
        <p:spPr>
          <a:xfrm>
            <a:off x="1005840" y="1097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A 0/1 encoded x variable still fits inside the same y = b₀ + </a:t>
            </a:r>
            <a:r>
              <a:rPr lang="en-US" sz="1400" dirty="0" err="1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b₁x</a:t>
            </a:r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 model framework</a:t>
            </a: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8389DC25-7113-BBF6-7A7A-9CC073D274E9}"/>
              </a:ext>
            </a:extLst>
          </p:cNvPr>
          <p:cNvSpPr/>
          <p:nvPr/>
        </p:nvSpPr>
        <p:spPr>
          <a:xfrm>
            <a:off x="1005840" y="1691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b₀ = reference group mean, b₁ = difference between the two group means</a:t>
            </a: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BA0DE167-5CBC-0668-F18C-41225BAE156A}"/>
              </a:ext>
            </a:extLst>
          </p:cNvPr>
          <p:cNvSpPr/>
          <p:nvPr/>
        </p:nvSpPr>
        <p:spPr>
          <a:xfrm>
            <a:off x="1005840" y="2286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B8A"/>
                </a:solidFill>
                <a:latin typeface="Calibri" pitchFamily="34" charset="0"/>
                <a:cs typeface="Calibri" pitchFamily="34" charset="-120"/>
              </a:rPr>
              <a:t>Same logic as before: the CI is a plausible range for the population difference</a:t>
            </a: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64898397-6FFB-B89C-1E5A-4831F63383A7}"/>
              </a:ext>
            </a:extLst>
          </p:cNvPr>
          <p:cNvSpPr/>
          <p:nvPr/>
        </p:nvSpPr>
        <p:spPr>
          <a:xfrm>
            <a:off x="1005840" y="28803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estimate / SE asks: how many SEs is the estimate away from no effect?</a:t>
            </a:r>
            <a:endParaRPr lang="en-US" sz="140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5C3CB938-3093-AF5F-D1D3-CA2B58C6362A}"/>
              </a:ext>
            </a:extLst>
          </p:cNvPr>
          <p:cNvSpPr/>
          <p:nvPr/>
        </p:nvSpPr>
        <p:spPr>
          <a:xfrm>
            <a:off x="1005840" y="34747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|t| pushes further into the tail and gives a smaller p-value</a:t>
            </a:r>
            <a:endParaRPr lang="en-US" sz="1400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4715E90C-71A4-BEEC-7D9D-1972080C85FC}"/>
              </a:ext>
            </a:extLst>
          </p:cNvPr>
          <p:cNvSpPr/>
          <p:nvPr/>
        </p:nvSpPr>
        <p:spPr>
          <a:xfrm>
            <a:off x="1005840" y="83454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Extend simple linear regression to a binary predictor</a:t>
            </a: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B374AA44-57D3-19D6-ABE9-A08E38A9E24A}"/>
              </a:ext>
            </a:extLst>
          </p:cNvPr>
          <p:cNvSpPr/>
          <p:nvPr/>
        </p:nvSpPr>
        <p:spPr>
          <a:xfrm>
            <a:off x="1005840" y="142890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Interpret the intercept and slope as group means and a difference</a:t>
            </a: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B582AEB5-4B9A-9C41-28E6-463EDC9F44F7}"/>
              </a:ext>
            </a:extLst>
          </p:cNvPr>
          <p:cNvSpPr/>
          <p:nvPr/>
        </p:nvSpPr>
        <p:spPr>
          <a:xfrm>
            <a:off x="1005840" y="202326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 and 95% CI for the group difference</a:t>
            </a:r>
            <a:endParaRPr lang="en-US" sz="14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AC1D7C15-4B46-B55B-4232-36F9F335E589}"/>
              </a:ext>
            </a:extLst>
          </p:cNvPr>
          <p:cNvSpPr/>
          <p:nvPr/>
        </p:nvSpPr>
        <p:spPr>
          <a:xfrm>
            <a:off x="1005840" y="261762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 value as a standardized distance from zero</a:t>
            </a:r>
            <a:endParaRPr lang="en-US" sz="14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C0284893-16D3-D4BF-D05C-E1BB9DE741BC}"/>
              </a:ext>
            </a:extLst>
          </p:cNvPr>
          <p:cNvSpPr/>
          <p:nvPr/>
        </p:nvSpPr>
        <p:spPr>
          <a:xfrm>
            <a:off x="1005840" y="321198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 into a p-value via tail area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241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E772BA-F02A-C648-9058-31845BBB59C0}"/>
              </a:ext>
            </a:extLst>
          </p:cNvPr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F9F30-24F9-DE48-A846-1CD4482D9B9A}"/>
              </a:ext>
            </a:extLst>
          </p:cNvPr>
          <p:cNvSpPr txBox="1"/>
          <p:nvPr/>
        </p:nvSpPr>
        <p:spPr>
          <a:xfrm>
            <a:off x="190500" y="76200"/>
            <a:ext cx="6667500" cy="3619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Calibri"/>
                <a:cs typeface="Calibri"/>
              </a:rPr>
              <a:t>LINEAR REGRESSION WITH A BINARY PREDICTOR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28CC9-C604-E749-AFAB-E589D284CDEF}"/>
              </a:ext>
            </a:extLst>
          </p:cNvPr>
          <p:cNvSpPr txBox="1"/>
          <p:nvPr/>
        </p:nvSpPr>
        <p:spPr>
          <a:xfrm>
            <a:off x="6858000" y="95250"/>
            <a:ext cx="2190750" cy="3238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F4C430"/>
                </a:solidFill>
                <a:latin typeface="Calibri"/>
                <a:cs typeface="Calibri"/>
              </a:rPr>
              <a:t>Data: openintro::births14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32282B-D843-8A4D-9C55-90610E5D368B}"/>
              </a:ext>
            </a:extLst>
          </p:cNvPr>
          <p:cNvSpPr/>
          <p:nvPr/>
        </p:nvSpPr>
        <p:spPr>
          <a:xfrm>
            <a:off x="114300" y="590550"/>
            <a:ext cx="2933700" cy="2209800"/>
          </a:xfrm>
          <a:prstGeom prst="rect">
            <a:avLst/>
          </a:prstGeom>
          <a:solidFill>
            <a:srgbClr val="E8F4F3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0D0286-A590-F54A-A84C-9893570F42BF}"/>
              </a:ext>
            </a:extLst>
          </p:cNvPr>
          <p:cNvSpPr/>
          <p:nvPr/>
        </p:nvSpPr>
        <p:spPr>
          <a:xfrm>
            <a:off x="114300" y="590550"/>
            <a:ext cx="2933700" cy="285750"/>
          </a:xfrm>
          <a:prstGeom prst="rect">
            <a:avLst/>
          </a:prstGeom>
          <a:solidFill>
            <a:srgbClr val="CDE7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E6266D-D685-AA46-88C6-A6BBF02461A6}"/>
              </a:ext>
            </a:extLst>
          </p:cNvPr>
          <p:cNvSpPr/>
          <p:nvPr/>
        </p:nvSpPr>
        <p:spPr>
          <a:xfrm>
            <a:off x="209550" y="657225"/>
            <a:ext cx="152400" cy="1524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85517-6D42-494E-98DB-DD0675D45CB0}"/>
              </a:ext>
            </a:extLst>
          </p:cNvPr>
          <p:cNvSpPr txBox="1"/>
          <p:nvPr/>
        </p:nvSpPr>
        <p:spPr>
          <a:xfrm>
            <a:off x="419100" y="638175"/>
            <a:ext cx="2552700" cy="2095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75" b="1">
                <a:solidFill>
                  <a:srgbClr val="0F4C5C"/>
                </a:solidFill>
                <a:latin typeface="Calibri"/>
                <a:cs typeface="Calibri"/>
              </a:rPr>
              <a:t>THE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C9DE94-51CA-A543-940D-0F3E812A16BF}"/>
              </a:ext>
            </a:extLst>
          </p:cNvPr>
          <p:cNvSpPr/>
          <p:nvPr/>
        </p:nvSpPr>
        <p:spPr>
          <a:xfrm>
            <a:off x="3105150" y="590550"/>
            <a:ext cx="2933700" cy="2209800"/>
          </a:xfrm>
          <a:prstGeom prst="rect">
            <a:avLst/>
          </a:prstGeom>
          <a:solidFill>
            <a:srgbClr val="E8F4F3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CE53B-7361-4149-AAB9-5195970C4C4F}"/>
              </a:ext>
            </a:extLst>
          </p:cNvPr>
          <p:cNvSpPr/>
          <p:nvPr/>
        </p:nvSpPr>
        <p:spPr>
          <a:xfrm>
            <a:off x="3105150" y="590550"/>
            <a:ext cx="2933700" cy="285750"/>
          </a:xfrm>
          <a:prstGeom prst="rect">
            <a:avLst/>
          </a:prstGeom>
          <a:solidFill>
            <a:srgbClr val="CDE7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256812E-D73E-F549-8F58-DE4ADD9C56A1}"/>
              </a:ext>
            </a:extLst>
          </p:cNvPr>
          <p:cNvSpPr/>
          <p:nvPr/>
        </p:nvSpPr>
        <p:spPr>
          <a:xfrm>
            <a:off x="3200400" y="657225"/>
            <a:ext cx="152400" cy="1524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029A4-C89B-9F4B-8781-52293639E847}"/>
              </a:ext>
            </a:extLst>
          </p:cNvPr>
          <p:cNvSpPr txBox="1"/>
          <p:nvPr/>
        </p:nvSpPr>
        <p:spPr>
          <a:xfrm>
            <a:off x="3409950" y="638175"/>
            <a:ext cx="2552700" cy="2095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75" b="1">
                <a:solidFill>
                  <a:srgbClr val="0F4C5C"/>
                </a:solidFill>
                <a:latin typeface="Calibri"/>
                <a:cs typeface="Calibri"/>
              </a:rPr>
              <a:t>VISUALIZING THE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AE0D59-995A-E444-9EDC-4CC4E4AF2545}"/>
              </a:ext>
            </a:extLst>
          </p:cNvPr>
          <p:cNvSpPr/>
          <p:nvPr/>
        </p:nvSpPr>
        <p:spPr>
          <a:xfrm>
            <a:off x="6096000" y="590550"/>
            <a:ext cx="2933700" cy="2209800"/>
          </a:xfrm>
          <a:prstGeom prst="rect">
            <a:avLst/>
          </a:prstGeom>
          <a:solidFill>
            <a:srgbClr val="E8F4F3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AA3632-F456-814C-9FCF-A41F6C663952}"/>
              </a:ext>
            </a:extLst>
          </p:cNvPr>
          <p:cNvSpPr/>
          <p:nvPr/>
        </p:nvSpPr>
        <p:spPr>
          <a:xfrm>
            <a:off x="6096000" y="590550"/>
            <a:ext cx="2933700" cy="285750"/>
          </a:xfrm>
          <a:prstGeom prst="rect">
            <a:avLst/>
          </a:prstGeom>
          <a:solidFill>
            <a:srgbClr val="CDE7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56D4A-1F66-5A41-B14C-95E44463B996}"/>
              </a:ext>
            </a:extLst>
          </p:cNvPr>
          <p:cNvSpPr/>
          <p:nvPr/>
        </p:nvSpPr>
        <p:spPr>
          <a:xfrm>
            <a:off x="6191250" y="657225"/>
            <a:ext cx="152400" cy="1524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669793-96D4-D241-8CDF-1A4CBD5EA163}"/>
              </a:ext>
            </a:extLst>
          </p:cNvPr>
          <p:cNvSpPr txBox="1"/>
          <p:nvPr/>
        </p:nvSpPr>
        <p:spPr>
          <a:xfrm>
            <a:off x="6400800" y="638175"/>
            <a:ext cx="2552700" cy="2095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75" b="1">
                <a:solidFill>
                  <a:srgbClr val="0F4C5C"/>
                </a:solidFill>
                <a:latin typeface="Calibri"/>
                <a:cs typeface="Calibri"/>
              </a:rPr>
              <a:t>KEY METRICS EXPLAINED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BEBBDF-198D-8048-85C4-3B27292727EB}"/>
              </a:ext>
            </a:extLst>
          </p:cNvPr>
          <p:cNvSpPr txBox="1"/>
          <p:nvPr/>
        </p:nvSpPr>
        <p:spPr>
          <a:xfrm>
            <a:off x="209550" y="933450"/>
            <a:ext cx="1571625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975"/>
              </a:lnSpc>
            </a:pPr>
            <a:r>
              <a:rPr lang="en-US" sz="750" b="1" dirty="0">
                <a:solidFill>
                  <a:srgbClr val="0F4C5C"/>
                </a:solidFill>
                <a:latin typeface="Calibri"/>
              </a:rPr>
              <a:t>Dataset: </a:t>
            </a:r>
            <a:r>
              <a:rPr lang="en-US" sz="750" dirty="0">
                <a:solidFill>
                  <a:srgbClr val="1A1A1A"/>
                </a:solidFill>
                <a:latin typeface="Calibri"/>
              </a:rPr>
              <a:t>births14</a:t>
            </a:r>
          </a:p>
          <a:p>
            <a:pPr>
              <a:lnSpc>
                <a:spcPts val="975"/>
              </a:lnSpc>
            </a:pPr>
            <a:r>
              <a:rPr lang="en-US" sz="750" b="1" dirty="0">
                <a:solidFill>
                  <a:srgbClr val="0F4C5C"/>
                </a:solidFill>
                <a:latin typeface="Calibri"/>
              </a:rPr>
              <a:t>Outcome: </a:t>
            </a:r>
            <a:r>
              <a:rPr lang="en-US" sz="750" dirty="0">
                <a:solidFill>
                  <a:srgbClr val="1A1A1A"/>
                </a:solidFill>
                <a:latin typeface="Calibri"/>
              </a:rPr>
              <a:t>weight_kg</a:t>
            </a:r>
          </a:p>
          <a:p>
            <a:pPr>
              <a:lnSpc>
                <a:spcPts val="975"/>
              </a:lnSpc>
            </a:pPr>
            <a:r>
              <a:rPr lang="en-US" sz="750" b="1" dirty="0">
                <a:solidFill>
                  <a:srgbClr val="0F4C5C"/>
                </a:solidFill>
                <a:latin typeface="Calibri"/>
              </a:rPr>
              <a:t>Predictor: </a:t>
            </a:r>
            <a:r>
              <a:rPr lang="en-US" sz="750" dirty="0">
                <a:solidFill>
                  <a:srgbClr val="1A1A1A"/>
                </a:solidFill>
                <a:latin typeface="Calibri"/>
              </a:rPr>
              <a:t>sex</a:t>
            </a:r>
          </a:p>
          <a:p>
            <a:pPr>
              <a:lnSpc>
                <a:spcPts val="825"/>
              </a:lnSpc>
            </a:pPr>
            <a:r>
              <a:rPr lang="en-US" sz="675" i="1" dirty="0">
                <a:solidFill>
                  <a:srgbClr val="5A5A5A"/>
                </a:solidFill>
                <a:latin typeface="Calibri"/>
              </a:rPr>
              <a:t>Group means →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A069559-EEEE-8A4A-940D-85A3CA3239CF}"/>
              </a:ext>
            </a:extLst>
          </p:cNvPr>
          <p:cNvGraphicFramePr>
            <a:graphicFrameLocks noGrp="1"/>
          </p:cNvGraphicFramePr>
          <p:nvPr/>
        </p:nvGraphicFramePr>
        <p:xfrm>
          <a:off x="1857375" y="933450"/>
          <a:ext cx="1095376" cy="586740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2067509413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49258894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sex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weight_kg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48731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female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3.183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9695808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male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3.345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63458682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5E3A830-DBD6-F54C-957D-887E5892B6D7}"/>
              </a:ext>
            </a:extLst>
          </p:cNvPr>
          <p:cNvSpPr txBox="1"/>
          <p:nvPr/>
        </p:nvSpPr>
        <p:spPr>
          <a:xfrm>
            <a:off x="209550" y="1571625"/>
            <a:ext cx="2667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750" b="1">
                <a:solidFill>
                  <a:srgbClr val="0F4C5C"/>
                </a:solidFill>
                <a:latin typeface="Calibri"/>
                <a:cs typeface="Calibri"/>
              </a:rPr>
              <a:t>Formula: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D11D86-B8B5-944A-9E7A-06AD66FC78B4}"/>
              </a:ext>
            </a:extLst>
          </p:cNvPr>
          <p:cNvSpPr/>
          <p:nvPr/>
        </p:nvSpPr>
        <p:spPr>
          <a:xfrm>
            <a:off x="209550" y="1743075"/>
            <a:ext cx="2743200" cy="228600"/>
          </a:xfrm>
          <a:prstGeom prst="rect">
            <a:avLst/>
          </a:prstGeom>
          <a:solidFill>
            <a:srgbClr val="FFF4D6"/>
          </a:solidFill>
          <a:ln w="9525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EE73A2-7247-F141-9227-A1E803A7CAFE}"/>
              </a:ext>
            </a:extLst>
          </p:cNvPr>
          <p:cNvSpPr txBox="1"/>
          <p:nvPr/>
        </p:nvSpPr>
        <p:spPr>
          <a:xfrm>
            <a:off x="247650" y="1762125"/>
            <a:ext cx="2686050" cy="190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25">
                <a:solidFill>
                  <a:srgbClr val="1A1A1A"/>
                </a:solidFill>
                <a:latin typeface="Consolas"/>
                <a:cs typeface="Consolas"/>
              </a:rPr>
              <a:t>lm(weight_kg ~ sex, data = births)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5A8B9-B13B-764F-915A-72295E117CF9}"/>
              </a:ext>
            </a:extLst>
          </p:cNvPr>
          <p:cNvSpPr txBox="1"/>
          <p:nvPr/>
        </p:nvSpPr>
        <p:spPr>
          <a:xfrm>
            <a:off x="209550" y="2047875"/>
            <a:ext cx="2743200" cy="4762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975"/>
              </a:lnSpc>
            </a:pPr>
            <a:r>
              <a:rPr lang="en-US" sz="750" dirty="0">
                <a:solidFill>
                  <a:srgbClr val="1A1A1A"/>
                </a:solidFill>
                <a:latin typeface="Calibri"/>
              </a:rPr>
              <a:t>Predicted weight_kg = </a:t>
            </a:r>
            <a:r>
              <a:rPr lang="en-US" sz="750" b="1" dirty="0">
                <a:solidFill>
                  <a:srgbClr val="0F4C5C"/>
                </a:solidFill>
                <a:latin typeface="Calibri"/>
              </a:rPr>
              <a:t>β</a:t>
            </a:r>
            <a:r>
              <a:rPr lang="en-US" sz="600" b="1" baseline="-25000" dirty="0">
                <a:solidFill>
                  <a:srgbClr val="0F4C5C"/>
                </a:solidFill>
                <a:latin typeface="Calibri"/>
              </a:rPr>
              <a:t>0</a:t>
            </a:r>
            <a:r>
              <a:rPr lang="en-US" sz="750" dirty="0">
                <a:solidFill>
                  <a:srgbClr val="1A1A1A"/>
                </a:solidFill>
                <a:latin typeface="Calibri"/>
              </a:rPr>
              <a:t> + </a:t>
            </a:r>
            <a:r>
              <a:rPr lang="en-US" sz="750" b="1" dirty="0">
                <a:solidFill>
                  <a:srgbClr val="0F4C5C"/>
                </a:solidFill>
                <a:latin typeface="Calibri"/>
              </a:rPr>
              <a:t>β</a:t>
            </a:r>
            <a:r>
              <a:rPr lang="en-US" sz="600" b="1" baseline="-25000" dirty="0">
                <a:solidFill>
                  <a:srgbClr val="0F4C5C"/>
                </a:solidFill>
                <a:latin typeface="Calibri"/>
              </a:rPr>
              <a:t>1</a:t>
            </a:r>
            <a:r>
              <a:rPr lang="en-US" sz="750" dirty="0">
                <a:solidFill>
                  <a:srgbClr val="1A1A1A"/>
                </a:solidFill>
                <a:latin typeface="Calibri"/>
              </a:rPr>
              <a:t> · I(sex = male)</a:t>
            </a:r>
          </a:p>
          <a:p>
            <a:pPr>
              <a:lnSpc>
                <a:spcPts val="1050"/>
              </a:lnSpc>
              <a:spcBef>
                <a:spcPts val="300"/>
              </a:spcBef>
            </a:pPr>
            <a:r>
              <a:rPr lang="en-US" sz="750" dirty="0">
                <a:solidFill>
                  <a:srgbClr val="1A1A1A"/>
                </a:solidFill>
                <a:latin typeface="Calibri"/>
              </a:rPr>
              <a:t>     = </a:t>
            </a:r>
            <a:r>
              <a:rPr lang="en-US" sz="825" b="1" dirty="0">
                <a:solidFill>
                  <a:srgbClr val="0F4C5C"/>
                </a:solidFill>
                <a:latin typeface="Calibri"/>
              </a:rPr>
              <a:t>3.183</a:t>
            </a:r>
            <a:r>
              <a:rPr lang="en-US" sz="750" dirty="0">
                <a:solidFill>
                  <a:srgbClr val="1A1A1A"/>
                </a:solidFill>
                <a:latin typeface="Calibri"/>
              </a:rPr>
              <a:t> + </a:t>
            </a:r>
            <a:r>
              <a:rPr lang="en-US" sz="825" b="1" dirty="0">
                <a:solidFill>
                  <a:srgbClr val="C9962B"/>
                </a:solidFill>
                <a:latin typeface="Calibri"/>
              </a:rPr>
              <a:t>0.162</a:t>
            </a:r>
            <a:r>
              <a:rPr lang="en-US" sz="750" dirty="0">
                <a:solidFill>
                  <a:srgbClr val="1A1A1A"/>
                </a:solidFill>
                <a:latin typeface="Calibri"/>
              </a:rPr>
              <a:t> · I(male)</a:t>
            </a:r>
          </a:p>
          <a:p>
            <a:pPr>
              <a:lnSpc>
                <a:spcPts val="825"/>
              </a:lnSpc>
              <a:spcBef>
                <a:spcPts val="150"/>
              </a:spcBef>
            </a:pPr>
            <a:r>
              <a:rPr lang="en-US" sz="675" i="1" dirty="0">
                <a:solidFill>
                  <a:srgbClr val="0F4C5C"/>
                </a:solidFill>
                <a:latin typeface="Calibri"/>
              </a:rPr>
              <a:t>Intercept = Female mean   |   Slope = Male − Female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098BAD-1939-854A-8E94-0EAF57B786A8}"/>
              </a:ext>
            </a:extLst>
          </p:cNvPr>
          <p:cNvSpPr txBox="1"/>
          <p:nvPr/>
        </p:nvSpPr>
        <p:spPr>
          <a:xfrm>
            <a:off x="209550" y="2571750"/>
            <a:ext cx="27432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75" i="1">
                <a:solidFill>
                  <a:srgbClr val="5A5A5A"/>
                </a:solidFill>
                <a:latin typeface="Calibri"/>
                <a:cs typeface="Calibri"/>
              </a:rPr>
              <a:t>Fitted mean for males = 3.183 + 0.162 = 3.345 kg</a:t>
            </a:r>
          </a:p>
        </p:txBody>
      </p:sp>
      <p:graphicFrame>
        <p:nvGraphicFramePr>
          <p:cNvPr id="900" name="MeansChart"/>
          <p:cNvGraphicFramePr/>
          <p:nvPr/>
        </p:nvGraphicFramePr>
        <p:xfrm>
          <a:off x="3162300" y="914400"/>
          <a:ext cx="2819400" cy="186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C8DC686-8903-0743-B219-4B045EED45D0}"/>
              </a:ext>
            </a:extLst>
          </p:cNvPr>
          <p:cNvSpPr txBox="1"/>
          <p:nvPr/>
        </p:nvSpPr>
        <p:spPr>
          <a:xfrm>
            <a:off x="6191250" y="914400"/>
            <a:ext cx="2667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25" b="1">
                <a:solidFill>
                  <a:srgbClr val="0F4C5C"/>
                </a:solidFill>
                <a:latin typeface="Calibri"/>
                <a:cs typeface="Calibri"/>
              </a:rPr>
              <a:t>Coefficient Table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26A83FA-6D2F-724F-88B7-22FC073BA526}"/>
              </a:ext>
            </a:extLst>
          </p:cNvPr>
          <p:cNvGraphicFramePr>
            <a:graphicFrameLocks noGrp="1"/>
          </p:cNvGraphicFramePr>
          <p:nvPr/>
        </p:nvGraphicFramePr>
        <p:xfrm>
          <a:off x="6191250" y="1104900"/>
          <a:ext cx="2667000" cy="51435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4443928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603034399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3237308978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858824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893977963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Estimate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Std Error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12996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lang="en-US" sz="700">
                          <a:solidFill>
                            <a:srgbClr val="1A1A1A"/>
                          </a:solidFill>
                        </a:rPr>
                        <a:t>(Intercept)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1A1A1A"/>
                          </a:solidFill>
                        </a:rPr>
                        <a:t>3.183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1A1A1A"/>
                          </a:solidFill>
                        </a:rPr>
                        <a:t>0.026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1A1A1A"/>
                          </a:solidFill>
                        </a:rPr>
                        <a:t>121.7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1A1A1A"/>
                          </a:solidFill>
                        </a:rPr>
                        <a:t>&lt;2e-16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289868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rgbClr val="1A1A1A"/>
                          </a:solidFill>
                        </a:rPr>
                        <a:t>sexmale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1A1A1A"/>
                          </a:solidFill>
                        </a:rPr>
                        <a:t>0.162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1A1A1A"/>
                          </a:solidFill>
                        </a:rPr>
                        <a:t>0.037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1A1A1A"/>
                          </a:solidFill>
                        </a:rPr>
                        <a:t>4.37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>
                          <a:solidFill>
                            <a:srgbClr val="1A1A1A"/>
                          </a:solidFill>
                        </a:rPr>
                        <a:t>1.4e-05</a:t>
                      </a:r>
                    </a:p>
                  </a:txBody>
                  <a:tcPr marL="68580" marR="6858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837547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E9589DC-9A36-BD44-883A-F471F290BACD}"/>
              </a:ext>
            </a:extLst>
          </p:cNvPr>
          <p:cNvSpPr txBox="1"/>
          <p:nvPr/>
        </p:nvSpPr>
        <p:spPr>
          <a:xfrm>
            <a:off x="6191250" y="1695450"/>
            <a:ext cx="2667000" cy="1333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" i="1">
                <a:solidFill>
                  <a:srgbClr val="5A5A5A"/>
                </a:solidFill>
                <a:latin typeface="Calibri"/>
                <a:cs typeface="Calibri"/>
              </a:rPr>
              <a:t>Highlighted row = predictor of interest (sexmale)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0B91D9-F780-5F47-A5B6-704589F6132A}"/>
              </a:ext>
            </a:extLst>
          </p:cNvPr>
          <p:cNvSpPr txBox="1"/>
          <p:nvPr/>
        </p:nvSpPr>
        <p:spPr>
          <a:xfrm>
            <a:off x="6191250" y="1866900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900"/>
              </a:lnSpc>
            </a:pPr>
            <a:r>
              <a:rPr lang="en-US" sz="675" b="1" dirty="0">
                <a:solidFill>
                  <a:srgbClr val="0F4C5C"/>
                </a:solidFill>
                <a:latin typeface="Calibri"/>
              </a:rPr>
              <a:t>Quick read: </a:t>
            </a:r>
            <a:r>
              <a:rPr lang="en-US" sz="675" dirty="0">
                <a:solidFill>
                  <a:srgbClr val="1A1A1A"/>
                </a:solidFill>
                <a:latin typeface="Calibri"/>
              </a:rPr>
              <a:t>Male babies weigh on average </a:t>
            </a:r>
            <a:r>
              <a:rPr lang="en-US" sz="675" b="1" dirty="0">
                <a:solidFill>
                  <a:srgbClr val="C9962B"/>
                </a:solidFill>
                <a:latin typeface="Calibri"/>
              </a:rPr>
              <a:t>0.162 kg more</a:t>
            </a:r>
            <a:r>
              <a:rPr lang="en-US" sz="675" dirty="0">
                <a:solidFill>
                  <a:srgbClr val="1A1A1A"/>
                </a:solidFill>
                <a:latin typeface="Calibri"/>
              </a:rPr>
              <a:t> than female babies.</a:t>
            </a:r>
          </a:p>
          <a:p>
            <a:pPr>
              <a:lnSpc>
                <a:spcPts val="900"/>
              </a:lnSpc>
              <a:spcBef>
                <a:spcPts val="300"/>
              </a:spcBef>
            </a:pPr>
            <a:r>
              <a:rPr lang="en-US" sz="675" b="1" dirty="0">
                <a:solidFill>
                  <a:srgbClr val="0F4C5C"/>
                </a:solidFill>
                <a:latin typeface="Calibri"/>
              </a:rPr>
              <a:t>95% CI: </a:t>
            </a:r>
            <a:r>
              <a:rPr lang="en-US" sz="675" dirty="0">
                <a:solidFill>
                  <a:srgbClr val="1A1A1A"/>
                </a:solidFill>
                <a:latin typeface="Calibri"/>
              </a:rPr>
              <a:t>[0.090, 0.235] kg — excludes 0, so the difference is statistically significant.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AFD6BE-BAA9-3848-851A-950C3A9243C8}"/>
              </a:ext>
            </a:extLst>
          </p:cNvPr>
          <p:cNvSpPr/>
          <p:nvPr/>
        </p:nvSpPr>
        <p:spPr>
          <a:xfrm>
            <a:off x="152400" y="2876550"/>
            <a:ext cx="1714500" cy="14287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984CE5-F423-1D46-85C0-D9E4404732E0}"/>
              </a:ext>
            </a:extLst>
          </p:cNvPr>
          <p:cNvSpPr/>
          <p:nvPr/>
        </p:nvSpPr>
        <p:spPr>
          <a:xfrm>
            <a:off x="152400" y="2876550"/>
            <a:ext cx="1714500" cy="381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63BB23-F8DE-0544-B0C5-1E86E87B3AA9}"/>
              </a:ext>
            </a:extLst>
          </p:cNvPr>
          <p:cNvSpPr/>
          <p:nvPr/>
        </p:nvSpPr>
        <p:spPr>
          <a:xfrm>
            <a:off x="247650" y="2990850"/>
            <a:ext cx="247650" cy="247650"/>
          </a:xfrm>
          <a:prstGeom prst="ellipse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669CBC-8BA1-F54A-834D-551F8078D349}"/>
              </a:ext>
            </a:extLst>
          </p:cNvPr>
          <p:cNvSpPr txBox="1"/>
          <p:nvPr/>
        </p:nvSpPr>
        <p:spPr>
          <a:xfrm>
            <a:off x="552450" y="30099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0F4C5C"/>
                </a:solidFill>
                <a:latin typeface="Calibri"/>
                <a:cs typeface="Calibri"/>
              </a:rPr>
              <a:t>COEFFICIENT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166C66-42A7-DF43-AB3B-AEAB40048239}"/>
              </a:ext>
            </a:extLst>
          </p:cNvPr>
          <p:cNvSpPr txBox="1"/>
          <p:nvPr/>
        </p:nvSpPr>
        <p:spPr>
          <a:xfrm>
            <a:off x="228600" y="3333750"/>
            <a:ext cx="1562100" cy="2857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b="1">
                <a:solidFill>
                  <a:srgbClr val="C9962B"/>
                </a:solidFill>
                <a:latin typeface="Calibri"/>
                <a:cs typeface="Calibri"/>
              </a:rPr>
              <a:t>0.162 kg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696C91-0B61-9140-B802-3FB4C233E53C}"/>
              </a:ext>
            </a:extLst>
          </p:cNvPr>
          <p:cNvSpPr txBox="1"/>
          <p:nvPr/>
        </p:nvSpPr>
        <p:spPr>
          <a:xfrm>
            <a:off x="228600" y="3619500"/>
            <a:ext cx="1562100" cy="1524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i="1">
                <a:solidFill>
                  <a:srgbClr val="5A5A5A"/>
                </a:solidFill>
                <a:latin typeface="Calibri"/>
                <a:cs typeface="Calibri"/>
              </a:rPr>
              <a:t>Group mean difference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DB49D-B63D-264D-A1CE-AEBDBC724139}"/>
              </a:ext>
            </a:extLst>
          </p:cNvPr>
          <p:cNvSpPr txBox="1"/>
          <p:nvPr/>
        </p:nvSpPr>
        <p:spPr>
          <a:xfrm>
            <a:off x="228600" y="3790950"/>
            <a:ext cx="1562100" cy="4762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750">
                <a:solidFill>
                  <a:srgbClr val="1A1A1A"/>
                </a:solidFill>
                <a:latin typeface="Calibri"/>
                <a:cs typeface="Calibri"/>
              </a:rPr>
              <a:t>Predicted change in weight when sex flips from female to male.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8667EF-6172-9944-BE5F-01AA0563C699}"/>
              </a:ext>
            </a:extLst>
          </p:cNvPr>
          <p:cNvSpPr/>
          <p:nvPr/>
        </p:nvSpPr>
        <p:spPr>
          <a:xfrm>
            <a:off x="1943100" y="2876550"/>
            <a:ext cx="1714500" cy="14287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4B3F7D-CA5C-6845-AB2B-2171B24B26E9}"/>
              </a:ext>
            </a:extLst>
          </p:cNvPr>
          <p:cNvSpPr/>
          <p:nvPr/>
        </p:nvSpPr>
        <p:spPr>
          <a:xfrm>
            <a:off x="1943100" y="2876550"/>
            <a:ext cx="1714500" cy="381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1AC6FB-DA07-4240-BDCD-D43C13E0C82F}"/>
              </a:ext>
            </a:extLst>
          </p:cNvPr>
          <p:cNvSpPr/>
          <p:nvPr/>
        </p:nvSpPr>
        <p:spPr>
          <a:xfrm>
            <a:off x="2038350" y="2990850"/>
            <a:ext cx="247650" cy="247650"/>
          </a:xfrm>
          <a:prstGeom prst="ellipse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E328AE-CD1C-5549-BDF6-3F5E067B6DEE}"/>
              </a:ext>
            </a:extLst>
          </p:cNvPr>
          <p:cNvSpPr txBox="1"/>
          <p:nvPr/>
        </p:nvSpPr>
        <p:spPr>
          <a:xfrm>
            <a:off x="2343150" y="30099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0F4C5C"/>
                </a:solidFill>
                <a:latin typeface="Calibri"/>
                <a:cs typeface="Calibri"/>
              </a:rPr>
              <a:t>STD ERROR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C20BF7-9555-6649-B4AD-1D57424DA7CD}"/>
              </a:ext>
            </a:extLst>
          </p:cNvPr>
          <p:cNvSpPr txBox="1"/>
          <p:nvPr/>
        </p:nvSpPr>
        <p:spPr>
          <a:xfrm>
            <a:off x="2019300" y="3333750"/>
            <a:ext cx="1562100" cy="2857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b="1">
                <a:solidFill>
                  <a:srgbClr val="C9962B"/>
                </a:solidFill>
                <a:latin typeface="Calibri"/>
                <a:cs typeface="Calibri"/>
              </a:rPr>
              <a:t>0.037 kg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A8421D-C036-8E49-A0BC-82D27EDC75BC}"/>
              </a:ext>
            </a:extLst>
          </p:cNvPr>
          <p:cNvSpPr txBox="1"/>
          <p:nvPr/>
        </p:nvSpPr>
        <p:spPr>
          <a:xfrm>
            <a:off x="2019300" y="3619500"/>
            <a:ext cx="1562100" cy="1524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i="1">
                <a:solidFill>
                  <a:srgbClr val="5A5A5A"/>
                </a:solidFill>
                <a:latin typeface="Calibri"/>
                <a:cs typeface="Calibri"/>
              </a:rPr>
              <a:t>Sampling variability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3D7D4C-2870-F64B-AE65-9B1AE966D338}"/>
              </a:ext>
            </a:extLst>
          </p:cNvPr>
          <p:cNvSpPr txBox="1"/>
          <p:nvPr/>
        </p:nvSpPr>
        <p:spPr>
          <a:xfrm>
            <a:off x="2019300" y="3790950"/>
            <a:ext cx="1562100" cy="4762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750">
                <a:solidFill>
                  <a:srgbClr val="1A1A1A"/>
                </a:solidFill>
                <a:latin typeface="Calibri"/>
                <a:cs typeface="Calibri"/>
              </a:rPr>
              <a:t>Smaller SE = more precise estimate. Used to build CI and t-value.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1FA684-9798-534B-986E-2D930E4DE141}"/>
              </a:ext>
            </a:extLst>
          </p:cNvPr>
          <p:cNvSpPr/>
          <p:nvPr/>
        </p:nvSpPr>
        <p:spPr>
          <a:xfrm>
            <a:off x="3733800" y="2876550"/>
            <a:ext cx="1714500" cy="14287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221D03-F10F-6B4C-AC92-788A6BFE33B8}"/>
              </a:ext>
            </a:extLst>
          </p:cNvPr>
          <p:cNvSpPr/>
          <p:nvPr/>
        </p:nvSpPr>
        <p:spPr>
          <a:xfrm>
            <a:off x="3733800" y="2876550"/>
            <a:ext cx="1714500" cy="381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0E4E7C0-02CE-3840-B52D-04C5703DC0CD}"/>
              </a:ext>
            </a:extLst>
          </p:cNvPr>
          <p:cNvSpPr/>
          <p:nvPr/>
        </p:nvSpPr>
        <p:spPr>
          <a:xfrm>
            <a:off x="3829050" y="2990850"/>
            <a:ext cx="247650" cy="247650"/>
          </a:xfrm>
          <a:prstGeom prst="ellipse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62C980-2C5F-2849-A804-74A2485058C1}"/>
              </a:ext>
            </a:extLst>
          </p:cNvPr>
          <p:cNvSpPr txBox="1"/>
          <p:nvPr/>
        </p:nvSpPr>
        <p:spPr>
          <a:xfrm>
            <a:off x="4133850" y="30099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0F4C5C"/>
                </a:solidFill>
                <a:latin typeface="Calibri"/>
                <a:cs typeface="Calibri"/>
              </a:rPr>
              <a:t>95% CI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D7DB47-4983-484C-B587-2E417B1E37D7}"/>
              </a:ext>
            </a:extLst>
          </p:cNvPr>
          <p:cNvSpPr txBox="1"/>
          <p:nvPr/>
        </p:nvSpPr>
        <p:spPr>
          <a:xfrm>
            <a:off x="3810000" y="3333750"/>
            <a:ext cx="1562100" cy="2857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b="1">
                <a:solidFill>
                  <a:srgbClr val="C9962B"/>
                </a:solidFill>
                <a:latin typeface="Calibri"/>
                <a:cs typeface="Calibri"/>
              </a:rPr>
              <a:t>[0.090, 0.235]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47BAA8-7483-A74A-A7F6-706A6D2B42AE}"/>
              </a:ext>
            </a:extLst>
          </p:cNvPr>
          <p:cNvSpPr txBox="1"/>
          <p:nvPr/>
        </p:nvSpPr>
        <p:spPr>
          <a:xfrm>
            <a:off x="3810000" y="3619500"/>
            <a:ext cx="1562100" cy="1524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i="1">
                <a:solidFill>
                  <a:srgbClr val="5A5A5A"/>
                </a:solidFill>
                <a:latin typeface="Calibri"/>
                <a:cs typeface="Calibri"/>
              </a:rPr>
              <a:t>Plausible range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EBD351-2933-0548-8A01-76BDD70F1C9A}"/>
              </a:ext>
            </a:extLst>
          </p:cNvPr>
          <p:cNvSpPr txBox="1"/>
          <p:nvPr/>
        </p:nvSpPr>
        <p:spPr>
          <a:xfrm>
            <a:off x="3810000" y="3790950"/>
            <a:ext cx="1562100" cy="4762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750">
                <a:solidFill>
                  <a:srgbClr val="1A1A1A"/>
                </a:solidFill>
                <a:latin typeface="Calibri"/>
                <a:cs typeface="Calibri"/>
              </a:rPr>
              <a:t>Interval excludes 0, so the difference is real, not just sampling noise.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F5B81C-3A34-2145-B3E6-168C064BD664}"/>
              </a:ext>
            </a:extLst>
          </p:cNvPr>
          <p:cNvSpPr/>
          <p:nvPr/>
        </p:nvSpPr>
        <p:spPr>
          <a:xfrm>
            <a:off x="5524500" y="2876550"/>
            <a:ext cx="1714500" cy="14287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DFDED1-FF10-4E43-B3A5-8E004BFD00C0}"/>
              </a:ext>
            </a:extLst>
          </p:cNvPr>
          <p:cNvSpPr/>
          <p:nvPr/>
        </p:nvSpPr>
        <p:spPr>
          <a:xfrm>
            <a:off x="5524500" y="2876550"/>
            <a:ext cx="1714500" cy="381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3CA9A09-5ACB-9B4F-82D5-B2C71EABAADB}"/>
              </a:ext>
            </a:extLst>
          </p:cNvPr>
          <p:cNvSpPr/>
          <p:nvPr/>
        </p:nvSpPr>
        <p:spPr>
          <a:xfrm>
            <a:off x="5619750" y="2990850"/>
            <a:ext cx="247650" cy="247650"/>
          </a:xfrm>
          <a:prstGeom prst="ellipse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70145B-8361-3F4C-AC1E-911AF6C3432D}"/>
              </a:ext>
            </a:extLst>
          </p:cNvPr>
          <p:cNvSpPr txBox="1"/>
          <p:nvPr/>
        </p:nvSpPr>
        <p:spPr>
          <a:xfrm>
            <a:off x="5924550" y="30099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0F4C5C"/>
                </a:solidFill>
                <a:latin typeface="Calibri"/>
                <a:cs typeface="Calibri"/>
              </a:rPr>
              <a:t>t-VALUE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050FCA-A5DA-5441-8B04-0418448D8839}"/>
              </a:ext>
            </a:extLst>
          </p:cNvPr>
          <p:cNvSpPr txBox="1"/>
          <p:nvPr/>
        </p:nvSpPr>
        <p:spPr>
          <a:xfrm>
            <a:off x="5600700" y="3333750"/>
            <a:ext cx="1562100" cy="2857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b="1">
                <a:solidFill>
                  <a:srgbClr val="C9962B"/>
                </a:solidFill>
                <a:latin typeface="Calibri"/>
                <a:cs typeface="Calibri"/>
              </a:rPr>
              <a:t>4.373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F71943-C294-6240-9327-37B0D817008E}"/>
              </a:ext>
            </a:extLst>
          </p:cNvPr>
          <p:cNvSpPr txBox="1"/>
          <p:nvPr/>
        </p:nvSpPr>
        <p:spPr>
          <a:xfrm>
            <a:off x="5600700" y="3619500"/>
            <a:ext cx="1562100" cy="1524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i="1">
                <a:solidFill>
                  <a:srgbClr val="5A5A5A"/>
                </a:solidFill>
                <a:latin typeface="Calibri"/>
                <a:cs typeface="Calibri"/>
              </a:rPr>
              <a:t>Estimate ÷ SE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20EBC1-56CE-BF4E-9751-C6768A0C3FD0}"/>
              </a:ext>
            </a:extLst>
          </p:cNvPr>
          <p:cNvSpPr txBox="1"/>
          <p:nvPr/>
        </p:nvSpPr>
        <p:spPr>
          <a:xfrm>
            <a:off x="5600700" y="3790950"/>
            <a:ext cx="1562100" cy="4762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750">
                <a:solidFill>
                  <a:srgbClr val="1A1A1A"/>
                </a:solidFill>
                <a:latin typeface="Calibri"/>
                <a:cs typeface="Calibri"/>
              </a:rPr>
              <a:t>How many SEs is the estimate from 0? Bigger |t| = stronger signal.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83BCDB0-C2EE-AE40-A9B1-708E832351AA}"/>
              </a:ext>
            </a:extLst>
          </p:cNvPr>
          <p:cNvSpPr/>
          <p:nvPr/>
        </p:nvSpPr>
        <p:spPr>
          <a:xfrm>
            <a:off x="7315200" y="2876550"/>
            <a:ext cx="1714500" cy="14287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B8DA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3440A7-26E2-0447-BBAC-F13A1D7C74F9}"/>
              </a:ext>
            </a:extLst>
          </p:cNvPr>
          <p:cNvSpPr/>
          <p:nvPr/>
        </p:nvSpPr>
        <p:spPr>
          <a:xfrm>
            <a:off x="7315200" y="2876550"/>
            <a:ext cx="1714500" cy="381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F6680F1-1668-1D47-AB23-A101A8DE4874}"/>
              </a:ext>
            </a:extLst>
          </p:cNvPr>
          <p:cNvSpPr/>
          <p:nvPr/>
        </p:nvSpPr>
        <p:spPr>
          <a:xfrm>
            <a:off x="7410450" y="2990850"/>
            <a:ext cx="247650" cy="247650"/>
          </a:xfrm>
          <a:prstGeom prst="ellipse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484196-E53B-CE4B-A83E-BE918F8B7A33}"/>
              </a:ext>
            </a:extLst>
          </p:cNvPr>
          <p:cNvSpPr txBox="1"/>
          <p:nvPr/>
        </p:nvSpPr>
        <p:spPr>
          <a:xfrm>
            <a:off x="7715250" y="30099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0F4C5C"/>
                </a:solidFill>
                <a:latin typeface="Calibri"/>
                <a:cs typeface="Calibri"/>
              </a:rPr>
              <a:t>P-VALUE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45B0F3-B262-FB4B-A092-485A43627EE8}"/>
              </a:ext>
            </a:extLst>
          </p:cNvPr>
          <p:cNvSpPr txBox="1"/>
          <p:nvPr/>
        </p:nvSpPr>
        <p:spPr>
          <a:xfrm>
            <a:off x="7391400" y="3333750"/>
            <a:ext cx="1562100" cy="2857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b="1">
                <a:solidFill>
                  <a:srgbClr val="C9962B"/>
                </a:solidFill>
                <a:latin typeface="Calibri"/>
                <a:cs typeface="Calibri"/>
              </a:rPr>
              <a:t>1.35e-05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BB782C-ECA2-6049-A4F4-314BB5C584AE}"/>
              </a:ext>
            </a:extLst>
          </p:cNvPr>
          <p:cNvSpPr txBox="1"/>
          <p:nvPr/>
        </p:nvSpPr>
        <p:spPr>
          <a:xfrm>
            <a:off x="7391400" y="3619500"/>
            <a:ext cx="1562100" cy="1524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i="1">
                <a:solidFill>
                  <a:srgbClr val="5A5A5A"/>
                </a:solidFill>
                <a:latin typeface="Calibri"/>
                <a:cs typeface="Calibri"/>
              </a:rPr>
              <a:t>Evidence vs. null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A9ED1B-B050-6D49-A0E7-27A3732BE516}"/>
              </a:ext>
            </a:extLst>
          </p:cNvPr>
          <p:cNvSpPr txBox="1"/>
          <p:nvPr/>
        </p:nvSpPr>
        <p:spPr>
          <a:xfrm>
            <a:off x="7391400" y="3790950"/>
            <a:ext cx="1562100" cy="4762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750">
                <a:solidFill>
                  <a:srgbClr val="1A1A1A"/>
                </a:solidFill>
                <a:latin typeface="Calibri"/>
                <a:cs typeface="Calibri"/>
              </a:rPr>
              <a:t>Tiny p-value: strong evidence the population means differ.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BBB67B5-FD95-CF48-B555-159601E60ED9}"/>
              </a:ext>
            </a:extLst>
          </p:cNvPr>
          <p:cNvSpPr/>
          <p:nvPr/>
        </p:nvSpPr>
        <p:spPr>
          <a:xfrm>
            <a:off x="0" y="4400550"/>
            <a:ext cx="9144000" cy="742950"/>
          </a:xfrm>
          <a:prstGeom prst="rect">
            <a:avLst/>
          </a:prstGeom>
          <a:solidFill>
            <a:srgbClr val="0F4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845FEB0A-AADF-7F4F-95A2-8218B199111A}"/>
              </a:ext>
            </a:extLst>
          </p:cNvPr>
          <p:cNvSpPr/>
          <p:nvPr/>
        </p:nvSpPr>
        <p:spPr>
          <a:xfrm>
            <a:off x="0" y="4400550"/>
            <a:ext cx="9144000" cy="28575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350"/>
          </a:p>
        </p:txBody>
      </p:sp>
      <p:sp>
        <p:nvSpPr>
          <p:cNvPr id="897" name="TextBox 896">
            <a:extLst>
              <a:ext uri="{FF2B5EF4-FFF2-40B4-BE49-F238E27FC236}">
                <a16:creationId xmlns:a16="http://schemas.microsoft.com/office/drawing/2014/main" id="{B7E68D1D-F5D1-474E-9367-F43A12242FA7}"/>
              </a:ext>
            </a:extLst>
          </p:cNvPr>
          <p:cNvSpPr txBox="1"/>
          <p:nvPr/>
        </p:nvSpPr>
        <p:spPr>
          <a:xfrm>
            <a:off x="152400" y="449580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975" b="1">
                <a:solidFill>
                  <a:srgbClr val="F4C430"/>
                </a:solidFill>
                <a:latin typeface="Calibri"/>
                <a:cs typeface="Calibri"/>
              </a:rPr>
              <a:t>MODEL DIAGNOSTICS</a:t>
            </a:r>
          </a:p>
        </p:txBody>
      </p:sp>
      <p:sp>
        <p:nvSpPr>
          <p:cNvPr id="898" name="Oval 897">
            <a:extLst>
              <a:ext uri="{FF2B5EF4-FFF2-40B4-BE49-F238E27FC236}">
                <a16:creationId xmlns:a16="http://schemas.microsoft.com/office/drawing/2014/main" id="{1894B3E1-2638-1540-B6E0-AC6ED15E32B5}"/>
              </a:ext>
            </a:extLst>
          </p:cNvPr>
          <p:cNvSpPr/>
          <p:nvPr/>
        </p:nvSpPr>
        <p:spPr>
          <a:xfrm>
            <a:off x="2190750" y="4552950"/>
            <a:ext cx="133350" cy="13335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b="1">
                <a:solidFill>
                  <a:srgbClr val="0F4C5C"/>
                </a:solidFill>
              </a:rPr>
              <a:t>✓</a:t>
            </a:r>
          </a:p>
        </p:txBody>
      </p:sp>
      <p:sp>
        <p:nvSpPr>
          <p:cNvPr id="899" name="TextBox 898">
            <a:extLst>
              <a:ext uri="{FF2B5EF4-FFF2-40B4-BE49-F238E27FC236}">
                <a16:creationId xmlns:a16="http://schemas.microsoft.com/office/drawing/2014/main" id="{FFD04D34-47E5-A241-BB77-61164821B1BD}"/>
              </a:ext>
            </a:extLst>
          </p:cNvPr>
          <p:cNvSpPr txBox="1"/>
          <p:nvPr/>
        </p:nvSpPr>
        <p:spPr>
          <a:xfrm>
            <a:off x="2362200" y="4495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FFFFFF"/>
                </a:solidFill>
                <a:latin typeface="Calibri"/>
                <a:cs typeface="Calibri"/>
              </a:rPr>
              <a:t>Linearity</a:t>
            </a:r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D55CFE53-E1A6-6543-993B-C02898425D2C}"/>
              </a:ext>
            </a:extLst>
          </p:cNvPr>
          <p:cNvSpPr txBox="1"/>
          <p:nvPr/>
        </p:nvSpPr>
        <p:spPr>
          <a:xfrm>
            <a:off x="2362200" y="468630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>
                <a:solidFill>
                  <a:srgbClr val="CDE7E2"/>
                </a:solidFill>
                <a:latin typeface="Calibri"/>
                <a:cs typeface="Calibri"/>
              </a:rPr>
              <a:t>Check residuals vs. fitted plot — look for no pattern.</a:t>
            </a:r>
          </a:p>
        </p:txBody>
      </p:sp>
      <p:sp>
        <p:nvSpPr>
          <p:cNvPr id="902" name="Oval 901">
            <a:extLst>
              <a:ext uri="{FF2B5EF4-FFF2-40B4-BE49-F238E27FC236}">
                <a16:creationId xmlns:a16="http://schemas.microsoft.com/office/drawing/2014/main" id="{FE4B73A0-6EEC-0C4F-A117-2410BED0C74A}"/>
              </a:ext>
            </a:extLst>
          </p:cNvPr>
          <p:cNvSpPr/>
          <p:nvPr/>
        </p:nvSpPr>
        <p:spPr>
          <a:xfrm>
            <a:off x="4572000" y="4552950"/>
            <a:ext cx="133350" cy="13335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b="1">
                <a:solidFill>
                  <a:srgbClr val="0F4C5C"/>
                </a:solidFill>
              </a:rPr>
              <a:t>✓</a:t>
            </a:r>
          </a:p>
        </p:txBody>
      </p:sp>
      <p:sp>
        <p:nvSpPr>
          <p:cNvPr id="903" name="TextBox 902">
            <a:extLst>
              <a:ext uri="{FF2B5EF4-FFF2-40B4-BE49-F238E27FC236}">
                <a16:creationId xmlns:a16="http://schemas.microsoft.com/office/drawing/2014/main" id="{5D8FAD91-3AD1-9F47-8E65-185E2B3032B6}"/>
              </a:ext>
            </a:extLst>
          </p:cNvPr>
          <p:cNvSpPr txBox="1"/>
          <p:nvPr/>
        </p:nvSpPr>
        <p:spPr>
          <a:xfrm>
            <a:off x="4743450" y="4495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FFFFFF"/>
                </a:solidFill>
                <a:latin typeface="Calibri"/>
                <a:cs typeface="Calibri"/>
              </a:rPr>
              <a:t>Equal variance</a:t>
            </a:r>
          </a:p>
        </p:txBody>
      </p:sp>
      <p:sp>
        <p:nvSpPr>
          <p:cNvPr id="904" name="TextBox 903">
            <a:extLst>
              <a:ext uri="{FF2B5EF4-FFF2-40B4-BE49-F238E27FC236}">
                <a16:creationId xmlns:a16="http://schemas.microsoft.com/office/drawing/2014/main" id="{4E78A46D-57A5-2D43-B8B7-9E5EF2A22DAE}"/>
              </a:ext>
            </a:extLst>
          </p:cNvPr>
          <p:cNvSpPr txBox="1"/>
          <p:nvPr/>
        </p:nvSpPr>
        <p:spPr>
          <a:xfrm>
            <a:off x="4743450" y="468630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>
                <a:solidFill>
                  <a:srgbClr val="CDE7E2"/>
                </a:solidFill>
                <a:latin typeface="Calibri"/>
                <a:cs typeface="Calibri"/>
              </a:rPr>
              <a:t>Spread of residuals should be roughly constant.</a:t>
            </a:r>
          </a:p>
        </p:txBody>
      </p:sp>
      <p:sp>
        <p:nvSpPr>
          <p:cNvPr id="905" name="Oval 904">
            <a:extLst>
              <a:ext uri="{FF2B5EF4-FFF2-40B4-BE49-F238E27FC236}">
                <a16:creationId xmlns:a16="http://schemas.microsoft.com/office/drawing/2014/main" id="{A17A1F7E-AED9-7442-9A7C-34D9AAE91F46}"/>
              </a:ext>
            </a:extLst>
          </p:cNvPr>
          <p:cNvSpPr/>
          <p:nvPr/>
        </p:nvSpPr>
        <p:spPr>
          <a:xfrm>
            <a:off x="6858000" y="4552950"/>
            <a:ext cx="133350" cy="13335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 b="1">
                <a:solidFill>
                  <a:srgbClr val="0F4C5C"/>
                </a:solidFill>
              </a:rPr>
              <a:t>✓</a:t>
            </a:r>
          </a:p>
        </p:txBody>
      </p:sp>
      <p:sp>
        <p:nvSpPr>
          <p:cNvPr id="906" name="TextBox 905">
            <a:extLst>
              <a:ext uri="{FF2B5EF4-FFF2-40B4-BE49-F238E27FC236}">
                <a16:creationId xmlns:a16="http://schemas.microsoft.com/office/drawing/2014/main" id="{9120935F-B30C-B449-9C30-D5F369793616}"/>
              </a:ext>
            </a:extLst>
          </p:cNvPr>
          <p:cNvSpPr txBox="1"/>
          <p:nvPr/>
        </p:nvSpPr>
        <p:spPr>
          <a:xfrm>
            <a:off x="7029450" y="4495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25" b="1">
                <a:solidFill>
                  <a:srgbClr val="FFFFFF"/>
                </a:solidFill>
                <a:latin typeface="Calibri"/>
                <a:cs typeface="Calibri"/>
              </a:rPr>
              <a:t>Normality of residuals</a:t>
            </a:r>
          </a:p>
        </p:txBody>
      </p:sp>
      <p:sp>
        <p:nvSpPr>
          <p:cNvPr id="907" name="TextBox 906">
            <a:extLst>
              <a:ext uri="{FF2B5EF4-FFF2-40B4-BE49-F238E27FC236}">
                <a16:creationId xmlns:a16="http://schemas.microsoft.com/office/drawing/2014/main" id="{9F993FD2-B7CA-6944-90E9-FD060468F1BB}"/>
              </a:ext>
            </a:extLst>
          </p:cNvPr>
          <p:cNvSpPr txBox="1"/>
          <p:nvPr/>
        </p:nvSpPr>
        <p:spPr>
          <a:xfrm>
            <a:off x="7029450" y="468630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675">
                <a:solidFill>
                  <a:srgbClr val="CDE7E2"/>
                </a:solidFill>
                <a:latin typeface="Calibri"/>
                <a:cs typeface="Calibri"/>
              </a:rPr>
              <a:t>Q-Q plot points should follow the diagonal.</a:t>
            </a:r>
          </a:p>
        </p:txBody>
      </p:sp>
    </p:spTree>
    <p:extLst>
      <p:ext uri="{BB962C8B-B14F-4D97-AF65-F5344CB8AC3E}">
        <p14:creationId xmlns:p14="http://schemas.microsoft.com/office/powerpoint/2010/main" val="222896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cademic Teal">
      <a:dk1>
        <a:srgbClr val="2E3640"/>
      </a:dk1>
      <a:lt1>
        <a:srgbClr val="FFFFFF"/>
      </a:lt1>
      <a:dk2>
        <a:srgbClr val="2E6B75"/>
      </a:dk2>
      <a:lt2>
        <a:srgbClr val="EAF4F4"/>
      </a:lt2>
      <a:accent1>
        <a:srgbClr val="2E6B75"/>
      </a:accent1>
      <a:accent2>
        <a:srgbClr val="F8D377"/>
      </a:accent2>
      <a:accent3>
        <a:srgbClr val="EAF4F4"/>
      </a:accent3>
      <a:accent4>
        <a:srgbClr val="3A8A96"/>
      </a:accent4>
      <a:accent5>
        <a:srgbClr val="F5C451"/>
      </a:accent5>
      <a:accent6>
        <a:srgbClr val="1D4D55"/>
      </a:accent6>
      <a:hlink>
        <a:srgbClr val="467886"/>
      </a:hlink>
      <a:folHlink>
        <a:srgbClr val="96607D"/>
      </a:folHlink>
    </a:clrScheme>
    <a:fontScheme name="Academic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83B3C4-E356-C94D-A21E-56BE1DA6E2C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7b1e8f7-d9c9-4258-8872-f771d64c22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5473</TotalTime>
  <Words>4000</Words>
  <Application>Microsoft Macintosh PowerPoint</Application>
  <PresentationFormat>On-screen Show (16:9)</PresentationFormat>
  <Paragraphs>576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Courier New</vt:lpstr>
      <vt:lpstr>Montserrat</vt:lpstr>
      <vt:lpstr>Open Sans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Practice: Length of Stay ~ Emergency</vt:lpstr>
      <vt:lpstr>Practice: Binary predictor in lm()</vt:lpstr>
      <vt:lpstr>Practice: Smoking &amp; birth weight</vt:lpstr>
      <vt:lpstr>PowerPoint Presentation</vt:lpstr>
      <vt:lpstr>PowerPoint Presentation</vt:lpstr>
      <vt:lpstr>Practice: Reading SEs from R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Practice: Reading the t value</vt:lpstr>
      <vt:lpstr>PowerPoint Presentation</vt:lpstr>
      <vt:lpstr>PowerPoint Presentation</vt:lpstr>
      <vt:lpstr>Practice: Reading the p-value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Predictor Regression</dc:title>
  <dc:subject>PptxGenJS Presentation</dc:subject>
  <dc:creator>Statistics Lecture</dc:creator>
  <cp:lastModifiedBy>Kenechukwu Nwosu</cp:lastModifiedBy>
  <cp:revision>145</cp:revision>
  <cp:lastPrinted>2026-05-06T14:27:50Z</cp:lastPrinted>
  <dcterms:created xsi:type="dcterms:W3CDTF">2026-05-02T09:25:04Z</dcterms:created>
  <dcterms:modified xsi:type="dcterms:W3CDTF">2026-05-06T21:01:14Z</dcterms:modified>
</cp:coreProperties>
</file>