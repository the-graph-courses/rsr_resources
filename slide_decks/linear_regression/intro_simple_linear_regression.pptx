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  <p:sldId id="259" r:id="rId3"/>
    <p:sldId id="260" r:id="rId4"/>
    <p:sldId id="261" r:id="rId5"/>
    <p:sldId id="263" r:id="rId6"/>
    <p:sldId id="265" r:id="rId7"/>
    <p:sldId id="266" r:id="rId8"/>
    <p:sldId id="267" r:id="rId9"/>
    <p:sldId id="288" r:id="rId10"/>
    <p:sldId id="319" r:id="rId11"/>
    <p:sldId id="290" r:id="rId12"/>
    <p:sldId id="269" r:id="rId13"/>
    <p:sldId id="292" r:id="rId14"/>
    <p:sldId id="293" r:id="rId15"/>
    <p:sldId id="326" r:id="rId16"/>
    <p:sldId id="270" r:id="rId17"/>
    <p:sldId id="327" r:id="rId18"/>
    <p:sldId id="271" r:id="rId19"/>
    <p:sldId id="294" r:id="rId20"/>
    <p:sldId id="295" r:id="rId21"/>
    <p:sldId id="273" r:id="rId22"/>
    <p:sldId id="274" r:id="rId23"/>
    <p:sldId id="298" r:id="rId24"/>
    <p:sldId id="301" r:id="rId25"/>
    <p:sldId id="277" r:id="rId26"/>
    <p:sldId id="278" r:id="rId27"/>
    <p:sldId id="279" r:id="rId28"/>
    <p:sldId id="281" r:id="rId29"/>
    <p:sldId id="307" r:id="rId30"/>
    <p:sldId id="308" r:id="rId31"/>
    <p:sldId id="32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34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06"/>
    <p:restoredTop sz="94709"/>
  </p:normalViewPr>
  <p:slideViewPr>
    <p:cSldViewPr snapToGrid="0">
      <p:cViewPr>
        <p:scale>
          <a:sx n="128" d="100"/>
          <a:sy n="128" d="100"/>
        </p:scale>
        <p:origin x="936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Babies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F0C645"/>
              </a:solidFill>
              <a:ln w="15875">
                <a:solidFill>
                  <a:srgbClr val="2B8C8C"/>
                </a:solidFill>
              </a:ln>
            </c:spPr>
          </c:marker>
          <c:xVal>
            <c:numLit>
              <c:formatCode>General</c:formatCode>
              <c:ptCount val="8"/>
              <c:pt idx="0">
                <c:v>32</c:v>
              </c:pt>
              <c:pt idx="1">
                <c:v>36</c:v>
              </c:pt>
              <c:pt idx="2">
                <c:v>33</c:v>
              </c:pt>
              <c:pt idx="3">
                <c:v>36</c:v>
              </c:pt>
              <c:pt idx="4">
                <c:v>35</c:v>
              </c:pt>
              <c:pt idx="5">
                <c:v>36</c:v>
              </c:pt>
              <c:pt idx="6">
                <c:v>32</c:v>
              </c:pt>
              <c:pt idx="7">
                <c:v>34</c:v>
              </c:pt>
            </c:numLit>
          </c:xVal>
          <c:yVal>
            <c:numLit>
              <c:formatCode>General</c:formatCode>
              <c:ptCount val="8"/>
              <c:pt idx="0">
                <c:v>1.65</c:v>
              </c:pt>
              <c:pt idx="1">
                <c:v>2.67</c:v>
              </c:pt>
              <c:pt idx="2">
                <c:v>2.1800000000000002</c:v>
              </c:pt>
              <c:pt idx="3">
                <c:v>3.83</c:v>
              </c:pt>
              <c:pt idx="4">
                <c:v>2.5299999999999998</c:v>
              </c:pt>
              <c:pt idx="5">
                <c:v>2.64</c:v>
              </c:pt>
              <c:pt idx="6">
                <c:v>1.06</c:v>
              </c:pt>
              <c:pt idx="7">
                <c:v>3.06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B2CA-5343-83F5-5F981B5F0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37"/>
          <c:min val="31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Gestational Age (weeks)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crossBetween val="midCat"/>
      </c:valAx>
      <c:valAx>
        <c:axId val="2"/>
        <c:scaling>
          <c:orientation val="minMax"/>
          <c:max val="4.5"/>
          <c:min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Birthweight (kg)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Babies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F0C645"/>
              </a:solidFill>
              <a:ln w="15875">
                <a:solidFill>
                  <a:srgbClr val="2B8C8C"/>
                </a:solidFill>
              </a:ln>
            </c:spPr>
          </c:marker>
          <c:xVal>
            <c:numLit>
              <c:formatCode>General</c:formatCode>
              <c:ptCount val="8"/>
              <c:pt idx="0">
                <c:v>32</c:v>
              </c:pt>
              <c:pt idx="1">
                <c:v>36</c:v>
              </c:pt>
              <c:pt idx="2">
                <c:v>33</c:v>
              </c:pt>
              <c:pt idx="3">
                <c:v>36</c:v>
              </c:pt>
              <c:pt idx="4">
                <c:v>35</c:v>
              </c:pt>
              <c:pt idx="5">
                <c:v>36</c:v>
              </c:pt>
              <c:pt idx="6">
                <c:v>32</c:v>
              </c:pt>
              <c:pt idx="7">
                <c:v>34</c:v>
              </c:pt>
            </c:numLit>
          </c:xVal>
          <c:yVal>
            <c:numLit>
              <c:formatCode>General</c:formatCode>
              <c:ptCount val="8"/>
              <c:pt idx="0">
                <c:v>1.65</c:v>
              </c:pt>
              <c:pt idx="1">
                <c:v>2.67</c:v>
              </c:pt>
              <c:pt idx="2">
                <c:v>2.1800000000000002</c:v>
              </c:pt>
              <c:pt idx="3">
                <c:v>3.83</c:v>
              </c:pt>
              <c:pt idx="4">
                <c:v>2.5299999999999998</c:v>
              </c:pt>
              <c:pt idx="5">
                <c:v>2.64</c:v>
              </c:pt>
              <c:pt idx="6">
                <c:v>1.06</c:v>
              </c:pt>
              <c:pt idx="7">
                <c:v>3.06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CE71-4B4D-B970-58DE93FA2ECD}"/>
            </c:ext>
          </c:extLst>
        </c:ser>
        <c:ser>
          <c:idx val="1"/>
          <c:order val="1"/>
          <c:tx>
            <c:v>Best Fit Line</c:v>
          </c:tx>
          <c:spPr>
            <a:ln w="25400">
              <a:solidFill>
                <a:srgbClr val="2B8C8C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31</c:v>
              </c:pt>
              <c:pt idx="1">
                <c:v>37</c:v>
              </c:pt>
            </c:numLit>
          </c:xVal>
          <c:yVal>
            <c:numLit>
              <c:formatCode>General</c:formatCode>
              <c:ptCount val="2"/>
              <c:pt idx="0">
                <c:v>1.1860000000000017</c:v>
              </c:pt>
              <c:pt idx="1">
                <c:v>3.5020000000000007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CE71-4B4D-B970-58DE93FA2E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37"/>
          <c:min val="31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Gestational Age (weeks)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crossBetween val="midCat"/>
      </c:valAx>
      <c:valAx>
        <c:axId val="2"/>
        <c:scaling>
          <c:orientation val="minMax"/>
          <c:max val="4.5"/>
          <c:min val="0.5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Birthweight (kg)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scatterChart>
        <c:scatterStyle val="lineMarker"/>
        <c:varyColors val="1"/>
        <c:ser>
          <c:idx val="0"/>
          <c:order val="0"/>
          <c:tx>
            <c:v>Babies</c:v>
          </c:tx>
          <c:spPr>
            <a:ln w="0">
              <a:noFill/>
            </a:ln>
          </c:spPr>
          <c:marker>
            <c:symbol val="circle"/>
            <c:size val="8"/>
            <c:spPr>
              <a:solidFill>
                <a:srgbClr val="F0C645"/>
              </a:solidFill>
              <a:ln w="12700">
                <a:solidFill>
                  <a:srgbClr val="2B8C8C"/>
                </a:solidFill>
              </a:ln>
            </c:spPr>
          </c:marker>
          <c:xVal>
            <c:numLit>
              <c:formatCode>General</c:formatCode>
              <c:ptCount val="8"/>
              <c:pt idx="0">
                <c:v>32</c:v>
              </c:pt>
              <c:pt idx="1">
                <c:v>36</c:v>
              </c:pt>
              <c:pt idx="2">
                <c:v>33</c:v>
              </c:pt>
              <c:pt idx="3">
                <c:v>36</c:v>
              </c:pt>
              <c:pt idx="4">
                <c:v>35</c:v>
              </c:pt>
              <c:pt idx="5">
                <c:v>36</c:v>
              </c:pt>
              <c:pt idx="6">
                <c:v>32</c:v>
              </c:pt>
              <c:pt idx="7">
                <c:v>34</c:v>
              </c:pt>
            </c:numLit>
          </c:xVal>
          <c:yVal>
            <c:numLit>
              <c:formatCode>General</c:formatCode>
              <c:ptCount val="8"/>
              <c:pt idx="0">
                <c:v>1.65</c:v>
              </c:pt>
              <c:pt idx="1">
                <c:v>2.67</c:v>
              </c:pt>
              <c:pt idx="2">
                <c:v>2.1800000000000002</c:v>
              </c:pt>
              <c:pt idx="3">
                <c:v>3.83</c:v>
              </c:pt>
              <c:pt idx="4">
                <c:v>2.5299999999999998</c:v>
              </c:pt>
              <c:pt idx="5">
                <c:v>2.64</c:v>
              </c:pt>
              <c:pt idx="6">
                <c:v>1.06</c:v>
              </c:pt>
              <c:pt idx="7">
                <c:v>3.06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A7C2-3349-90F3-3E032FD447F7}"/>
            </c:ext>
          </c:extLst>
        </c:ser>
        <c:ser>
          <c:idx val="1"/>
          <c:order val="1"/>
          <c:tx>
            <c:v>Extrapolation</c:v>
          </c:tx>
          <c:spPr>
            <a:ln w="19050">
              <a:solidFill>
                <a:srgbClr val="2B8C8C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31</c:v>
              </c:pt>
            </c:numLit>
          </c:xVal>
          <c:yVal>
            <c:numLit>
              <c:formatCode>General</c:formatCode>
              <c:ptCount val="2"/>
              <c:pt idx="0">
                <c:v>-10.78</c:v>
              </c:pt>
              <c:pt idx="1">
                <c:v>1.1860000000000017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A7C2-3349-90F3-3E032FD447F7}"/>
            </c:ext>
          </c:extLst>
        </c:ser>
        <c:ser>
          <c:idx val="2"/>
          <c:order val="2"/>
          <c:tx>
            <c:v>Best Fit Line</c:v>
          </c:tx>
          <c:spPr>
            <a:ln w="25400">
              <a:solidFill>
                <a:srgbClr val="2B8C8C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31</c:v>
              </c:pt>
              <c:pt idx="1">
                <c:v>37</c:v>
              </c:pt>
            </c:numLit>
          </c:xVal>
          <c:yVal>
            <c:numLit>
              <c:formatCode>General</c:formatCode>
              <c:ptCount val="2"/>
              <c:pt idx="0">
                <c:v>1.1860000000000017</c:v>
              </c:pt>
              <c:pt idx="1">
                <c:v>3.5020000000000007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2-A7C2-3349-90F3-3E032FD447F7}"/>
            </c:ext>
          </c:extLst>
        </c:ser>
        <c:ser>
          <c:idx val="3"/>
          <c:order val="3"/>
          <c:tx>
            <c:v>Intercept</c:v>
          </c:tx>
          <c:spPr>
            <a:ln w="0">
              <a:noFill/>
            </a:ln>
          </c:spPr>
          <c:marker>
            <c:symbol val="circle"/>
            <c:size val="10"/>
            <c:spPr>
              <a:solidFill>
                <a:srgbClr val="E85D5D"/>
              </a:solidFill>
              <a:ln>
                <a:noFill/>
              </a:ln>
            </c:spPr>
          </c:marker>
          <c:xVal>
            <c:numLit>
              <c:formatCode>General</c:formatCode>
              <c:ptCount val="1"/>
              <c:pt idx="0">
                <c:v>0</c:v>
              </c:pt>
            </c:numLit>
          </c:xVal>
          <c:yVal>
            <c:numLit>
              <c:formatCode>General</c:formatCode>
              <c:ptCount val="1"/>
              <c:pt idx="0">
                <c:v>-10.78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3-A7C2-3349-90F3-3E032FD447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"/>
        <c:axId val="2"/>
      </c:scatterChart>
      <c:valAx>
        <c:axId val="1"/>
        <c:scaling>
          <c:orientation val="minMax"/>
          <c:max val="4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400" b="1"/>
                </a:pPr>
                <a:r>
                  <a:rPr lang="en-US" sz="1400" b="1"/>
                  <a:t>Weeks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"/>
        <c:crosses val="autoZero"/>
        <c:crossBetween val="midCat"/>
      </c:valAx>
      <c:valAx>
        <c:axId val="2"/>
        <c:scaling>
          <c:orientation val="minMax"/>
          <c:max val="5"/>
          <c:min val="-12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 sz="1400" b="1"/>
                </a:pPr>
                <a:r>
                  <a:rPr lang="en-US" sz="1400" b="1"/>
                  <a:t>Weight (kg)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"/>
        <c:crosses val="autoZero"/>
        <c:crossBetween val="midCat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0AFF4-3E5F-28A8-0343-FF5265BD2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1AF47-1670-120F-476F-CC6ED1E15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4930C-CECE-439A-58EE-FFDC05E8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AB653-38E7-068B-803E-C6A1265D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F5A21-330B-AA2D-36DD-FDD3B745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45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953F-D32F-8959-A41C-42CCA59CB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D017D-9EA4-A575-E638-9CC6716CB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BEAED-98F8-369B-C04B-B50855004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CFE23-0EE3-1252-D5FD-8E7BF2AE9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2416E2-96CE-B8B1-DFA0-E0831DB4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2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6E756-925D-1E8B-1CC6-ABCD3CF63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16B71-B36E-7D4A-AAF1-CCA566D6D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66A47-AF96-EB15-C636-AEE66141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361E7-82F8-5749-15F2-9C7B1E2D0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97369-788B-A693-29FE-691C61410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00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60043-2E90-73E6-29C2-E8020245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E6FA-91DC-BE6E-E0BA-05914646A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81093-3ABA-0BC4-B8E8-85C0CB50F9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F9AB6A-22AF-8ACC-501C-3BD66390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B89E6B-7439-83B0-7A6E-5A7D0541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AC7B4-C1B7-5522-C0CC-BB216F9C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369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8B269-8F9C-306D-A2B4-CAA81EB4F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86E5C-074C-C894-32DF-5158FD6C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4C6C0-0580-63D5-E8CA-7EDE668E3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04E23C-33EF-110E-630E-61FD64B4F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A343B-8D6E-0891-D58B-068D1ECEE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E7508-C8E2-8239-7919-9715862E7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C85E4-A6D6-FBC3-8F46-64B992F2A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4E6AD9-BB66-24D6-36D5-07B19C67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28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1212B-667D-72CF-EC32-2A8BD9144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6E01C-FE41-7524-B5A7-B3142514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E0B5E-14DF-E65C-594B-F30D712B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54BFB-D0D5-6A33-7C24-E3F6A42A1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2E9C04-21AB-B4E4-99D4-2558401F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632E2C-905F-D0D2-8C99-0E7E93CA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A8783-4A32-3AC1-1A1B-FCFEC2B8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133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C434-5C4C-8A4E-2B6B-637D98D8C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CE0BA-6319-6BBC-C1A9-BE568514D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1C358-4819-A609-85FD-96141EA05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51F0F-0B2E-595C-9EA0-C0559877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D4FC32-2130-A7CA-CE26-607D1F49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1CB1D-B50F-E7A4-DA6D-C8A115AB5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61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C41B-1725-8B6C-D2D5-8F64097F7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F1B8DC-FDA9-3073-0E16-6E00A0EF3F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2B4BA-2766-2592-B670-43375973E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22415-A1AA-8441-8116-8AED82DA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99258E-135C-5415-3621-E360A1AC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FBC48-0E04-4400-3B05-DE54B8BB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46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014AC-768A-D142-13B0-A3EA6085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FF175-1F6F-AB40-863F-AAFE3E3AD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7CABA-80A6-6A18-E869-381190644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8C708-D413-F447-7C66-EDFBE42C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FFAD6-5FAC-FA13-C4BD-B3628126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26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3D9C15-1408-B507-40B4-0C725209E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D4BCA9-AD28-FC36-B4AE-57708E426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1D66E-E011-6A6C-4C68-139305E90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669E9-830E-9D8C-57A8-DEF8A02FD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7C764-E592-F509-7065-78725F75A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917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BF6E5-0D55-1B0C-03D0-449D025C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6E061-262D-4A71-FF8B-E1B67D710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6F6B5-223B-C056-E62D-A1094A79F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251ED-0584-A44E-996D-5AEAC92E9A8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A60F-A2D0-E447-BEF4-5B86DEE71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4BE13-1B3B-023F-BC4F-7076FF361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524010-241B-0A42-96B9-7DEA9CD572A1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YellowBar"/>
          <p:cNvSpPr/>
          <p:nvPr userDrawn="1"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alBar"/>
          <p:cNvSpPr/>
          <p:nvPr userDrawn="1"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006D7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Yellow Top Bar"/>
          <p:cNvSpPr>
            <a:spLocks noGrp="1"/>
          </p:cNvSpPr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" name="TopAccentBar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F0C6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ottomAccentBar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B8C8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4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5C5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2D2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A1A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A1A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A1A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1A1A1A"/>
          </a:solidFill>
        </a:defRPr>
      </a:defPPr>
      <a:lvl1pPr marL="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1A1A1A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smos.com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410635-4CD3-6443-AA62-8A18EC6AC685}"/>
              </a:ext>
            </a:extLst>
          </p:cNvPr>
          <p:cNvSpPr txBox="1"/>
          <p:nvPr/>
        </p:nvSpPr>
        <p:spPr>
          <a:xfrm>
            <a:off x="3500437" y="1913187"/>
            <a:ext cx="7620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400" b="1" dirty="0">
                <a:solidFill>
                  <a:srgbClr val="1A5C5C"/>
                </a:solidFill>
                <a:latin typeface="Montserrat"/>
              </a:rPr>
              <a:t>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9E575-DDB2-F946-BF26-EF8C03A449B0}"/>
              </a:ext>
            </a:extLst>
          </p:cNvPr>
          <p:cNvSpPr txBox="1"/>
          <p:nvPr/>
        </p:nvSpPr>
        <p:spPr>
          <a:xfrm>
            <a:off x="3175000" y="2877469"/>
            <a:ext cx="711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Understanding Relationships Between Variables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91D7ABF-C52A-2C44-AA24-9FF1E3742BA3}"/>
              </a:ext>
            </a:extLst>
          </p:cNvPr>
          <p:cNvSpPr/>
          <p:nvPr/>
        </p:nvSpPr>
        <p:spPr>
          <a:xfrm>
            <a:off x="5461000" y="3683000"/>
            <a:ext cx="1270000" cy="1270000"/>
          </a:xfrm>
          <a:prstGeom prst="ellipse">
            <a:avLst/>
          </a:prstGeom>
          <a:solidFill>
            <a:srgbClr val="E8F4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D1166A-6786-AA42-B1C2-092879F8D12C}"/>
              </a:ext>
            </a:extLst>
          </p:cNvPr>
          <p:cNvSpPr/>
          <p:nvPr/>
        </p:nvSpPr>
        <p:spPr>
          <a:xfrm>
            <a:off x="5689600" y="4546600"/>
            <a:ext cx="101600" cy="101600"/>
          </a:xfrm>
          <a:prstGeom prst="ellipse">
            <a:avLst/>
          </a:prstGeom>
          <a:solidFill>
            <a:srgbClr val="F0C645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0E8DAD-9062-2348-BF0B-F9F6AFF905B9}"/>
              </a:ext>
            </a:extLst>
          </p:cNvPr>
          <p:cNvSpPr/>
          <p:nvPr/>
        </p:nvSpPr>
        <p:spPr>
          <a:xfrm>
            <a:off x="5842000" y="4381500"/>
            <a:ext cx="101600" cy="101600"/>
          </a:xfrm>
          <a:prstGeom prst="ellipse">
            <a:avLst/>
          </a:prstGeom>
          <a:solidFill>
            <a:srgbClr val="F0C645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A07136-69FC-7C44-83B7-C75C5D9EADED}"/>
              </a:ext>
            </a:extLst>
          </p:cNvPr>
          <p:cNvSpPr/>
          <p:nvPr/>
        </p:nvSpPr>
        <p:spPr>
          <a:xfrm>
            <a:off x="5994400" y="4292600"/>
            <a:ext cx="101600" cy="101600"/>
          </a:xfrm>
          <a:prstGeom prst="ellipse">
            <a:avLst/>
          </a:prstGeom>
          <a:solidFill>
            <a:srgbClr val="F0C645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67EAC4-B37A-BA42-9224-51A499E8E504}"/>
              </a:ext>
            </a:extLst>
          </p:cNvPr>
          <p:cNvSpPr/>
          <p:nvPr/>
        </p:nvSpPr>
        <p:spPr>
          <a:xfrm>
            <a:off x="6197600" y="4127500"/>
            <a:ext cx="101600" cy="101600"/>
          </a:xfrm>
          <a:prstGeom prst="ellipse">
            <a:avLst/>
          </a:prstGeom>
          <a:solidFill>
            <a:srgbClr val="F0C645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25D2F6-D3BB-5540-9E71-2EBA461410C8}"/>
              </a:ext>
            </a:extLst>
          </p:cNvPr>
          <p:cNvSpPr/>
          <p:nvPr/>
        </p:nvSpPr>
        <p:spPr>
          <a:xfrm>
            <a:off x="6400800" y="3937000"/>
            <a:ext cx="101600" cy="101600"/>
          </a:xfrm>
          <a:prstGeom prst="ellipse">
            <a:avLst/>
          </a:prstGeom>
          <a:solidFill>
            <a:srgbClr val="F0C645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4E7085-0694-6346-BEB6-ED85A91A0ACB}"/>
              </a:ext>
            </a:extLst>
          </p:cNvPr>
          <p:cNvCxnSpPr>
            <a:cxnSpLocks/>
            <a:stCxn id="4" idx="3"/>
            <a:endCxn id="4" idx="7"/>
          </p:cNvCxnSpPr>
          <p:nvPr/>
        </p:nvCxnSpPr>
        <p:spPr>
          <a:xfrm flipV="1">
            <a:off x="5646987" y="3868987"/>
            <a:ext cx="898026" cy="898026"/>
          </a:xfrm>
          <a:prstGeom prst="straightConnector1">
            <a:avLst/>
          </a:prstGeom>
          <a:ln w="254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773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D3B0C8-B729-9B49-8244-39CF42B6AEA9}"/>
              </a:ext>
            </a:extLst>
          </p:cNvPr>
          <p:cNvSpPr txBox="1"/>
          <p:nvPr/>
        </p:nvSpPr>
        <p:spPr>
          <a:xfrm>
            <a:off x="635000" y="2540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5C5C"/>
                </a:solidFill>
                <a:latin typeface="Montserrat"/>
              </a:rPr>
              <a:t>Learning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AB011-8649-2448-A802-C3C991B364C4}"/>
              </a:ext>
            </a:extLst>
          </p:cNvPr>
          <p:cNvSpPr txBox="1"/>
          <p:nvPr/>
        </p:nvSpPr>
        <p:spPr>
          <a:xfrm>
            <a:off x="635000" y="863600"/>
            <a:ext cx="762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By the end of this lesson, you will be able to: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65170B-5FD6-664E-B771-76174BE3B0A0}"/>
              </a:ext>
            </a:extLst>
          </p:cNvPr>
          <p:cNvSpPr/>
          <p:nvPr/>
        </p:nvSpPr>
        <p:spPr>
          <a:xfrm>
            <a:off x="698500" y="1397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F9A2EB-7D3B-0046-BE54-A8DC4D81CC34}"/>
              </a:ext>
            </a:extLst>
          </p:cNvPr>
          <p:cNvSpPr txBox="1"/>
          <p:nvPr/>
        </p:nvSpPr>
        <p:spPr>
          <a:xfrm>
            <a:off x="1333500" y="1333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Explain what linear regression does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630C0-21EE-C945-BFDD-2C3B94F60954}"/>
              </a:ext>
            </a:extLst>
          </p:cNvPr>
          <p:cNvSpPr txBox="1"/>
          <p:nvPr/>
        </p:nvSpPr>
        <p:spPr>
          <a:xfrm>
            <a:off x="1333500" y="1689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Models relationship between two numeric variables with a "best fit" line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468C63-42CB-514C-8934-37BD2B3A4E32}"/>
              </a:ext>
            </a:extLst>
          </p:cNvPr>
          <p:cNvSpPr/>
          <p:nvPr/>
        </p:nvSpPr>
        <p:spPr>
          <a:xfrm>
            <a:off x="698500" y="2413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3224D4-C087-5A4B-991C-FB84416767D7}"/>
              </a:ext>
            </a:extLst>
          </p:cNvPr>
          <p:cNvSpPr txBox="1"/>
          <p:nvPr/>
        </p:nvSpPr>
        <p:spPr>
          <a:xfrm>
            <a:off x="1333500" y="2349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Interpret the slope of a regression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513266-FD78-9341-9009-78DE6AC1B22E}"/>
              </a:ext>
            </a:extLst>
          </p:cNvPr>
          <p:cNvSpPr txBox="1"/>
          <p:nvPr/>
        </p:nvSpPr>
        <p:spPr>
          <a:xfrm>
            <a:off x="1333500" y="2705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"For every 1-unit increase in X, Y changes by [slope] units, on average"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13B5191-D85D-6B44-93DE-0B79944A14CB}"/>
              </a:ext>
            </a:extLst>
          </p:cNvPr>
          <p:cNvSpPr/>
          <p:nvPr/>
        </p:nvSpPr>
        <p:spPr>
          <a:xfrm>
            <a:off x="698500" y="3429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C443D-7AE0-FB43-B398-15B3A3F73434}"/>
              </a:ext>
            </a:extLst>
          </p:cNvPr>
          <p:cNvSpPr txBox="1"/>
          <p:nvPr/>
        </p:nvSpPr>
        <p:spPr>
          <a:xfrm>
            <a:off x="1333500" y="3365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Interpret the intercept of a regression 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95EBEA-E774-434E-A167-1C715CDCCBB2}"/>
              </a:ext>
            </a:extLst>
          </p:cNvPr>
          <p:cNvSpPr txBox="1"/>
          <p:nvPr/>
        </p:nvSpPr>
        <p:spPr>
          <a:xfrm>
            <a:off x="1333500" y="3721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Where the line crosses the Y-axis (predicted Y when X = 0)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F39BD19-BD4F-2843-AC5C-04ADDE78093A}"/>
              </a:ext>
            </a:extLst>
          </p:cNvPr>
          <p:cNvSpPr/>
          <p:nvPr/>
        </p:nvSpPr>
        <p:spPr>
          <a:xfrm>
            <a:off x="698500" y="4445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E68BAF-4BCA-AA42-AE37-8BFA07B0383F}"/>
              </a:ext>
            </a:extLst>
          </p:cNvPr>
          <p:cNvSpPr txBox="1"/>
          <p:nvPr/>
        </p:nvSpPr>
        <p:spPr>
          <a:xfrm>
            <a:off x="1333500" y="4381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Use the regression equation to make predictions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84B7AD-CF39-104C-B7DF-EFDB1AE301C0}"/>
              </a:ext>
            </a:extLst>
          </p:cNvPr>
          <p:cNvSpPr txBox="1"/>
          <p:nvPr/>
        </p:nvSpPr>
        <p:spPr>
          <a:xfrm>
            <a:off x="1333500" y="4737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Plug values into: y = intercept + slope × x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1BAB0E0-6E9D-6F4F-8938-564391C19079}"/>
              </a:ext>
            </a:extLst>
          </p:cNvPr>
          <p:cNvSpPr/>
          <p:nvPr/>
        </p:nvSpPr>
        <p:spPr>
          <a:xfrm>
            <a:off x="698500" y="5461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B5B74F-EABD-A346-9325-ED8B8AB6760D}"/>
              </a:ext>
            </a:extLst>
          </p:cNvPr>
          <p:cNvSpPr txBox="1"/>
          <p:nvPr/>
        </p:nvSpPr>
        <p:spPr>
          <a:xfrm>
            <a:off x="1333500" y="5397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Fit a linear regression model in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17F804-8C7A-474B-A90A-031B7F19547F}"/>
              </a:ext>
            </a:extLst>
          </p:cNvPr>
          <p:cNvSpPr txBox="1"/>
          <p:nvPr/>
        </p:nvSpPr>
        <p:spPr>
          <a:xfrm>
            <a:off x="1333500" y="5753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Use lm() function and interpret the summary() output</a:t>
            </a:r>
          </a:p>
        </p:txBody>
      </p:sp>
    </p:spTree>
    <p:extLst>
      <p:ext uri="{BB962C8B-B14F-4D97-AF65-F5344CB8AC3E}">
        <p14:creationId xmlns:p14="http://schemas.microsoft.com/office/powerpoint/2010/main" val="2906627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DE80AD-E750-7343-9DF0-BB852DF5CF76}"/>
              </a:ext>
            </a:extLst>
          </p:cNvPr>
          <p:cNvSpPr txBox="1"/>
          <p:nvPr/>
        </p:nvSpPr>
        <p:spPr>
          <a:xfrm>
            <a:off x="635000" y="2540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1A5C5C"/>
                </a:solidFill>
                <a:latin typeface="Montserrat"/>
              </a:rPr>
              <a:t>Why Linear Regression?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19DEC-990A-2C4F-BDDE-63849DD00170}"/>
              </a:ext>
            </a:extLst>
          </p:cNvPr>
          <p:cNvSpPr txBox="1"/>
          <p:nvPr/>
        </p:nvSpPr>
        <p:spPr>
          <a:xfrm>
            <a:off x="635000" y="1016000"/>
            <a:ext cx="10922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It's often useful to understand the </a:t>
            </a:r>
          </a:p>
          <a:p>
            <a:pPr algn="l"/>
            <a:r>
              <a:rPr lang="en-US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relationships between two quantities/variables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693CCF-3B18-1740-9AC2-2A0E2E12235B}"/>
              </a:ext>
            </a:extLst>
          </p:cNvPr>
          <p:cNvSpPr txBox="1"/>
          <p:nvPr/>
        </p:nvSpPr>
        <p:spPr>
          <a:xfrm>
            <a:off x="635000" y="20193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Linear regression allows us to: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A06BDC-7BD1-424F-BB64-5F423A3ECE4C}"/>
              </a:ext>
            </a:extLst>
          </p:cNvPr>
          <p:cNvSpPr/>
          <p:nvPr/>
        </p:nvSpPr>
        <p:spPr>
          <a:xfrm>
            <a:off x="889000" y="2400300"/>
            <a:ext cx="177800" cy="1778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DEA10-3D4A-A449-9045-49D8806D6902}"/>
              </a:ext>
            </a:extLst>
          </p:cNvPr>
          <p:cNvSpPr txBox="1"/>
          <p:nvPr/>
        </p:nvSpPr>
        <p:spPr>
          <a:xfrm>
            <a:off x="1206500" y="2311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Quantify relationships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6CCB1E-8C84-F143-81FB-69F037D04138}"/>
              </a:ext>
            </a:extLst>
          </p:cNvPr>
          <p:cNvSpPr txBox="1"/>
          <p:nvPr/>
        </p:nvSpPr>
        <p:spPr>
          <a:xfrm>
            <a:off x="1397000" y="27432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"How much lung capacity do you lose per year of smoking?"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E5B1F4-5E75-314D-A574-188D8A1E2F7E}"/>
              </a:ext>
            </a:extLst>
          </p:cNvPr>
          <p:cNvSpPr txBox="1"/>
          <p:nvPr/>
        </p:nvSpPr>
        <p:spPr>
          <a:xfrm>
            <a:off x="1397000" y="30988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"How many grams does a baby gain per week of gestation?"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17E8-64B5-B541-994B-03227FED335F}"/>
              </a:ext>
            </a:extLst>
          </p:cNvPr>
          <p:cNvSpPr/>
          <p:nvPr/>
        </p:nvSpPr>
        <p:spPr>
          <a:xfrm>
            <a:off x="889000" y="3860800"/>
            <a:ext cx="177800" cy="1778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C1831D-EDDD-F043-BE75-A8096D8B8DE9}"/>
              </a:ext>
            </a:extLst>
          </p:cNvPr>
          <p:cNvSpPr txBox="1"/>
          <p:nvPr/>
        </p:nvSpPr>
        <p:spPr>
          <a:xfrm>
            <a:off x="1206500" y="37719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Make predictions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1FD674-7C3E-E042-AC64-15C19D85A8F1}"/>
              </a:ext>
            </a:extLst>
          </p:cNvPr>
          <p:cNvSpPr txBox="1"/>
          <p:nvPr/>
        </p:nvSpPr>
        <p:spPr>
          <a:xfrm>
            <a:off x="1397000" y="42037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"What lung capacity would we expect for a 20-year smoker?"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B85662-5376-B442-8594-D2D773FC02F9}"/>
              </a:ext>
            </a:extLst>
          </p:cNvPr>
          <p:cNvSpPr txBox="1"/>
          <p:nvPr/>
        </p:nvSpPr>
        <p:spPr>
          <a:xfrm>
            <a:off x="1397000" y="4559300"/>
            <a:ext cx="952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"What weight should we expect for a baby born at 34 weeks?"</a:t>
            </a:r>
          </a:p>
        </p:txBody>
      </p:sp>
    </p:spTree>
    <p:extLst>
      <p:ext uri="{BB962C8B-B14F-4D97-AF65-F5344CB8AC3E}">
        <p14:creationId xmlns:p14="http://schemas.microsoft.com/office/powerpoint/2010/main" val="1923856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E3B0E-BD39-5E40-96CD-CDE840AB2DF7}"/>
              </a:ext>
            </a:extLst>
          </p:cNvPr>
          <p:cNvSpPr txBox="1"/>
          <p:nvPr/>
        </p:nvSpPr>
        <p:spPr>
          <a:xfrm>
            <a:off x="635000" y="228600"/>
            <a:ext cx="635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Our Question &amp; Data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DC05B25-965C-F243-ADA4-6CB3E16B6912}"/>
              </a:ext>
            </a:extLst>
          </p:cNvPr>
          <p:cNvSpPr/>
          <p:nvPr/>
        </p:nvSpPr>
        <p:spPr>
          <a:xfrm>
            <a:off x="508000" y="825500"/>
            <a:ext cx="5080000" cy="508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How does gestational age relate to birthweight?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F174F0-1517-A941-90FD-74D353ABE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138686"/>
              </p:ext>
            </p:extLst>
          </p:nvPr>
        </p:nvGraphicFramePr>
        <p:xfrm>
          <a:off x="508000" y="1460500"/>
          <a:ext cx="5079999" cy="3365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3035011402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953424676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3182969642"/>
                    </a:ext>
                  </a:extLst>
                </a:gridCol>
              </a:tblGrid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Baby</a:t>
                      </a:r>
                    </a:p>
                  </a:txBody>
                  <a:tcPr>
                    <a:solidFill>
                      <a:srgbClr val="2B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Weeks</a:t>
                      </a:r>
                    </a:p>
                  </a:txBody>
                  <a:tcPr>
                    <a:solidFill>
                      <a:srgbClr val="2B8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Weight (kg)</a:t>
                      </a:r>
                    </a:p>
                  </a:txBody>
                  <a:tcPr>
                    <a:solidFill>
                      <a:srgbClr val="2B8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057324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1.65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411254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2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36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2.67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325080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2.18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21482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4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36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3.83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821314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2.53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126008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6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36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2.64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71608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1.06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18115"/>
                  </a:ext>
                </a:extLst>
              </a:tr>
              <a:tr h="373944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8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34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rgbClr val="2D2D2D"/>
                          </a:solidFill>
                          <a:latin typeface="Open Sans"/>
                          <a:ea typeface="Open Sans"/>
                          <a:cs typeface="Open Sans"/>
                        </a:rPr>
                        <a:t>3.06</a:t>
                      </a:r>
                    </a:p>
                  </a:txBody>
                  <a:tcPr>
                    <a:solidFill>
                      <a:srgbClr val="F0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033089"/>
                  </a:ext>
                </a:extLst>
              </a:tr>
            </a:tbl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B2F8FC-1794-2D4F-8415-05B9D56CCC1D}"/>
              </a:ext>
            </a:extLst>
          </p:cNvPr>
          <p:cNvSpPr/>
          <p:nvPr/>
        </p:nvSpPr>
        <p:spPr>
          <a:xfrm>
            <a:off x="6096000" y="825500"/>
            <a:ext cx="5715000" cy="2159000"/>
          </a:xfrm>
          <a:prstGeom prst="round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DFB331-C727-FE42-BF1A-738C67DBCA5B}"/>
              </a:ext>
            </a:extLst>
          </p:cNvPr>
          <p:cNvSpPr txBox="1"/>
          <p:nvPr/>
        </p:nvSpPr>
        <p:spPr>
          <a:xfrm>
            <a:off x="6286500" y="952500"/>
            <a:ext cx="5334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pacman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::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p_load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(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tidyverse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, 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openintro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)
data(births14)
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preemie_data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 &lt;- births14 %&gt;%
  filter(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premie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 == "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premie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") %&gt;%
  </a:t>
            </a:r>
            <a:r>
              <a:rPr lang="en-US" sz="1400" dirty="0" err="1">
                <a:solidFill>
                  <a:srgbClr val="A8DB8F"/>
                </a:solidFill>
                <a:latin typeface="Consolas"/>
                <a:cs typeface="Consolas"/>
              </a:rPr>
              <a:t>slice_tail</a:t>
            </a:r>
            <a:r>
              <a:rPr lang="en-US" sz="1400" dirty="0">
                <a:solidFill>
                  <a:srgbClr val="A8DB8F"/>
                </a:solidFill>
                <a:latin typeface="Consolas"/>
                <a:cs typeface="Consolas"/>
              </a:rPr>
              <a:t>(n = 8) %&gt;%
  select(weeks, weight)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CF0B37D-815F-B44B-9E46-FFDE015A6190}"/>
              </a:ext>
            </a:extLst>
          </p:cNvPr>
          <p:cNvSpPr/>
          <p:nvPr/>
        </p:nvSpPr>
        <p:spPr>
          <a:xfrm>
            <a:off x="6096000" y="3149600"/>
            <a:ext cx="5715000" cy="1270000"/>
          </a:xfrm>
          <a:prstGeom prst="roundRect">
            <a:avLst/>
          </a:prstGeom>
          <a:solidFill>
            <a:srgbClr val="FFF8E1"/>
          </a:solidFill>
          <a:ln w="1905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71C539-5C2F-384E-8218-A9728199C5C7}"/>
              </a:ext>
            </a:extLst>
          </p:cNvPr>
          <p:cNvSpPr txBox="1"/>
          <p:nvPr/>
        </p:nvSpPr>
        <p:spPr>
          <a:xfrm>
            <a:off x="6248400" y="3238500"/>
            <a:ext cx="53975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Data: CDC 2014 US birth records. Every year, the US releases birth data to the public. This sample of 1,000 births is available in R via the openintro package. We selected 8 preemies for simplicity.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C7E093-B98A-2C46-9F97-CB0D34D8907F}"/>
              </a:ext>
            </a:extLst>
          </p:cNvPr>
          <p:cNvSpPr txBox="1"/>
          <p:nvPr/>
        </p:nvSpPr>
        <p:spPr>
          <a:xfrm>
            <a:off x="508000" y="5016500"/>
            <a:ext cx="1130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1A5C5C"/>
                </a:solidFill>
                <a:latin typeface="Open Sans"/>
                <a:ea typeface="Open Sans"/>
                <a:cs typeface="Open Sans"/>
              </a:rPr>
              <a:t>We want to know:  Is there a relationship?  |  How strong?  |  Can we quantify it?</a:t>
            </a:r>
          </a:p>
        </p:txBody>
      </p:sp>
    </p:spTree>
    <p:extLst>
      <p:ext uri="{BB962C8B-B14F-4D97-AF65-F5344CB8AC3E}">
        <p14:creationId xmlns:p14="http://schemas.microsoft.com/office/powerpoint/2010/main" val="171139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F61836-8999-EC47-82F8-291374B15022}"/>
              </a:ext>
            </a:extLst>
          </p:cNvPr>
          <p:cNvSpPr txBox="1"/>
          <p:nvPr/>
        </p:nvSpPr>
        <p:spPr>
          <a:xfrm>
            <a:off x="635000" y="2286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Visualizing the Relationship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B78461D-D3D4-C14E-87A1-8EF045C3180B}"/>
              </a:ext>
            </a:extLst>
          </p:cNvPr>
          <p:cNvSpPr/>
          <p:nvPr/>
        </p:nvSpPr>
        <p:spPr>
          <a:xfrm>
            <a:off x="9779000" y="2794000"/>
            <a:ext cx="2159000" cy="762000"/>
          </a:xfrm>
          <a:prstGeom prst="roundRect">
            <a:avLst/>
          </a:prstGeom>
          <a:solidFill>
            <a:srgbClr val="E8F4F4"/>
          </a:solidFill>
          <a:ln w="127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i="1">
                <a:solidFill>
                  <a:srgbClr val="1A5C5C"/>
                </a:solidFill>
                <a:latin typeface="Open Sans"/>
                <a:ea typeface="Open Sans"/>
                <a:cs typeface="Open Sans"/>
              </a:rPr>
              <a:t>There seems to be
a pattern...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457200" y="914400"/>
          <a:ext cx="82296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29815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278847-7E87-0141-9B6F-B44ABDD81825}"/>
              </a:ext>
            </a:extLst>
          </p:cNvPr>
          <p:cNvSpPr txBox="1"/>
          <p:nvPr/>
        </p:nvSpPr>
        <p:spPr>
          <a:xfrm>
            <a:off x="635000" y="228600"/>
            <a:ext cx="635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Can We Fit a Line?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6D693-C3D3-854E-9F41-52B5715FDA81}"/>
              </a:ext>
            </a:extLst>
          </p:cNvPr>
          <p:cNvSpPr txBox="1"/>
          <p:nvPr/>
        </p:nvSpPr>
        <p:spPr>
          <a:xfrm>
            <a:off x="635000" y="787400"/>
            <a:ext cx="825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 straight line can summarize the pattern in this cloud of points.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A06C21-5B84-9044-8865-D392DE698198}"/>
              </a:ext>
            </a:extLst>
          </p:cNvPr>
          <p:cNvSpPr/>
          <p:nvPr/>
        </p:nvSpPr>
        <p:spPr>
          <a:xfrm>
            <a:off x="10160000" y="2794000"/>
            <a:ext cx="1524000" cy="6985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Montserrat"/>
              </a:rPr>
              <a:t>Yes!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304800" y="1143000"/>
          <a:ext cx="82296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273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868A06-15F8-3948-810D-5E824BA1DAE1}"/>
              </a:ext>
            </a:extLst>
          </p:cNvPr>
          <p:cNvSpPr txBox="1"/>
          <p:nvPr/>
        </p:nvSpPr>
        <p:spPr>
          <a:xfrm>
            <a:off x="635000" y="228600"/>
            <a:ext cx="635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Many Possible Lines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F719B1-FA54-754E-8AE3-563468A64747}"/>
              </a:ext>
            </a:extLst>
          </p:cNvPr>
          <p:cNvSpPr/>
          <p:nvPr/>
        </p:nvSpPr>
        <p:spPr>
          <a:xfrm>
            <a:off x="508000" y="1016000"/>
            <a:ext cx="6096000" cy="5080000"/>
          </a:xfrm>
          <a:prstGeom prst="rect">
            <a:avLst/>
          </a:prstGeom>
          <a:solidFill>
            <a:srgbClr val="F5F5F0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5BAC4D-2BBC-AD4F-9B5F-A3E223099C88}"/>
              </a:ext>
            </a:extLst>
          </p:cNvPr>
          <p:cNvSpPr/>
          <p:nvPr/>
        </p:nvSpPr>
        <p:spPr>
          <a:xfrm>
            <a:off x="1460500" y="45720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6E62355-C9A5-934A-812D-8320C15E5945}"/>
              </a:ext>
            </a:extLst>
          </p:cNvPr>
          <p:cNvSpPr/>
          <p:nvPr/>
        </p:nvSpPr>
        <p:spPr>
          <a:xfrm>
            <a:off x="5524500" y="32766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52650B-55F8-EF41-B432-7C5A1F0227A0}"/>
              </a:ext>
            </a:extLst>
          </p:cNvPr>
          <p:cNvSpPr/>
          <p:nvPr/>
        </p:nvSpPr>
        <p:spPr>
          <a:xfrm>
            <a:off x="2476500" y="38989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67AC74-5528-5A4A-85FD-64FB1A8C1AEE}"/>
              </a:ext>
            </a:extLst>
          </p:cNvPr>
          <p:cNvSpPr/>
          <p:nvPr/>
        </p:nvSpPr>
        <p:spPr>
          <a:xfrm>
            <a:off x="5524500" y="18034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27EB504-752B-5243-BDC2-0ED2E5CF29FF}"/>
              </a:ext>
            </a:extLst>
          </p:cNvPr>
          <p:cNvSpPr/>
          <p:nvPr/>
        </p:nvSpPr>
        <p:spPr>
          <a:xfrm>
            <a:off x="4508500" y="34544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73C6B4-5137-5647-BFF2-E8740A32B427}"/>
              </a:ext>
            </a:extLst>
          </p:cNvPr>
          <p:cNvSpPr/>
          <p:nvPr/>
        </p:nvSpPr>
        <p:spPr>
          <a:xfrm>
            <a:off x="5524500" y="33147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1F556CB-4B84-BF41-B01D-3FB9E6F23335}"/>
              </a:ext>
            </a:extLst>
          </p:cNvPr>
          <p:cNvSpPr/>
          <p:nvPr/>
        </p:nvSpPr>
        <p:spPr>
          <a:xfrm>
            <a:off x="1460500" y="53213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8E65E81-C92F-4341-ABA3-8CF308464B97}"/>
              </a:ext>
            </a:extLst>
          </p:cNvPr>
          <p:cNvSpPr/>
          <p:nvPr/>
        </p:nvSpPr>
        <p:spPr>
          <a:xfrm>
            <a:off x="3492500" y="27813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1E09B-4090-0940-9467-71446754AF36}"/>
              </a:ext>
            </a:extLst>
          </p:cNvPr>
          <p:cNvSpPr txBox="1"/>
          <p:nvPr/>
        </p:nvSpPr>
        <p:spPr>
          <a:xfrm>
            <a:off x="635000" y="228600"/>
            <a:ext cx="635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Many Possible Lines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C42A45-19E7-6343-B7C0-A8EBC082E5CE}"/>
              </a:ext>
            </a:extLst>
          </p:cNvPr>
          <p:cNvSpPr/>
          <p:nvPr/>
        </p:nvSpPr>
        <p:spPr>
          <a:xfrm>
            <a:off x="508000" y="1016000"/>
            <a:ext cx="6096000" cy="5080000"/>
          </a:xfrm>
          <a:prstGeom prst="rect">
            <a:avLst/>
          </a:prstGeom>
          <a:solidFill>
            <a:srgbClr val="F5F5F0"/>
          </a:solidFill>
          <a:ln w="127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06FA3B7-E5BD-D342-85D1-983B79B762DF}"/>
              </a:ext>
            </a:extLst>
          </p:cNvPr>
          <p:cNvCxnSpPr>
            <a:cxnSpLocks/>
          </p:cNvCxnSpPr>
          <p:nvPr/>
        </p:nvCxnSpPr>
        <p:spPr>
          <a:xfrm flipV="1">
            <a:off x="1689100" y="2159000"/>
            <a:ext cx="4525963" cy="325755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EF139D8-A03F-1849-BF9A-D8521CFDE328}"/>
              </a:ext>
            </a:extLst>
          </p:cNvPr>
          <p:cNvCxnSpPr>
            <a:cxnSpLocks/>
          </p:cNvCxnSpPr>
          <p:nvPr/>
        </p:nvCxnSpPr>
        <p:spPr>
          <a:xfrm flipV="1">
            <a:off x="1193800" y="2540000"/>
            <a:ext cx="5143500" cy="2285206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3447321-004E-D94F-92BE-C343532D3788}"/>
              </a:ext>
            </a:extLst>
          </p:cNvPr>
          <p:cNvCxnSpPr>
            <a:cxnSpLocks/>
          </p:cNvCxnSpPr>
          <p:nvPr/>
        </p:nvCxnSpPr>
        <p:spPr>
          <a:xfrm flipV="1">
            <a:off x="1079500" y="2286000"/>
            <a:ext cx="5307013" cy="2401887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B05399-2378-9C4E-BDF9-BC0A8E7CA28B}"/>
              </a:ext>
            </a:extLst>
          </p:cNvPr>
          <p:cNvCxnSpPr>
            <a:cxnSpLocks/>
          </p:cNvCxnSpPr>
          <p:nvPr/>
        </p:nvCxnSpPr>
        <p:spPr>
          <a:xfrm flipV="1">
            <a:off x="1460500" y="1778000"/>
            <a:ext cx="4191000" cy="3448050"/>
          </a:xfrm>
          <a:prstGeom prst="straightConnector1">
            <a:avLst/>
          </a:prstGeom>
          <a:ln w="1905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265D09-F9E6-1A4C-9750-60F8A14310B5}"/>
              </a:ext>
            </a:extLst>
          </p:cNvPr>
          <p:cNvCxnSpPr>
            <a:cxnSpLocks/>
          </p:cNvCxnSpPr>
          <p:nvPr/>
        </p:nvCxnSpPr>
        <p:spPr>
          <a:xfrm flipV="1">
            <a:off x="1243013" y="1778000"/>
            <a:ext cx="5094287" cy="3257550"/>
          </a:xfrm>
          <a:prstGeom prst="straightConnector1">
            <a:avLst/>
          </a:prstGeom>
          <a:ln w="381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3EF9D43-416B-F648-A062-D866493CE9E2}"/>
              </a:ext>
            </a:extLst>
          </p:cNvPr>
          <p:cNvSpPr/>
          <p:nvPr/>
        </p:nvSpPr>
        <p:spPr>
          <a:xfrm>
            <a:off x="1460500" y="45720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14E22DE-F5CF-464F-A2ED-E497A6B7F565}"/>
              </a:ext>
            </a:extLst>
          </p:cNvPr>
          <p:cNvSpPr/>
          <p:nvPr/>
        </p:nvSpPr>
        <p:spPr>
          <a:xfrm>
            <a:off x="5524500" y="32766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5377DD-BAD9-3749-B4CC-0F710DCD9BC7}"/>
              </a:ext>
            </a:extLst>
          </p:cNvPr>
          <p:cNvSpPr/>
          <p:nvPr/>
        </p:nvSpPr>
        <p:spPr>
          <a:xfrm>
            <a:off x="2476500" y="38989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7961D90-2EF0-E649-862E-CE06419ADBF4}"/>
              </a:ext>
            </a:extLst>
          </p:cNvPr>
          <p:cNvSpPr/>
          <p:nvPr/>
        </p:nvSpPr>
        <p:spPr>
          <a:xfrm>
            <a:off x="5524500" y="18034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F5250D-F37C-3D42-A57A-A4F2E8DBE7B6}"/>
              </a:ext>
            </a:extLst>
          </p:cNvPr>
          <p:cNvSpPr/>
          <p:nvPr/>
        </p:nvSpPr>
        <p:spPr>
          <a:xfrm>
            <a:off x="4508500" y="34544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4EDCFBB-81E5-7748-B791-6A05584CE897}"/>
              </a:ext>
            </a:extLst>
          </p:cNvPr>
          <p:cNvSpPr/>
          <p:nvPr/>
        </p:nvSpPr>
        <p:spPr>
          <a:xfrm>
            <a:off x="5524500" y="33147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DF72EAE-6524-4842-B684-5EEA4757A940}"/>
              </a:ext>
            </a:extLst>
          </p:cNvPr>
          <p:cNvSpPr/>
          <p:nvPr/>
        </p:nvSpPr>
        <p:spPr>
          <a:xfrm>
            <a:off x="1460500" y="53213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2FF9A26-E9F7-B744-B352-1A6BC63AF4C9}"/>
              </a:ext>
            </a:extLst>
          </p:cNvPr>
          <p:cNvSpPr/>
          <p:nvPr/>
        </p:nvSpPr>
        <p:spPr>
          <a:xfrm>
            <a:off x="3492500" y="2781300"/>
            <a:ext cx="127000" cy="127000"/>
          </a:xfrm>
          <a:prstGeom prst="ellipse">
            <a:avLst/>
          </a:prstGeom>
          <a:solidFill>
            <a:srgbClr val="F0C645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A35590-F9FA-5847-B259-10CDD1F85E28}"/>
              </a:ext>
            </a:extLst>
          </p:cNvPr>
          <p:cNvSpPr txBox="1"/>
          <p:nvPr/>
        </p:nvSpPr>
        <p:spPr>
          <a:xfrm>
            <a:off x="6985000" y="1778000"/>
            <a:ext cx="4826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We could draw infinitely many lines through this data...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6A7F5B4-1F9F-2345-919E-C024D9B31B98}"/>
              </a:ext>
            </a:extLst>
          </p:cNvPr>
          <p:cNvSpPr/>
          <p:nvPr/>
        </p:nvSpPr>
        <p:spPr>
          <a:xfrm>
            <a:off x="6985000" y="3048000"/>
            <a:ext cx="4826000" cy="698500"/>
          </a:xfrm>
          <a:prstGeom prst="roundRect">
            <a:avLst/>
          </a:prstGeom>
          <a:solidFill>
            <a:srgbClr val="E8F4F4"/>
          </a:solidFill>
          <a:ln w="254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1A5C5C"/>
                </a:solidFill>
                <a:latin typeface="Montserrat"/>
              </a:rPr>
              <a:t>Which one is "best"?</a:t>
            </a:r>
          </a:p>
        </p:txBody>
      </p:sp>
    </p:spTree>
    <p:extLst>
      <p:ext uri="{BB962C8B-B14F-4D97-AF65-F5344CB8AC3E}">
        <p14:creationId xmlns:p14="http://schemas.microsoft.com/office/powerpoint/2010/main" val="4155522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0D51A3-446B-684B-A560-003238C6FFA0}"/>
              </a:ext>
            </a:extLst>
          </p:cNvPr>
          <p:cNvSpPr txBox="1"/>
          <p:nvPr/>
        </p:nvSpPr>
        <p:spPr>
          <a:xfrm>
            <a:off x="3843338" y="406400"/>
            <a:ext cx="762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400" b="1" dirty="0">
                <a:solidFill>
                  <a:srgbClr val="1A5C5C"/>
                </a:solidFill>
                <a:latin typeface="Montserrat"/>
              </a:rPr>
              <a:t>Let's Try It Manually!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27D6A7-D373-DB4D-9A18-1302FA581ACA}"/>
              </a:ext>
            </a:extLst>
          </p:cNvPr>
          <p:cNvSpPr/>
          <p:nvPr/>
        </p:nvSpPr>
        <p:spPr>
          <a:xfrm>
            <a:off x="3302000" y="1270000"/>
            <a:ext cx="5588000" cy="1270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DESMOS DEMO
</a:t>
            </a:r>
            <a:r>
              <a:rPr lang="en-US" sz="2000" b="1" dirty="0" err="1">
                <a:solidFill>
                  <a:srgbClr val="00B0F0"/>
                </a:solidFill>
                <a:latin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desmos.com</a:t>
            </a:r>
            <a:endParaRPr lang="en-US" sz="2000" b="1" dirty="0">
              <a:solidFill>
                <a:srgbClr val="00B0F0"/>
              </a:solidFill>
              <a:latin typeface="Montserrat"/>
            </a:endParaRPr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Interactive demonstration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A1612-1083-D946-877C-EF0E0795108A}"/>
              </a:ext>
            </a:extLst>
          </p:cNvPr>
          <p:cNvSpPr txBox="1"/>
          <p:nvPr/>
        </p:nvSpPr>
        <p:spPr>
          <a:xfrm>
            <a:off x="4572000" y="2603500"/>
            <a:ext cx="3128963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did we discover?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4009D5-697F-3745-902D-A118DE3A7D74}"/>
              </a:ext>
            </a:extLst>
          </p:cNvPr>
          <p:cNvSpPr/>
          <p:nvPr/>
        </p:nvSpPr>
        <p:spPr>
          <a:xfrm>
            <a:off x="2540000" y="3302000"/>
            <a:ext cx="7112000" cy="762000"/>
          </a:xfrm>
          <a:prstGeom prst="roundRect">
            <a:avLst/>
          </a:prstGeom>
          <a:solidFill>
            <a:srgbClr val="E8F4F4"/>
          </a:solidFill>
          <a:ln w="254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1900" b="1" dirty="0">
                <a:solidFill>
                  <a:srgbClr val="1A5C5C"/>
                </a:solidFill>
                <a:latin typeface="Open Sans"/>
                <a:ea typeface="Open Sans"/>
                <a:cs typeface="Open Sans"/>
              </a:rPr>
              <a:t>To position a straight line, we need exactly TWO numbers!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435145E-A627-B042-B330-A3B771E53C9F}"/>
              </a:ext>
            </a:extLst>
          </p:cNvPr>
          <p:cNvSpPr/>
          <p:nvPr/>
        </p:nvSpPr>
        <p:spPr>
          <a:xfrm>
            <a:off x="3302000" y="4572000"/>
            <a:ext cx="2286000" cy="889000"/>
          </a:xfrm>
          <a:prstGeom prst="round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2600" b="1">
                <a:solidFill>
                  <a:srgbClr val="2D2D2D"/>
                </a:solidFill>
                <a:latin typeface="Montserrat"/>
              </a:rPr>
              <a:t>Slope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D79CEE-9444-364F-AE45-72A93220E753}"/>
              </a:ext>
            </a:extLst>
          </p:cNvPr>
          <p:cNvSpPr/>
          <p:nvPr/>
        </p:nvSpPr>
        <p:spPr>
          <a:xfrm>
            <a:off x="6350000" y="4572000"/>
            <a:ext cx="2286000" cy="889000"/>
          </a:xfrm>
          <a:prstGeom prst="round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ctr"/>
            <a:r>
              <a:rPr lang="en-US" sz="2600" b="1">
                <a:solidFill>
                  <a:srgbClr val="2D2D2D"/>
                </a:solidFill>
                <a:latin typeface="Montserrat"/>
              </a:rPr>
              <a:t>Intercept</a:t>
            </a:r>
          </a:p>
        </p:txBody>
      </p:sp>
    </p:spTree>
    <p:extLst>
      <p:ext uri="{BB962C8B-B14F-4D97-AF65-F5344CB8AC3E}">
        <p14:creationId xmlns:p14="http://schemas.microsoft.com/office/powerpoint/2010/main" val="8884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E42FDD-A048-CC41-8339-E19F4D9A1CAF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Slope &amp; Intercept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4BC2D-9BC3-CE4E-93D2-92C943DE209A}"/>
              </a:ext>
            </a:extLst>
          </p:cNvPr>
          <p:cNvSpPr txBox="1"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Which number controls how steep a line is?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388D215-85FA-D74D-A841-1EF50D656E1D}"/>
              </a:ext>
            </a:extLst>
          </p:cNvPr>
          <p:cNvSpPr/>
          <p:nvPr/>
        </p:nvSpPr>
        <p:spPr>
          <a:xfrm>
            <a:off x="1270000" y="1841500"/>
            <a:ext cx="4318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 The slope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9A504E-28EE-F24B-AA2A-70F7D551CCE6}"/>
              </a:ext>
            </a:extLst>
          </p:cNvPr>
          <p:cNvSpPr/>
          <p:nvPr/>
        </p:nvSpPr>
        <p:spPr>
          <a:xfrm>
            <a:off x="6604000" y="1841500"/>
            <a:ext cx="4318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 The intercept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1F8FB-3079-3940-ABC0-00256988618A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BD9D61-8CF5-3048-8C15-DD3E56C1BE2D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249221A-D634-894D-BA29-A7ABA560CC54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A) The slope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DEB2F0-ABFB-1542-9E1B-79A9423F94D4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The slope determines the steepness — how much Y changes per unit of X.</a:t>
            </a:r>
          </a:p>
        </p:txBody>
      </p:sp>
    </p:spTree>
    <p:extLst>
      <p:ext uri="{BB962C8B-B14F-4D97-AF65-F5344CB8AC3E}">
        <p14:creationId xmlns:p14="http://schemas.microsoft.com/office/powerpoint/2010/main" val="3255258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CF1CD3-5B43-CB46-B3BE-A273B6C54C22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Slope &amp; Intercept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FDED-0F0F-EB4E-B73B-8C6EE7AFC31A}"/>
              </a:ext>
            </a:extLst>
          </p:cNvPr>
          <p:cNvSpPr txBox="1"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 the equation y = 3 + 5x, what is the slope?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F32E7DE-0766-284E-8EAE-1FAC2AD9E648}"/>
              </a:ext>
            </a:extLst>
          </p:cNvPr>
          <p:cNvSpPr/>
          <p:nvPr/>
        </p:nvSpPr>
        <p:spPr>
          <a:xfrm>
            <a:off x="50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887A0-F23F-F44A-8633-743D9677EB9F}"/>
              </a:ext>
            </a:extLst>
          </p:cNvPr>
          <p:cNvSpPr/>
          <p:nvPr/>
        </p:nvSpPr>
        <p:spPr>
          <a:xfrm>
            <a:off x="431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3C2B3A3-E709-7E44-85B3-6C797072600D}"/>
              </a:ext>
            </a:extLst>
          </p:cNvPr>
          <p:cNvSpPr/>
          <p:nvPr/>
        </p:nvSpPr>
        <p:spPr>
          <a:xfrm>
            <a:off x="812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C) 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29881E-3780-8A42-A86F-5A67258C4765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FB500A-2238-8048-BAF1-7679DFF2957F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F35AB1-1331-AA42-A57C-B09FC004ACF2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B) 5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C64D152-8A8F-D449-89B6-9193D09162E0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In y = intercept + slope × x, the number multiplied by x is the slope. Here: slope = 5.</a:t>
            </a:r>
          </a:p>
        </p:txBody>
      </p:sp>
    </p:spTree>
    <p:extLst>
      <p:ext uri="{BB962C8B-B14F-4D97-AF65-F5344CB8AC3E}">
        <p14:creationId xmlns:p14="http://schemas.microsoft.com/office/powerpoint/2010/main" val="1347004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6F45E1-9AB6-B548-B715-679C5AF93860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Slope &amp; Intercept Concepts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7077DA-B828-1E49-B023-F569F50C73DB}"/>
              </a:ext>
            </a:extLst>
          </p:cNvPr>
          <p:cNvSpPr txBox="1"/>
          <p:nvPr/>
        </p:nvSpPr>
        <p:spPr>
          <a:xfrm>
            <a:off x="762000" y="889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Fill in the blank: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336E9-2474-4A4B-905B-8EAC4E9D89EA}"/>
              </a:ext>
            </a:extLst>
          </p:cNvPr>
          <p:cNvSpPr txBox="1"/>
          <p:nvPr/>
        </p:nvSpPr>
        <p:spPr>
          <a:xfrm>
            <a:off x="762000" y="13081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 the equation y = 7 + 2x, the intercept is _____.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5D4D0-485F-964D-89DC-DAEA07E08EDE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DBC76A-FF88-0A4A-9A03-720B6CC32B6E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1E92DD-4C68-2443-9B66-5D4DB5EA3D43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7404AF-4B80-F148-8A67-580557C7D3E1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The intercept is the constant term — the value of y when x = 0. Here: y = 7 + 2(0) = 7.</a:t>
            </a:r>
          </a:p>
        </p:txBody>
      </p:sp>
    </p:spTree>
    <p:extLst>
      <p:ext uri="{BB962C8B-B14F-4D97-AF65-F5344CB8AC3E}">
        <p14:creationId xmlns:p14="http://schemas.microsoft.com/office/powerpoint/2010/main" val="219791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CDE68-BFED-F945-A358-04D7E68F8BDE}"/>
              </a:ext>
            </a:extLst>
          </p:cNvPr>
          <p:cNvSpPr txBox="1"/>
          <p:nvPr/>
        </p:nvSpPr>
        <p:spPr>
          <a:xfrm>
            <a:off x="635000" y="152400"/>
            <a:ext cx="635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5C5C"/>
                </a:solidFill>
                <a:latin typeface="Montserrat"/>
              </a:rPr>
              <a:t>Finding the "Best" 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30994-B45A-0445-B667-AD460A0413B1}"/>
              </a:ext>
            </a:extLst>
          </p:cNvPr>
          <p:cNvSpPr txBox="1"/>
          <p:nvPr/>
        </p:nvSpPr>
        <p:spPr>
          <a:xfrm>
            <a:off x="381000" y="762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The 'best' line minimizes the total prediction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8426F4-A424-6847-828B-6011B3E20C20}"/>
              </a:ext>
            </a:extLst>
          </p:cNvPr>
          <p:cNvSpPr txBox="1"/>
          <p:nvPr/>
        </p:nvSpPr>
        <p:spPr>
          <a:xfrm>
            <a:off x="381000" y="1206500"/>
            <a:ext cx="533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Each point has a residual — the vertical distance from the point to the line.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EB6991-B10D-5B4E-8E8E-3B3BB0003554}"/>
              </a:ext>
            </a:extLst>
          </p:cNvPr>
          <p:cNvSpPr txBox="1"/>
          <p:nvPr/>
        </p:nvSpPr>
        <p:spPr>
          <a:xfrm>
            <a:off x="381000" y="1879600"/>
            <a:ext cx="5334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R finds the line that minimizes the sum of squared residuals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FABE80-BEB6-104B-AAD8-DAE47C638BB4}"/>
              </a:ext>
            </a:extLst>
          </p:cNvPr>
          <p:cNvSpPr/>
          <p:nvPr/>
        </p:nvSpPr>
        <p:spPr>
          <a:xfrm>
            <a:off x="381000" y="2667000"/>
            <a:ext cx="5334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"Least squares" = minimize squared residuals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A0C6FB-590F-EC43-EF89-CBBAAE92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572"/>
          <a:stretch>
            <a:fillRect/>
          </a:stretch>
        </p:blipFill>
        <p:spPr>
          <a:xfrm>
            <a:off x="6096000" y="719931"/>
            <a:ext cx="5600700" cy="343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85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A519F-1F22-414C-9ADB-001A2DF0FD7A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Residuals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F56B1-5614-994B-8BDC-BB390EE646AB}"/>
              </a:ext>
            </a:extLst>
          </p:cNvPr>
          <p:cNvSpPr txBox="1"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does a residual represent?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F610FE-CC3B-D845-A2E1-7975E137F5F1}"/>
              </a:ext>
            </a:extLst>
          </p:cNvPr>
          <p:cNvSpPr/>
          <p:nvPr/>
        </p:nvSpPr>
        <p:spPr>
          <a:xfrm>
            <a:off x="50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The predicted value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E0B190-7C44-0943-805B-506F7AED3409}"/>
              </a:ext>
            </a:extLst>
          </p:cNvPr>
          <p:cNvSpPr/>
          <p:nvPr/>
        </p:nvSpPr>
        <p:spPr>
          <a:xfrm>
            <a:off x="431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Actual minus predicted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60AD9DF-B434-A348-A951-1F8F764CAB81}"/>
              </a:ext>
            </a:extLst>
          </p:cNvPr>
          <p:cNvSpPr/>
          <p:nvPr/>
        </p:nvSpPr>
        <p:spPr>
          <a:xfrm>
            <a:off x="8128000" y="177800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C) The slope of the 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D27F10-1D4C-2E4A-8D2B-0B2E5B067783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71E36F-97B7-0B46-9B95-1C0B48355D4A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E9E34F-02BA-8B4A-BC5E-B0563F31BF53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B) Actual minus predicted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04D13E-E522-9D4F-B775-8454C787C778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 residual is the difference between what we observed and what the model predicted.</a:t>
            </a:r>
          </a:p>
        </p:txBody>
      </p:sp>
    </p:spTree>
    <p:extLst>
      <p:ext uri="{BB962C8B-B14F-4D97-AF65-F5344CB8AC3E}">
        <p14:creationId xmlns:p14="http://schemas.microsoft.com/office/powerpoint/2010/main" val="97456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6E6BE-A496-1545-BC81-72A5569DC699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Residuals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EF71F-0C0B-7A42-825C-6AD32BEEB6F2}"/>
              </a:ext>
            </a:extLst>
          </p:cNvPr>
          <p:cNvSpPr txBox="1"/>
          <p:nvPr/>
        </p:nvSpPr>
        <p:spPr>
          <a:xfrm>
            <a:off x="762000" y="889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Fill in the blank: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C4A069-9026-7741-AD2D-58675DAFFC34}"/>
              </a:ext>
            </a:extLst>
          </p:cNvPr>
          <p:cNvSpPr txBox="1"/>
          <p:nvPr/>
        </p:nvSpPr>
        <p:spPr>
          <a:xfrm>
            <a:off x="762000" y="13081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If actual weight is 2.67 kg and predicted weight is 3.13 kg, the residual is _____ kg.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6F4DF-60E8-CA42-8B09-A5228F3FC714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F69B0-8F92-4C46-9EB7-6E0D8A203621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7013E7D-9C61-F44F-BE8C-B05580434999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−0.46 kg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5744CDC-6DAD-1541-8B34-606CCB994DEF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Residual = 2.67 − 3.13 = −0.46 kg. Negative because the actual is below the predicted.</a:t>
            </a:r>
          </a:p>
        </p:txBody>
      </p:sp>
    </p:spTree>
    <p:extLst>
      <p:ext uri="{BB962C8B-B14F-4D97-AF65-F5344CB8AC3E}">
        <p14:creationId xmlns:p14="http://schemas.microsoft.com/office/powerpoint/2010/main" val="331296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ellowBarTop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C6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alBarBottom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1A5C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1"/>
          <p:cNvSpPr/>
          <p:nvPr/>
        </p:nvSpPr>
        <p:spPr>
          <a:xfrm>
            <a:off x="0" y="101600"/>
            <a:ext cx="12192000" cy="558800"/>
          </a:xfrm>
          <a:prstGeom prst="rect">
            <a:avLst/>
          </a:prstGeom>
          <a:solidFill>
            <a:srgbClr val="2B8C8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Sum of Squared Residuals</a:t>
            </a:r>
          </a:p>
        </p:txBody>
      </p:sp>
      <p:sp>
        <p:nvSpPr>
          <p:cNvPr id="5" name="TextBox 2"/>
          <p:cNvSpPr/>
          <p:nvPr/>
        </p:nvSpPr>
        <p:spPr>
          <a:xfrm>
            <a:off x="635000" y="787400"/>
            <a:ext cx="1092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 dirty="0">
                <a:solidFill>
                  <a:srgbClr val="2D2D2D"/>
                </a:solidFill>
                <a:latin typeface="Open Sans"/>
              </a:rPr>
              <a:t>Why do we square the residuals before adding them up?</a:t>
            </a:r>
          </a:p>
        </p:txBody>
      </p:sp>
      <p:sp>
        <p:nvSpPr>
          <p:cNvPr id="6" name="Rounded Rectangle 3"/>
          <p:cNvSpPr/>
          <p:nvPr/>
        </p:nvSpPr>
        <p:spPr>
          <a:xfrm>
            <a:off x="825500" y="1625600"/>
            <a:ext cx="5080000" cy="8890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600" b="1" dirty="0">
                <a:solidFill>
                  <a:srgbClr val="2B8C8C"/>
                </a:solidFill>
                <a:latin typeface="Open Sans"/>
              </a:rPr>
              <a:t>A)  </a:t>
            </a:r>
            <a:r>
              <a:rPr lang="en-US" sz="1600" dirty="0">
                <a:solidFill>
                  <a:srgbClr val="2D2D2D"/>
                </a:solidFill>
                <a:latin typeface="Open Sans"/>
              </a:rPr>
              <a:t>So positive and negative errors don’t cancel out</a:t>
            </a:r>
          </a:p>
        </p:txBody>
      </p:sp>
      <p:sp>
        <p:nvSpPr>
          <p:cNvPr id="7" name="Rounded Rectangle 4"/>
          <p:cNvSpPr/>
          <p:nvPr/>
        </p:nvSpPr>
        <p:spPr>
          <a:xfrm>
            <a:off x="6286500" y="1625600"/>
            <a:ext cx="5080000" cy="889000"/>
          </a:xfrm>
          <a:prstGeom prst="roundRect">
            <a:avLst/>
          </a:prstGeom>
          <a:solidFill>
            <a:srgbClr val="F5F5F0"/>
          </a:solidFill>
          <a:ln w="12700">
            <a:solidFill>
              <a:srgbClr val="CCCCCC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600" b="1" dirty="0">
                <a:solidFill>
                  <a:srgbClr val="2B8C8C"/>
                </a:solidFill>
                <a:latin typeface="Open Sans"/>
              </a:rPr>
              <a:t>B)  </a:t>
            </a:r>
            <a:r>
              <a:rPr lang="en-US" sz="1600" dirty="0">
                <a:solidFill>
                  <a:srgbClr val="2D2D2D"/>
                </a:solidFill>
                <a:latin typeface="Open Sans"/>
              </a:rPr>
              <a:t>To give more weight to points closer to the line</a:t>
            </a:r>
          </a:p>
        </p:txBody>
      </p:sp>
      <p:sp>
        <p:nvSpPr>
          <p:cNvPr id="8" name="Rectangle 5"/>
          <p:cNvSpPr/>
          <p:nvPr/>
        </p:nvSpPr>
        <p:spPr>
          <a:xfrm>
            <a:off x="0" y="2667000"/>
            <a:ext cx="12192000" cy="63500"/>
          </a:xfrm>
          <a:prstGeom prst="rect">
            <a:avLst/>
          </a:prstGeom>
          <a:solidFill>
            <a:srgbClr val="F0C64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6"/>
          <p:cNvSpPr/>
          <p:nvPr/>
        </p:nvSpPr>
        <p:spPr>
          <a:xfrm>
            <a:off x="635000" y="2857500"/>
            <a:ext cx="127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600" b="1" dirty="0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10" name="Rounded Rectangle 7"/>
          <p:cNvSpPr/>
          <p:nvPr/>
        </p:nvSpPr>
        <p:spPr>
          <a:xfrm>
            <a:off x="1016000" y="3276600"/>
            <a:ext cx="10160000" cy="533400"/>
          </a:xfrm>
          <a:prstGeom prst="roundRect">
            <a:avLst/>
          </a:prstGeom>
          <a:solidFill>
            <a:srgbClr val="2B8C8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Montserrat"/>
              </a:rPr>
              <a:t>A)  So positive and negative errors don’t cancel out</a:t>
            </a:r>
          </a:p>
        </p:txBody>
      </p:sp>
      <p:sp>
        <p:nvSpPr>
          <p:cNvPr id="11" name="Rounded Rectangle 8"/>
          <p:cNvSpPr/>
          <p:nvPr/>
        </p:nvSpPr>
        <p:spPr>
          <a:xfrm>
            <a:off x="1016000" y="3937000"/>
            <a:ext cx="10160000" cy="127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8DCC0"/>
            </a:solidFill>
          </a:ln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1500" dirty="0">
                <a:solidFill>
                  <a:srgbClr val="555555"/>
                </a:solidFill>
                <a:latin typeface="Open Sans"/>
              </a:rPr>
              <a:t>Some residuals are positive (above the line) and some are negative (below). If we just added them, they’d cancel toward zero. Squaring makes every residual positive before summing.</a:t>
            </a:r>
          </a:p>
          <a:p>
            <a:pPr algn="l"/>
            <a:r>
              <a:rPr lang="en-US" sz="1500" dirty="0">
                <a:solidFill>
                  <a:srgbClr val="555555"/>
                </a:solidFill>
                <a:latin typeface="Open Sans"/>
              </a:rPr>
              <a:t>B) is backwards — squaring actually penalizes </a:t>
            </a:r>
            <a:r>
              <a:rPr lang="en-US" sz="1500" b="1" dirty="0">
                <a:solidFill>
                  <a:srgbClr val="555555"/>
                </a:solidFill>
                <a:latin typeface="Open Sans"/>
              </a:rPr>
              <a:t>large</a:t>
            </a:r>
            <a:r>
              <a:rPr lang="en-US" sz="1500" dirty="0">
                <a:solidFill>
                  <a:srgbClr val="555555"/>
                </a:solidFill>
                <a:latin typeface="Open Sans"/>
              </a:rPr>
              <a:t> errors more, not less.</a:t>
            </a:r>
          </a:p>
        </p:txBody>
      </p:sp>
    </p:spTree>
    <p:extLst>
      <p:ext uri="{BB962C8B-B14F-4D97-AF65-F5344CB8AC3E}">
        <p14:creationId xmlns:p14="http://schemas.microsoft.com/office/powerpoint/2010/main" val="29874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23CCD-F1B4-E242-BE9A-1039770A7BA5}"/>
              </a:ext>
            </a:extLst>
          </p:cNvPr>
          <p:cNvSpPr txBox="1"/>
          <p:nvPr/>
        </p:nvSpPr>
        <p:spPr>
          <a:xfrm>
            <a:off x="635000" y="317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R Finds the Best Line For Us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390A4B1-67D8-5A4D-8676-09BD3184F92C}"/>
              </a:ext>
            </a:extLst>
          </p:cNvPr>
          <p:cNvSpPr/>
          <p:nvPr/>
        </p:nvSpPr>
        <p:spPr>
          <a:xfrm>
            <a:off x="2032000" y="1524000"/>
            <a:ext cx="8128000" cy="2794000"/>
          </a:xfrm>
          <a:prstGeom prst="round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42619-A53F-8648-8F3A-C07E6A4100B5}"/>
              </a:ext>
            </a:extLst>
          </p:cNvPr>
          <p:cNvSpPr txBox="1"/>
          <p:nvPr/>
        </p:nvSpPr>
        <p:spPr>
          <a:xfrm>
            <a:off x="2349500" y="1778000"/>
            <a:ext cx="7493000" cy="228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# Fit a linear regression model
model &lt;-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lm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weight_kg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~ weeks, data = babies)
# View the results
summary(model)</a:t>
            </a:r>
          </a:p>
        </p:txBody>
      </p:sp>
    </p:spTree>
    <p:extLst>
      <p:ext uri="{BB962C8B-B14F-4D97-AF65-F5344CB8AC3E}">
        <p14:creationId xmlns:p14="http://schemas.microsoft.com/office/powerpoint/2010/main" val="3368967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EE007-8070-BB75-5ECE-EF46B1D9D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3BCB24-2233-CB51-1E33-059C15F57356}"/>
              </a:ext>
            </a:extLst>
          </p:cNvPr>
          <p:cNvSpPr txBox="1"/>
          <p:nvPr/>
        </p:nvSpPr>
        <p:spPr>
          <a:xfrm>
            <a:off x="635000" y="317500"/>
            <a:ext cx="762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 dirty="0">
                <a:solidFill>
                  <a:srgbClr val="1A5C5C"/>
                </a:solidFill>
                <a:latin typeface="Montserrat"/>
              </a:rPr>
              <a:t>Full R Script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21E63CD-8A5C-08E9-D46E-9AB43ECD5681}"/>
              </a:ext>
            </a:extLst>
          </p:cNvPr>
          <p:cNvSpPr/>
          <p:nvPr/>
        </p:nvSpPr>
        <p:spPr>
          <a:xfrm>
            <a:off x="1095375" y="1240631"/>
            <a:ext cx="10001250" cy="4376738"/>
          </a:xfrm>
          <a:prstGeom prst="roundRect">
            <a:avLst>
              <a:gd name="adj" fmla="val 6898"/>
            </a:avLst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BDDB3-26B9-4C91-C30B-0A0261FAA752}"/>
              </a:ext>
            </a:extLst>
          </p:cNvPr>
          <p:cNvSpPr txBox="1"/>
          <p:nvPr/>
        </p:nvSpPr>
        <p:spPr>
          <a:xfrm>
            <a:off x="1444624" y="1494631"/>
            <a:ext cx="9466263" cy="378565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if (!require(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pacman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))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install.packages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("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pacman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")</a:t>
            </a:r>
          </a:p>
          <a:p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pacman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::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p_load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tidyverse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,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openintro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,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equatiomatic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)</a:t>
            </a:r>
          </a:p>
          <a:p>
            <a:endParaRPr lang="en-US" sz="2000" dirty="0">
              <a:solidFill>
                <a:srgbClr val="A8DB8F"/>
              </a:solidFill>
              <a:latin typeface="Consolas"/>
              <a:cs typeface="Consolas"/>
            </a:endParaRPr>
          </a:p>
          <a:p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baby_subset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&lt;-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openintro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::births14 %&gt;%</a:t>
            </a: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 filter(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premie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== "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premie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") %&gt;%</a:t>
            </a: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slice_tail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(n = 8) %&gt;%</a:t>
            </a: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 mutate(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weight_kg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= weight * 0.453592) # Convert pounds to kg</a:t>
            </a:r>
          </a:p>
          <a:p>
            <a:endParaRPr lang="en-US" sz="2000" dirty="0">
              <a:solidFill>
                <a:srgbClr val="A8DB8F"/>
              </a:solidFill>
              <a:latin typeface="Consolas"/>
              <a:cs typeface="Consolas"/>
            </a:endParaRP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# Fit linear regression: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weight_kg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~ weeks</a:t>
            </a: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model &lt;-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lm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(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weight_kg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 ~ weeks, data = </a:t>
            </a:r>
            <a:r>
              <a:rPr lang="en-US" sz="2000" dirty="0" err="1">
                <a:solidFill>
                  <a:srgbClr val="A8DB8F"/>
                </a:solidFill>
                <a:latin typeface="Consolas"/>
                <a:cs typeface="Consolas"/>
              </a:rPr>
              <a:t>baby_subset</a:t>
            </a:r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)</a:t>
            </a:r>
          </a:p>
          <a:p>
            <a:endParaRPr lang="en-US" sz="2000" dirty="0">
              <a:solidFill>
                <a:srgbClr val="A8DB8F"/>
              </a:solidFill>
              <a:latin typeface="Consolas"/>
              <a:cs typeface="Consolas"/>
            </a:endParaRPr>
          </a:p>
          <a:p>
            <a:r>
              <a:rPr lang="en-US" sz="2000" dirty="0">
                <a:solidFill>
                  <a:srgbClr val="A8DB8F"/>
                </a:solidFill>
                <a:latin typeface="Consolas"/>
                <a:cs typeface="Consolas"/>
              </a:rPr>
              <a:t>summary(model)</a:t>
            </a:r>
          </a:p>
        </p:txBody>
      </p:sp>
    </p:spTree>
    <p:extLst>
      <p:ext uri="{BB962C8B-B14F-4D97-AF65-F5344CB8AC3E}">
        <p14:creationId xmlns:p14="http://schemas.microsoft.com/office/powerpoint/2010/main" val="16765956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674DA-EBC0-8146-B7DA-9CA0ADEA5B9D}"/>
              </a:ext>
            </a:extLst>
          </p:cNvPr>
          <p:cNvSpPr txBox="1"/>
          <p:nvPr/>
        </p:nvSpPr>
        <p:spPr>
          <a:xfrm>
            <a:off x="381000" y="1524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5C5C"/>
                </a:solidFill>
                <a:latin typeface="Montserrat"/>
              </a:rPr>
              <a:t>What Does summary(model) Show?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22F978A-1A07-6547-9347-F82AF680DD97}"/>
              </a:ext>
            </a:extLst>
          </p:cNvPr>
          <p:cNvSpPr/>
          <p:nvPr/>
        </p:nvSpPr>
        <p:spPr>
          <a:xfrm>
            <a:off x="254000" y="698500"/>
            <a:ext cx="6731000" cy="5016500"/>
          </a:xfrm>
          <a:prstGeom prst="roundRect">
            <a:avLst/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C80ED-E2D4-CE4E-9428-72C527C8D74B}"/>
              </a:ext>
            </a:extLst>
          </p:cNvPr>
          <p:cNvSpPr txBox="1"/>
          <p:nvPr/>
        </p:nvSpPr>
        <p:spPr>
          <a:xfrm>
            <a:off x="406400" y="787400"/>
            <a:ext cx="6451600" cy="485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E0E0E0"/>
                </a:solidFill>
                <a:latin typeface="Consolas"/>
                <a:cs typeface="Consolas"/>
              </a:rPr>
              <a:t>Call:
lm(formula = weight_kg ~ weeks,
   data = preemie_bottom8)
Residuals:
    Min      1Q  Median      3Q     Max
-0.5256 -0.4674 -0.0709  0.3315  0.7067
Coefficients:
            Estimate Std.Error t value Pr(&gt;|t|)
(Intercept) -10.779    4.061  -2.655   0.0378 *
weeks         0.386    0.118   3.262   0.0172 *
Residual standard error: 0.5491 on 6 df
Multiple R-squared:  0.6394
Adjusted R-squared:  0.5794
F-statistic: 10.64 on 1 and 6 DF
p-value: 0.0172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F2C53-F68C-2141-BEA4-6D1827ECAFB0}"/>
              </a:ext>
            </a:extLst>
          </p:cNvPr>
          <p:cNvSpPr/>
          <p:nvPr/>
        </p:nvSpPr>
        <p:spPr>
          <a:xfrm>
            <a:off x="304800" y="3302000"/>
            <a:ext cx="6629400" cy="698500"/>
          </a:xfrm>
          <a:prstGeom prst="rect">
            <a:avLst/>
          </a:prstGeom>
          <a:solidFill>
            <a:srgbClr val="F0C64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588D81-1F7E-CC4B-A3D4-8A5201A5C134}"/>
              </a:ext>
            </a:extLst>
          </p:cNvPr>
          <p:cNvSpPr txBox="1"/>
          <p:nvPr/>
        </p:nvSpPr>
        <p:spPr>
          <a:xfrm>
            <a:off x="381000" y="152400"/>
            <a:ext cx="762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1A5C5C"/>
                </a:solidFill>
                <a:latin typeface="Montserrat"/>
              </a:rPr>
              <a:t>What Does summary(model) Show?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E8A75A2-1A72-E641-9212-D56D85B60C3C}"/>
              </a:ext>
            </a:extLst>
          </p:cNvPr>
          <p:cNvSpPr/>
          <p:nvPr/>
        </p:nvSpPr>
        <p:spPr>
          <a:xfrm>
            <a:off x="254000" y="698500"/>
            <a:ext cx="6731000" cy="5016500"/>
          </a:xfrm>
          <a:prstGeom prst="roundRect">
            <a:avLst>
              <a:gd name="adj" fmla="val 5684"/>
            </a:avLst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2D51-68A9-7145-BCA0-CB48487633F4}"/>
              </a:ext>
            </a:extLst>
          </p:cNvPr>
          <p:cNvSpPr txBox="1"/>
          <p:nvPr/>
        </p:nvSpPr>
        <p:spPr>
          <a:xfrm>
            <a:off x="386522" y="787400"/>
            <a:ext cx="6451600" cy="485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Call:
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lm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(formula =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weight_kg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~ weeks,
   data = preemie_bottom8)
Residuals:
    Min      1Q  Median      3Q     Max
-0.5256 -0.4674 -0.0709  0.3315  0.7067
Coefficients:
            Estimate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Std.Error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t value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Pr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(&gt;|t|)
(Intercept) -10.779    4.061  -2.655   0.0378 *
weeks         0.386    0.118   3.262   0.0172 *
Residual standard error: 0.5491 on 6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df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
Multiple R-squared:  0.6394
Adjusted R-squared:  0.5794
F-statistic: 10.64 on 1 and 6 DF
p-value: 0.0172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4C6F7A-71AB-D94A-BBE0-C0CFD274E618}"/>
              </a:ext>
            </a:extLst>
          </p:cNvPr>
          <p:cNvSpPr txBox="1"/>
          <p:nvPr/>
        </p:nvSpPr>
        <p:spPr>
          <a:xfrm>
            <a:off x="7302500" y="762000"/>
            <a:ext cx="4445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E85D5D"/>
                </a:solidFill>
                <a:latin typeface="Montserrat"/>
              </a:rPr>
              <a:t>Don't Panic!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A9CC77-181D-1F42-8145-5822F285805F}"/>
              </a:ext>
            </a:extLst>
          </p:cNvPr>
          <p:cNvSpPr txBox="1"/>
          <p:nvPr/>
        </p:nvSpPr>
        <p:spPr>
          <a:xfrm>
            <a:off x="7302500" y="1270000"/>
            <a:ext cx="4572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We'll explain all of this in due time.
For now, focus on these two numbers: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59EE22-436A-DC42-BAF6-775B762B0269}"/>
              </a:ext>
            </a:extLst>
          </p:cNvPr>
          <p:cNvSpPr/>
          <p:nvPr/>
        </p:nvSpPr>
        <p:spPr>
          <a:xfrm>
            <a:off x="7302500" y="2222500"/>
            <a:ext cx="4445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Montserrat"/>
              </a:rPr>
              <a:t>Intercept = -10.779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22CD060-F115-DA4F-A735-69AE02C7C3C7}"/>
              </a:ext>
            </a:extLst>
          </p:cNvPr>
          <p:cNvSpPr/>
          <p:nvPr/>
        </p:nvSpPr>
        <p:spPr>
          <a:xfrm>
            <a:off x="7302500" y="3048000"/>
            <a:ext cx="4445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Montserrat"/>
              </a:rPr>
              <a:t>Slope = 0.386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1AC3417-61F5-D144-8EA8-4D8239393CF9}"/>
              </a:ext>
            </a:extLst>
          </p:cNvPr>
          <p:cNvSpPr/>
          <p:nvPr/>
        </p:nvSpPr>
        <p:spPr>
          <a:xfrm>
            <a:off x="7302500" y="4064000"/>
            <a:ext cx="4445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Understanding the intercept and slope is the foundation for everything else!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7750423-AB4B-25A1-C23A-E0BA77B0B8DB}"/>
              </a:ext>
            </a:extLst>
          </p:cNvPr>
          <p:cNvSpPr/>
          <p:nvPr/>
        </p:nvSpPr>
        <p:spPr>
          <a:xfrm>
            <a:off x="386522" y="2941982"/>
            <a:ext cx="2197652" cy="278295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E56BDAB-F322-162D-B5F4-2569A0C0E6DA}"/>
              </a:ext>
            </a:extLst>
          </p:cNvPr>
          <p:cNvSpPr/>
          <p:nvPr/>
        </p:nvSpPr>
        <p:spPr>
          <a:xfrm>
            <a:off x="381000" y="3226352"/>
            <a:ext cx="2197652" cy="278295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137D015-FFD3-EF3A-05C8-7EC5C2236AE4}"/>
              </a:ext>
            </a:extLst>
          </p:cNvPr>
          <p:cNvCxnSpPr/>
          <p:nvPr/>
        </p:nvCxnSpPr>
        <p:spPr>
          <a:xfrm flipV="1">
            <a:off x="2604052" y="2464904"/>
            <a:ext cx="4581939" cy="5830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05D0361-39A0-0149-6009-DD251869B08F}"/>
              </a:ext>
            </a:extLst>
          </p:cNvPr>
          <p:cNvCxnSpPr>
            <a:cxnSpLocks/>
          </p:cNvCxnSpPr>
          <p:nvPr/>
        </p:nvCxnSpPr>
        <p:spPr>
          <a:xfrm flipV="1">
            <a:off x="2593561" y="3429000"/>
            <a:ext cx="4507948" cy="4086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757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0B0C3E-51AA-7441-91AD-BFA4C32E5B28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Reading R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40A791-8274-3345-89E5-0FB312CBBEC8}"/>
              </a:ext>
            </a:extLst>
          </p:cNvPr>
          <p:cNvSpPr txBox="1"/>
          <p:nvPr/>
        </p:nvSpPr>
        <p:spPr>
          <a:xfrm>
            <a:off x="317500" y="801564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 R's summary() output, the slope is found in the row for: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FD63467-62B7-2D4A-9966-EAEAD2849DE8}"/>
              </a:ext>
            </a:extLst>
          </p:cNvPr>
          <p:cNvSpPr/>
          <p:nvPr/>
        </p:nvSpPr>
        <p:spPr>
          <a:xfrm>
            <a:off x="381000" y="1481014"/>
            <a:ext cx="4318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(Intercept)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D7C66F-47F9-BF43-A759-C32A0C8FB7C3}"/>
              </a:ext>
            </a:extLst>
          </p:cNvPr>
          <p:cNvSpPr/>
          <p:nvPr/>
        </p:nvSpPr>
        <p:spPr>
          <a:xfrm>
            <a:off x="381000" y="2490664"/>
            <a:ext cx="4318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The predictor (e.g. 'weeks')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7390BB-C102-2442-AABB-2F9D9545CA71}"/>
              </a:ext>
            </a:extLst>
          </p:cNvPr>
          <p:cNvSpPr/>
          <p:nvPr/>
        </p:nvSpPr>
        <p:spPr>
          <a:xfrm>
            <a:off x="0" y="4254501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F2A08-776A-F242-8ACE-B297C9D473A3}"/>
              </a:ext>
            </a:extLst>
          </p:cNvPr>
          <p:cNvSpPr txBox="1"/>
          <p:nvPr/>
        </p:nvSpPr>
        <p:spPr>
          <a:xfrm>
            <a:off x="253999" y="4415695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DF08519-23C2-F841-A3EF-CDE3D683A83E}"/>
              </a:ext>
            </a:extLst>
          </p:cNvPr>
          <p:cNvSpPr/>
          <p:nvPr/>
        </p:nvSpPr>
        <p:spPr>
          <a:xfrm>
            <a:off x="254000" y="4889501"/>
            <a:ext cx="4657969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Montserrat"/>
              </a:rPr>
              <a:t>B) The predictor variable row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0B27DCB-3E8E-AD42-8F44-D7DC91F36F97}"/>
              </a:ext>
            </a:extLst>
          </p:cNvPr>
          <p:cNvSpPr/>
          <p:nvPr/>
        </p:nvSpPr>
        <p:spPr>
          <a:xfrm>
            <a:off x="253999" y="5760914"/>
            <a:ext cx="5478585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The slope is in the row named after the predictor variable. The (Intercept) row gives the intercept.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8D3C3D-98BF-F787-9B32-2A60416EE28D}"/>
              </a:ext>
            </a:extLst>
          </p:cNvPr>
          <p:cNvSpPr/>
          <p:nvPr/>
        </p:nvSpPr>
        <p:spPr>
          <a:xfrm>
            <a:off x="5143500" y="1392114"/>
            <a:ext cx="6731000" cy="4191001"/>
          </a:xfrm>
          <a:prstGeom prst="roundRect">
            <a:avLst>
              <a:gd name="adj" fmla="val 5684"/>
            </a:avLst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C2D2A5-5E8C-E061-1D8B-A7E591576C89}"/>
              </a:ext>
            </a:extLst>
          </p:cNvPr>
          <p:cNvSpPr txBox="1"/>
          <p:nvPr/>
        </p:nvSpPr>
        <p:spPr>
          <a:xfrm>
            <a:off x="5295900" y="1481014"/>
            <a:ext cx="6451600" cy="485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Call:
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lm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(formula =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weight_kg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~ weeks,
   data = preemie_bottom8)
Residuals:
    Min      1Q  Median      3Q     Max
-0.5256 -0.4674 -0.0709  0.3315  0.7067
Coefficients:
            Estimate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Std.Error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t value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Pr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(&gt;|t|)
(Intercept) -10.779    4.061  -2.655   0.0378 *
weeks         0.386    0.118   3.262   0.0172 *
Residual standard error: 0.5491 on 6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df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
Multiple R-squared:  0.6394
Adjusted R-squared:  0.5794
F-statistic: 10.64 on 1 and 6 DF
p-value: 0.0172</a:t>
            </a:r>
          </a:p>
        </p:txBody>
      </p:sp>
    </p:spTree>
    <p:extLst>
      <p:ext uri="{BB962C8B-B14F-4D97-AF65-F5344CB8AC3E}">
        <p14:creationId xmlns:p14="http://schemas.microsoft.com/office/powerpoint/2010/main" val="22150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E6916D-2BD4-1F44-A799-A245822D9FEC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Reading R 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559E7-54F8-0742-A153-DF0AE611F783}"/>
              </a:ext>
            </a:extLst>
          </p:cNvPr>
          <p:cNvSpPr txBox="1"/>
          <p:nvPr/>
        </p:nvSpPr>
        <p:spPr>
          <a:xfrm>
            <a:off x="444500" y="890404"/>
            <a:ext cx="11641992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 our summary() output, what is the Estimate for the slope (effect of weeks on weight)?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39AA8CD-1D68-B746-8E4F-AAE6DF230EFF}"/>
              </a:ext>
            </a:extLst>
          </p:cNvPr>
          <p:cNvSpPr/>
          <p:nvPr/>
        </p:nvSpPr>
        <p:spPr>
          <a:xfrm>
            <a:off x="444500" y="153328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−10.779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18F8E9-117C-4B45-BDBC-55E02EF1BF51}"/>
              </a:ext>
            </a:extLst>
          </p:cNvPr>
          <p:cNvSpPr/>
          <p:nvPr/>
        </p:nvSpPr>
        <p:spPr>
          <a:xfrm>
            <a:off x="444500" y="2311888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0.386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399FAD-A766-1F4F-AA45-E2B421A4DB35}"/>
              </a:ext>
            </a:extLst>
          </p:cNvPr>
          <p:cNvSpPr/>
          <p:nvPr/>
        </p:nvSpPr>
        <p:spPr>
          <a:xfrm>
            <a:off x="444500" y="3105150"/>
            <a:ext cx="3429000" cy="698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C) 4.061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9080EF-6096-4148-A851-3AD0E9DC3F75}"/>
              </a:ext>
            </a:extLst>
          </p:cNvPr>
          <p:cNvSpPr/>
          <p:nvPr/>
        </p:nvSpPr>
        <p:spPr>
          <a:xfrm>
            <a:off x="0" y="4172927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F0571E-3C05-EE43-864E-B335FEDB33DF}"/>
              </a:ext>
            </a:extLst>
          </p:cNvPr>
          <p:cNvSpPr txBox="1"/>
          <p:nvPr/>
        </p:nvSpPr>
        <p:spPr>
          <a:xfrm>
            <a:off x="444500" y="4474309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910D3C8-EFA6-D242-A957-096EC6297040}"/>
              </a:ext>
            </a:extLst>
          </p:cNvPr>
          <p:cNvSpPr/>
          <p:nvPr/>
        </p:nvSpPr>
        <p:spPr>
          <a:xfrm>
            <a:off x="444500" y="4965701"/>
            <a:ext cx="34925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B) 0.386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328D437-5675-884C-9D30-F1F336F2AB5D}"/>
              </a:ext>
            </a:extLst>
          </p:cNvPr>
          <p:cNvSpPr/>
          <p:nvPr/>
        </p:nvSpPr>
        <p:spPr>
          <a:xfrm>
            <a:off x="444500" y="5791201"/>
            <a:ext cx="34925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The Estimate column in the 'weeks' row gives the slope: 0.386 kg per week.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FE5960-07B6-7731-2B32-772E19208DE5}"/>
              </a:ext>
            </a:extLst>
          </p:cNvPr>
          <p:cNvSpPr/>
          <p:nvPr/>
        </p:nvSpPr>
        <p:spPr>
          <a:xfrm>
            <a:off x="5143500" y="1392114"/>
            <a:ext cx="6731000" cy="4191001"/>
          </a:xfrm>
          <a:prstGeom prst="roundRect">
            <a:avLst>
              <a:gd name="adj" fmla="val 5684"/>
            </a:avLst>
          </a:prstGeom>
          <a:solidFill>
            <a:srgbClr val="2D2D2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350628-752F-0FB2-388C-C0B529856D90}"/>
              </a:ext>
            </a:extLst>
          </p:cNvPr>
          <p:cNvSpPr txBox="1"/>
          <p:nvPr/>
        </p:nvSpPr>
        <p:spPr>
          <a:xfrm>
            <a:off x="5295900" y="1481014"/>
            <a:ext cx="6451600" cy="485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Call:
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lm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(formula =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weight_kg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~ weeks,
   data = preemie_bottom8)
Residuals:
    Min      1Q  Median      3Q     Max
-0.5256 -0.4674 -0.0709  0.3315  0.7067
Coefficients:
            Estimate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Std.Error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 t value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Pr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(&gt;|t|)
(Intercept) -10.779    4.061  -2.655   0.0378 *
weeks         0.386    0.118   3.262   0.0172 *
Residual standard error: 0.5491 on 6 </a:t>
            </a:r>
            <a:r>
              <a:rPr lang="en-US" sz="1400" dirty="0" err="1">
                <a:solidFill>
                  <a:srgbClr val="E0E0E0"/>
                </a:solidFill>
                <a:latin typeface="Consolas"/>
                <a:cs typeface="Consolas"/>
              </a:rPr>
              <a:t>df</a:t>
            </a:r>
            <a:r>
              <a:rPr lang="en-US" sz="1400" dirty="0">
                <a:solidFill>
                  <a:srgbClr val="E0E0E0"/>
                </a:solidFill>
                <a:latin typeface="Consolas"/>
                <a:cs typeface="Consolas"/>
              </a:rPr>
              <a:t>
Multiple R-squared:  0.6394
Adjusted R-squared:  0.5794
F-statistic: 10.64 on 1 and 6 DF
p-value: 0.0172</a:t>
            </a:r>
          </a:p>
        </p:txBody>
      </p:sp>
    </p:spTree>
    <p:extLst>
      <p:ext uri="{BB962C8B-B14F-4D97-AF65-F5344CB8AC3E}">
        <p14:creationId xmlns:p14="http://schemas.microsoft.com/office/powerpoint/2010/main" val="3634806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B68485-B80D-9245-9EEB-98F6822CCB08}"/>
              </a:ext>
            </a:extLst>
          </p:cNvPr>
          <p:cNvSpPr txBox="1"/>
          <p:nvPr/>
        </p:nvSpPr>
        <p:spPr>
          <a:xfrm>
            <a:off x="1905000" y="381000"/>
            <a:ext cx="8382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Let's Check Our Line in Desmos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D8E6C-3F29-8847-8C3B-5B49BB6776D2}"/>
              </a:ext>
            </a:extLst>
          </p:cNvPr>
          <p:cNvSpPr txBox="1"/>
          <p:nvPr/>
        </p:nvSpPr>
        <p:spPr>
          <a:xfrm>
            <a:off x="3175000" y="1270000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Go back to Desmos and enter: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44B1C8-F1FC-A642-B9B5-94139C02F280}"/>
              </a:ext>
            </a:extLst>
          </p:cNvPr>
          <p:cNvSpPr/>
          <p:nvPr/>
        </p:nvSpPr>
        <p:spPr>
          <a:xfrm>
            <a:off x="2540000" y="1905000"/>
            <a:ext cx="7112000" cy="889000"/>
          </a:xfrm>
          <a:prstGeom prst="round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3200" b="1">
                <a:solidFill>
                  <a:srgbClr val="2D2D2D"/>
                </a:solidFill>
                <a:latin typeface="Montserrat"/>
              </a:rPr>
              <a:t>y = -10.78 + 0.386x</a:t>
            </a:r>
          </a:p>
        </p:txBody>
      </p:sp>
      <p:sp>
        <p:nvSpPr>
          <p:cNvPr id="5" name="Down Arrow 4">
            <a:extLst>
              <a:ext uri="{FF2B5EF4-FFF2-40B4-BE49-F238E27FC236}">
                <a16:creationId xmlns:a16="http://schemas.microsoft.com/office/drawing/2014/main" id="{FACE4273-2B42-4945-A4A8-D0797DA56499}"/>
              </a:ext>
            </a:extLst>
          </p:cNvPr>
          <p:cNvSpPr/>
          <p:nvPr/>
        </p:nvSpPr>
        <p:spPr>
          <a:xfrm>
            <a:off x="5715000" y="3048000"/>
            <a:ext cx="762000" cy="635000"/>
          </a:xfrm>
          <a:prstGeom prst="downArrow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730EBFD-E547-FE4A-A412-3C6546858D30}"/>
              </a:ext>
            </a:extLst>
          </p:cNvPr>
          <p:cNvSpPr/>
          <p:nvPr/>
        </p:nvSpPr>
        <p:spPr>
          <a:xfrm>
            <a:off x="2540000" y="3937000"/>
            <a:ext cx="7112000" cy="762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Does the line fit nicely through the data?</a:t>
            </a:r>
          </a:p>
        </p:txBody>
      </p:sp>
    </p:spTree>
    <p:extLst>
      <p:ext uri="{BB962C8B-B14F-4D97-AF65-F5344CB8AC3E}">
        <p14:creationId xmlns:p14="http://schemas.microsoft.com/office/powerpoint/2010/main" val="217415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60E8C2-13FE-C84E-8C65-D01103C19977}"/>
              </a:ext>
            </a:extLst>
          </p:cNvPr>
          <p:cNvSpPr txBox="1"/>
          <p:nvPr/>
        </p:nvSpPr>
        <p:spPr>
          <a:xfrm>
            <a:off x="635000" y="3175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Key Takeaway: The Slope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81C4F46-F690-BB46-9D1B-D599E623DDD5}"/>
              </a:ext>
            </a:extLst>
          </p:cNvPr>
          <p:cNvSpPr/>
          <p:nvPr/>
        </p:nvSpPr>
        <p:spPr>
          <a:xfrm>
            <a:off x="1270000" y="1270000"/>
            <a:ext cx="9652000" cy="1651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41D5D-A33A-0243-8F12-3BDC133F8357}"/>
              </a:ext>
            </a:extLst>
          </p:cNvPr>
          <p:cNvSpPr txBox="1"/>
          <p:nvPr/>
        </p:nvSpPr>
        <p:spPr>
          <a:xfrm>
            <a:off x="1524000" y="1397000"/>
            <a:ext cx="914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The slope tells you: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3D104-11F0-5A4C-80DF-F965BC05FD9A}"/>
              </a:ext>
            </a:extLst>
          </p:cNvPr>
          <p:cNvSpPr txBox="1"/>
          <p:nvPr/>
        </p:nvSpPr>
        <p:spPr>
          <a:xfrm>
            <a:off x="1524000" y="1879600"/>
            <a:ext cx="9144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0C645"/>
                </a:solidFill>
                <a:latin typeface="Montserrat"/>
              </a:rPr>
              <a:t>For every 1-unit increase in X, Y changes by [slope] units, on average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E7B080-BEBC-854F-8E1D-42410872B9F5}"/>
              </a:ext>
            </a:extLst>
          </p:cNvPr>
          <p:cNvSpPr/>
          <p:nvPr/>
        </p:nvSpPr>
        <p:spPr>
          <a:xfrm>
            <a:off x="1905000" y="3429000"/>
            <a:ext cx="8382000" cy="1397000"/>
          </a:xfrm>
          <a:prstGeom prst="roundRect">
            <a:avLst/>
          </a:prstGeom>
          <a:solidFill>
            <a:srgbClr val="E8F4F4"/>
          </a:solidFill>
          <a:ln w="2540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172DC-8344-7F45-9DA6-08F4715904E1}"/>
              </a:ext>
            </a:extLst>
          </p:cNvPr>
          <p:cNvSpPr txBox="1"/>
          <p:nvPr/>
        </p:nvSpPr>
        <p:spPr>
          <a:xfrm>
            <a:off x="2159000" y="35560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In our example: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63401-3FE4-1F4F-A0FB-676AC8FAFF9F}"/>
              </a:ext>
            </a:extLst>
          </p:cNvPr>
          <p:cNvSpPr txBox="1"/>
          <p:nvPr/>
        </p:nvSpPr>
        <p:spPr>
          <a:xfrm>
            <a:off x="2159000" y="39370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1A5C5C"/>
                </a:solidFill>
                <a:latin typeface="Montserrat"/>
              </a:rPr>
              <a:t>slope = 0.386 kg/week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F5376C-AE7A-D949-AFCB-5AF32F726480}"/>
              </a:ext>
            </a:extLst>
          </p:cNvPr>
          <p:cNvSpPr txBox="1"/>
          <p:nvPr/>
        </p:nvSpPr>
        <p:spPr>
          <a:xfrm>
            <a:off x="2159000" y="4343400"/>
            <a:ext cx="787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Each extra week of gestation adds ~0.386 kg to birthweight</a:t>
            </a:r>
          </a:p>
        </p:txBody>
      </p:sp>
    </p:spTree>
    <p:extLst>
      <p:ext uri="{BB962C8B-B14F-4D97-AF65-F5344CB8AC3E}">
        <p14:creationId xmlns:p14="http://schemas.microsoft.com/office/powerpoint/2010/main" val="360936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F39DF4-6BF5-5C44-91C5-18A1DF63D541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Interpreting the Slope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4E246-BDBF-6045-8268-74B73A32F76C}"/>
              </a:ext>
            </a:extLst>
          </p:cNvPr>
          <p:cNvSpPr txBox="1"/>
          <p:nvPr/>
        </p:nvSpPr>
        <p:spPr>
          <a:xfrm>
            <a:off x="508000" y="889000"/>
            <a:ext cx="10668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 linear regression of test score on study hours has slope = 5. This means: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7DB46C-2463-EE40-88EC-73409E077F66}"/>
              </a:ext>
            </a:extLst>
          </p:cNvPr>
          <p:cNvSpPr/>
          <p:nvPr/>
        </p:nvSpPr>
        <p:spPr>
          <a:xfrm>
            <a:off x="508000" y="1752600"/>
            <a:ext cx="3429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Students who study score ~5 points higher than those that don’t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6FB7E7-3051-5F4E-A1D3-B7A42FBD55F9}"/>
              </a:ext>
            </a:extLst>
          </p:cNvPr>
          <p:cNvSpPr/>
          <p:nvPr/>
        </p:nvSpPr>
        <p:spPr>
          <a:xfrm>
            <a:off x="4317999" y="1752600"/>
            <a:ext cx="3700585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Each extra hour of study increases score by 5 points on average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69283-791B-D245-B4E0-8E65C0FC7F72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17018-B221-BF44-933A-C2B719B6661C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76F320-C450-6447-8366-235D579F1D70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 dirty="0">
                <a:solidFill>
                  <a:srgbClr val="FFFFFF"/>
                </a:solidFill>
                <a:latin typeface="Montserrat"/>
              </a:rPr>
              <a:t>B) Each extra hour: +5 points, on average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BF0174-3932-AD44-B8AC-4E69102A353F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The slope tells us the average change in Y per 1-unit increase in X.</a:t>
            </a:r>
          </a:p>
        </p:txBody>
      </p:sp>
    </p:spTree>
    <p:extLst>
      <p:ext uri="{BB962C8B-B14F-4D97-AF65-F5344CB8AC3E}">
        <p14:creationId xmlns:p14="http://schemas.microsoft.com/office/powerpoint/2010/main" val="377117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96B53A-4B3B-3647-A26D-A314AADA6379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Positive vs. Negative Slopes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D001E-F204-5546-ADEF-E459DF7F685B}"/>
              </a:ext>
            </a:extLst>
          </p:cNvPr>
          <p:cNvSpPr txBox="1"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Which scenario would have a negative slope?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FB3A97-EEEF-3343-BF12-EDCCA8A7A11B}"/>
              </a:ext>
            </a:extLst>
          </p:cNvPr>
          <p:cNvSpPr/>
          <p:nvPr/>
        </p:nvSpPr>
        <p:spPr>
          <a:xfrm>
            <a:off x="508000" y="1752600"/>
            <a:ext cx="3429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Taller people
weigh more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94391E-0C6C-2443-A61A-A8EC19CDABE8}"/>
              </a:ext>
            </a:extLst>
          </p:cNvPr>
          <p:cNvSpPr/>
          <p:nvPr/>
        </p:nvSpPr>
        <p:spPr>
          <a:xfrm>
            <a:off x="4318000" y="1752600"/>
            <a:ext cx="3429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More rain
→ more crops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10E0D2-40C2-E54F-B656-A9A8093E9666}"/>
              </a:ext>
            </a:extLst>
          </p:cNvPr>
          <p:cNvSpPr/>
          <p:nvPr/>
        </p:nvSpPr>
        <p:spPr>
          <a:xfrm>
            <a:off x="8128000" y="1752600"/>
            <a:ext cx="3429000" cy="7620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C) Older cars have
lower prices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1BD37-950D-B841-987A-40094E09CB8F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B3A82A-CE05-0A4F-AF86-DA63C2E83E28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1AE17B3-5C92-6C41-B7C8-D3AC80E0D92B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C) Older cars have lower prices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B34357C-3130-B441-A669-E1498351927D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As car age increases, price decreases. That's a negative relationship = negative slope.</a:t>
            </a:r>
          </a:p>
        </p:txBody>
      </p:sp>
    </p:spTree>
    <p:extLst>
      <p:ext uri="{BB962C8B-B14F-4D97-AF65-F5344CB8AC3E}">
        <p14:creationId xmlns:p14="http://schemas.microsoft.com/office/powerpoint/2010/main" val="50317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32DCA3-AA6F-1541-9141-1271FFADEE68}"/>
              </a:ext>
            </a:extLst>
          </p:cNvPr>
          <p:cNvSpPr txBox="1"/>
          <p:nvPr/>
        </p:nvSpPr>
        <p:spPr>
          <a:xfrm>
            <a:off x="635000" y="190500"/>
            <a:ext cx="889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5C5C"/>
                </a:solidFill>
                <a:latin typeface="Montserrat"/>
              </a:rPr>
              <a:t>Making Predictions with the Slope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E691793-7635-E848-8069-8FCF1695FB36}"/>
              </a:ext>
            </a:extLst>
          </p:cNvPr>
          <p:cNvSpPr/>
          <p:nvPr/>
        </p:nvSpPr>
        <p:spPr>
          <a:xfrm>
            <a:off x="1016000" y="825500"/>
            <a:ext cx="10160000" cy="571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birthweight do we predict for a baby born at 35 weeks?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44022-E080-F04E-9BF2-61A72680FEE2}"/>
              </a:ext>
            </a:extLst>
          </p:cNvPr>
          <p:cNvSpPr txBox="1"/>
          <p:nvPr/>
        </p:nvSpPr>
        <p:spPr>
          <a:xfrm>
            <a:off x="1016000" y="15240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Our equation:  weight = -10.78 + 0.386 × weeks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57C10FB-FF60-DA4E-A8BB-A951CEA33B9E}"/>
              </a:ext>
            </a:extLst>
          </p:cNvPr>
          <p:cNvSpPr/>
          <p:nvPr/>
        </p:nvSpPr>
        <p:spPr>
          <a:xfrm>
            <a:off x="1524000" y="22606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F6DF4C-F373-8643-9376-92E437F200C9}"/>
              </a:ext>
            </a:extLst>
          </p:cNvPr>
          <p:cNvSpPr txBox="1"/>
          <p:nvPr/>
        </p:nvSpPr>
        <p:spPr>
          <a:xfrm>
            <a:off x="2159000" y="2184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Plug in weeks = 35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12966-6683-C04D-B48F-079E25F82BF9}"/>
              </a:ext>
            </a:extLst>
          </p:cNvPr>
          <p:cNvSpPr txBox="1"/>
          <p:nvPr/>
        </p:nvSpPr>
        <p:spPr>
          <a:xfrm>
            <a:off x="2159000" y="2514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1A5C5C"/>
                </a:solidFill>
                <a:latin typeface="Consolas"/>
                <a:cs typeface="Consolas"/>
              </a:rPr>
              <a:t>weight = -10.78 + 0.386 × 35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20A971B-F321-6942-81C9-B220346313B9}"/>
              </a:ext>
            </a:extLst>
          </p:cNvPr>
          <p:cNvSpPr/>
          <p:nvPr/>
        </p:nvSpPr>
        <p:spPr>
          <a:xfrm>
            <a:off x="1524000" y="30861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1A4AE-716A-1248-A571-CBDD6EF702F8}"/>
              </a:ext>
            </a:extLst>
          </p:cNvPr>
          <p:cNvSpPr txBox="1"/>
          <p:nvPr/>
        </p:nvSpPr>
        <p:spPr>
          <a:xfrm>
            <a:off x="2159000" y="30099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Multiply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F5A6DF-64B0-0C44-96AC-26629509D510}"/>
              </a:ext>
            </a:extLst>
          </p:cNvPr>
          <p:cNvSpPr txBox="1"/>
          <p:nvPr/>
        </p:nvSpPr>
        <p:spPr>
          <a:xfrm>
            <a:off x="2159000" y="33401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1A5C5C"/>
                </a:solidFill>
                <a:latin typeface="Consolas"/>
                <a:cs typeface="Consolas"/>
              </a:rPr>
              <a:t>weight = -10.78 + 13.51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B82368A-3439-2E43-B087-6B9B8AA9F507}"/>
              </a:ext>
            </a:extLst>
          </p:cNvPr>
          <p:cNvSpPr/>
          <p:nvPr/>
        </p:nvSpPr>
        <p:spPr>
          <a:xfrm>
            <a:off x="1524000" y="39116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837858-1944-0441-9DBA-8B620B1DCF23}"/>
              </a:ext>
            </a:extLst>
          </p:cNvPr>
          <p:cNvSpPr txBox="1"/>
          <p:nvPr/>
        </p:nvSpPr>
        <p:spPr>
          <a:xfrm>
            <a:off x="2159000" y="3835400"/>
            <a:ext cx="317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Add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0E6CE-67F7-FD4F-B3AB-16C599D15815}"/>
              </a:ext>
            </a:extLst>
          </p:cNvPr>
          <p:cNvSpPr txBox="1"/>
          <p:nvPr/>
        </p:nvSpPr>
        <p:spPr>
          <a:xfrm>
            <a:off x="2159000" y="4165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1A5C5C"/>
                </a:solidFill>
                <a:latin typeface="Consolas"/>
                <a:cs typeface="Consolas"/>
              </a:rPr>
              <a:t>weight = 2.73 kg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1F3580-14F5-C349-8389-3A9583D3C3DC}"/>
              </a:ext>
            </a:extLst>
          </p:cNvPr>
          <p:cNvSpPr/>
          <p:nvPr/>
        </p:nvSpPr>
        <p:spPr>
          <a:xfrm>
            <a:off x="2032000" y="4826000"/>
            <a:ext cx="8128000" cy="762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Montserrat"/>
              </a:rPr>
              <a:t>Predicted birthweight at 35 weeks:  2.73 kg</a:t>
            </a:r>
          </a:p>
        </p:txBody>
      </p:sp>
    </p:spTree>
    <p:extLst>
      <p:ext uri="{BB962C8B-B14F-4D97-AF65-F5344CB8AC3E}">
        <p14:creationId xmlns:p14="http://schemas.microsoft.com/office/powerpoint/2010/main" val="963679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43A1D-4C18-4B4D-932F-AF2CDB911B5B}"/>
              </a:ext>
            </a:extLst>
          </p:cNvPr>
          <p:cNvSpPr txBox="1"/>
          <p:nvPr/>
        </p:nvSpPr>
        <p:spPr>
          <a:xfrm>
            <a:off x="635000" y="254000"/>
            <a:ext cx="762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>
                <a:solidFill>
                  <a:srgbClr val="1A5C5C"/>
                </a:solidFill>
                <a:latin typeface="Montserrat"/>
              </a:rPr>
              <a:t>Your Turn: Practice Prediction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72E2F36-91EE-F44A-9F1C-C0ED11FBED09}"/>
              </a:ext>
            </a:extLst>
          </p:cNvPr>
          <p:cNvSpPr/>
          <p:nvPr/>
        </p:nvSpPr>
        <p:spPr>
          <a:xfrm>
            <a:off x="1016000" y="1016000"/>
            <a:ext cx="10160000" cy="508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Our equation:  weight = -10.78 + 0.386 × weeks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4839562-7290-4C4B-B4DD-E8D886ECA9F6}"/>
              </a:ext>
            </a:extLst>
          </p:cNvPr>
          <p:cNvSpPr/>
          <p:nvPr/>
        </p:nvSpPr>
        <p:spPr>
          <a:xfrm>
            <a:off x="1905000" y="1905000"/>
            <a:ext cx="8382000" cy="698500"/>
          </a:xfrm>
          <a:prstGeom prst="roundRect">
            <a:avLst/>
          </a:prstGeom>
          <a:solidFill>
            <a:srgbClr val="FFF8E1"/>
          </a:solidFill>
          <a:ln w="254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What birthweight do we predict for a baby born at 36 weeks?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F37474-456B-684E-9B64-99350BB80273}"/>
              </a:ext>
            </a:extLst>
          </p:cNvPr>
          <p:cNvSpPr/>
          <p:nvPr/>
        </p:nvSpPr>
        <p:spPr>
          <a:xfrm>
            <a:off x="1905000" y="3048000"/>
            <a:ext cx="8382000" cy="2540000"/>
          </a:xfrm>
          <a:prstGeom prst="rect">
            <a:avLst/>
          </a:prstGeom>
          <a:solidFill>
            <a:srgbClr val="FAFAFA"/>
          </a:solidFill>
          <a:ln w="25400" cap="flat" cmpd="sng" algn="ctr">
            <a:solidFill>
              <a:srgbClr val="CCCC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i="1">
                <a:solidFill>
                  <a:srgbClr val="CCCCCC"/>
                </a:solidFill>
                <a:latin typeface="Open Sans"/>
                <a:ea typeface="Open Sans"/>
                <a:cs typeface="Open Sans"/>
              </a:rPr>
              <a:t>Work it out here...</a:t>
            </a:r>
          </a:p>
        </p:txBody>
      </p:sp>
    </p:spTree>
    <p:extLst>
      <p:ext uri="{BB962C8B-B14F-4D97-AF65-F5344CB8AC3E}">
        <p14:creationId xmlns:p14="http://schemas.microsoft.com/office/powerpoint/2010/main" val="62110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2182B4-0B6F-864F-B73C-595CEBC260BE}"/>
              </a:ext>
            </a:extLst>
          </p:cNvPr>
          <p:cNvSpPr txBox="1"/>
          <p:nvPr/>
        </p:nvSpPr>
        <p:spPr>
          <a:xfrm>
            <a:off x="635000" y="190500"/>
            <a:ext cx="8255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5C5C"/>
                </a:solidFill>
                <a:latin typeface="Montserrat"/>
              </a:rPr>
              <a:t>What Does the Intercept Mean?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54FC48-C192-A043-8713-C2C760561EED}"/>
              </a:ext>
            </a:extLst>
          </p:cNvPr>
          <p:cNvSpPr/>
          <p:nvPr/>
        </p:nvSpPr>
        <p:spPr>
          <a:xfrm>
            <a:off x="762000" y="762000"/>
            <a:ext cx="10668000" cy="4445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weight = -10.78 + 0.386 × weeks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B27CC7-2B80-824A-A806-62B5222BEEDB}"/>
              </a:ext>
            </a:extLst>
          </p:cNvPr>
          <p:cNvSpPr/>
          <p:nvPr/>
        </p:nvSpPr>
        <p:spPr>
          <a:xfrm>
            <a:off x="635000" y="1460500"/>
            <a:ext cx="5334000" cy="1016000"/>
          </a:xfrm>
          <a:prstGeom prst="roundRect">
            <a:avLst/>
          </a:prstGeom>
          <a:solidFill>
            <a:srgbClr val="E8F4F4"/>
          </a:solidFill>
          <a:ln w="19050" cap="flat" cmpd="sng" algn="ctr">
            <a:solidFill>
              <a:srgbClr val="2B8C8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9AAB5-3FE4-3C41-B05D-7CF84444B171}"/>
              </a:ext>
            </a:extLst>
          </p:cNvPr>
          <p:cNvSpPr txBox="1"/>
          <p:nvPr/>
        </p:nvSpPr>
        <p:spPr>
          <a:xfrm>
            <a:off x="762000" y="152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2B8C8C"/>
                </a:solidFill>
                <a:latin typeface="Montserrat"/>
              </a:rPr>
              <a:t>Definition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CCDE7-3370-F348-A75F-3538057878F3}"/>
              </a:ext>
            </a:extLst>
          </p:cNvPr>
          <p:cNvSpPr txBox="1"/>
          <p:nvPr/>
        </p:nvSpPr>
        <p:spPr>
          <a:xfrm>
            <a:off x="762000" y="1879600"/>
            <a:ext cx="508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The intercept is the predicted value of Y when X = 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5C9AC8-47FD-8F48-805F-FA7B1D1C134D}"/>
              </a:ext>
            </a:extLst>
          </p:cNvPr>
          <p:cNvSpPr/>
          <p:nvPr/>
        </p:nvSpPr>
        <p:spPr>
          <a:xfrm>
            <a:off x="6223000" y="1460500"/>
            <a:ext cx="5334000" cy="1016000"/>
          </a:xfrm>
          <a:prstGeom prst="roundRect">
            <a:avLst/>
          </a:prstGeom>
          <a:solidFill>
            <a:srgbClr val="FFF8E1"/>
          </a:solidFill>
          <a:ln w="1905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336F3-465B-424E-942C-F4178ED43351}"/>
              </a:ext>
            </a:extLst>
          </p:cNvPr>
          <p:cNvSpPr txBox="1"/>
          <p:nvPr/>
        </p:nvSpPr>
        <p:spPr>
          <a:xfrm>
            <a:off x="6350000" y="1524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D4A017"/>
                </a:solidFill>
                <a:latin typeface="Montserrat"/>
              </a:rPr>
              <a:t>In Our Example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EF9891-1BBE-2540-8446-48176BB14261}"/>
              </a:ext>
            </a:extLst>
          </p:cNvPr>
          <p:cNvSpPr txBox="1"/>
          <p:nvPr/>
        </p:nvSpPr>
        <p:spPr>
          <a:xfrm>
            <a:off x="6350000" y="1879600"/>
            <a:ext cx="508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When weeks = 0:
weight = -10.78 kg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4683C3C-EF6D-0E46-9AA3-F98D38B36B45}"/>
              </a:ext>
            </a:extLst>
          </p:cNvPr>
          <p:cNvSpPr/>
          <p:nvPr/>
        </p:nvSpPr>
        <p:spPr>
          <a:xfrm>
            <a:off x="1016000" y="2857500"/>
            <a:ext cx="10160000" cy="2286000"/>
          </a:xfrm>
          <a:prstGeom prst="roundRect">
            <a:avLst/>
          </a:prstGeom>
          <a:solidFill>
            <a:srgbClr val="FFF0F0"/>
          </a:solidFill>
          <a:ln w="25400" cap="flat" cmpd="sng" algn="ctr">
            <a:solidFill>
              <a:srgbClr val="E85D5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2021F725-B90E-3D43-975E-715BED4894B8}"/>
              </a:ext>
            </a:extLst>
          </p:cNvPr>
          <p:cNvSpPr/>
          <p:nvPr/>
        </p:nvSpPr>
        <p:spPr>
          <a:xfrm>
            <a:off x="1397000" y="3175000"/>
            <a:ext cx="381000" cy="330200"/>
          </a:xfrm>
          <a:prstGeom prst="triangle">
            <a:avLst/>
          </a:prstGeom>
          <a:solidFill>
            <a:srgbClr val="E85D5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1242EF-D69B-3645-8B68-B2126B5A2939}"/>
              </a:ext>
            </a:extLst>
          </p:cNvPr>
          <p:cNvSpPr txBox="1"/>
          <p:nvPr/>
        </p:nvSpPr>
        <p:spPr>
          <a:xfrm>
            <a:off x="1968500" y="3111500"/>
            <a:ext cx="889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900" b="1">
                <a:solidFill>
                  <a:srgbClr val="E85D5D"/>
                </a:solidFill>
                <a:latin typeface="Montserrat"/>
              </a:rPr>
              <a:t>Wait... negative weight? That doesn't make sense!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90AE61-26AF-0649-B82D-F20574C11E68}"/>
              </a:ext>
            </a:extLst>
          </p:cNvPr>
          <p:cNvSpPr txBox="1"/>
          <p:nvPr/>
        </p:nvSpPr>
        <p:spPr>
          <a:xfrm>
            <a:off x="1524000" y="3619500"/>
            <a:ext cx="939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The intercept here is a mathematical artifact, not a real prediction.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3C78FD-F2A4-A54C-9A05-D5A47BE2E9D1}"/>
              </a:ext>
            </a:extLst>
          </p:cNvPr>
          <p:cNvSpPr txBox="1"/>
          <p:nvPr/>
        </p:nvSpPr>
        <p:spPr>
          <a:xfrm>
            <a:off x="1524000" y="4038600"/>
            <a:ext cx="939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Our data only covers 32–36 weeks — predicting at 0 weeks is extrapolation.</a:t>
            </a:r>
          </a:p>
        </p:txBody>
      </p:sp>
    </p:spTree>
    <p:extLst>
      <p:ext uri="{BB962C8B-B14F-4D97-AF65-F5344CB8AC3E}">
        <p14:creationId xmlns:p14="http://schemas.microsoft.com/office/powerpoint/2010/main" val="3603438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F8F7B4-C743-6C46-A1D0-29A6203E9A55}"/>
              </a:ext>
            </a:extLst>
          </p:cNvPr>
          <p:cNvSpPr txBox="1"/>
          <p:nvPr/>
        </p:nvSpPr>
        <p:spPr>
          <a:xfrm>
            <a:off x="635000" y="152400"/>
            <a:ext cx="63500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1A5C5C"/>
                </a:solidFill>
                <a:latin typeface="Montserrat"/>
              </a:rPr>
              <a:t>Visualizing the Intercept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304800" y="609600"/>
          <a:ext cx="7620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1" name="IntBox"/>
          <p:cNvSpPr/>
          <p:nvPr/>
        </p:nvSpPr>
        <p:spPr>
          <a:xfrm>
            <a:off x="8382000" y="1016000"/>
            <a:ext cx="3048000" cy="952500"/>
          </a:xfrm>
          <a:prstGeom prst="roundRect">
            <a:avLst/>
          </a:prstGeom>
          <a:solidFill>
            <a:srgbClr val="E8F4F4"/>
          </a:solidFill>
          <a:ln w="19050">
            <a:solidFill>
              <a:srgbClr val="2B8C8C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400" b="1" dirty="0">
                <a:solidFill>
                  <a:srgbClr val="2B8C8C"/>
                </a:solidFill>
              </a:rPr>
              <a:t>The Intercept</a:t>
            </a:r>
          </a:p>
          <a:p>
            <a:pPr algn="ctr"/>
            <a:r>
              <a:rPr lang="en-US" sz="1400" dirty="0">
                <a:solidFill>
                  <a:srgbClr val="2D2D2D"/>
                </a:solidFill>
              </a:rPr>
              <a:t>Where the line crosses the Y-axis (when X = 0). It anchors the line vertically.</a:t>
            </a:r>
          </a:p>
        </p:txBody>
      </p:sp>
      <p:sp>
        <p:nvSpPr>
          <p:cNvPr id="202" name="ExtBox"/>
          <p:cNvSpPr/>
          <p:nvPr/>
        </p:nvSpPr>
        <p:spPr>
          <a:xfrm>
            <a:off x="8382000" y="2222500"/>
            <a:ext cx="3048000" cy="95250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E85D5D"/>
            </a:solidFill>
          </a:ln>
        </p:spPr>
        <p:txBody>
          <a:bodyPr wrap="square" lIns="72000" tIns="36000" rIns="72000" bIns="36000" anchor="ctr"/>
          <a:lstStyle/>
          <a:p>
            <a:pPr algn="ctr"/>
            <a:r>
              <a:rPr lang="en-US" sz="1400" b="1" dirty="0">
                <a:solidFill>
                  <a:srgbClr val="E85D5D"/>
                </a:solidFill>
              </a:rPr>
              <a:t>Extrapolation Zone</a:t>
            </a:r>
          </a:p>
          <a:p>
            <a:pPr algn="ctr"/>
            <a:r>
              <a:rPr lang="en-US" sz="1400" dirty="0">
                <a:solidFill>
                  <a:srgbClr val="2D2D2D"/>
                </a:solidFill>
              </a:rPr>
              <a:t>The dashed line extends far beyond our actual data</a:t>
            </a:r>
          </a:p>
        </p:txBody>
      </p:sp>
    </p:spTree>
    <p:extLst>
      <p:ext uri="{BB962C8B-B14F-4D97-AF65-F5344CB8AC3E}">
        <p14:creationId xmlns:p14="http://schemas.microsoft.com/office/powerpoint/2010/main" val="3422958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01D2E7-F4FA-B34D-BDE9-746ECC140102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Interpreting the Intercept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F266F6-BAAD-E444-963C-FB64C076FE1C}"/>
              </a:ext>
            </a:extLst>
          </p:cNvPr>
          <p:cNvSpPr txBox="1"/>
          <p:nvPr/>
        </p:nvSpPr>
        <p:spPr>
          <a:xfrm>
            <a:off x="762000" y="8890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Why is our intercept (−10.78 kg) not a meaningful prediction?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618B2C-00F1-DC4D-81AF-58943E246C01}"/>
              </a:ext>
            </a:extLst>
          </p:cNvPr>
          <p:cNvSpPr/>
          <p:nvPr/>
        </p:nvSpPr>
        <p:spPr>
          <a:xfrm>
            <a:off x="508000" y="1714500"/>
            <a:ext cx="3429000" cy="825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A) The slope is too small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6F2F45-33BF-4A44-B7B2-13EA06AB0D1F}"/>
              </a:ext>
            </a:extLst>
          </p:cNvPr>
          <p:cNvSpPr/>
          <p:nvPr/>
        </p:nvSpPr>
        <p:spPr>
          <a:xfrm>
            <a:off x="4318000" y="1714500"/>
            <a:ext cx="3429000" cy="825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B) 0 weeks is far
outside our data range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11922BA-85AD-C24C-86B5-C16FDCA20572}"/>
              </a:ext>
            </a:extLst>
          </p:cNvPr>
          <p:cNvSpPr/>
          <p:nvPr/>
        </p:nvSpPr>
        <p:spPr>
          <a:xfrm>
            <a:off x="8128000" y="1714500"/>
            <a:ext cx="3429000" cy="825500"/>
          </a:xfrm>
          <a:prstGeom prst="roundRect">
            <a:avLst/>
          </a:prstGeom>
          <a:solidFill>
            <a:srgbClr val="F5F5F0"/>
          </a:solidFill>
          <a:ln w="25400" cap="flat" cmpd="sng" algn="ctr">
            <a:solidFill>
              <a:srgbClr val="CCCCC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400" b="1" dirty="0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C) The slope is too large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D0615-8F41-BB44-8734-426D9E16F78B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543D1-33A1-F946-B092-8E0C0793215A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405D269-2C9D-3648-9D15-31E0B9918ABA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B) 0 weeks is far outside our data range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C13FC9-2300-8846-B6A4-5ED1635D8279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Our data covers 32–36 weeks. Predicting at 0 weeks is extrapolation far beyond the data.</a:t>
            </a:r>
          </a:p>
          <a:p>
            <a:pPr algn="l"/>
            <a:r>
              <a:rPr lang="en-US" sz="1600" dirty="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(Also, a linear model may not be a good predictor outside of this window)</a:t>
            </a:r>
          </a:p>
        </p:txBody>
      </p:sp>
    </p:spTree>
    <p:extLst>
      <p:ext uri="{BB962C8B-B14F-4D97-AF65-F5344CB8AC3E}">
        <p14:creationId xmlns:p14="http://schemas.microsoft.com/office/powerpoint/2010/main" val="3156305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1C772-2DB4-8E4A-9E42-FB2D0C6908A6}"/>
              </a:ext>
            </a:extLst>
          </p:cNvPr>
          <p:cNvSpPr/>
          <p:nvPr/>
        </p:nvSpPr>
        <p:spPr>
          <a:xfrm>
            <a:off x="0" y="0"/>
            <a:ext cx="12192000" cy="635000"/>
          </a:xfrm>
          <a:prstGeom prst="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Montserrat"/>
              </a:rPr>
              <a:t>Practice — Interpreting the Intercept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27A72C-A594-5844-9B6B-958BA41CE211}"/>
              </a:ext>
            </a:extLst>
          </p:cNvPr>
          <p:cNvSpPr txBox="1"/>
          <p:nvPr/>
        </p:nvSpPr>
        <p:spPr>
          <a:xfrm>
            <a:off x="762000" y="889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Fill in the blank: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9E46C-BCED-9045-B268-A33201835A3D}"/>
              </a:ext>
            </a:extLst>
          </p:cNvPr>
          <p:cNvSpPr txBox="1"/>
          <p:nvPr/>
        </p:nvSpPr>
        <p:spPr>
          <a:xfrm>
            <a:off x="762000" y="13081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The intercept is the predicted value of Y when X equals _____.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63DECB-948C-6240-AD48-822840C158AB}"/>
              </a:ext>
            </a:extLst>
          </p:cNvPr>
          <p:cNvSpPr/>
          <p:nvPr/>
        </p:nvSpPr>
        <p:spPr>
          <a:xfrm>
            <a:off x="4191000" y="2159000"/>
            <a:ext cx="3810000" cy="635000"/>
          </a:xfrm>
          <a:prstGeom prst="roundRect">
            <a:avLst/>
          </a:prstGeom>
          <a:solidFill>
            <a:srgbClr val="FAFAFA"/>
          </a:solidFill>
          <a:ln w="25400" cap="flat" cmpd="sng" algn="ctr">
            <a:solidFill>
              <a:srgbClr val="CCCCCC"/>
            </a:solidFill>
            <a:prstDash val="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i="1">
                <a:solidFill>
                  <a:srgbClr val="BBBBBB"/>
                </a:solidFill>
                <a:latin typeface="Open Sans"/>
                <a:ea typeface="Open Sans"/>
                <a:cs typeface="Open Sans"/>
              </a:rPr>
              <a:t>???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10B6A-E841-7A48-951E-C8772AC963F2}"/>
              </a:ext>
            </a:extLst>
          </p:cNvPr>
          <p:cNvSpPr/>
          <p:nvPr/>
        </p:nvSpPr>
        <p:spPr>
          <a:xfrm>
            <a:off x="0" y="3492500"/>
            <a:ext cx="12192000" cy="63500"/>
          </a:xfrm>
          <a:prstGeom prst="rect">
            <a:avLst/>
          </a:prstGeom>
          <a:solidFill>
            <a:srgbClr val="F0C6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66A3B9-A51A-EC43-8346-E45D4B107B81}"/>
              </a:ext>
            </a:extLst>
          </p:cNvPr>
          <p:cNvSpPr txBox="1"/>
          <p:nvPr/>
        </p:nvSpPr>
        <p:spPr>
          <a:xfrm>
            <a:off x="762000" y="3683000"/>
            <a:ext cx="127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B8C8C"/>
                </a:solidFill>
                <a:latin typeface="Montserrat"/>
              </a:rPr>
              <a:t>Answer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0A0985C-DE99-A640-864E-CEF5B7C799EB}"/>
              </a:ext>
            </a:extLst>
          </p:cNvPr>
          <p:cNvSpPr/>
          <p:nvPr/>
        </p:nvSpPr>
        <p:spPr>
          <a:xfrm>
            <a:off x="1270000" y="4127500"/>
            <a:ext cx="9652000" cy="635000"/>
          </a:xfrm>
          <a:prstGeom prst="roundRect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  <a:latin typeface="Montserrat"/>
              </a:rPr>
              <a:t>0 (zero)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2DEC0C-64CA-9349-A3E8-9EBD05E596D8}"/>
              </a:ext>
            </a:extLst>
          </p:cNvPr>
          <p:cNvSpPr/>
          <p:nvPr/>
        </p:nvSpPr>
        <p:spPr>
          <a:xfrm>
            <a:off x="1270000" y="4953000"/>
            <a:ext cx="9652000" cy="698500"/>
          </a:xfrm>
          <a:prstGeom prst="roundRect">
            <a:avLst/>
          </a:prstGeom>
          <a:solidFill>
            <a:srgbClr val="FFF8E1"/>
          </a:solidFill>
          <a:ln w="12700" cap="flat" cmpd="sng" algn="ctr">
            <a:solidFill>
              <a:srgbClr val="F0C6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600">
                <a:solidFill>
                  <a:srgbClr val="555555"/>
                </a:solidFill>
                <a:latin typeface="Open Sans"/>
                <a:ea typeface="Open Sans"/>
                <a:cs typeface="Open Sans"/>
              </a:rPr>
              <a:t>By definition, the intercept is where the line crosses the Y-axis, which is at X = 0.</a:t>
            </a:r>
          </a:p>
        </p:txBody>
      </p:sp>
    </p:spTree>
    <p:extLst>
      <p:ext uri="{BB962C8B-B14F-4D97-AF65-F5344CB8AC3E}">
        <p14:creationId xmlns:p14="http://schemas.microsoft.com/office/powerpoint/2010/main" val="65754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601F6-06FD-1DCE-AA3D-C5F19B02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9637DF-4633-5087-221E-678224042EEF}"/>
              </a:ext>
            </a:extLst>
          </p:cNvPr>
          <p:cNvSpPr/>
          <p:nvPr/>
        </p:nvSpPr>
        <p:spPr>
          <a:xfrm>
            <a:off x="698500" y="1397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23159-D5D3-1B52-82CA-AD525B31F5E3}"/>
              </a:ext>
            </a:extLst>
          </p:cNvPr>
          <p:cNvSpPr txBox="1"/>
          <p:nvPr/>
        </p:nvSpPr>
        <p:spPr>
          <a:xfrm>
            <a:off x="1333500" y="1333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Explain what linear regression does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296712-1A05-D615-8FB8-5111B8C58B27}"/>
              </a:ext>
            </a:extLst>
          </p:cNvPr>
          <p:cNvSpPr txBox="1"/>
          <p:nvPr/>
        </p:nvSpPr>
        <p:spPr>
          <a:xfrm>
            <a:off x="1333500" y="1689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Models relationship between two numeric variables with a "best fit" line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4453A9-5746-D002-188E-954B8D3377C1}"/>
              </a:ext>
            </a:extLst>
          </p:cNvPr>
          <p:cNvSpPr/>
          <p:nvPr/>
        </p:nvSpPr>
        <p:spPr>
          <a:xfrm>
            <a:off x="698500" y="2413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02BF1-4203-B832-AFEE-136A9F393826}"/>
              </a:ext>
            </a:extLst>
          </p:cNvPr>
          <p:cNvSpPr txBox="1"/>
          <p:nvPr/>
        </p:nvSpPr>
        <p:spPr>
          <a:xfrm>
            <a:off x="1333500" y="2349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Interpret the slope of a regression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6A4B82-A894-0D74-38EC-C4C333C2515C}"/>
              </a:ext>
            </a:extLst>
          </p:cNvPr>
          <p:cNvSpPr txBox="1"/>
          <p:nvPr/>
        </p:nvSpPr>
        <p:spPr>
          <a:xfrm>
            <a:off x="1333500" y="2705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"For every 1-unit increase in X, Y changes by [slope] units, on average"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31BBC00-0F75-DFC1-3166-DF102B7C3AB7}"/>
              </a:ext>
            </a:extLst>
          </p:cNvPr>
          <p:cNvSpPr/>
          <p:nvPr/>
        </p:nvSpPr>
        <p:spPr>
          <a:xfrm>
            <a:off x="698500" y="3429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E8E90-C94A-BB2B-BD6D-0B77C7457730}"/>
              </a:ext>
            </a:extLst>
          </p:cNvPr>
          <p:cNvSpPr txBox="1"/>
          <p:nvPr/>
        </p:nvSpPr>
        <p:spPr>
          <a:xfrm>
            <a:off x="1333500" y="3365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Interpret the intercept of a regression 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0F76C7-6DC2-DCB4-51C1-0C06D2154838}"/>
              </a:ext>
            </a:extLst>
          </p:cNvPr>
          <p:cNvSpPr txBox="1"/>
          <p:nvPr/>
        </p:nvSpPr>
        <p:spPr>
          <a:xfrm>
            <a:off x="1333500" y="3721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Where the line crosses the Y-axis (predicted Y when X = 0)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E35D16-B98E-07ED-172A-3C2B3CE979B5}"/>
              </a:ext>
            </a:extLst>
          </p:cNvPr>
          <p:cNvSpPr/>
          <p:nvPr/>
        </p:nvSpPr>
        <p:spPr>
          <a:xfrm>
            <a:off x="698500" y="4445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52DB62-E58E-73A1-844F-BBB0742C9DA7}"/>
              </a:ext>
            </a:extLst>
          </p:cNvPr>
          <p:cNvSpPr txBox="1"/>
          <p:nvPr/>
        </p:nvSpPr>
        <p:spPr>
          <a:xfrm>
            <a:off x="1333500" y="4381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Use the regression equation to make predictions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D0C317-1019-07BD-92EC-EE4127FE6F73}"/>
              </a:ext>
            </a:extLst>
          </p:cNvPr>
          <p:cNvSpPr txBox="1"/>
          <p:nvPr/>
        </p:nvSpPr>
        <p:spPr>
          <a:xfrm>
            <a:off x="1333500" y="4737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Plug values into: y = intercept + slope × x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544312-CA99-173C-9F7B-099D38F8C5F2}"/>
              </a:ext>
            </a:extLst>
          </p:cNvPr>
          <p:cNvSpPr/>
          <p:nvPr/>
        </p:nvSpPr>
        <p:spPr>
          <a:xfrm>
            <a:off x="698500" y="5461000"/>
            <a:ext cx="457200" cy="457200"/>
          </a:xfrm>
          <a:prstGeom prst="ellipse">
            <a:avLst/>
          </a:prstGeom>
          <a:solidFill>
            <a:srgbClr val="2B8C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0964AB-639B-18E9-4AED-8DBA00E95E17}"/>
              </a:ext>
            </a:extLst>
          </p:cNvPr>
          <p:cNvSpPr txBox="1"/>
          <p:nvPr/>
        </p:nvSpPr>
        <p:spPr>
          <a:xfrm>
            <a:off x="1333500" y="5397500"/>
            <a:ext cx="1016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2D2D2D"/>
                </a:solidFill>
                <a:latin typeface="Open Sans"/>
                <a:ea typeface="Open Sans"/>
                <a:cs typeface="Open Sans"/>
              </a:rPr>
              <a:t>Fit a linear regression model in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FEC57F-28A0-F22F-DFA7-99A0BAA734BF}"/>
              </a:ext>
            </a:extLst>
          </p:cNvPr>
          <p:cNvSpPr txBox="1"/>
          <p:nvPr/>
        </p:nvSpPr>
        <p:spPr>
          <a:xfrm>
            <a:off x="1333500" y="5753100"/>
            <a:ext cx="1016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Use lm() function and interpret the summary() output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F4B546-85B6-DD1B-3254-6DBCF54FC096}"/>
              </a:ext>
            </a:extLst>
          </p:cNvPr>
          <p:cNvSpPr txBox="1"/>
          <p:nvPr/>
        </p:nvSpPr>
        <p:spPr>
          <a:xfrm>
            <a:off x="635000" y="254000"/>
            <a:ext cx="635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000" b="1" dirty="0">
                <a:solidFill>
                  <a:srgbClr val="1A5C5C"/>
                </a:solidFill>
                <a:latin typeface="Montserrat"/>
              </a:rPr>
              <a:t>What We Learned</a:t>
            </a:r>
          </a:p>
        </p:txBody>
      </p:sp>
    </p:spTree>
    <p:extLst>
      <p:ext uri="{BB962C8B-B14F-4D97-AF65-F5344CB8AC3E}">
        <p14:creationId xmlns:p14="http://schemas.microsoft.com/office/powerpoint/2010/main" val="283125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near Regression">
      <a:dk1>
        <a:srgbClr val="2D2D2D"/>
      </a:dk1>
      <a:lt1>
        <a:srgbClr val="FFFFFF"/>
      </a:lt1>
      <a:dk2>
        <a:srgbClr val="1A5C5C"/>
      </a:dk2>
      <a:lt2>
        <a:srgbClr val="F5F5F0"/>
      </a:lt2>
      <a:accent1>
        <a:srgbClr val="2B8C8C"/>
      </a:accent1>
      <a:accent2>
        <a:srgbClr val="F0C645"/>
      </a:accent2>
      <a:accent3>
        <a:srgbClr val="E85D5D"/>
      </a:accent3>
      <a:accent4>
        <a:srgbClr val="5BA88C"/>
      </a:accent4>
      <a:accent5>
        <a:srgbClr val="7B68AE"/>
      </a:accent5>
      <a:accent6>
        <a:srgbClr val="3D7EC7"/>
      </a:accent6>
      <a:hlink>
        <a:srgbClr val="467886"/>
      </a:hlink>
      <a:folHlink>
        <a:srgbClr val="96607D"/>
      </a:folHlink>
    </a:clrScheme>
    <a:fontScheme name="LinearRegression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910DCEE-CBA3-7347-8190-CBD791A29133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1099ee61-6c48-44cc-9f5b-6e0e60cb5e3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6546</TotalTime>
  <Words>2287</Words>
  <Application>Microsoft Macintosh PowerPoint</Application>
  <PresentationFormat>Widescreen</PresentationFormat>
  <Paragraphs>260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Consolas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Kenechukwu Nwosu</dc:creator>
  <cp:lastModifiedBy>Kenechukwu Nwosu</cp:lastModifiedBy>
  <cp:revision>17</cp:revision>
  <dcterms:created xsi:type="dcterms:W3CDTF">2026-02-12T09:33:12Z</dcterms:created>
  <dcterms:modified xsi:type="dcterms:W3CDTF">2026-05-12T20:11:41Z</dcterms:modified>
</cp:coreProperties>
</file>