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73" r:id="rId3"/>
    <p:sldId id="894" r:id="rId4"/>
    <p:sldId id="258" r:id="rId5"/>
    <p:sldId id="259" r:id="rId6"/>
    <p:sldId id="274" r:id="rId7"/>
    <p:sldId id="276" r:id="rId8"/>
    <p:sldId id="277" r:id="rId9"/>
    <p:sldId id="891" r:id="rId10"/>
    <p:sldId id="275" r:id="rId11"/>
    <p:sldId id="897" r:id="rId12"/>
    <p:sldId id="895" r:id="rId13"/>
    <p:sldId id="899" r:id="rId14"/>
    <p:sldId id="279" r:id="rId15"/>
    <p:sldId id="900" r:id="rId16"/>
    <p:sldId id="282" r:id="rId17"/>
    <p:sldId id="285" r:id="rId18"/>
    <p:sldId id="286" r:id="rId19"/>
    <p:sldId id="901" r:id="rId20"/>
    <p:sldId id="268" r:id="rId21"/>
    <p:sldId id="893" r:id="rId22"/>
    <p:sldId id="902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5061"/>
    <a:srgbClr val="388792"/>
    <a:srgbClr val="C4DE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85"/>
    <p:restoredTop sz="94610"/>
  </p:normalViewPr>
  <p:slideViewPr>
    <p:cSldViewPr snapToGrid="0" snapToObjects="1">
      <p:cViewPr>
        <p:scale>
          <a:sx n="157" d="100"/>
          <a:sy n="157" d="100"/>
        </p:scale>
        <p:origin x="640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176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974E1-280C-1FD6-181E-E4C469DC7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05D825-169A-62AD-F3FC-EC5096105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D40A0-F210-3B60-63E1-05E74055A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640C9-8ED1-484B-EA2F-6F37A4C1B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96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CD5D0-D105-C840-1F12-B1818A841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F2A142-67D1-EABF-6B1E-97B7978D9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80F0CD-1FE8-ABC9-C5D8-258EF950A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3FA06-E330-5909-20B1-4D6B8465B6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4374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4C681-5B60-7B9A-7F5B-FE376C15A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2F9A7D-AB7B-EA7E-5C96-73231015C4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CE4E9C-C242-F4BA-736E-CFDD03830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EC60D-0002-8B52-D779-99C9354EC5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4372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BA10D-4902-5786-F73E-622A2372F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2F6411-2D10-C7F4-0168-8FB456DFD5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8E102D-F365-CCAD-09CC-6913DFDAC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088410-8EA4-4BD6-E96C-7F66EEC9DE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2617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FA7F6-458A-4B18-6231-5082B6E98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24E8BE-CFC2-8B6B-5620-D29AB051E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87F68B-77A7-C2F5-0FAA-D63D6694F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0A834-0DD9-577C-EBD6-FE0DC813B0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167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43393-FCDF-C1E6-FC38-7426C3309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70B4A8-E6A0-8252-4A90-386BF1DCF4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2AAA55-9AED-2C1E-139C-031401F20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AEB56-FBFB-11E7-AE24-1684B7F0EE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923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6AE4B-A8CF-F4C3-D573-9B0755139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FBDADC-6915-0705-3148-9B9687E34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E4A35-242D-BD39-1AA9-AD1E64200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A8938-468A-26EC-5B16-5AF295FCE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3450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DF6EC-237C-12F7-95CF-2E693EA8E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14D93E-93BA-2979-473F-E393405DA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7D787D-41B0-DD14-BEED-8D6A4E64B8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A5EF2-C7F7-926D-E0A4-BA616A8DCE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367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66700" y="101600"/>
            <a:ext cx="8623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  |  Multiple Linear Regression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365760" cy="365760"/>
          </a:xfrm>
          <a:prstGeom prst="ellipse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947495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why fitting a single predictor can give misleading slopes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1583078"/>
            <a:ext cx="365760" cy="365760"/>
          </a:xfrm>
          <a:prstGeom prst="ellipse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158307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1616173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multiple linear regression in R with </a:t>
            </a:r>
            <a:r>
              <a:rPr lang="en-GB" sz="1400" dirty="0" err="1"/>
              <a:t>lm</a:t>
            </a:r>
            <a:r>
              <a:rPr lang="en-GB" sz="1400" dirty="0"/>
              <a:t>(y ~ x1 + x2)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read the coefficient table</a:t>
            </a:r>
            <a:endParaRPr lang="en-US" sz="1400" dirty="0"/>
          </a:p>
        </p:txBody>
      </p:sp>
      <p:cxnSp>
        <p:nvCxnSpPr>
          <p:cNvPr id="25" name="TitleDash">
            <a:extLst>
              <a:ext uri="{FF2B5EF4-FFF2-40B4-BE49-F238E27FC236}">
                <a16:creationId xmlns:a16="http://schemas.microsoft.com/office/drawing/2014/main" id="{69267D96-2CBC-4C45-BECC-D89B310B1B09}"/>
              </a:ext>
            </a:extLst>
          </p:cNvPr>
          <p:cNvCxnSpPr/>
          <p:nvPr/>
        </p:nvCxnSpPr>
        <p:spPr>
          <a:xfrm>
            <a:off x="279400" y="558800"/>
            <a:ext cx="355600" cy="0"/>
          </a:xfrm>
          <a:prstGeom prst="straightConnector1">
            <a:avLst/>
          </a:prstGeom>
          <a:ln w="38100" cap="flat" cmpd="sng" algn="ctr">
            <a:solidFill>
              <a:srgbClr val="1E506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hape 11">
            <a:extLst>
              <a:ext uri="{FF2B5EF4-FFF2-40B4-BE49-F238E27FC236}">
                <a16:creationId xmlns:a16="http://schemas.microsoft.com/office/drawing/2014/main" id="{EF867865-32BE-76D6-2DE2-E3F0E3CF2D7A}"/>
              </a:ext>
            </a:extLst>
          </p:cNvPr>
          <p:cNvSpPr/>
          <p:nvPr/>
        </p:nvSpPr>
        <p:spPr>
          <a:xfrm>
            <a:off x="548640" y="2259734"/>
            <a:ext cx="365760" cy="365760"/>
          </a:xfrm>
          <a:prstGeom prst="ellipse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2D7614AA-76F9-203E-4C02-ECE94459567B}"/>
              </a:ext>
            </a:extLst>
          </p:cNvPr>
          <p:cNvSpPr/>
          <p:nvPr/>
        </p:nvSpPr>
        <p:spPr>
          <a:xfrm>
            <a:off x="548640" y="225973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4E838DCC-B18F-7E7A-80C0-B175F6521626}"/>
              </a:ext>
            </a:extLst>
          </p:cNvPr>
          <p:cNvSpPr/>
          <p:nvPr/>
        </p:nvSpPr>
        <p:spPr>
          <a:xfrm>
            <a:off x="1051560" y="2292829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confounding using a directed acyclic graph (DAG)</a:t>
            </a:r>
            <a:endParaRPr lang="en-US" sz="1400" dirty="0"/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52EA4581-9417-42E4-A473-B1AEC3CA0241}"/>
              </a:ext>
            </a:extLst>
          </p:cNvPr>
          <p:cNvSpPr/>
          <p:nvPr/>
        </p:nvSpPr>
        <p:spPr>
          <a:xfrm>
            <a:off x="548640" y="2920896"/>
            <a:ext cx="365760" cy="365760"/>
          </a:xfrm>
          <a:prstGeom prst="ellipse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2F7BFB9F-A62E-64D6-1E80-6AC438EC09E6}"/>
              </a:ext>
            </a:extLst>
          </p:cNvPr>
          <p:cNvSpPr/>
          <p:nvPr/>
        </p:nvSpPr>
        <p:spPr>
          <a:xfrm>
            <a:off x="548640" y="2920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BC5811A6-5D92-2825-1AE6-450ECCA2E26A}"/>
              </a:ext>
            </a:extLst>
          </p:cNvPr>
          <p:cNvSpPr/>
          <p:nvPr/>
        </p:nvSpPr>
        <p:spPr>
          <a:xfrm>
            <a:off x="1051560" y="2953991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LO2 to three or more variables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66700" y="106636"/>
            <a:ext cx="85867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 |  Does handwashing reduce sick days?</a:t>
            </a:r>
            <a:endParaRPr lang="en-US" sz="20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E54ECBF-992A-A3D2-9E71-1E1DC9BEB3A3}"/>
              </a:ext>
            </a:extLst>
          </p:cNvPr>
          <p:cNvCxnSpPr/>
          <p:nvPr/>
        </p:nvCxnSpPr>
        <p:spPr>
          <a:xfrm>
            <a:off x="4266064" y="925935"/>
            <a:ext cx="0" cy="3625397"/>
          </a:xfrm>
          <a:prstGeom prst="line">
            <a:avLst/>
          </a:prstGeom>
          <a:ln w="19050">
            <a:solidFill>
              <a:srgbClr val="1E5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TitleDash">
            <a:extLst>
              <a:ext uri="{FF2B5EF4-FFF2-40B4-BE49-F238E27FC236}">
                <a16:creationId xmlns:a16="http://schemas.microsoft.com/office/drawing/2014/main" id="{A8E75A63-03EE-48A0-6AFD-09D5C531A0AE}"/>
              </a:ext>
            </a:extLst>
          </p:cNvPr>
          <p:cNvCxnSpPr/>
          <p:nvPr/>
        </p:nvCxnSpPr>
        <p:spPr>
          <a:xfrm>
            <a:off x="279400" y="558800"/>
            <a:ext cx="355600" cy="0"/>
          </a:xfrm>
          <a:prstGeom prst="straightConnector1">
            <a:avLst/>
          </a:prstGeom>
          <a:ln w="38100" cap="flat" cmpd="sng" algn="ctr">
            <a:solidFill>
              <a:srgbClr val="1E506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D19489C6-6D18-4DBD-0CE4-89A9901C7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188" y="960120"/>
            <a:ext cx="4136663" cy="3386609"/>
          </a:xfrm>
          <a:prstGeom prst="rect">
            <a:avLst/>
          </a:prstGeom>
        </p:spPr>
      </p:pic>
      <p:sp>
        <p:nvSpPr>
          <p:cNvPr id="33" name="Text 6">
            <a:extLst>
              <a:ext uri="{FF2B5EF4-FFF2-40B4-BE49-F238E27FC236}">
                <a16:creationId xmlns:a16="http://schemas.microsoft.com/office/drawing/2014/main" id="{DFB8BA5A-AF80-DC9A-DE9C-82A89D7A6F75}"/>
              </a:ext>
            </a:extLst>
          </p:cNvPr>
          <p:cNvSpPr/>
          <p:nvPr/>
        </p:nvSpPr>
        <p:spPr>
          <a:xfrm>
            <a:off x="370066" y="4240529"/>
            <a:ext cx="3895992" cy="6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washes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how many times a day do you typically wash your hands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number of children at home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sick_days  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respiratory sick days in year after survey</a:t>
            </a:r>
            <a:endParaRPr lang="en-US" sz="1400" dirty="0"/>
          </a:p>
        </p:txBody>
      </p:sp>
      <p:sp>
        <p:nvSpPr>
          <p:cNvPr id="34" name="RCode">
            <a:extLst>
              <a:ext uri="{FF2B5EF4-FFF2-40B4-BE49-F238E27FC236}">
                <a16:creationId xmlns:a16="http://schemas.microsoft.com/office/drawing/2014/main" id="{53732B05-B828-C18E-CA4E-95328F0D2A12}"/>
              </a:ext>
            </a:extLst>
          </p:cNvPr>
          <p:cNvSpPr txBox="1"/>
          <p:nvPr/>
        </p:nvSpPr>
        <p:spPr>
          <a:xfrm>
            <a:off x="370067" y="902971"/>
            <a:ext cx="3635874" cy="3272246"/>
          </a:xfrm>
          <a:prstGeom prst="rect">
            <a:avLst/>
          </a:prstGeom>
          <a:solidFill>
            <a:srgbClr val="C4DEDA">
              <a:alpha val="29804"/>
            </a:srgbClr>
          </a:solidFill>
          <a:ln/>
        </p:spPr>
        <p:txBody>
          <a:bodyPr wrap="square" lIns="72000" tIns="36000" rIns="36000" bIns="36000" rtlCol="0" anchor="ctr"/>
          <a:lstStyle>
            <a:lvl1pPr>
              <a:defRPr sz="140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r>
              <a:rPr lang="en-GB" sz="1200" dirty="0" err="1"/>
              <a:t>pacman</a:t>
            </a:r>
            <a:r>
              <a:rPr lang="en-GB" sz="1200" dirty="0"/>
              <a:t>::</a:t>
            </a:r>
            <a:r>
              <a:rPr lang="en-GB" sz="1200" dirty="0" err="1"/>
              <a:t>p_load</a:t>
            </a:r>
            <a:r>
              <a:rPr lang="en-GB" sz="1200" dirty="0"/>
              <a:t>(</a:t>
            </a:r>
            <a:r>
              <a:rPr lang="en-GB" sz="1200" dirty="0" err="1"/>
              <a:t>tidyverse</a:t>
            </a:r>
            <a:r>
              <a:rPr lang="en-GB" sz="1200" dirty="0"/>
              <a:t>, broom, </a:t>
            </a:r>
            <a:r>
              <a:rPr lang="en-GB" sz="1200" dirty="0" err="1"/>
              <a:t>equatiomatic</a:t>
            </a:r>
            <a:r>
              <a:rPr lang="en-GB" sz="1200" dirty="0"/>
              <a:t>, </a:t>
            </a:r>
            <a:r>
              <a:rPr lang="en-GB" sz="1200" dirty="0" err="1"/>
              <a:t>plotly</a:t>
            </a:r>
            <a:r>
              <a:rPr lang="en-GB" sz="1200" dirty="0"/>
              <a:t>)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 err="1"/>
              <a:t>df</a:t>
            </a:r>
            <a:r>
              <a:rPr lang="en-US" sz="1200" dirty="0"/>
              <a:t> &lt;- tribble(</a:t>
            </a:r>
          </a:p>
          <a:p>
            <a:r>
              <a:rPr lang="en-US" sz="1200" dirty="0"/>
              <a:t>  ~kids, ~washes, ~</a:t>
            </a:r>
            <a:r>
              <a:rPr lang="en-US" sz="1200" dirty="0" err="1"/>
              <a:t>sick_days</a:t>
            </a:r>
            <a:r>
              <a:rPr lang="en-US" sz="1200" dirty="0"/>
              <a:t>,</a:t>
            </a:r>
          </a:p>
          <a:p>
            <a:r>
              <a:rPr lang="en-US" sz="1200" dirty="0"/>
              <a:t>      0,       1,         10,</a:t>
            </a:r>
          </a:p>
          <a:p>
            <a:r>
              <a:rPr lang="en-US" sz="1200" dirty="0"/>
              <a:t>      0,       2,         10,</a:t>
            </a:r>
          </a:p>
          <a:p>
            <a:r>
              <a:rPr lang="en-US" sz="1200" dirty="0"/>
              <a:t>      0,       3,         12,</a:t>
            </a:r>
          </a:p>
          <a:p>
            <a:r>
              <a:rPr lang="en-US" sz="1200" dirty="0"/>
              <a:t>      0,       4,          8,</a:t>
            </a:r>
          </a:p>
          <a:p>
            <a:r>
              <a:rPr lang="en-US" sz="1200" dirty="0"/>
              <a:t>      1,       4,         14,</a:t>
            </a:r>
          </a:p>
          <a:p>
            <a:r>
              <a:rPr lang="en-US" sz="1200" dirty="0"/>
              <a:t>      1,       5,         13,</a:t>
            </a:r>
          </a:p>
          <a:p>
            <a:r>
              <a:rPr lang="en-US" sz="1200" dirty="0"/>
              <a:t>      1,       6,         13,</a:t>
            </a:r>
          </a:p>
          <a:p>
            <a:r>
              <a:rPr lang="en-US" sz="1200" dirty="0"/>
              <a:t>      1,       7,         11,</a:t>
            </a:r>
          </a:p>
          <a:p>
            <a:r>
              <a:rPr lang="en-US" sz="1200" dirty="0"/>
              <a:t>      2,       7,         19,</a:t>
            </a:r>
          </a:p>
          <a:p>
            <a:r>
              <a:rPr lang="en-US" sz="1200" dirty="0"/>
              <a:t>      2,       8,         16,</a:t>
            </a:r>
          </a:p>
          <a:p>
            <a:r>
              <a:rPr lang="en-US" sz="1200" dirty="0"/>
              <a:t>      2,       9,         15,</a:t>
            </a:r>
          </a:p>
          <a:p>
            <a:r>
              <a:rPr lang="en-US" sz="1200" dirty="0"/>
              <a:t>      2,      10,         14)</a:t>
            </a:r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8B77DE24-F689-380C-F850-90A58B26613F}"/>
              </a:ext>
            </a:extLst>
          </p:cNvPr>
          <p:cNvSpPr/>
          <p:nvPr/>
        </p:nvSpPr>
        <p:spPr>
          <a:xfrm>
            <a:off x="370068" y="652505"/>
            <a:ext cx="15739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DATASET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9294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E3D64-13CC-79DD-FE2E-142EC85F5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50D6797-DFB9-3B2E-2B6C-B855FE284370}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39A6525-799A-336A-73E2-ED26B6DE7E78}"/>
              </a:ext>
            </a:extLst>
          </p:cNvPr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CC09846-97E8-89C1-ACAB-1596F6EA4163}"/>
              </a:ext>
            </a:extLst>
          </p:cNvPr>
          <p:cNvSpPr/>
          <p:nvPr/>
        </p:nvSpPr>
        <p:spPr>
          <a:xfrm>
            <a:off x="266700" y="106636"/>
            <a:ext cx="85867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 |  Does handwashing reduce sick days?</a:t>
            </a:r>
            <a:endParaRPr lang="en-US" sz="2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7402F61-3488-8955-EF6B-D12F4A2667CA}"/>
              </a:ext>
            </a:extLst>
          </p:cNvPr>
          <p:cNvSpPr/>
          <p:nvPr/>
        </p:nvSpPr>
        <p:spPr>
          <a:xfrm>
            <a:off x="370066" y="4240529"/>
            <a:ext cx="3895992" cy="6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washes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how many times a day do you typically wash your hands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number of children at home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sick_days  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respiratory sick days in year after survey</a:t>
            </a:r>
            <a:endParaRPr lang="en-US" sz="1400" dirty="0"/>
          </a:p>
        </p:txBody>
      </p:sp>
      <p:sp>
        <p:nvSpPr>
          <p:cNvPr id="13" name="RCode">
            <a:extLst>
              <a:ext uri="{FF2B5EF4-FFF2-40B4-BE49-F238E27FC236}">
                <a16:creationId xmlns:a16="http://schemas.microsoft.com/office/drawing/2014/main" id="{ED74025F-D07D-8C9E-0D92-39F7101171FB}"/>
              </a:ext>
            </a:extLst>
          </p:cNvPr>
          <p:cNvSpPr txBox="1"/>
          <p:nvPr/>
        </p:nvSpPr>
        <p:spPr>
          <a:xfrm>
            <a:off x="370067" y="902971"/>
            <a:ext cx="3635874" cy="3272246"/>
          </a:xfrm>
          <a:prstGeom prst="rect">
            <a:avLst/>
          </a:prstGeom>
          <a:solidFill>
            <a:srgbClr val="C4DEDA">
              <a:alpha val="29804"/>
            </a:srgbClr>
          </a:solidFill>
          <a:ln/>
        </p:spPr>
        <p:txBody>
          <a:bodyPr wrap="square" lIns="72000" tIns="36000" rIns="36000" bIns="36000" rtlCol="0" anchor="ctr"/>
          <a:lstStyle>
            <a:lvl1pPr>
              <a:defRPr sz="140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r>
              <a:rPr lang="en-GB" sz="1200" dirty="0" err="1"/>
              <a:t>pacman</a:t>
            </a:r>
            <a:r>
              <a:rPr lang="en-GB" sz="1200" dirty="0"/>
              <a:t>::</a:t>
            </a:r>
            <a:r>
              <a:rPr lang="en-GB" sz="1200" dirty="0" err="1"/>
              <a:t>p_load</a:t>
            </a:r>
            <a:r>
              <a:rPr lang="en-GB" sz="1200" dirty="0"/>
              <a:t>(</a:t>
            </a:r>
            <a:r>
              <a:rPr lang="en-GB" sz="1200" dirty="0" err="1"/>
              <a:t>tidyverse</a:t>
            </a:r>
            <a:r>
              <a:rPr lang="en-GB" sz="1200" dirty="0"/>
              <a:t>, broom, </a:t>
            </a:r>
            <a:r>
              <a:rPr lang="en-GB" sz="1200" dirty="0" err="1"/>
              <a:t>equatiomatic</a:t>
            </a:r>
            <a:r>
              <a:rPr lang="en-GB" sz="1200" dirty="0"/>
              <a:t>, </a:t>
            </a:r>
            <a:r>
              <a:rPr lang="en-GB" sz="1200" dirty="0" err="1"/>
              <a:t>plotly</a:t>
            </a:r>
            <a:r>
              <a:rPr lang="en-GB" sz="1200" dirty="0"/>
              <a:t>)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 err="1"/>
              <a:t>df</a:t>
            </a:r>
            <a:r>
              <a:rPr lang="en-US" sz="1200" dirty="0"/>
              <a:t> &lt;- tribble(</a:t>
            </a:r>
          </a:p>
          <a:p>
            <a:r>
              <a:rPr lang="en-US" sz="1200" dirty="0"/>
              <a:t>  ~kids, ~washes, ~</a:t>
            </a:r>
            <a:r>
              <a:rPr lang="en-US" sz="1200" dirty="0" err="1"/>
              <a:t>sick_days</a:t>
            </a:r>
            <a:r>
              <a:rPr lang="en-US" sz="1200" dirty="0"/>
              <a:t>,</a:t>
            </a:r>
          </a:p>
          <a:p>
            <a:r>
              <a:rPr lang="en-US" sz="1200" dirty="0"/>
              <a:t>      0,       1,         10,</a:t>
            </a:r>
          </a:p>
          <a:p>
            <a:r>
              <a:rPr lang="en-US" sz="1200" dirty="0"/>
              <a:t>      0,       2,         10,</a:t>
            </a:r>
          </a:p>
          <a:p>
            <a:r>
              <a:rPr lang="en-US" sz="1200" dirty="0"/>
              <a:t>      0,       3,         12,</a:t>
            </a:r>
          </a:p>
          <a:p>
            <a:r>
              <a:rPr lang="en-US" sz="1200" dirty="0"/>
              <a:t>      0,       4,          8,</a:t>
            </a:r>
          </a:p>
          <a:p>
            <a:r>
              <a:rPr lang="en-US" sz="1200" dirty="0"/>
              <a:t>      1,       4,         14,</a:t>
            </a:r>
          </a:p>
          <a:p>
            <a:r>
              <a:rPr lang="en-US" sz="1200" dirty="0"/>
              <a:t>      1,       5,         13,</a:t>
            </a:r>
          </a:p>
          <a:p>
            <a:r>
              <a:rPr lang="en-US" sz="1200" dirty="0"/>
              <a:t>      1,       6,         13,</a:t>
            </a:r>
          </a:p>
          <a:p>
            <a:r>
              <a:rPr lang="en-US" sz="1200" dirty="0"/>
              <a:t>      1,       7,         11,</a:t>
            </a:r>
          </a:p>
          <a:p>
            <a:r>
              <a:rPr lang="en-US" sz="1200" dirty="0"/>
              <a:t>      2,       7,         19,</a:t>
            </a:r>
          </a:p>
          <a:p>
            <a:r>
              <a:rPr lang="en-US" sz="1200" dirty="0"/>
              <a:t>      2,       8,         16,</a:t>
            </a:r>
          </a:p>
          <a:p>
            <a:r>
              <a:rPr lang="en-US" sz="1200" dirty="0"/>
              <a:t>      2,       9,         15,</a:t>
            </a:r>
          </a:p>
          <a:p>
            <a:r>
              <a:rPr lang="en-US" sz="1200" dirty="0"/>
              <a:t>      2,      10,         14)</a:t>
            </a:r>
          </a:p>
        </p:txBody>
      </p:sp>
      <p:sp>
        <p:nvSpPr>
          <p:cNvPr id="16" name="RCode">
            <a:extLst>
              <a:ext uri="{FF2B5EF4-FFF2-40B4-BE49-F238E27FC236}">
                <a16:creationId xmlns:a16="http://schemas.microsoft.com/office/drawing/2014/main" id="{5594169F-78DD-5500-6299-F08209772C72}"/>
              </a:ext>
            </a:extLst>
          </p:cNvPr>
          <p:cNvSpPr txBox="1"/>
          <p:nvPr/>
        </p:nvSpPr>
        <p:spPr>
          <a:xfrm>
            <a:off x="4544282" y="1076943"/>
            <a:ext cx="3866927" cy="684356"/>
          </a:xfrm>
          <a:prstGeom prst="rect">
            <a:avLst/>
          </a:prstGeom>
          <a:solidFill>
            <a:srgbClr val="C4DEDA">
              <a:alpha val="29804"/>
            </a:srgbClr>
          </a:solidFill>
          <a:ln/>
        </p:spPr>
        <p:txBody>
          <a:bodyPr wrap="square" lIns="72000" tIns="36000" rIns="36000" bIns="36000" rtlCol="0" anchor="ctr"/>
          <a:lstStyle>
            <a:lvl1pPr>
              <a:defRPr sz="140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r>
              <a:rPr lang="en-GB" dirty="0"/>
              <a:t>ggplot(</a:t>
            </a:r>
            <a:r>
              <a:rPr lang="en-GB" dirty="0" err="1"/>
              <a:t>df</a:t>
            </a:r>
            <a:r>
              <a:rPr lang="en-GB" dirty="0"/>
              <a:t>, </a:t>
            </a:r>
            <a:r>
              <a:rPr lang="en-GB" dirty="0" err="1"/>
              <a:t>aes</a:t>
            </a:r>
            <a:r>
              <a:rPr lang="en-GB" dirty="0"/>
              <a:t>(washes, </a:t>
            </a:r>
            <a:r>
              <a:rPr lang="en-GB" dirty="0" err="1"/>
              <a:t>sick_days</a:t>
            </a:r>
            <a:r>
              <a:rPr lang="en-GB" dirty="0"/>
              <a:t>)) + </a:t>
            </a:r>
            <a:r>
              <a:rPr lang="en-GB" dirty="0" err="1"/>
              <a:t>geom_point</a:t>
            </a:r>
            <a:r>
              <a:rPr lang="en-GB" dirty="0"/>
              <a:t>()</a:t>
            </a:r>
            <a:endParaRPr lang="en-US" sz="11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6BB7D32-8099-A0FD-DD09-7590B8773014}"/>
              </a:ext>
            </a:extLst>
          </p:cNvPr>
          <p:cNvCxnSpPr/>
          <p:nvPr/>
        </p:nvCxnSpPr>
        <p:spPr>
          <a:xfrm>
            <a:off x="4266064" y="925935"/>
            <a:ext cx="0" cy="3625397"/>
          </a:xfrm>
          <a:prstGeom prst="line">
            <a:avLst/>
          </a:prstGeom>
          <a:ln w="19050">
            <a:solidFill>
              <a:srgbClr val="1E5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3">
            <a:extLst>
              <a:ext uri="{FF2B5EF4-FFF2-40B4-BE49-F238E27FC236}">
                <a16:creationId xmlns:a16="http://schemas.microsoft.com/office/drawing/2014/main" id="{FF3DA5AF-47C3-2292-736E-33CA189EE145}"/>
              </a:ext>
            </a:extLst>
          </p:cNvPr>
          <p:cNvSpPr/>
          <p:nvPr/>
        </p:nvSpPr>
        <p:spPr>
          <a:xfrm>
            <a:off x="4549306" y="826477"/>
            <a:ext cx="1791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SCATTERPLOT</a:t>
            </a:r>
            <a:endParaRPr lang="en-US" sz="1100" dirty="0"/>
          </a:p>
        </p:txBody>
      </p:sp>
      <p:cxnSp>
        <p:nvCxnSpPr>
          <p:cNvPr id="26" name="TitleDash">
            <a:extLst>
              <a:ext uri="{FF2B5EF4-FFF2-40B4-BE49-F238E27FC236}">
                <a16:creationId xmlns:a16="http://schemas.microsoft.com/office/drawing/2014/main" id="{B4E453FB-1AE9-CB5A-C9C4-9808922E16AA}"/>
              </a:ext>
            </a:extLst>
          </p:cNvPr>
          <p:cNvCxnSpPr/>
          <p:nvPr/>
        </p:nvCxnSpPr>
        <p:spPr>
          <a:xfrm>
            <a:off x="279400" y="558800"/>
            <a:ext cx="355600" cy="0"/>
          </a:xfrm>
          <a:prstGeom prst="straightConnector1">
            <a:avLst/>
          </a:prstGeom>
          <a:ln w="38100" cap="flat" cmpd="sng" algn="ctr">
            <a:solidFill>
              <a:srgbClr val="1E506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890C6CAD-74FC-EF31-FF4F-CDE58B869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884" y="2006675"/>
            <a:ext cx="4234539" cy="2634391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/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EA42D374-A01F-3979-E3F5-5D6BF0E6B2E1}"/>
              </a:ext>
            </a:extLst>
          </p:cNvPr>
          <p:cNvSpPr/>
          <p:nvPr/>
        </p:nvSpPr>
        <p:spPr>
          <a:xfrm>
            <a:off x="370068" y="652505"/>
            <a:ext cx="15739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DATASET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20309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18EE0766-F427-07FF-6E98-3F3F89F1A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848" y="2006236"/>
            <a:ext cx="4219316" cy="2574664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/>
        </p:spPr>
      </p:pic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62858" y="101600"/>
            <a:ext cx="8714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single predictor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6489" y="822960"/>
            <a:ext cx="17433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MODEL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6489" y="1097280"/>
            <a:ext cx="3661576" cy="640080"/>
          </a:xfrm>
          <a:prstGeom prst="roundRect">
            <a:avLst>
              <a:gd name="adj" fmla="val 8903"/>
            </a:avLst>
          </a:prstGeom>
          <a:solidFill>
            <a:srgbClr val="C4DEDA">
              <a:alpha val="29804"/>
            </a:srgbClr>
          </a:solidFill>
          <a:ln/>
        </p:spPr>
        <p:txBody>
          <a:bodyPr wrap="square" lIns="36000" tIns="36000" rIns="36000" bIns="36000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mod1 &lt;- 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sick_days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~ washes, data = 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summary(mod1)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6489" y="177219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Estimate Std. Error t value 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(&gt;|t|)    </a:t>
            </a:r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(Intercept)   9.2816     1.6204   5.728 0.000191 ***</a:t>
            </a:r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washes        0.6609     0.2646   2.498 0.031568 *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2616" y="3775601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SAYS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2616" y="3972197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extra wash predicts 0.76 more sick days.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0.05, so the slope is "significant".</a:t>
            </a:r>
            <a:endParaRPr lang="en-US" sz="14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3A5BEB02-7A97-D25E-2F76-0F18F3D633E5}"/>
              </a:ext>
            </a:extLst>
          </p:cNvPr>
          <p:cNvSpPr/>
          <p:nvPr/>
        </p:nvSpPr>
        <p:spPr>
          <a:xfrm>
            <a:off x="4889848" y="1024707"/>
            <a:ext cx="3661576" cy="640080"/>
          </a:xfrm>
          <a:prstGeom prst="roundRect">
            <a:avLst>
              <a:gd name="adj" fmla="val 8903"/>
            </a:avLst>
          </a:prstGeom>
          <a:solidFill>
            <a:srgbClr val="C4DEDA">
              <a:alpha val="29804"/>
            </a:srgbClr>
          </a:solidFill>
          <a:ln/>
        </p:spPr>
        <p:txBody>
          <a:bodyPr wrap="square" lIns="36000" tIns="36000" rIns="36000" bIns="36000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ggplot(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df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, 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aes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(washes, 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sick_days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)) +</a:t>
            </a:r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  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geom_point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() +</a:t>
            </a:r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  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geom_line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(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aes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(y = fitted(mod1)))</a:t>
            </a:r>
          </a:p>
        </p:txBody>
      </p:sp>
      <p:cxnSp>
        <p:nvCxnSpPr>
          <p:cNvPr id="19" name="TitleDash">
            <a:extLst>
              <a:ext uri="{FF2B5EF4-FFF2-40B4-BE49-F238E27FC236}">
                <a16:creationId xmlns:a16="http://schemas.microsoft.com/office/drawing/2014/main" id="{C1EA6B27-3630-5942-91A2-803D7C8B168F}"/>
              </a:ext>
            </a:extLst>
          </p:cNvPr>
          <p:cNvCxnSpPr/>
          <p:nvPr/>
        </p:nvCxnSpPr>
        <p:spPr>
          <a:xfrm>
            <a:off x="279400" y="558800"/>
            <a:ext cx="355600" cy="0"/>
          </a:xfrm>
          <a:prstGeom prst="straightConnector1">
            <a:avLst/>
          </a:prstGeom>
          <a:ln w="38100" cap="flat" cmpd="sng" algn="ctr">
            <a:solidFill>
              <a:srgbClr val="1E506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3">
            <a:extLst>
              <a:ext uri="{FF2B5EF4-FFF2-40B4-BE49-F238E27FC236}">
                <a16:creationId xmlns:a16="http://schemas.microsoft.com/office/drawing/2014/main" id="{F04B1F18-909B-E500-341E-52860ADCD376}"/>
              </a:ext>
            </a:extLst>
          </p:cNvPr>
          <p:cNvSpPr/>
          <p:nvPr/>
        </p:nvSpPr>
        <p:spPr>
          <a:xfrm>
            <a:off x="4889848" y="74530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MODEL</a:t>
            </a:r>
            <a:endParaRPr lang="en-US" sz="11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86D25EB1-6818-7DF0-687F-4C9DC2377331}"/>
              </a:ext>
            </a:extLst>
          </p:cNvPr>
          <p:cNvSpPr/>
          <p:nvPr/>
        </p:nvSpPr>
        <p:spPr>
          <a:xfrm>
            <a:off x="276489" y="2551334"/>
            <a:ext cx="3790414" cy="361951"/>
          </a:xfrm>
          <a:prstGeom prst="roundRect">
            <a:avLst>
              <a:gd name="adj" fmla="val 8903"/>
            </a:avLst>
          </a:prstGeom>
          <a:solidFill>
            <a:srgbClr val="C4DEDA">
              <a:alpha val="29804"/>
            </a:srgbClr>
          </a:solidFill>
          <a:ln/>
        </p:spPr>
        <p:txBody>
          <a:bodyPr wrap="square" lIns="36000" tIns="36000" rIns="36000" bIns="36000" rtlCol="0" anchor="ctr"/>
          <a:lstStyle/>
          <a:p>
            <a:r>
              <a:rPr lang="en-GB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preview_eq</a:t>
            </a:r>
            <a:r>
              <a:rPr lang="en-GB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(</a:t>
            </a:r>
            <a:r>
              <a:rPr lang="en-GB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extract_eq</a:t>
            </a:r>
            <a:r>
              <a:rPr lang="en-GB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(mod1, </a:t>
            </a:r>
            <a:r>
              <a:rPr lang="en-GB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use_coefs</a:t>
            </a:r>
            <a:r>
              <a:rPr lang="en-GB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 = T))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B1E6222-DBCE-59A4-7AF2-4252D7B2AC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489" y="2931922"/>
            <a:ext cx="3111145" cy="386135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0100E01-12B5-E1A4-1771-8D7D58705C54}"/>
              </a:ext>
            </a:extLst>
          </p:cNvPr>
          <p:cNvCxnSpPr>
            <a:cxnSpLocks/>
          </p:cNvCxnSpPr>
          <p:nvPr/>
        </p:nvCxnSpPr>
        <p:spPr>
          <a:xfrm>
            <a:off x="4718910" y="558800"/>
            <a:ext cx="0" cy="4230914"/>
          </a:xfrm>
          <a:prstGeom prst="line">
            <a:avLst/>
          </a:prstGeom>
          <a:ln w="19050">
            <a:solidFill>
              <a:srgbClr val="1E5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2" grpId="0" animBg="1"/>
      <p:bldP spid="13" grpId="0" animBg="1"/>
      <p:bldP spid="18" grpId="0" animBg="1"/>
      <p:bldP spid="20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66700" y="101600"/>
            <a:ext cx="8623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closer: is something hidden in the data?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729543" y="671077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EACH POINT BY KIDS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2739" y="3487351"/>
            <a:ext cx="3197914" cy="960111"/>
          </a:xfrm>
          <a:prstGeom prst="roundRect">
            <a:avLst/>
          </a:prstGeom>
          <a:solidFill>
            <a:srgbClr val="2D6B75"/>
          </a:solidFill>
        </p:spPr>
        <p:txBody>
          <a:bodyPr wrap="square" lIns="36000" tIns="36000" rIns="36000" bIns="36000" rtlCol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Maybe kids is what's driving the slope, not handwashing itself.</a:t>
            </a:r>
          </a:p>
          <a:p>
            <a:pPr>
              <a:spcAft>
                <a:spcPts val="100"/>
              </a:spcAft>
            </a:pPr>
            <a:endParaRPr lang="en-US" sz="1200" b="1" dirty="0">
              <a:solidFill>
                <a:schemeClr val="bg1"/>
              </a:solidFill>
              <a:latin typeface="Calibri"/>
            </a:endParaRPr>
          </a:p>
          <a:p>
            <a:pPr>
              <a:spcAft>
                <a:spcPts val="100"/>
              </a:spcAft>
            </a:pPr>
            <a:r>
              <a:rPr lang="en-US" sz="1400" b="1" dirty="0">
                <a:solidFill>
                  <a:schemeClr val="bg1"/>
                </a:solidFill>
                <a:latin typeface="Calibri"/>
              </a:rPr>
              <a:t>Let's adjust for kids in the regression.</a:t>
            </a:r>
          </a:p>
        </p:txBody>
      </p:sp>
      <p:sp>
        <p:nvSpPr>
          <p:cNvPr id="16" name="Text 14"/>
          <p:cNvSpPr/>
          <p:nvPr/>
        </p:nvSpPr>
        <p:spPr>
          <a:xfrm>
            <a:off x="495518" y="44242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cxnSp>
        <p:nvCxnSpPr>
          <p:cNvPr id="18" name="TitleDash">
            <a:extLst>
              <a:ext uri="{FF2B5EF4-FFF2-40B4-BE49-F238E27FC236}">
                <a16:creationId xmlns:a16="http://schemas.microsoft.com/office/drawing/2014/main" id="{5F03CD88-1E84-E94B-AFC0-22E0AEB46208}"/>
              </a:ext>
            </a:extLst>
          </p:cNvPr>
          <p:cNvCxnSpPr/>
          <p:nvPr/>
        </p:nvCxnSpPr>
        <p:spPr>
          <a:xfrm>
            <a:off x="279400" y="558800"/>
            <a:ext cx="355600" cy="0"/>
          </a:xfrm>
          <a:prstGeom prst="straightConnector1">
            <a:avLst/>
          </a:prstGeom>
          <a:ln w="38100" cap="flat" cmpd="sng" algn="ctr">
            <a:solidFill>
              <a:srgbClr val="1E506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4">
            <a:extLst>
              <a:ext uri="{FF2B5EF4-FFF2-40B4-BE49-F238E27FC236}">
                <a16:creationId xmlns:a16="http://schemas.microsoft.com/office/drawing/2014/main" id="{875ECB52-DE34-93B7-6DB3-89EF4CE85435}"/>
              </a:ext>
            </a:extLst>
          </p:cNvPr>
          <p:cNvSpPr/>
          <p:nvPr/>
        </p:nvSpPr>
        <p:spPr>
          <a:xfrm>
            <a:off x="4717001" y="921995"/>
            <a:ext cx="4109212" cy="808735"/>
          </a:xfrm>
          <a:prstGeom prst="roundRect">
            <a:avLst>
              <a:gd name="adj" fmla="val 8903"/>
            </a:avLst>
          </a:prstGeom>
          <a:solidFill>
            <a:srgbClr val="C4DEDA">
              <a:alpha val="29804"/>
            </a:srgbClr>
          </a:solidFill>
          <a:ln/>
        </p:spPr>
        <p:txBody>
          <a:bodyPr wrap="square" lIns="36000" tIns="36000" rIns="36000" bIns="36000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ggplot(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df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, 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aes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(washes, 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sick_days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)) + 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geom_point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(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aes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(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colour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 = factor(kids))) + 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geom_line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(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aes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(y = fitted(mod1)))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7A72A1B-7279-070D-6347-215CC024FBF7}"/>
              </a:ext>
            </a:extLst>
          </p:cNvPr>
          <p:cNvGrpSpPr/>
          <p:nvPr/>
        </p:nvGrpSpPr>
        <p:grpSpPr>
          <a:xfrm>
            <a:off x="4729543" y="1892886"/>
            <a:ext cx="4301246" cy="2878612"/>
            <a:chOff x="4729543" y="1892886"/>
            <a:chExt cx="4301246" cy="2878612"/>
          </a:xfrm>
        </p:grpSpPr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869078E1-4E6E-D131-681C-6C561AE3B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29543" y="1892886"/>
              <a:ext cx="4301246" cy="2878612"/>
            </a:xfrm>
            <a:prstGeom prst="rect">
              <a:avLst/>
            </a:prstGeom>
            <a:ln w="12700" cap="sq">
              <a:solidFill>
                <a:srgbClr val="000000"/>
              </a:solidFill>
              <a:miter lim="800000"/>
            </a:ln>
            <a:effectLst/>
          </p:spPr>
        </p:pic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0649BBE-5132-60E0-1B44-384C682BD0DF}"/>
                </a:ext>
              </a:extLst>
            </p:cNvPr>
            <p:cNvGrpSpPr/>
            <p:nvPr/>
          </p:nvGrpSpPr>
          <p:grpSpPr>
            <a:xfrm>
              <a:off x="8066859" y="3444250"/>
              <a:ext cx="572914" cy="707782"/>
              <a:chOff x="8066859" y="3444250"/>
              <a:chExt cx="572914" cy="707782"/>
            </a:xfrm>
          </p:grpSpPr>
          <p:sp>
            <p:nvSpPr>
              <p:cNvPr id="25" name="Shape 4">
                <a:extLst>
                  <a:ext uri="{FF2B5EF4-FFF2-40B4-BE49-F238E27FC236}">
                    <a16:creationId xmlns:a16="http://schemas.microsoft.com/office/drawing/2014/main" id="{8B234F05-186C-4838-1F30-909DA0A5D4BD}"/>
                  </a:ext>
                </a:extLst>
              </p:cNvPr>
              <p:cNvSpPr/>
              <p:nvPr/>
            </p:nvSpPr>
            <p:spPr>
              <a:xfrm>
                <a:off x="8066859" y="3511488"/>
                <a:ext cx="111524" cy="110783"/>
              </a:xfrm>
              <a:prstGeom prst="ellipse">
                <a:avLst/>
              </a:prstGeom>
              <a:solidFill>
                <a:srgbClr val="E45756"/>
              </a:solidFill>
              <a:ln w="12700">
                <a:solidFill>
                  <a:srgbClr val="E45756"/>
                </a:solidFill>
                <a:prstDash val="solid"/>
              </a:ln>
            </p:spPr>
            <p:txBody>
              <a:bodyPr/>
              <a:lstStyle/>
              <a:p>
                <a:endParaRPr lang="en-US" sz="1100"/>
              </a:p>
            </p:txBody>
          </p:sp>
          <p:sp>
            <p:nvSpPr>
              <p:cNvPr id="26" name="Text 5">
                <a:extLst>
                  <a:ext uri="{FF2B5EF4-FFF2-40B4-BE49-F238E27FC236}">
                    <a16:creationId xmlns:a16="http://schemas.microsoft.com/office/drawing/2014/main" id="{B5629D49-00B7-CA15-05A8-FD7E89BE6C83}"/>
                  </a:ext>
                </a:extLst>
              </p:cNvPr>
              <p:cNvSpPr/>
              <p:nvPr/>
            </p:nvSpPr>
            <p:spPr>
              <a:xfrm>
                <a:off x="8231632" y="3444250"/>
                <a:ext cx="408141" cy="26464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rgbClr val="2C3E5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 kids</a:t>
                </a:r>
                <a:endParaRPr lang="en-US" sz="1050" dirty="0"/>
              </a:p>
            </p:txBody>
          </p:sp>
          <p:sp>
            <p:nvSpPr>
              <p:cNvPr id="27" name="Shape 6">
                <a:extLst>
                  <a:ext uri="{FF2B5EF4-FFF2-40B4-BE49-F238E27FC236}">
                    <a16:creationId xmlns:a16="http://schemas.microsoft.com/office/drawing/2014/main" id="{CF6003E3-26B7-3AB9-08C8-4DFEADFC8EA2}"/>
                  </a:ext>
                </a:extLst>
              </p:cNvPr>
              <p:cNvSpPr/>
              <p:nvPr/>
            </p:nvSpPr>
            <p:spPr>
              <a:xfrm>
                <a:off x="8066859" y="3733055"/>
                <a:ext cx="111524" cy="110783"/>
              </a:xfrm>
              <a:prstGeom prst="ellipse">
                <a:avLst/>
              </a:prstGeom>
              <a:solidFill>
                <a:srgbClr val="54A24B"/>
              </a:solidFill>
              <a:ln w="12700">
                <a:solidFill>
                  <a:srgbClr val="54A24B"/>
                </a:solidFill>
                <a:prstDash val="solid"/>
              </a:ln>
            </p:spPr>
            <p:txBody>
              <a:bodyPr/>
              <a:lstStyle/>
              <a:p>
                <a:endParaRPr lang="en-US" sz="1100"/>
              </a:p>
            </p:txBody>
          </p:sp>
          <p:sp>
            <p:nvSpPr>
              <p:cNvPr id="28" name="Text 7">
                <a:extLst>
                  <a:ext uri="{FF2B5EF4-FFF2-40B4-BE49-F238E27FC236}">
                    <a16:creationId xmlns:a16="http://schemas.microsoft.com/office/drawing/2014/main" id="{D98A070D-D111-43A7-E3A4-7DCF3E7BD281}"/>
                  </a:ext>
                </a:extLst>
              </p:cNvPr>
              <p:cNvSpPr/>
              <p:nvPr/>
            </p:nvSpPr>
            <p:spPr>
              <a:xfrm>
                <a:off x="8231632" y="3665817"/>
                <a:ext cx="408141" cy="26464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rgbClr val="2C3E5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1 kid</a:t>
                </a:r>
                <a:endParaRPr lang="en-US" sz="1050" dirty="0"/>
              </a:p>
            </p:txBody>
          </p:sp>
          <p:sp>
            <p:nvSpPr>
              <p:cNvPr id="29" name="Shape 8">
                <a:extLst>
                  <a:ext uri="{FF2B5EF4-FFF2-40B4-BE49-F238E27FC236}">
                    <a16:creationId xmlns:a16="http://schemas.microsoft.com/office/drawing/2014/main" id="{59F0D0DE-58A3-FA94-D62E-67F7E711CDEC}"/>
                  </a:ext>
                </a:extLst>
              </p:cNvPr>
              <p:cNvSpPr/>
              <p:nvPr/>
            </p:nvSpPr>
            <p:spPr>
              <a:xfrm>
                <a:off x="8066859" y="3954621"/>
                <a:ext cx="111524" cy="110783"/>
              </a:xfrm>
              <a:prstGeom prst="ellipse">
                <a:avLst/>
              </a:prstGeom>
              <a:solidFill>
                <a:srgbClr val="4C78A8"/>
              </a:solidFill>
              <a:ln w="12700">
                <a:solidFill>
                  <a:srgbClr val="4C78A8"/>
                </a:solidFill>
                <a:prstDash val="solid"/>
              </a:ln>
            </p:spPr>
            <p:txBody>
              <a:bodyPr/>
              <a:lstStyle/>
              <a:p>
                <a:endParaRPr lang="en-US" sz="1100"/>
              </a:p>
            </p:txBody>
          </p:sp>
          <p:sp>
            <p:nvSpPr>
              <p:cNvPr id="30" name="Text 9">
                <a:extLst>
                  <a:ext uri="{FF2B5EF4-FFF2-40B4-BE49-F238E27FC236}">
                    <a16:creationId xmlns:a16="http://schemas.microsoft.com/office/drawing/2014/main" id="{E4B8D127-8888-6FE6-A438-C690571F1F1B}"/>
                  </a:ext>
                </a:extLst>
              </p:cNvPr>
              <p:cNvSpPr/>
              <p:nvPr/>
            </p:nvSpPr>
            <p:spPr>
              <a:xfrm>
                <a:off x="8231632" y="3887383"/>
                <a:ext cx="408141" cy="26464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rgbClr val="2C3E5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2 kids</a:t>
                </a:r>
                <a:endParaRPr lang="en-US" sz="1050" dirty="0"/>
              </a:p>
            </p:txBody>
          </p:sp>
        </p:grpSp>
      </p:grpSp>
      <p:sp>
        <p:nvSpPr>
          <p:cNvPr id="52" name="Text 3">
            <a:extLst>
              <a:ext uri="{FF2B5EF4-FFF2-40B4-BE49-F238E27FC236}">
                <a16:creationId xmlns:a16="http://schemas.microsoft.com/office/drawing/2014/main" id="{89768622-9ACD-E82B-ABD9-13A3CC447DCD}"/>
              </a:ext>
            </a:extLst>
          </p:cNvPr>
          <p:cNvSpPr/>
          <p:nvPr/>
        </p:nvSpPr>
        <p:spPr>
          <a:xfrm>
            <a:off x="276489" y="822960"/>
            <a:ext cx="17433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MODEL</a:t>
            </a:r>
            <a:endParaRPr lang="en-US" sz="1100" dirty="0"/>
          </a:p>
        </p:txBody>
      </p:sp>
      <p:sp>
        <p:nvSpPr>
          <p:cNvPr id="53" name="Text 4">
            <a:extLst>
              <a:ext uri="{FF2B5EF4-FFF2-40B4-BE49-F238E27FC236}">
                <a16:creationId xmlns:a16="http://schemas.microsoft.com/office/drawing/2014/main" id="{0B2CF636-8884-AA65-F7A8-6219A2A8C9D8}"/>
              </a:ext>
            </a:extLst>
          </p:cNvPr>
          <p:cNvSpPr/>
          <p:nvPr/>
        </p:nvSpPr>
        <p:spPr>
          <a:xfrm>
            <a:off x="276489" y="1097280"/>
            <a:ext cx="3661576" cy="640080"/>
          </a:xfrm>
          <a:prstGeom prst="roundRect">
            <a:avLst>
              <a:gd name="adj" fmla="val 8903"/>
            </a:avLst>
          </a:prstGeom>
          <a:solidFill>
            <a:srgbClr val="C4DEDA">
              <a:alpha val="29804"/>
            </a:srgbClr>
          </a:solidFill>
          <a:ln/>
        </p:spPr>
        <p:txBody>
          <a:bodyPr wrap="square" lIns="36000" tIns="36000" rIns="36000" bIns="36000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mod1 &lt;- 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sick_days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~ washes, data = 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summary(mod1)</a:t>
            </a:r>
            <a:endParaRPr lang="en-US" sz="1200" dirty="0"/>
          </a:p>
        </p:txBody>
      </p:sp>
      <p:sp>
        <p:nvSpPr>
          <p:cNvPr id="54" name="Text 6">
            <a:extLst>
              <a:ext uri="{FF2B5EF4-FFF2-40B4-BE49-F238E27FC236}">
                <a16:creationId xmlns:a16="http://schemas.microsoft.com/office/drawing/2014/main" id="{0B5FB114-8F25-D24A-A937-1CFE24CA3CAA}"/>
              </a:ext>
            </a:extLst>
          </p:cNvPr>
          <p:cNvSpPr/>
          <p:nvPr/>
        </p:nvSpPr>
        <p:spPr>
          <a:xfrm>
            <a:off x="276489" y="177219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Estimate Std. Error t value 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(&gt;|t|)    </a:t>
            </a:r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(Intercept)   9.2816     1.6204   5.728 0.000191 ***</a:t>
            </a:r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washes        0.6609     0.2646   2.498 0.031568 * </a:t>
            </a:r>
            <a:endParaRPr lang="en-US" sz="1200" dirty="0"/>
          </a:p>
        </p:txBody>
      </p:sp>
      <p:sp>
        <p:nvSpPr>
          <p:cNvPr id="55" name="Text 4">
            <a:extLst>
              <a:ext uri="{FF2B5EF4-FFF2-40B4-BE49-F238E27FC236}">
                <a16:creationId xmlns:a16="http://schemas.microsoft.com/office/drawing/2014/main" id="{6F3BE075-A36F-D31E-726C-660AEF561FA6}"/>
              </a:ext>
            </a:extLst>
          </p:cNvPr>
          <p:cNvSpPr/>
          <p:nvPr/>
        </p:nvSpPr>
        <p:spPr>
          <a:xfrm>
            <a:off x="276489" y="2551334"/>
            <a:ext cx="3790414" cy="361951"/>
          </a:xfrm>
          <a:prstGeom prst="roundRect">
            <a:avLst>
              <a:gd name="adj" fmla="val 8903"/>
            </a:avLst>
          </a:prstGeom>
          <a:solidFill>
            <a:srgbClr val="C4DEDA">
              <a:alpha val="29804"/>
            </a:srgbClr>
          </a:solidFill>
          <a:ln/>
        </p:spPr>
        <p:txBody>
          <a:bodyPr wrap="square" lIns="36000" tIns="36000" rIns="36000" bIns="36000" rtlCol="0" anchor="ctr"/>
          <a:lstStyle/>
          <a:p>
            <a:r>
              <a:rPr lang="en-GB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preview_eq</a:t>
            </a:r>
            <a:r>
              <a:rPr lang="en-GB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(</a:t>
            </a:r>
            <a:r>
              <a:rPr lang="en-GB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extract_eq</a:t>
            </a:r>
            <a:r>
              <a:rPr lang="en-GB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(mod1, </a:t>
            </a:r>
            <a:r>
              <a:rPr lang="en-GB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use_coefs</a:t>
            </a:r>
            <a:r>
              <a:rPr lang="en-GB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 = T))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8C5A52A7-9444-A2AD-89C3-F2F31C3B6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489" y="2931922"/>
            <a:ext cx="3111145" cy="386135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C291319-166A-05E3-C540-A2BC8040E72F}"/>
              </a:ext>
            </a:extLst>
          </p:cNvPr>
          <p:cNvCxnSpPr>
            <a:cxnSpLocks/>
          </p:cNvCxnSpPr>
          <p:nvPr/>
        </p:nvCxnSpPr>
        <p:spPr>
          <a:xfrm>
            <a:off x="4666660" y="559058"/>
            <a:ext cx="0" cy="4361285"/>
          </a:xfrm>
          <a:prstGeom prst="line">
            <a:avLst/>
          </a:prstGeom>
          <a:ln w="19050">
            <a:solidFill>
              <a:srgbClr val="1E5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66700" y="101600"/>
            <a:ext cx="8623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second predictor to the equation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9078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CALL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9078" y="1097280"/>
            <a:ext cx="4273187" cy="470916"/>
          </a:xfrm>
          <a:prstGeom prst="rect">
            <a:avLst/>
          </a:prstGeom>
          <a:solidFill>
            <a:srgbClr val="C4DEDA">
              <a:alpha val="29804"/>
            </a:srgbClr>
          </a:solidFill>
          <a:ln/>
        </p:spPr>
        <p:txBody>
          <a:bodyPr wrap="square" lIns="36000" tIns="36000" rIns="36000" bIns="36000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mod2 &lt;- lm(sick_days ~ washes + kids, data = 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df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)</a:t>
            </a:r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summary(mod2)</a:t>
            </a:r>
          </a:p>
        </p:txBody>
      </p:sp>
      <p:sp>
        <p:nvSpPr>
          <p:cNvPr id="8" name="Text 6"/>
          <p:cNvSpPr/>
          <p:nvPr/>
        </p:nvSpPr>
        <p:spPr>
          <a:xfrm>
            <a:off x="259078" y="1601726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Estimate Std. Error t value 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(&gt;|t|)    </a:t>
            </a:r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(Intercept)  12.3333     0.9465  13.031 3.81e-07 ***</a:t>
            </a:r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washes       -0.9667     0.3091  -3.127 0.012177 *  </a:t>
            </a:r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kids          5.9000     1.0194   5.788 0.000263 *** </a:t>
            </a:r>
            <a:endParaRPr lang="en-US" sz="1200" dirty="0"/>
          </a:p>
        </p:txBody>
      </p:sp>
      <p:cxnSp>
        <p:nvCxnSpPr>
          <p:cNvPr id="16" name="TitleDash">
            <a:extLst>
              <a:ext uri="{FF2B5EF4-FFF2-40B4-BE49-F238E27FC236}">
                <a16:creationId xmlns:a16="http://schemas.microsoft.com/office/drawing/2014/main" id="{9949859E-0510-5945-8701-EED9F4E754C6}"/>
              </a:ext>
            </a:extLst>
          </p:cNvPr>
          <p:cNvCxnSpPr/>
          <p:nvPr/>
        </p:nvCxnSpPr>
        <p:spPr>
          <a:xfrm>
            <a:off x="279400" y="558800"/>
            <a:ext cx="355600" cy="0"/>
          </a:xfrm>
          <a:prstGeom prst="straightConnector1">
            <a:avLst/>
          </a:prstGeom>
          <a:ln w="38100" cap="flat" cmpd="sng" algn="ctr">
            <a:solidFill>
              <a:srgbClr val="1E506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4">
            <a:extLst>
              <a:ext uri="{FF2B5EF4-FFF2-40B4-BE49-F238E27FC236}">
                <a16:creationId xmlns:a16="http://schemas.microsoft.com/office/drawing/2014/main" id="{CB1AADB2-6E04-3289-62AB-6020011FCA47}"/>
              </a:ext>
            </a:extLst>
          </p:cNvPr>
          <p:cNvSpPr/>
          <p:nvPr/>
        </p:nvSpPr>
        <p:spPr>
          <a:xfrm>
            <a:off x="281417" y="2524352"/>
            <a:ext cx="3790414" cy="361951"/>
          </a:xfrm>
          <a:prstGeom prst="roundRect">
            <a:avLst>
              <a:gd name="adj" fmla="val 8903"/>
            </a:avLst>
          </a:prstGeom>
          <a:solidFill>
            <a:srgbClr val="C4DEDA">
              <a:alpha val="29804"/>
            </a:srgbClr>
          </a:solidFill>
          <a:ln/>
        </p:spPr>
        <p:txBody>
          <a:bodyPr wrap="square" lIns="36000" tIns="36000" rIns="36000" bIns="36000" rtlCol="0" anchor="ctr"/>
          <a:lstStyle/>
          <a:p>
            <a:r>
              <a:rPr lang="en-GB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preview_eq</a:t>
            </a:r>
            <a:r>
              <a:rPr lang="en-GB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(</a:t>
            </a:r>
            <a:r>
              <a:rPr lang="en-GB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extract_eq</a:t>
            </a:r>
            <a:r>
              <a:rPr lang="en-GB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(mod2, </a:t>
            </a:r>
            <a:r>
              <a:rPr lang="en-GB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use_coefs</a:t>
            </a:r>
            <a:r>
              <a:rPr lang="en-GB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 = T))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507DB1D-3C8E-5D0B-3F86-F7FFF2342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1" y="2886303"/>
            <a:ext cx="3935550" cy="368958"/>
          </a:xfrm>
          <a:prstGeom prst="rect">
            <a:avLst/>
          </a:prstGeom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4CBA57F0-8C0A-D05D-996E-A7EBAEDCA8E8}"/>
              </a:ext>
            </a:extLst>
          </p:cNvPr>
          <p:cNvSpPr/>
          <p:nvPr/>
        </p:nvSpPr>
        <p:spPr>
          <a:xfrm>
            <a:off x="5006663" y="451261"/>
            <a:ext cx="3856076" cy="2059235"/>
          </a:xfrm>
          <a:prstGeom prst="roundRect">
            <a:avLst>
              <a:gd name="adj" fmla="val 5943"/>
            </a:avLst>
          </a:prstGeom>
          <a:solidFill>
            <a:srgbClr val="C4DEDA">
              <a:alpha val="29804"/>
            </a:srgbClr>
          </a:solidFill>
          <a:ln/>
        </p:spPr>
        <p:txBody>
          <a:bodyPr wrap="square" lIns="36000" tIns="36000" rIns="36000" bIns="36000" rtlCol="0" anchor="ctr"/>
          <a:lstStyle/>
          <a:p>
            <a:r>
              <a:rPr lang="en-US" sz="11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ggplot(</a:t>
            </a:r>
            <a:r>
              <a:rPr lang="en-US" sz="11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df</a:t>
            </a:r>
            <a:r>
              <a:rPr lang="en-US" sz="11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, </a:t>
            </a:r>
            <a:r>
              <a:rPr lang="en-US" sz="11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aes</a:t>
            </a:r>
            <a:r>
              <a:rPr lang="en-US" sz="11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(washes, </a:t>
            </a:r>
            <a:r>
              <a:rPr lang="en-US" sz="11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sick_days</a:t>
            </a:r>
            <a:r>
              <a:rPr lang="en-US" sz="11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, </a:t>
            </a:r>
            <a:r>
              <a:rPr lang="en-US" sz="11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colour</a:t>
            </a:r>
            <a:r>
              <a:rPr lang="en-US" sz="11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 = factor(kids))) +</a:t>
            </a:r>
          </a:p>
          <a:p>
            <a:r>
              <a:rPr lang="en-US" sz="11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  </a:t>
            </a:r>
            <a:r>
              <a:rPr lang="en-US" sz="11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geom_point</a:t>
            </a:r>
            <a:r>
              <a:rPr lang="en-US" sz="11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() +</a:t>
            </a:r>
          </a:p>
          <a:p>
            <a:r>
              <a:rPr lang="en-US" sz="11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  </a:t>
            </a:r>
            <a:r>
              <a:rPr lang="en-US" sz="11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geom_abline</a:t>
            </a:r>
            <a:r>
              <a:rPr lang="en-US" sz="11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(</a:t>
            </a:r>
          </a:p>
          <a:p>
            <a:r>
              <a:rPr lang="en-US" sz="11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    data = </a:t>
            </a:r>
            <a:r>
              <a:rPr lang="en-US" sz="11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tibble</a:t>
            </a:r>
            <a:r>
              <a:rPr lang="en-US" sz="11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(kids = 0:2, </a:t>
            </a:r>
          </a:p>
          <a:p>
            <a:r>
              <a:rPr lang="en-US" sz="11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                  intercept = </a:t>
            </a:r>
            <a:r>
              <a:rPr lang="en-US" sz="11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coef</a:t>
            </a:r>
            <a:r>
              <a:rPr lang="en-US" sz="11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(mod2)[1] + </a:t>
            </a:r>
            <a:r>
              <a:rPr lang="en-US" sz="11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coef</a:t>
            </a:r>
            <a:r>
              <a:rPr lang="en-US" sz="11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(mod2)[3] * kids, </a:t>
            </a:r>
          </a:p>
          <a:p>
            <a:r>
              <a:rPr lang="en-US" sz="11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                  slope = </a:t>
            </a:r>
            <a:r>
              <a:rPr lang="en-US" sz="11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coef</a:t>
            </a:r>
            <a:r>
              <a:rPr lang="en-US" sz="11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(mod2)[2]),</a:t>
            </a:r>
          </a:p>
          <a:p>
            <a:r>
              <a:rPr lang="en-US" sz="11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    </a:t>
            </a:r>
            <a:r>
              <a:rPr lang="en-US" sz="11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aes</a:t>
            </a:r>
            <a:r>
              <a:rPr lang="en-US" sz="11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(intercept = intercept, slope = slope, </a:t>
            </a:r>
          </a:p>
          <a:p>
            <a:r>
              <a:rPr lang="en-US" sz="11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        </a:t>
            </a:r>
            <a:r>
              <a:rPr lang="en-US" sz="11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colour</a:t>
            </a:r>
            <a:r>
              <a:rPr lang="en-US" sz="11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 = factor(kids)))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37EC59B-3B48-5F64-0894-1089AA689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203" y="2590798"/>
            <a:ext cx="4261040" cy="2337769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/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965D03B-639D-ACE4-8C90-4CA9711E2A24}"/>
              </a:ext>
            </a:extLst>
          </p:cNvPr>
          <p:cNvCxnSpPr>
            <a:cxnSpLocks/>
          </p:cNvCxnSpPr>
          <p:nvPr/>
        </p:nvCxnSpPr>
        <p:spPr>
          <a:xfrm>
            <a:off x="4718914" y="559058"/>
            <a:ext cx="0" cy="4361285"/>
          </a:xfrm>
          <a:prstGeom prst="line">
            <a:avLst/>
          </a:prstGeom>
          <a:ln w="19050">
            <a:solidFill>
              <a:srgbClr val="1E5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13">
            <a:extLst>
              <a:ext uri="{FF2B5EF4-FFF2-40B4-BE49-F238E27FC236}">
                <a16:creationId xmlns:a16="http://schemas.microsoft.com/office/drawing/2014/main" id="{D60784C2-062C-6640-A780-3571A9F4F5F9}"/>
              </a:ext>
            </a:extLst>
          </p:cNvPr>
          <p:cNvSpPr/>
          <p:nvPr/>
        </p:nvSpPr>
        <p:spPr>
          <a:xfrm>
            <a:off x="279400" y="3437843"/>
            <a:ext cx="3935550" cy="1417918"/>
          </a:xfrm>
          <a:prstGeom prst="roundRect">
            <a:avLst>
              <a:gd name="adj" fmla="val 4615"/>
            </a:avLst>
          </a:prstGeom>
          <a:solidFill>
            <a:srgbClr val="2D6B75"/>
          </a:solidFill>
        </p:spPr>
        <p:txBody>
          <a:bodyPr wrap="square" lIns="36000" tIns="36000" rIns="36000" bIns="36000" rtlCol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• Holding kids constant, each extra wash is associated with  ~1 fewer sick day per year.</a:t>
            </a:r>
            <a:br>
              <a:rPr lang="en-US" sz="1200" dirty="0">
                <a:solidFill>
                  <a:schemeClr val="bg1"/>
                </a:solidFill>
                <a:latin typeface="Calibri"/>
              </a:rPr>
            </a:br>
            <a:br>
              <a:rPr lang="en-US" sz="1200" dirty="0">
                <a:solidFill>
                  <a:schemeClr val="bg1"/>
                </a:solidFill>
                <a:latin typeface="Calibri"/>
              </a:rPr>
            </a:br>
            <a:r>
              <a:rPr lang="en-US" sz="1200" dirty="0">
                <a:solidFill>
                  <a:schemeClr val="bg1"/>
                </a:solidFill>
              </a:rPr>
              <a:t>• </a:t>
            </a:r>
            <a:r>
              <a:rPr lang="en-US" sz="1200" dirty="0">
                <a:solidFill>
                  <a:schemeClr val="bg1"/>
                </a:solidFill>
                <a:latin typeface="Calibri"/>
              </a:rPr>
              <a:t>Holding washes constant, each extra child is associated with about 6 more sick days.</a:t>
            </a:r>
          </a:p>
          <a:p>
            <a:pPr>
              <a:spcAft>
                <a:spcPts val="100"/>
              </a:spcAft>
            </a:pPr>
            <a:endParaRPr lang="en-US" sz="1200" dirty="0">
              <a:solidFill>
                <a:schemeClr val="bg1"/>
              </a:solidFill>
              <a:latin typeface="Calibri"/>
            </a:endParaRPr>
          </a:p>
          <a:p>
            <a:pPr>
              <a:spcAft>
                <a:spcPts val="100"/>
              </a:spcAft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Sometimes phrased as “adjusting for” or “controlling for”.</a:t>
            </a:r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D6A214C9-1BF5-B48D-96DA-CF5D71BA5CDC}"/>
              </a:ext>
            </a:extLst>
          </p:cNvPr>
          <p:cNvSpPr/>
          <p:nvPr/>
        </p:nvSpPr>
        <p:spPr>
          <a:xfrm>
            <a:off x="5006663" y="176941"/>
            <a:ext cx="25088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ONE LINE PER GROUP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84953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5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AF239-961F-CF2D-60FA-875569816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1CAAC9A-5105-02C1-C97B-958D5147B5FA}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1CDBB3D-7E66-9168-F96E-C74D170B4734}"/>
              </a:ext>
            </a:extLst>
          </p:cNvPr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97DCDE-A8A9-3B6D-CA94-C2378F0A6675}"/>
              </a:ext>
            </a:extLst>
          </p:cNvPr>
          <p:cNvSpPr/>
          <p:nvPr/>
        </p:nvSpPr>
        <p:spPr>
          <a:xfrm>
            <a:off x="266700" y="101600"/>
            <a:ext cx="8623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second predictor to the equation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D7421ED-AEDA-C57D-6918-9D42B0ADB97B}"/>
              </a:ext>
            </a:extLst>
          </p:cNvPr>
          <p:cNvSpPr/>
          <p:nvPr/>
        </p:nvSpPr>
        <p:spPr>
          <a:xfrm>
            <a:off x="259078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CALL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6FD0ED8-080A-6FA2-4BB9-FCB587491BCB}"/>
              </a:ext>
            </a:extLst>
          </p:cNvPr>
          <p:cNvSpPr/>
          <p:nvPr/>
        </p:nvSpPr>
        <p:spPr>
          <a:xfrm>
            <a:off x="259078" y="1097280"/>
            <a:ext cx="4273187" cy="470916"/>
          </a:xfrm>
          <a:prstGeom prst="rect">
            <a:avLst/>
          </a:prstGeom>
          <a:solidFill>
            <a:srgbClr val="C4DEDA">
              <a:alpha val="29804"/>
            </a:srgbClr>
          </a:solidFill>
          <a:ln/>
        </p:spPr>
        <p:txBody>
          <a:bodyPr wrap="square" lIns="36000" tIns="36000" rIns="36000" bIns="36000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mod2 &lt;- lm(sick_days ~ washes + kids, data = 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df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)</a:t>
            </a:r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summary(mod2)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471A5DB-0C5E-75D0-4919-6EBC4659387D}"/>
              </a:ext>
            </a:extLst>
          </p:cNvPr>
          <p:cNvSpPr/>
          <p:nvPr/>
        </p:nvSpPr>
        <p:spPr>
          <a:xfrm>
            <a:off x="259078" y="1601726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Estimate Std. Error t value 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(&gt;|t|)    </a:t>
            </a:r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(Intercept)  12.3333     0.9465  13.031 3.81e-07 ***</a:t>
            </a:r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washes       -0.9667     0.3091  -3.127 0.012177 *  </a:t>
            </a:r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kids          5.9000     1.0194   5.788 0.000263 *** </a:t>
            </a:r>
            <a:endParaRPr lang="en-US" sz="1200" dirty="0"/>
          </a:p>
        </p:txBody>
      </p:sp>
      <p:cxnSp>
        <p:nvCxnSpPr>
          <p:cNvPr id="16" name="TitleDash">
            <a:extLst>
              <a:ext uri="{FF2B5EF4-FFF2-40B4-BE49-F238E27FC236}">
                <a16:creationId xmlns:a16="http://schemas.microsoft.com/office/drawing/2014/main" id="{22166E81-67A8-3774-F601-FA791E828EEE}"/>
              </a:ext>
            </a:extLst>
          </p:cNvPr>
          <p:cNvCxnSpPr/>
          <p:nvPr/>
        </p:nvCxnSpPr>
        <p:spPr>
          <a:xfrm>
            <a:off x="279400" y="558800"/>
            <a:ext cx="355600" cy="0"/>
          </a:xfrm>
          <a:prstGeom prst="straightConnector1">
            <a:avLst/>
          </a:prstGeom>
          <a:ln w="38100" cap="flat" cmpd="sng" algn="ctr">
            <a:solidFill>
              <a:srgbClr val="1E506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4">
            <a:extLst>
              <a:ext uri="{FF2B5EF4-FFF2-40B4-BE49-F238E27FC236}">
                <a16:creationId xmlns:a16="http://schemas.microsoft.com/office/drawing/2014/main" id="{9415CC38-7E2A-05D9-F22A-4FD2476DB3F2}"/>
              </a:ext>
            </a:extLst>
          </p:cNvPr>
          <p:cNvSpPr/>
          <p:nvPr/>
        </p:nvSpPr>
        <p:spPr>
          <a:xfrm>
            <a:off x="281417" y="2524352"/>
            <a:ext cx="3790414" cy="361951"/>
          </a:xfrm>
          <a:prstGeom prst="roundRect">
            <a:avLst>
              <a:gd name="adj" fmla="val 8903"/>
            </a:avLst>
          </a:prstGeom>
          <a:solidFill>
            <a:srgbClr val="C4DEDA">
              <a:alpha val="29804"/>
            </a:srgbClr>
          </a:solidFill>
          <a:ln/>
        </p:spPr>
        <p:txBody>
          <a:bodyPr wrap="square" lIns="36000" tIns="36000" rIns="36000" bIns="36000" rtlCol="0" anchor="ctr"/>
          <a:lstStyle/>
          <a:p>
            <a:r>
              <a:rPr lang="en-GB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preview_eq</a:t>
            </a:r>
            <a:r>
              <a:rPr lang="en-GB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(</a:t>
            </a:r>
            <a:r>
              <a:rPr lang="en-GB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extract_eq</a:t>
            </a:r>
            <a:r>
              <a:rPr lang="en-GB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(mod2, </a:t>
            </a:r>
            <a:r>
              <a:rPr lang="en-GB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use_coefs</a:t>
            </a:r>
            <a:r>
              <a:rPr lang="en-GB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 = T))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9160AB-7F5B-B29F-796B-B2CDB5234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1" y="2886303"/>
            <a:ext cx="3935550" cy="36895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32DD0A5-FB8F-86D7-0783-A2CA4C7AB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203" y="2590798"/>
            <a:ext cx="4261040" cy="2337769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/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FC18A3F-D2E0-B844-A1E4-07C6B69A7A7E}"/>
              </a:ext>
            </a:extLst>
          </p:cNvPr>
          <p:cNvCxnSpPr>
            <a:cxnSpLocks/>
          </p:cNvCxnSpPr>
          <p:nvPr/>
        </p:nvCxnSpPr>
        <p:spPr>
          <a:xfrm>
            <a:off x="4718914" y="559058"/>
            <a:ext cx="0" cy="4361285"/>
          </a:xfrm>
          <a:prstGeom prst="line">
            <a:avLst/>
          </a:prstGeom>
          <a:ln w="19050">
            <a:solidFill>
              <a:srgbClr val="1E5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13">
            <a:extLst>
              <a:ext uri="{FF2B5EF4-FFF2-40B4-BE49-F238E27FC236}">
                <a16:creationId xmlns:a16="http://schemas.microsoft.com/office/drawing/2014/main" id="{C31DEFF1-A5D9-EB78-0193-C0DEA7CDECCC}"/>
              </a:ext>
            </a:extLst>
          </p:cNvPr>
          <p:cNvSpPr/>
          <p:nvPr/>
        </p:nvSpPr>
        <p:spPr>
          <a:xfrm>
            <a:off x="4905260" y="522590"/>
            <a:ext cx="3935550" cy="1689817"/>
          </a:xfrm>
          <a:prstGeom prst="roundRect">
            <a:avLst>
              <a:gd name="adj" fmla="val 4615"/>
            </a:avLst>
          </a:prstGeom>
          <a:solidFill>
            <a:srgbClr val="2D6B75"/>
          </a:solidFill>
        </p:spPr>
        <p:txBody>
          <a:bodyPr wrap="square" lIns="36000" tIns="36000" rIns="36000" bIns="36000" rtlCol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1400" b="1" dirty="0">
                <a:solidFill>
                  <a:schemeClr val="bg1"/>
                </a:solidFill>
              </a:rPr>
              <a:t>Example: 6 washes, 2 kids</a:t>
            </a:r>
          </a:p>
          <a:p>
            <a:pPr>
              <a:spcAft>
                <a:spcPts val="100"/>
              </a:spcAft>
            </a:pPr>
            <a:endParaRPr lang="en-US" sz="1400" dirty="0">
              <a:solidFill>
                <a:schemeClr val="bg1"/>
              </a:solidFill>
            </a:endParaRPr>
          </a:p>
          <a:p>
            <a:pPr>
              <a:spcAft>
                <a:spcPts val="100"/>
              </a:spcAft>
            </a:pPr>
            <a:r>
              <a:rPr lang="en-US" sz="1400" dirty="0" err="1">
                <a:solidFill>
                  <a:schemeClr val="bg1"/>
                </a:solidFill>
              </a:rPr>
              <a:t>sick_days</a:t>
            </a:r>
            <a:r>
              <a:rPr lang="en-US" sz="1400" dirty="0">
                <a:solidFill>
                  <a:schemeClr val="bg1"/>
                </a:solidFill>
              </a:rPr>
              <a:t> = 12.33 + (-0.97 × 6) + (5.9 × 2)</a:t>
            </a:r>
          </a:p>
          <a:p>
            <a:pPr>
              <a:spcAft>
                <a:spcPts val="100"/>
              </a:spcAft>
            </a:pPr>
            <a:endParaRPr lang="en-US" sz="1400" dirty="0">
              <a:solidFill>
                <a:schemeClr val="bg1"/>
              </a:solidFill>
            </a:endParaRPr>
          </a:p>
          <a:p>
            <a:pPr>
              <a:spcAft>
                <a:spcPts val="100"/>
              </a:spcAft>
            </a:pPr>
            <a:r>
              <a:rPr lang="en-US" sz="1400" dirty="0">
                <a:solidFill>
                  <a:schemeClr val="bg1"/>
                </a:solidFill>
              </a:rPr>
              <a:t>= 12.33 − 5.8 + 11.8</a:t>
            </a:r>
          </a:p>
          <a:p>
            <a:pPr>
              <a:spcAft>
                <a:spcPts val="100"/>
              </a:spcAft>
            </a:pPr>
            <a:endParaRPr lang="en-US" sz="1400" dirty="0">
              <a:solidFill>
                <a:schemeClr val="bg1"/>
              </a:solidFill>
            </a:endParaRPr>
          </a:p>
          <a:p>
            <a:pPr>
              <a:spcAft>
                <a:spcPts val="100"/>
              </a:spcAft>
            </a:pPr>
            <a:r>
              <a:rPr lang="en-US" sz="1400" dirty="0">
                <a:solidFill>
                  <a:schemeClr val="bg1"/>
                </a:solidFill>
              </a:rPr>
              <a:t>≈ 18.3 sick days/year</a:t>
            </a:r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556E75B4-C915-5014-185F-A8E6A2AC1DBD}"/>
              </a:ext>
            </a:extLst>
          </p:cNvPr>
          <p:cNvSpPr/>
          <p:nvPr/>
        </p:nvSpPr>
        <p:spPr>
          <a:xfrm>
            <a:off x="279400" y="3437843"/>
            <a:ext cx="3935550" cy="1417918"/>
          </a:xfrm>
          <a:prstGeom prst="roundRect">
            <a:avLst>
              <a:gd name="adj" fmla="val 4615"/>
            </a:avLst>
          </a:prstGeom>
          <a:solidFill>
            <a:srgbClr val="2D6B75"/>
          </a:solidFill>
        </p:spPr>
        <p:txBody>
          <a:bodyPr wrap="square" lIns="36000" tIns="36000" rIns="36000" bIns="36000" rtlCol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• Holding kids constant, each extra wash is associated with  ~1 fewer sick day per year.</a:t>
            </a:r>
            <a:br>
              <a:rPr lang="en-US" sz="1200" dirty="0">
                <a:solidFill>
                  <a:schemeClr val="bg1"/>
                </a:solidFill>
                <a:latin typeface="Calibri"/>
              </a:rPr>
            </a:br>
            <a:br>
              <a:rPr lang="en-US" sz="1200" dirty="0">
                <a:solidFill>
                  <a:schemeClr val="bg1"/>
                </a:solidFill>
                <a:latin typeface="Calibri"/>
              </a:rPr>
            </a:br>
            <a:r>
              <a:rPr lang="en-US" sz="1200" dirty="0">
                <a:solidFill>
                  <a:schemeClr val="bg1"/>
                </a:solidFill>
              </a:rPr>
              <a:t>• </a:t>
            </a:r>
            <a:r>
              <a:rPr lang="en-US" sz="1200" dirty="0">
                <a:solidFill>
                  <a:schemeClr val="bg1"/>
                </a:solidFill>
                <a:latin typeface="Calibri"/>
              </a:rPr>
              <a:t>Holding washes constant, each extra child is associated with about 6 more sick days.</a:t>
            </a:r>
          </a:p>
          <a:p>
            <a:pPr>
              <a:spcAft>
                <a:spcPts val="100"/>
              </a:spcAft>
            </a:pPr>
            <a:endParaRPr lang="en-US" sz="1200" dirty="0">
              <a:solidFill>
                <a:schemeClr val="bg1"/>
              </a:solidFill>
              <a:latin typeface="Calibri"/>
            </a:endParaRPr>
          </a:p>
          <a:p>
            <a:pPr>
              <a:spcAft>
                <a:spcPts val="100"/>
              </a:spcAft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Sometimes phrased as “adjusting for” or “controlling for”.</a:t>
            </a:r>
          </a:p>
        </p:txBody>
      </p:sp>
    </p:spTree>
    <p:extLst>
      <p:ext uri="{BB962C8B-B14F-4D97-AF65-F5344CB8AC3E}">
        <p14:creationId xmlns:p14="http://schemas.microsoft.com/office/powerpoint/2010/main" val="326666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B1C4B-CFDB-D48A-05EA-645F41D12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182879-0C0C-4418-4549-D4F76646C24F}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CD77248-DDB5-5300-3A53-334D1D9966CA}"/>
              </a:ext>
            </a:extLst>
          </p:cNvPr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AC3B84-821B-E039-48C4-A1168FF340F8}"/>
              </a:ext>
            </a:extLst>
          </p:cNvPr>
          <p:cNvSpPr/>
          <p:nvPr/>
        </p:nvSpPr>
        <p:spPr>
          <a:xfrm>
            <a:off x="266700" y="101600"/>
            <a:ext cx="8623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second predictor to the equation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464759F-39CB-234C-E941-28A2B13C214A}"/>
              </a:ext>
            </a:extLst>
          </p:cNvPr>
          <p:cNvSpPr/>
          <p:nvPr/>
        </p:nvSpPr>
        <p:spPr>
          <a:xfrm>
            <a:off x="259078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CALL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ECEBA7-75B2-C3A0-6572-FBF9860AE43A}"/>
              </a:ext>
            </a:extLst>
          </p:cNvPr>
          <p:cNvSpPr/>
          <p:nvPr/>
        </p:nvSpPr>
        <p:spPr>
          <a:xfrm>
            <a:off x="259078" y="1097280"/>
            <a:ext cx="4273187" cy="470916"/>
          </a:xfrm>
          <a:prstGeom prst="rect">
            <a:avLst/>
          </a:prstGeom>
          <a:solidFill>
            <a:srgbClr val="C4DEDA">
              <a:alpha val="29804"/>
            </a:srgbClr>
          </a:solidFill>
          <a:ln/>
        </p:spPr>
        <p:txBody>
          <a:bodyPr wrap="square" lIns="36000" tIns="36000" rIns="36000" bIns="36000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mod2 &lt;- lm(sick_days ~ washes + kids, data = 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df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)</a:t>
            </a:r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summary(mod2)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8C4D38E-86F9-BC35-7241-1317DF47CDA3}"/>
              </a:ext>
            </a:extLst>
          </p:cNvPr>
          <p:cNvSpPr/>
          <p:nvPr/>
        </p:nvSpPr>
        <p:spPr>
          <a:xfrm>
            <a:off x="259078" y="1601726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Estimate Std. Error t value </a:t>
            </a:r>
            <a:r>
              <a:rPr lang="en-US" sz="1200" dirty="0" err="1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(&gt;|t|)    </a:t>
            </a:r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(Intercept)  12.3333     0.9465  13.031 3.81e-07 ***</a:t>
            </a:r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washes       -0.9667     0.3091  -3.127 0.012177 *  </a:t>
            </a:r>
          </a:p>
          <a:p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kids          5.9000     1.0194   5.788 0.000263 *** </a:t>
            </a:r>
            <a:endParaRPr lang="en-US" sz="1200" dirty="0"/>
          </a:p>
        </p:txBody>
      </p:sp>
      <p:cxnSp>
        <p:nvCxnSpPr>
          <p:cNvPr id="16" name="TitleDash">
            <a:extLst>
              <a:ext uri="{FF2B5EF4-FFF2-40B4-BE49-F238E27FC236}">
                <a16:creationId xmlns:a16="http://schemas.microsoft.com/office/drawing/2014/main" id="{B9378A12-CBB1-2A57-2D56-9B6CAF790AE2}"/>
              </a:ext>
            </a:extLst>
          </p:cNvPr>
          <p:cNvCxnSpPr/>
          <p:nvPr/>
        </p:nvCxnSpPr>
        <p:spPr>
          <a:xfrm>
            <a:off x="279400" y="558800"/>
            <a:ext cx="355600" cy="0"/>
          </a:xfrm>
          <a:prstGeom prst="straightConnector1">
            <a:avLst/>
          </a:prstGeom>
          <a:ln w="38100" cap="flat" cmpd="sng" algn="ctr">
            <a:solidFill>
              <a:srgbClr val="1E506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4">
            <a:extLst>
              <a:ext uri="{FF2B5EF4-FFF2-40B4-BE49-F238E27FC236}">
                <a16:creationId xmlns:a16="http://schemas.microsoft.com/office/drawing/2014/main" id="{44579CD1-8041-0F8E-D94B-D42BC7A11D72}"/>
              </a:ext>
            </a:extLst>
          </p:cNvPr>
          <p:cNvSpPr/>
          <p:nvPr/>
        </p:nvSpPr>
        <p:spPr>
          <a:xfrm>
            <a:off x="281417" y="2524352"/>
            <a:ext cx="3790414" cy="361951"/>
          </a:xfrm>
          <a:prstGeom prst="roundRect">
            <a:avLst>
              <a:gd name="adj" fmla="val 8903"/>
            </a:avLst>
          </a:prstGeom>
          <a:solidFill>
            <a:srgbClr val="C4DEDA">
              <a:alpha val="29804"/>
            </a:srgbClr>
          </a:solidFill>
          <a:ln/>
        </p:spPr>
        <p:txBody>
          <a:bodyPr wrap="square" lIns="36000" tIns="36000" rIns="36000" bIns="36000" rtlCol="0" anchor="ctr"/>
          <a:lstStyle/>
          <a:p>
            <a:r>
              <a:rPr lang="en-GB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preview_eq</a:t>
            </a:r>
            <a:r>
              <a:rPr lang="en-GB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(</a:t>
            </a:r>
            <a:r>
              <a:rPr lang="en-GB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extract_eq</a:t>
            </a:r>
            <a:r>
              <a:rPr lang="en-GB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(mod2, </a:t>
            </a:r>
            <a:r>
              <a:rPr lang="en-GB" sz="1200" dirty="0" err="1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use_coefs</a:t>
            </a:r>
            <a:r>
              <a:rPr lang="en-GB" sz="12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 = T))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77E2B1-A02C-A132-D31E-14B0E57D6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1" y="2886303"/>
            <a:ext cx="3935550" cy="36895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55C8E3D-C848-CF8B-2BD1-AF316E60D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203" y="2590798"/>
            <a:ext cx="4261040" cy="2337769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/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7B22AC-5F22-6160-B158-3C5D9CD20690}"/>
              </a:ext>
            </a:extLst>
          </p:cNvPr>
          <p:cNvCxnSpPr>
            <a:cxnSpLocks/>
          </p:cNvCxnSpPr>
          <p:nvPr/>
        </p:nvCxnSpPr>
        <p:spPr>
          <a:xfrm>
            <a:off x="4718914" y="559058"/>
            <a:ext cx="0" cy="4361285"/>
          </a:xfrm>
          <a:prstGeom prst="line">
            <a:avLst/>
          </a:prstGeom>
          <a:ln w="19050">
            <a:solidFill>
              <a:srgbClr val="1E5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13">
            <a:extLst>
              <a:ext uri="{FF2B5EF4-FFF2-40B4-BE49-F238E27FC236}">
                <a16:creationId xmlns:a16="http://schemas.microsoft.com/office/drawing/2014/main" id="{3297B195-5A7A-209E-2D1A-64BD77214DC7}"/>
              </a:ext>
            </a:extLst>
          </p:cNvPr>
          <p:cNvSpPr/>
          <p:nvPr/>
        </p:nvSpPr>
        <p:spPr>
          <a:xfrm>
            <a:off x="4905260" y="522590"/>
            <a:ext cx="3935550" cy="1689817"/>
          </a:xfrm>
          <a:prstGeom prst="roundRect">
            <a:avLst>
              <a:gd name="adj" fmla="val 4615"/>
            </a:avLst>
          </a:prstGeom>
          <a:solidFill>
            <a:srgbClr val="2D6B75"/>
          </a:solidFill>
        </p:spPr>
        <p:txBody>
          <a:bodyPr wrap="square" lIns="36000" tIns="36000" rIns="36000" bIns="36000" rtlCol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1400" b="1" dirty="0">
                <a:solidFill>
                  <a:schemeClr val="bg1"/>
                </a:solidFill>
              </a:rPr>
              <a:t>Example: 0 washes, 3 kids</a:t>
            </a:r>
          </a:p>
          <a:p>
            <a:pPr>
              <a:spcAft>
                <a:spcPts val="100"/>
              </a:spcAft>
            </a:pPr>
            <a:endParaRPr lang="en-US" sz="1400" dirty="0">
              <a:solidFill>
                <a:schemeClr val="bg1"/>
              </a:solidFill>
            </a:endParaRPr>
          </a:p>
          <a:p>
            <a:pPr>
              <a:spcAft>
                <a:spcPts val="100"/>
              </a:spcAft>
            </a:pPr>
            <a:r>
              <a:rPr lang="en-US" sz="1400" dirty="0" err="1">
                <a:solidFill>
                  <a:schemeClr val="bg1"/>
                </a:solidFill>
              </a:rPr>
              <a:t>sick_days</a:t>
            </a:r>
            <a:r>
              <a:rPr lang="en-US" sz="1400" dirty="0">
                <a:solidFill>
                  <a:schemeClr val="bg1"/>
                </a:solidFill>
              </a:rPr>
              <a:t> = 12.33 + (-0.97 × 0) + (5.9 × 3)</a:t>
            </a:r>
          </a:p>
          <a:p>
            <a:pPr>
              <a:spcAft>
                <a:spcPts val="100"/>
              </a:spcAft>
            </a:pPr>
            <a:endParaRPr lang="en-US" sz="1400" dirty="0">
              <a:solidFill>
                <a:schemeClr val="bg1"/>
              </a:solidFill>
            </a:endParaRPr>
          </a:p>
          <a:p>
            <a:pPr>
              <a:spcAft>
                <a:spcPts val="100"/>
              </a:spcAft>
            </a:pPr>
            <a:r>
              <a:rPr lang="en-US" sz="1400" dirty="0">
                <a:solidFill>
                  <a:schemeClr val="bg1"/>
                </a:solidFill>
              </a:rPr>
              <a:t>= 12.33 + 0 + 17.7</a:t>
            </a:r>
          </a:p>
          <a:p>
            <a:pPr>
              <a:spcAft>
                <a:spcPts val="100"/>
              </a:spcAft>
            </a:pPr>
            <a:endParaRPr lang="en-US" sz="1400" dirty="0">
              <a:solidFill>
                <a:schemeClr val="bg1"/>
              </a:solidFill>
            </a:endParaRPr>
          </a:p>
          <a:p>
            <a:pPr>
              <a:spcAft>
                <a:spcPts val="100"/>
              </a:spcAft>
            </a:pPr>
            <a:r>
              <a:rPr lang="en-US" sz="1400" dirty="0">
                <a:solidFill>
                  <a:schemeClr val="bg1"/>
                </a:solidFill>
              </a:rPr>
              <a:t>≈ 30.0 sick days/year</a:t>
            </a:r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5DFFB902-4FE6-E33B-8607-F77EA854C3CA}"/>
              </a:ext>
            </a:extLst>
          </p:cNvPr>
          <p:cNvSpPr/>
          <p:nvPr/>
        </p:nvSpPr>
        <p:spPr>
          <a:xfrm>
            <a:off x="279400" y="3437843"/>
            <a:ext cx="3935550" cy="1417918"/>
          </a:xfrm>
          <a:prstGeom prst="roundRect">
            <a:avLst>
              <a:gd name="adj" fmla="val 4615"/>
            </a:avLst>
          </a:prstGeom>
          <a:solidFill>
            <a:srgbClr val="2D6B75"/>
          </a:solidFill>
        </p:spPr>
        <p:txBody>
          <a:bodyPr wrap="square" lIns="36000" tIns="36000" rIns="36000" bIns="36000" rtlCol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• Holding kids constant, each extra wash is associated with  ~1 fewer sick day per year.</a:t>
            </a:r>
            <a:br>
              <a:rPr lang="en-US" sz="1200" dirty="0">
                <a:solidFill>
                  <a:schemeClr val="bg1"/>
                </a:solidFill>
                <a:latin typeface="Calibri"/>
              </a:rPr>
            </a:br>
            <a:br>
              <a:rPr lang="en-US" sz="1200" dirty="0">
                <a:solidFill>
                  <a:schemeClr val="bg1"/>
                </a:solidFill>
                <a:latin typeface="Calibri"/>
              </a:rPr>
            </a:br>
            <a:r>
              <a:rPr lang="en-US" sz="1200" dirty="0">
                <a:solidFill>
                  <a:schemeClr val="bg1"/>
                </a:solidFill>
              </a:rPr>
              <a:t>• </a:t>
            </a:r>
            <a:r>
              <a:rPr lang="en-US" sz="1200" dirty="0">
                <a:solidFill>
                  <a:schemeClr val="bg1"/>
                </a:solidFill>
                <a:latin typeface="Calibri"/>
              </a:rPr>
              <a:t>Holding washes constant, each extra child is associated with about 6 more sick days.</a:t>
            </a:r>
          </a:p>
          <a:p>
            <a:pPr>
              <a:spcAft>
                <a:spcPts val="100"/>
              </a:spcAft>
            </a:pPr>
            <a:endParaRPr lang="en-US" sz="1200" dirty="0">
              <a:solidFill>
                <a:schemeClr val="bg1"/>
              </a:solidFill>
              <a:latin typeface="Calibri"/>
            </a:endParaRPr>
          </a:p>
          <a:p>
            <a:pPr>
              <a:spcAft>
                <a:spcPts val="100"/>
              </a:spcAft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Sometimes phrased as “adjusting for” or “controlling for”.</a:t>
            </a:r>
          </a:p>
        </p:txBody>
      </p:sp>
    </p:spTree>
    <p:extLst>
      <p:ext uri="{BB962C8B-B14F-4D97-AF65-F5344CB8AC3E}">
        <p14:creationId xmlns:p14="http://schemas.microsoft.com/office/powerpoint/2010/main" val="3949589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66700" y="101600"/>
            <a:ext cx="8623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 |  Reading a two-predictor table</a:t>
            </a:r>
            <a:endParaRPr lang="en-US" sz="2000" dirty="0"/>
          </a:p>
        </p:txBody>
      </p:sp>
      <p:cxnSp>
        <p:nvCxnSpPr>
          <p:cNvPr id="16" name="TitleDash">
            <a:extLst>
              <a:ext uri="{FF2B5EF4-FFF2-40B4-BE49-F238E27FC236}">
                <a16:creationId xmlns:a16="http://schemas.microsoft.com/office/drawing/2014/main" id="{C8B8BF2F-58AD-2C49-B724-94327200BF15}"/>
              </a:ext>
            </a:extLst>
          </p:cNvPr>
          <p:cNvCxnSpPr/>
          <p:nvPr/>
        </p:nvCxnSpPr>
        <p:spPr>
          <a:xfrm>
            <a:off x="279400" y="558800"/>
            <a:ext cx="355600" cy="0"/>
          </a:xfrm>
          <a:prstGeom prst="straightConnector1">
            <a:avLst/>
          </a:prstGeom>
          <a:ln w="38100" cap="flat" cmpd="sng" algn="ctr">
            <a:solidFill>
              <a:srgbClr val="1E506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QSh 100"/>
          <p:cNvSpPr txBox="1"/>
          <p:nvPr/>
        </p:nvSpPr>
        <p:spPr>
          <a:xfrm>
            <a:off x="4624614" y="2328740"/>
            <a:ext cx="4216400" cy="381000"/>
          </a:xfrm>
          <a:prstGeom prst="rect">
            <a:avLst/>
          </a:prstGeom>
          <a:solidFill>
            <a:srgbClr val="1F5061"/>
          </a:solidFill>
          <a:ln>
            <a:noFill/>
          </a:ln>
        </p:spPr>
        <p:txBody>
          <a:bodyPr wrap="square" lIns="137160" tIns="36000" rIns="91440" bIns="3600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</a:rPr>
              <a:t>INTERPRET THE AGE SLOPE</a:t>
            </a:r>
          </a:p>
        </p:txBody>
      </p:sp>
      <p:sp>
        <p:nvSpPr>
          <p:cNvPr id="101" name="QSh 101"/>
          <p:cNvSpPr txBox="1"/>
          <p:nvPr/>
        </p:nvSpPr>
        <p:spPr>
          <a:xfrm>
            <a:off x="4624614" y="2709741"/>
            <a:ext cx="4216400" cy="1381184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</a:ln>
        </p:spPr>
        <p:txBody>
          <a:bodyPr wrap="square" lIns="137160" tIns="81000" rIns="137160" bIns="8100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5061"/>
                </a:solidFill>
                <a:latin typeface="Calibri" pitchFamily="34" charset="0"/>
              </a:rPr>
              <a:t>Which interpretation of the age slope (0.04) is correct?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</a:rPr>
              <a:t>A)  Age matters less than severity for predicting stay, since 0.04 &lt;&lt; 1.85.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</a:rPr>
              <a:t>B)  A 10-year increase in age, at the same severity, predicts about 0.4 days longer stay.</a:t>
            </a:r>
          </a:p>
        </p:txBody>
      </p:sp>
      <p:sp>
        <p:nvSpPr>
          <p:cNvPr id="102" name="QSh 102"/>
          <p:cNvSpPr txBox="1"/>
          <p:nvPr/>
        </p:nvSpPr>
        <p:spPr>
          <a:xfrm>
            <a:off x="266700" y="2328740"/>
            <a:ext cx="4216400" cy="381000"/>
          </a:xfrm>
          <a:prstGeom prst="rect">
            <a:avLst/>
          </a:prstGeom>
          <a:solidFill>
            <a:srgbClr val="1F5061"/>
          </a:solidFill>
          <a:ln>
            <a:noFill/>
          </a:ln>
        </p:spPr>
        <p:txBody>
          <a:bodyPr wrap="square" lIns="137160" tIns="36000" rIns="91440" bIns="36000" anchor="ctr"/>
          <a:lstStyle>
            <a:lvl1pPr indent="0">
              <a:buNone/>
              <a:defRPr sz="1300" b="1" kern="0" spc="200">
                <a:solidFill>
                  <a:srgbClr val="FFFFFF"/>
                </a:solidFill>
                <a:latin typeface="Calibri" pitchFamily="34" charset="0"/>
              </a:defRPr>
            </a:lvl1pPr>
          </a:lstStyle>
          <a:p>
            <a:r>
              <a:rPr lang="en-US" dirty="0"/>
              <a:t>PREDICT A NEW PATIENT</a:t>
            </a:r>
          </a:p>
        </p:txBody>
      </p:sp>
      <p:sp>
        <p:nvSpPr>
          <p:cNvPr id="103" name="QSh 103"/>
          <p:cNvSpPr txBox="1"/>
          <p:nvPr/>
        </p:nvSpPr>
        <p:spPr>
          <a:xfrm>
            <a:off x="266700" y="2709740"/>
            <a:ext cx="4216400" cy="916863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</a:ln>
        </p:spPr>
        <p:txBody>
          <a:bodyPr wrap="square" lIns="137160" tIns="81000" rIns="137160" bIns="8100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5061"/>
                </a:solidFill>
                <a:latin typeface="Calibri" pitchFamily="34" charset="0"/>
              </a:rPr>
              <a:t>Predicted stay for a 60-year-old with severity = 3?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</a:rPr>
              <a:t>A)  (0.04 x 60) + (1.85 x 3) =  7.95 days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</a:rPr>
              <a:t>B)  2.10 + (0.04 x 60) + (1.85 x 3)  =  10.05 days</a:t>
            </a:r>
          </a:p>
        </p:txBody>
      </p:sp>
      <p:sp>
        <p:nvSpPr>
          <p:cNvPr id="50" name="Setup 50"/>
          <p:cNvSpPr txBox="1"/>
          <p:nvPr/>
        </p:nvSpPr>
        <p:spPr>
          <a:xfrm>
            <a:off x="279400" y="736600"/>
            <a:ext cx="4572000" cy="14605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3"/>
            </a:solidFill>
          </a:ln>
        </p:spPr>
        <p:txBody>
          <a:bodyPr wrap="square" lIns="91440" tIns="36000" rIns="91440" bIns="3600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kern="0" spc="200" dirty="0">
                <a:solidFill>
                  <a:srgbClr val="1F5061"/>
                </a:solidFill>
                <a:latin typeface="Calibri" pitchFamily="34" charset="0"/>
              </a:rPr>
              <a:t>THE SETUP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</a:rPr>
              <a:t>A model predicts hospital length of stay (days) from age (years) and a numeric severity score, n = 240 patients.</a:t>
            </a:r>
          </a:p>
          <a:p>
            <a:pPr marL="0" indent="0">
              <a:buNone/>
            </a:pPr>
            <a:r>
              <a:rPr lang="en-US" sz="1150" dirty="0" err="1">
                <a:solidFill>
                  <a:srgbClr val="2C3E50"/>
                </a:solidFill>
                <a:latin typeface="Consolas" pitchFamily="34" charset="0"/>
              </a:rPr>
              <a:t>lm</a:t>
            </a:r>
            <a:r>
              <a:rPr lang="en-US" sz="1150" dirty="0">
                <a:solidFill>
                  <a:srgbClr val="2C3E50"/>
                </a:solidFill>
                <a:latin typeface="Consolas" pitchFamily="34" charset="0"/>
              </a:rPr>
              <a:t>(</a:t>
            </a:r>
            <a:r>
              <a:rPr lang="en-US" sz="1150" dirty="0" err="1">
                <a:solidFill>
                  <a:srgbClr val="2C3E50"/>
                </a:solidFill>
                <a:latin typeface="Consolas" pitchFamily="34" charset="0"/>
              </a:rPr>
              <a:t>length_of_stay</a:t>
            </a:r>
            <a:r>
              <a:rPr lang="en-US" sz="1150" dirty="0">
                <a:solidFill>
                  <a:srgbClr val="2C3E50"/>
                </a:solidFill>
                <a:latin typeface="Consolas" pitchFamily="34" charset="0"/>
              </a:rPr>
              <a:t> ~ age + severity, data = df)</a:t>
            </a:r>
          </a:p>
        </p:txBody>
      </p:sp>
      <p:sp>
        <p:nvSpPr>
          <p:cNvPr id="51" name="Setup 51"/>
          <p:cNvSpPr txBox="1"/>
          <p:nvPr/>
        </p:nvSpPr>
        <p:spPr>
          <a:xfrm>
            <a:off x="5029200" y="736600"/>
            <a:ext cx="38354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18000" rIns="91440" bIns="1800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5061"/>
                </a:solidFill>
                <a:latin typeface="Calibri" pitchFamily="34" charset="0"/>
              </a:rPr>
              <a:t>THE OUTPUT</a:t>
            </a:r>
          </a:p>
        </p:txBody>
      </p:sp>
      <p:sp>
        <p:nvSpPr>
          <p:cNvPr id="52" name="Setup 52"/>
          <p:cNvSpPr txBox="1"/>
          <p:nvPr/>
        </p:nvSpPr>
        <p:spPr>
          <a:xfrm>
            <a:off x="5029200" y="1016000"/>
            <a:ext cx="1227328" cy="279400"/>
          </a:xfrm>
          <a:prstGeom prst="rect">
            <a:avLst/>
          </a:prstGeom>
          <a:solidFill>
            <a:srgbClr val="1F5061"/>
          </a:solidFill>
          <a:ln>
            <a:noFill/>
          </a:ln>
        </p:spPr>
        <p:txBody>
          <a:bodyPr wrap="square" lIns="54000" tIns="18000" rIns="54000" bIns="1800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term</a:t>
            </a:r>
          </a:p>
        </p:txBody>
      </p:sp>
      <p:sp>
        <p:nvSpPr>
          <p:cNvPr id="53" name="Setup 53"/>
          <p:cNvSpPr txBox="1"/>
          <p:nvPr/>
        </p:nvSpPr>
        <p:spPr>
          <a:xfrm>
            <a:off x="6256528" y="1016000"/>
            <a:ext cx="920496" cy="279400"/>
          </a:xfrm>
          <a:prstGeom prst="rect">
            <a:avLst/>
          </a:prstGeom>
          <a:solidFill>
            <a:srgbClr val="1F5061"/>
          </a:solidFill>
          <a:ln>
            <a:noFill/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estimate</a:t>
            </a:r>
          </a:p>
        </p:txBody>
      </p:sp>
      <p:sp>
        <p:nvSpPr>
          <p:cNvPr id="54" name="Setup 54"/>
          <p:cNvSpPr txBox="1"/>
          <p:nvPr/>
        </p:nvSpPr>
        <p:spPr>
          <a:xfrm>
            <a:off x="7177024" y="1016000"/>
            <a:ext cx="767080" cy="279400"/>
          </a:xfrm>
          <a:prstGeom prst="rect">
            <a:avLst/>
          </a:prstGeom>
          <a:solidFill>
            <a:srgbClr val="1F5061"/>
          </a:solidFill>
          <a:ln>
            <a:noFill/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SE</a:t>
            </a:r>
          </a:p>
        </p:txBody>
      </p:sp>
      <p:sp>
        <p:nvSpPr>
          <p:cNvPr id="55" name="Setup 55"/>
          <p:cNvSpPr txBox="1"/>
          <p:nvPr/>
        </p:nvSpPr>
        <p:spPr>
          <a:xfrm>
            <a:off x="7944104" y="1016000"/>
            <a:ext cx="920496" cy="279400"/>
          </a:xfrm>
          <a:prstGeom prst="rect">
            <a:avLst/>
          </a:prstGeom>
          <a:solidFill>
            <a:srgbClr val="1F5061"/>
          </a:solidFill>
          <a:ln>
            <a:noFill/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p</a:t>
            </a:r>
          </a:p>
        </p:txBody>
      </p:sp>
      <p:sp>
        <p:nvSpPr>
          <p:cNvPr id="56" name="Setup 56"/>
          <p:cNvSpPr txBox="1"/>
          <p:nvPr/>
        </p:nvSpPr>
        <p:spPr>
          <a:xfrm>
            <a:off x="5029200" y="1295400"/>
            <a:ext cx="1227328" cy="279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</a:rPr>
              <a:t>(Intercept)</a:t>
            </a:r>
          </a:p>
        </p:txBody>
      </p:sp>
      <p:sp>
        <p:nvSpPr>
          <p:cNvPr id="57" name="Setup 57"/>
          <p:cNvSpPr txBox="1"/>
          <p:nvPr/>
        </p:nvSpPr>
        <p:spPr>
          <a:xfrm>
            <a:off x="6256528" y="1295400"/>
            <a:ext cx="920496" cy="279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</a:rPr>
              <a:t>2.10</a:t>
            </a:r>
          </a:p>
        </p:txBody>
      </p:sp>
      <p:sp>
        <p:nvSpPr>
          <p:cNvPr id="58" name="Setup 58"/>
          <p:cNvSpPr txBox="1"/>
          <p:nvPr/>
        </p:nvSpPr>
        <p:spPr>
          <a:xfrm>
            <a:off x="7177024" y="1295400"/>
            <a:ext cx="767080" cy="279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</a:rPr>
              <a:t>0.45</a:t>
            </a:r>
          </a:p>
        </p:txBody>
      </p:sp>
      <p:sp>
        <p:nvSpPr>
          <p:cNvPr id="59" name="Setup 59"/>
          <p:cNvSpPr txBox="1"/>
          <p:nvPr/>
        </p:nvSpPr>
        <p:spPr>
          <a:xfrm>
            <a:off x="7944104" y="1295400"/>
            <a:ext cx="920496" cy="279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</a:rPr>
              <a:t>&lt;0.001 ***</a:t>
            </a:r>
          </a:p>
        </p:txBody>
      </p:sp>
      <p:sp>
        <p:nvSpPr>
          <p:cNvPr id="60" name="Setup 60"/>
          <p:cNvSpPr txBox="1"/>
          <p:nvPr/>
        </p:nvSpPr>
        <p:spPr>
          <a:xfrm>
            <a:off x="5029200" y="1574800"/>
            <a:ext cx="1227328" cy="279400"/>
          </a:xfrm>
          <a:prstGeom prst="rect">
            <a:avLst/>
          </a:prstGeom>
          <a:solidFill>
            <a:srgbClr val="F4F7F9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</a:rPr>
              <a:t>age</a:t>
            </a:r>
          </a:p>
        </p:txBody>
      </p:sp>
      <p:sp>
        <p:nvSpPr>
          <p:cNvPr id="61" name="Setup 61"/>
          <p:cNvSpPr txBox="1"/>
          <p:nvPr/>
        </p:nvSpPr>
        <p:spPr>
          <a:xfrm>
            <a:off x="6256528" y="1574800"/>
            <a:ext cx="920496" cy="279400"/>
          </a:xfrm>
          <a:prstGeom prst="rect">
            <a:avLst/>
          </a:prstGeom>
          <a:solidFill>
            <a:srgbClr val="F4F7F9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</a:rPr>
              <a:t>0.04</a:t>
            </a:r>
          </a:p>
        </p:txBody>
      </p:sp>
      <p:sp>
        <p:nvSpPr>
          <p:cNvPr id="62" name="Setup 62"/>
          <p:cNvSpPr txBox="1"/>
          <p:nvPr/>
        </p:nvSpPr>
        <p:spPr>
          <a:xfrm>
            <a:off x="7177024" y="1574800"/>
            <a:ext cx="767080" cy="279400"/>
          </a:xfrm>
          <a:prstGeom prst="rect">
            <a:avLst/>
          </a:prstGeom>
          <a:solidFill>
            <a:srgbClr val="F4F7F9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</a:rPr>
              <a:t>0.01</a:t>
            </a:r>
          </a:p>
        </p:txBody>
      </p:sp>
      <p:sp>
        <p:nvSpPr>
          <p:cNvPr id="63" name="Setup 63"/>
          <p:cNvSpPr txBox="1"/>
          <p:nvPr/>
        </p:nvSpPr>
        <p:spPr>
          <a:xfrm>
            <a:off x="7944104" y="1574800"/>
            <a:ext cx="920496" cy="279400"/>
          </a:xfrm>
          <a:prstGeom prst="rect">
            <a:avLst/>
          </a:prstGeom>
          <a:solidFill>
            <a:srgbClr val="F4F7F9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</a:rPr>
              <a:t>&lt;0.001 ***</a:t>
            </a:r>
          </a:p>
        </p:txBody>
      </p:sp>
      <p:sp>
        <p:nvSpPr>
          <p:cNvPr id="64" name="Setup 64"/>
          <p:cNvSpPr txBox="1"/>
          <p:nvPr/>
        </p:nvSpPr>
        <p:spPr>
          <a:xfrm>
            <a:off x="5029200" y="1854200"/>
            <a:ext cx="1227328" cy="279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</a:rPr>
              <a:t>severity</a:t>
            </a:r>
          </a:p>
        </p:txBody>
      </p:sp>
      <p:sp>
        <p:nvSpPr>
          <p:cNvPr id="65" name="Setup 65"/>
          <p:cNvSpPr txBox="1"/>
          <p:nvPr/>
        </p:nvSpPr>
        <p:spPr>
          <a:xfrm>
            <a:off x="6256528" y="1854200"/>
            <a:ext cx="920496" cy="279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</a:rPr>
              <a:t>1.85</a:t>
            </a:r>
          </a:p>
        </p:txBody>
      </p:sp>
      <p:sp>
        <p:nvSpPr>
          <p:cNvPr id="66" name="Setup 66"/>
          <p:cNvSpPr txBox="1"/>
          <p:nvPr/>
        </p:nvSpPr>
        <p:spPr>
          <a:xfrm>
            <a:off x="7177024" y="1854200"/>
            <a:ext cx="767080" cy="279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</a:rPr>
              <a:t>0.12</a:t>
            </a:r>
          </a:p>
        </p:txBody>
      </p:sp>
      <p:sp>
        <p:nvSpPr>
          <p:cNvPr id="67" name="Setup 67"/>
          <p:cNvSpPr txBox="1"/>
          <p:nvPr/>
        </p:nvSpPr>
        <p:spPr>
          <a:xfrm>
            <a:off x="7944104" y="1854200"/>
            <a:ext cx="920496" cy="279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</a:rPr>
              <a:t>&lt;0.001 ***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85FC68-FBB9-3890-F085-A4D1B048436E}"/>
              </a:ext>
            </a:extLst>
          </p:cNvPr>
          <p:cNvSpPr txBox="1"/>
          <p:nvPr/>
        </p:nvSpPr>
        <p:spPr>
          <a:xfrm>
            <a:off x="302986" y="3671613"/>
            <a:ext cx="4579748" cy="548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400" b="1" dirty="0">
                <a:solidFill>
                  <a:srgbClr val="54A24B"/>
                </a:solidFill>
                <a:latin typeface="Calibri" pitchFamily="34" charset="0"/>
              </a:rPr>
              <a:t>Answer: B.</a:t>
            </a:r>
          </a:p>
          <a:p>
            <a:pPr marL="0" indent="0">
              <a:buNone/>
            </a:pPr>
            <a:r>
              <a:rPr lang="en-US" sz="1400" i="1" dirty="0">
                <a:solidFill>
                  <a:srgbClr val="6B7B8A"/>
                </a:solidFill>
                <a:latin typeface="Calibri" pitchFamily="34" charset="0"/>
              </a:rPr>
              <a:t>A drops the intercept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CB32FE-6298-6415-351A-3A7BFB893299}"/>
              </a:ext>
            </a:extLst>
          </p:cNvPr>
          <p:cNvSpPr txBox="1"/>
          <p:nvPr/>
        </p:nvSpPr>
        <p:spPr>
          <a:xfrm>
            <a:off x="4578350" y="4135935"/>
            <a:ext cx="4579748" cy="76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400" b="1" dirty="0">
                <a:solidFill>
                  <a:srgbClr val="54A24B"/>
                </a:solidFill>
                <a:latin typeface="Calibri" pitchFamily="34" charset="0"/>
              </a:rPr>
              <a:t>Answer: B.</a:t>
            </a:r>
          </a:p>
          <a:p>
            <a:pPr marL="0" indent="0">
              <a:buNone/>
            </a:pPr>
            <a:r>
              <a:rPr lang="en-US" sz="1400" i="1" dirty="0">
                <a:solidFill>
                  <a:srgbClr val="6B7B8A"/>
                </a:solidFill>
                <a:latin typeface="Calibri" pitchFamily="34" charset="0"/>
              </a:rPr>
              <a:t>A compares raw </a:t>
            </a:r>
            <a:r>
              <a:rPr lang="en-US" sz="1400" i="1" dirty="0" err="1">
                <a:solidFill>
                  <a:srgbClr val="6B7B8A"/>
                </a:solidFill>
                <a:latin typeface="Calibri" pitchFamily="34" charset="0"/>
              </a:rPr>
              <a:t>coefs</a:t>
            </a:r>
            <a:r>
              <a:rPr lang="en-US" sz="1400" i="1" dirty="0">
                <a:solidFill>
                  <a:srgbClr val="6B7B8A"/>
                </a:solidFill>
                <a:latin typeface="Calibri" pitchFamily="34" charset="0"/>
              </a:rPr>
              <a:t> across different units (years vs. severity points). </a:t>
            </a:r>
          </a:p>
        </p:txBody>
      </p:sp>
    </p:spTree>
    <p:extLst>
      <p:ext uri="{BB962C8B-B14F-4D97-AF65-F5344CB8AC3E}">
        <p14:creationId xmlns:p14="http://schemas.microsoft.com/office/powerpoint/2010/main" val="1575665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01" grpId="0" animBg="1"/>
      <p:bldP spid="102" grpId="0" animBg="1"/>
      <p:bldP spid="103" grpId="0" animBg="1"/>
      <p:bldP spid="6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66700" y="101600"/>
            <a:ext cx="8623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notation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PREDICTOR  (recap)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 =  b₀  +  b₁·x  +  ε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intercept, one slope, one predictor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8138160" cy="0"/>
          </a:xfrm>
          <a:prstGeom prst="line">
            <a:avLst/>
          </a:prstGeom>
          <a:noFill/>
          <a:ln w="12700">
            <a:solidFill>
              <a:srgbClr val="D0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PREDICTORS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468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 =  b₀  +  b₁·x₁  +  b₂·x₂  +  ε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intercept, one slope per predictor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HANDWASHING STUDY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657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sick_days  =  b₀  +  b₁·washes  +  b₂·kids  +  ε</a:t>
            </a:r>
            <a:endParaRPr lang="en-US" sz="1900" dirty="0"/>
          </a:p>
        </p:txBody>
      </p:sp>
      <p:cxnSp>
        <p:nvCxnSpPr>
          <p:cNvPr id="15" name="TitleDash">
            <a:extLst>
              <a:ext uri="{FF2B5EF4-FFF2-40B4-BE49-F238E27FC236}">
                <a16:creationId xmlns:a16="http://schemas.microsoft.com/office/drawing/2014/main" id="{341ED433-B7C8-F443-B2E3-DF8DA42C2F65}"/>
              </a:ext>
            </a:extLst>
          </p:cNvPr>
          <p:cNvCxnSpPr/>
          <p:nvPr/>
        </p:nvCxnSpPr>
        <p:spPr>
          <a:xfrm>
            <a:off x="279400" y="558800"/>
            <a:ext cx="355600" cy="0"/>
          </a:xfrm>
          <a:prstGeom prst="straightConnector1">
            <a:avLst/>
          </a:prstGeom>
          <a:ln w="38100" cap="flat" cmpd="sng" algn="ctr">
            <a:solidFill>
              <a:srgbClr val="1E506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274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66700" y="101600"/>
            <a:ext cx="8623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061"/>
                </a:solidFill>
                <a:latin typeface="Calibri" pitchFamily="34" charset="0"/>
              </a:rPr>
              <a:t>Practice  |  Reading the R output</a:t>
            </a:r>
          </a:p>
        </p:txBody>
      </p:sp>
      <p:cxnSp>
        <p:nvCxnSpPr>
          <p:cNvPr id="16" name="TitleDash">
            <a:extLst>
              <a:ext uri="{FF2B5EF4-FFF2-40B4-BE49-F238E27FC236}">
                <a16:creationId xmlns:a16="http://schemas.microsoft.com/office/drawing/2014/main" id="{C8B8BF2F-58AD-2C49-B724-94327200BF15}"/>
              </a:ext>
            </a:extLst>
          </p:cNvPr>
          <p:cNvCxnSpPr/>
          <p:nvPr/>
        </p:nvCxnSpPr>
        <p:spPr>
          <a:xfrm>
            <a:off x="279400" y="558800"/>
            <a:ext cx="355600" cy="0"/>
          </a:xfrm>
          <a:prstGeom prst="straightConnector1">
            <a:avLst/>
          </a:prstGeom>
          <a:ln w="38100" cap="flat" cmpd="sng" algn="ctr">
            <a:solidFill>
              <a:srgbClr val="1E506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QSh 100"/>
          <p:cNvSpPr txBox="1"/>
          <p:nvPr/>
        </p:nvSpPr>
        <p:spPr>
          <a:xfrm>
            <a:off x="4624614" y="2328740"/>
            <a:ext cx="4216400" cy="381000"/>
          </a:xfrm>
          <a:prstGeom prst="rect">
            <a:avLst/>
          </a:prstGeom>
          <a:solidFill>
            <a:srgbClr val="1F5061"/>
          </a:solidFill>
          <a:ln>
            <a:noFill/>
          </a:ln>
        </p:spPr>
        <p:txBody>
          <a:bodyPr wrap="square" lIns="137160" tIns="36000" rIns="91440" bIns="3600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</a:rPr>
              <a:t>EXTRA YEAR OF EXPERIENCE</a:t>
            </a:r>
          </a:p>
        </p:txBody>
      </p:sp>
      <p:sp>
        <p:nvSpPr>
          <p:cNvPr id="101" name="QSh 101"/>
          <p:cNvSpPr txBox="1"/>
          <p:nvPr/>
        </p:nvSpPr>
        <p:spPr>
          <a:xfrm>
            <a:off x="4624614" y="2709741"/>
            <a:ext cx="4216400" cy="1381184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</a:ln>
        </p:spPr>
        <p:txBody>
          <a:bodyPr wrap="square" lIns="137160" tIns="81000" rIns="137160" bIns="8100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5061"/>
                </a:solidFill>
                <a:latin typeface="Calibri" pitchFamily="34" charset="0"/>
              </a:rPr>
              <a:t>For two people with the same education but differing by one year of experience,  which slope term in the equation is most informative?</a:t>
            </a:r>
          </a:p>
          <a:p>
            <a:pPr marL="228600" indent="-228600">
              <a:spcAft>
                <a:spcPts val="400"/>
              </a:spcAft>
              <a:buAutoNum type="alphaUcParenR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</a:rPr>
              <a:t>1.820·exp </a:t>
            </a:r>
          </a:p>
          <a:p>
            <a:pPr marL="228600" indent="-228600">
              <a:spcAft>
                <a:spcPts val="400"/>
              </a:spcAft>
              <a:buFontTx/>
              <a:buAutoNum type="alphaUcParenR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</a:rPr>
              <a:t>3.260·edu</a:t>
            </a:r>
          </a:p>
        </p:txBody>
      </p:sp>
      <p:sp>
        <p:nvSpPr>
          <p:cNvPr id="102" name="QSh 102"/>
          <p:cNvSpPr txBox="1"/>
          <p:nvPr/>
        </p:nvSpPr>
        <p:spPr>
          <a:xfrm>
            <a:off x="266700" y="2328740"/>
            <a:ext cx="4216400" cy="381000"/>
          </a:xfrm>
          <a:prstGeom prst="rect">
            <a:avLst/>
          </a:prstGeom>
          <a:solidFill>
            <a:srgbClr val="1F5061"/>
          </a:solidFill>
          <a:ln>
            <a:noFill/>
          </a:ln>
        </p:spPr>
        <p:txBody>
          <a:bodyPr wrap="square" lIns="137160" tIns="36000" rIns="91440" bIns="36000" anchor="ctr"/>
          <a:lstStyle>
            <a:lvl1pPr indent="0">
              <a:buNone/>
              <a:defRPr sz="1300" b="1" kern="0" spc="200">
                <a:solidFill>
                  <a:srgbClr val="FFFFFF"/>
                </a:solidFill>
                <a:latin typeface="Calibri" pitchFamily="34" charset="0"/>
              </a:defRPr>
            </a:lvl1pPr>
          </a:lstStyle>
          <a:p>
            <a:pPr marL="0" indent="0" algn="l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</a:rPr>
              <a:t>THE MODEL EQUATION</a:t>
            </a:r>
          </a:p>
        </p:txBody>
      </p:sp>
      <p:sp>
        <p:nvSpPr>
          <p:cNvPr id="103" name="QSh 103"/>
          <p:cNvSpPr txBox="1"/>
          <p:nvPr/>
        </p:nvSpPr>
        <p:spPr>
          <a:xfrm>
            <a:off x="266700" y="2709740"/>
            <a:ext cx="4216400" cy="916863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</a:ln>
        </p:spPr>
        <p:txBody>
          <a:bodyPr wrap="square" lIns="137160" tIns="81000" rIns="137160" bIns="8100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5061"/>
                </a:solidFill>
                <a:latin typeface="Calibri" pitchFamily="34" charset="0"/>
              </a:rPr>
              <a:t>Which equation is the fitted model?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</a:rPr>
              <a:t>A)  salary = 1.820·exp + 3.260·edu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</a:rPr>
              <a:t>B)  salary = 28.450 + 1.820·exp + 3.260·edu</a:t>
            </a:r>
          </a:p>
        </p:txBody>
      </p:sp>
      <p:sp>
        <p:nvSpPr>
          <p:cNvPr id="50" name="Setup 50"/>
          <p:cNvSpPr txBox="1"/>
          <p:nvPr/>
        </p:nvSpPr>
        <p:spPr>
          <a:xfrm>
            <a:off x="279400" y="736600"/>
            <a:ext cx="4572000" cy="14605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3"/>
            </a:solidFill>
          </a:ln>
        </p:spPr>
        <p:txBody>
          <a:bodyPr wrap="square" lIns="91440" tIns="36000" rIns="91440" bIns="3600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kern="0" spc="200" dirty="0">
                <a:solidFill>
                  <a:srgbClr val="1F5061"/>
                </a:solidFill>
                <a:latin typeface="Calibri" pitchFamily="34" charset="0"/>
              </a:rPr>
              <a:t>THE SETUP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</a:rPr>
              <a:t>A consultancy fits a model predicting employee salary (in $1000s) from years of experience and years of post-secondary education, n = 312 employees.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onsolas" pitchFamily="34" charset="0"/>
              </a:rPr>
              <a:t>lm(salary ~ exp + </a:t>
            </a:r>
            <a:r>
              <a:rPr lang="en-US" sz="1150" dirty="0" err="1">
                <a:solidFill>
                  <a:srgbClr val="2C3E50"/>
                </a:solidFill>
                <a:latin typeface="Consolas" pitchFamily="34" charset="0"/>
              </a:rPr>
              <a:t>edu</a:t>
            </a:r>
            <a:r>
              <a:rPr lang="en-US" sz="1150" dirty="0">
                <a:solidFill>
                  <a:srgbClr val="2C3E50"/>
                </a:solidFill>
                <a:latin typeface="Consolas" pitchFamily="34" charset="0"/>
              </a:rPr>
              <a:t>, data = staff)</a:t>
            </a:r>
          </a:p>
        </p:txBody>
      </p:sp>
      <p:sp>
        <p:nvSpPr>
          <p:cNvPr id="51" name="Setup 51"/>
          <p:cNvSpPr txBox="1"/>
          <p:nvPr/>
        </p:nvSpPr>
        <p:spPr>
          <a:xfrm>
            <a:off x="5029200" y="736600"/>
            <a:ext cx="38354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18000" rIns="91440" bIns="1800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5061"/>
                </a:solidFill>
                <a:latin typeface="Calibri" pitchFamily="34" charset="0"/>
              </a:rPr>
              <a:t>THE OUTPUT</a:t>
            </a:r>
          </a:p>
        </p:txBody>
      </p:sp>
      <p:sp>
        <p:nvSpPr>
          <p:cNvPr id="52" name="Setup 52"/>
          <p:cNvSpPr txBox="1"/>
          <p:nvPr/>
        </p:nvSpPr>
        <p:spPr>
          <a:xfrm>
            <a:off x="5029200" y="1016000"/>
            <a:ext cx="1227328" cy="279400"/>
          </a:xfrm>
          <a:prstGeom prst="rect">
            <a:avLst/>
          </a:prstGeom>
          <a:solidFill>
            <a:srgbClr val="1F5061"/>
          </a:solidFill>
          <a:ln>
            <a:noFill/>
          </a:ln>
        </p:spPr>
        <p:txBody>
          <a:bodyPr wrap="square" lIns="54000" tIns="18000" rIns="54000" bIns="1800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term</a:t>
            </a:r>
          </a:p>
        </p:txBody>
      </p:sp>
      <p:sp>
        <p:nvSpPr>
          <p:cNvPr id="53" name="Setup 53"/>
          <p:cNvSpPr txBox="1"/>
          <p:nvPr/>
        </p:nvSpPr>
        <p:spPr>
          <a:xfrm>
            <a:off x="6256528" y="1016000"/>
            <a:ext cx="920496" cy="279400"/>
          </a:xfrm>
          <a:prstGeom prst="rect">
            <a:avLst/>
          </a:prstGeom>
          <a:solidFill>
            <a:srgbClr val="1F5061"/>
          </a:solidFill>
          <a:ln>
            <a:noFill/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estimate</a:t>
            </a:r>
          </a:p>
        </p:txBody>
      </p:sp>
      <p:sp>
        <p:nvSpPr>
          <p:cNvPr id="54" name="Setup 54"/>
          <p:cNvSpPr txBox="1"/>
          <p:nvPr/>
        </p:nvSpPr>
        <p:spPr>
          <a:xfrm>
            <a:off x="7177024" y="1016000"/>
            <a:ext cx="767080" cy="279400"/>
          </a:xfrm>
          <a:prstGeom prst="rect">
            <a:avLst/>
          </a:prstGeom>
          <a:solidFill>
            <a:srgbClr val="1F5061"/>
          </a:solidFill>
          <a:ln>
            <a:noFill/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SE</a:t>
            </a:r>
          </a:p>
        </p:txBody>
      </p:sp>
      <p:sp>
        <p:nvSpPr>
          <p:cNvPr id="55" name="Setup 55"/>
          <p:cNvSpPr txBox="1"/>
          <p:nvPr/>
        </p:nvSpPr>
        <p:spPr>
          <a:xfrm>
            <a:off x="7944104" y="1016000"/>
            <a:ext cx="920496" cy="279400"/>
          </a:xfrm>
          <a:prstGeom prst="rect">
            <a:avLst/>
          </a:prstGeom>
          <a:solidFill>
            <a:srgbClr val="1F5061"/>
          </a:solidFill>
          <a:ln>
            <a:noFill/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p</a:t>
            </a:r>
          </a:p>
        </p:txBody>
      </p:sp>
      <p:sp>
        <p:nvSpPr>
          <p:cNvPr id="56" name="Setup 56"/>
          <p:cNvSpPr txBox="1"/>
          <p:nvPr/>
        </p:nvSpPr>
        <p:spPr>
          <a:xfrm>
            <a:off x="5029200" y="1295400"/>
            <a:ext cx="1227328" cy="279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</a:rPr>
              <a:t>(Intercept)</a:t>
            </a:r>
          </a:p>
        </p:txBody>
      </p:sp>
      <p:sp>
        <p:nvSpPr>
          <p:cNvPr id="57" name="Setup 57"/>
          <p:cNvSpPr txBox="1"/>
          <p:nvPr/>
        </p:nvSpPr>
        <p:spPr>
          <a:xfrm>
            <a:off x="6256528" y="1295400"/>
            <a:ext cx="920496" cy="279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</a:rPr>
              <a:t>28.450</a:t>
            </a:r>
          </a:p>
        </p:txBody>
      </p:sp>
      <p:sp>
        <p:nvSpPr>
          <p:cNvPr id="58" name="Setup 58"/>
          <p:cNvSpPr txBox="1"/>
          <p:nvPr/>
        </p:nvSpPr>
        <p:spPr>
          <a:xfrm>
            <a:off x="7177024" y="1295400"/>
            <a:ext cx="767080" cy="279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</a:rPr>
              <a:t>2.134</a:t>
            </a:r>
          </a:p>
        </p:txBody>
      </p:sp>
      <p:sp>
        <p:nvSpPr>
          <p:cNvPr id="59" name="Setup 59"/>
          <p:cNvSpPr txBox="1"/>
          <p:nvPr/>
        </p:nvSpPr>
        <p:spPr>
          <a:xfrm>
            <a:off x="7944104" y="1295400"/>
            <a:ext cx="920496" cy="279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</a:rPr>
              <a:t>&lt;0.001 ***</a:t>
            </a:r>
          </a:p>
        </p:txBody>
      </p:sp>
      <p:sp>
        <p:nvSpPr>
          <p:cNvPr id="60" name="Setup 60"/>
          <p:cNvSpPr txBox="1"/>
          <p:nvPr/>
        </p:nvSpPr>
        <p:spPr>
          <a:xfrm>
            <a:off x="5029200" y="1574800"/>
            <a:ext cx="1227328" cy="279400"/>
          </a:xfrm>
          <a:prstGeom prst="rect">
            <a:avLst/>
          </a:prstGeom>
          <a:solidFill>
            <a:srgbClr val="F4F7F9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</a:rPr>
              <a:t>exp</a:t>
            </a:r>
          </a:p>
        </p:txBody>
      </p:sp>
      <p:sp>
        <p:nvSpPr>
          <p:cNvPr id="61" name="Setup 61"/>
          <p:cNvSpPr txBox="1"/>
          <p:nvPr/>
        </p:nvSpPr>
        <p:spPr>
          <a:xfrm>
            <a:off x="6256528" y="1574800"/>
            <a:ext cx="920496" cy="279400"/>
          </a:xfrm>
          <a:prstGeom prst="rect">
            <a:avLst/>
          </a:prstGeom>
          <a:solidFill>
            <a:srgbClr val="F4F7F9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</a:rPr>
              <a:t>1.820</a:t>
            </a:r>
          </a:p>
        </p:txBody>
      </p:sp>
      <p:sp>
        <p:nvSpPr>
          <p:cNvPr id="62" name="Setup 62"/>
          <p:cNvSpPr txBox="1"/>
          <p:nvPr/>
        </p:nvSpPr>
        <p:spPr>
          <a:xfrm>
            <a:off x="7177024" y="1574800"/>
            <a:ext cx="767080" cy="279400"/>
          </a:xfrm>
          <a:prstGeom prst="rect">
            <a:avLst/>
          </a:prstGeom>
          <a:solidFill>
            <a:srgbClr val="F4F7F9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</a:rPr>
              <a:t>0.310</a:t>
            </a:r>
          </a:p>
        </p:txBody>
      </p:sp>
      <p:sp>
        <p:nvSpPr>
          <p:cNvPr id="63" name="Setup 63"/>
          <p:cNvSpPr txBox="1"/>
          <p:nvPr/>
        </p:nvSpPr>
        <p:spPr>
          <a:xfrm>
            <a:off x="7944104" y="1574800"/>
            <a:ext cx="920496" cy="279400"/>
          </a:xfrm>
          <a:prstGeom prst="rect">
            <a:avLst/>
          </a:prstGeom>
          <a:solidFill>
            <a:srgbClr val="F4F7F9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</a:rPr>
              <a:t>&lt;0.001 ***</a:t>
            </a:r>
          </a:p>
        </p:txBody>
      </p:sp>
      <p:sp>
        <p:nvSpPr>
          <p:cNvPr id="64" name="Setup 64"/>
          <p:cNvSpPr txBox="1"/>
          <p:nvPr/>
        </p:nvSpPr>
        <p:spPr>
          <a:xfrm>
            <a:off x="5029200" y="1854200"/>
            <a:ext cx="1227328" cy="279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r>
              <a:rPr lang="en-US" sz="1050" dirty="0" err="1">
                <a:solidFill>
                  <a:srgbClr val="2C3E50"/>
                </a:solidFill>
                <a:latin typeface="Consolas" pitchFamily="34" charset="0"/>
              </a:rPr>
              <a:t>edu</a:t>
            </a:r>
            <a:endParaRPr lang="en-US" sz="1050" dirty="0">
              <a:solidFill>
                <a:srgbClr val="2C3E50"/>
              </a:solidFill>
              <a:latin typeface="Calibri" pitchFamily="34" charset="0"/>
            </a:endParaRPr>
          </a:p>
        </p:txBody>
      </p:sp>
      <p:sp>
        <p:nvSpPr>
          <p:cNvPr id="65" name="Setup 65"/>
          <p:cNvSpPr txBox="1"/>
          <p:nvPr/>
        </p:nvSpPr>
        <p:spPr>
          <a:xfrm>
            <a:off x="6256528" y="1854200"/>
            <a:ext cx="920496" cy="279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</a:rPr>
              <a:t>3.260</a:t>
            </a:r>
          </a:p>
        </p:txBody>
      </p:sp>
      <p:sp>
        <p:nvSpPr>
          <p:cNvPr id="66" name="Setup 66"/>
          <p:cNvSpPr txBox="1"/>
          <p:nvPr/>
        </p:nvSpPr>
        <p:spPr>
          <a:xfrm>
            <a:off x="7177024" y="1854200"/>
            <a:ext cx="767080" cy="279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</a:rPr>
              <a:t>0.482</a:t>
            </a:r>
          </a:p>
        </p:txBody>
      </p:sp>
      <p:sp>
        <p:nvSpPr>
          <p:cNvPr id="67" name="Setup 67"/>
          <p:cNvSpPr txBox="1"/>
          <p:nvPr/>
        </p:nvSpPr>
        <p:spPr>
          <a:xfrm>
            <a:off x="7944104" y="1854200"/>
            <a:ext cx="920496" cy="279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</a:rPr>
              <a:t>&lt;0.001 ***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85FC68-FBB9-3890-F085-A4D1B048436E}"/>
              </a:ext>
            </a:extLst>
          </p:cNvPr>
          <p:cNvSpPr txBox="1"/>
          <p:nvPr/>
        </p:nvSpPr>
        <p:spPr>
          <a:xfrm>
            <a:off x="302986" y="3671613"/>
            <a:ext cx="4579748" cy="548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400" b="1" dirty="0">
                <a:solidFill>
                  <a:srgbClr val="54A24B"/>
                </a:solidFill>
                <a:latin typeface="Calibri" pitchFamily="34" charset="0"/>
              </a:rPr>
              <a:t>Answer: B.</a:t>
            </a:r>
          </a:p>
          <a:p>
            <a:pPr marL="0" indent="0">
              <a:buNone/>
            </a:pPr>
            <a:r>
              <a:rPr lang="en-US" sz="1400" i="1" dirty="0">
                <a:solidFill>
                  <a:srgbClr val="6B7B8A"/>
                </a:solidFill>
                <a:latin typeface="Calibri" pitchFamily="34" charset="0"/>
              </a:rPr>
              <a:t>A drops the intercept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CB32FE-6298-6415-351A-3A7BFB893299}"/>
              </a:ext>
            </a:extLst>
          </p:cNvPr>
          <p:cNvSpPr txBox="1"/>
          <p:nvPr/>
        </p:nvSpPr>
        <p:spPr>
          <a:xfrm>
            <a:off x="4578350" y="4135935"/>
            <a:ext cx="4579748" cy="548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400" b="1" dirty="0">
                <a:solidFill>
                  <a:srgbClr val="54A24B"/>
                </a:solidFill>
                <a:latin typeface="Calibri" pitchFamily="34" charset="0"/>
              </a:rPr>
              <a:t>Answer: A.</a:t>
            </a:r>
          </a:p>
          <a:p>
            <a:pPr marL="0" indent="0">
              <a:buNone/>
            </a:pPr>
            <a:r>
              <a:rPr lang="en-US" sz="1400" i="1" dirty="0">
                <a:solidFill>
                  <a:srgbClr val="6B7B8A"/>
                </a:solidFill>
                <a:latin typeface="Calibri" pitchFamily="34" charset="0"/>
              </a:rPr>
              <a:t>The exp slope is 1.820 ($1000s), holding education fixed.</a:t>
            </a:r>
          </a:p>
        </p:txBody>
      </p:sp>
    </p:spTree>
    <p:extLst>
      <p:ext uri="{BB962C8B-B14F-4D97-AF65-F5344CB8AC3E}">
        <p14:creationId xmlns:p14="http://schemas.microsoft.com/office/powerpoint/2010/main" val="3587355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01" grpId="0" animBg="1"/>
      <p:bldP spid="102" grpId="0" animBg="1"/>
      <p:bldP spid="103" grpId="0" animBg="1"/>
      <p:bldP spid="6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DD405-6C14-D7EC-4643-387CF1AC3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F855544-EB56-A6CD-8A96-84D0B95670AB}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FF868DE-0B29-407A-BD83-11AD072623B6}"/>
              </a:ext>
            </a:extLst>
          </p:cNvPr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3FF4E5E-B7B8-E6B4-336B-4AB0365C296B}"/>
              </a:ext>
            </a:extLst>
          </p:cNvPr>
          <p:cNvSpPr/>
          <p:nvPr/>
        </p:nvSpPr>
        <p:spPr>
          <a:xfrm>
            <a:off x="266700" y="101600"/>
            <a:ext cx="8623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of two-predictor linear regression as fitting a plane</a:t>
            </a:r>
            <a:endParaRPr lang="en-US" sz="2000" dirty="0"/>
          </a:p>
        </p:txBody>
      </p:sp>
      <p:cxnSp>
        <p:nvCxnSpPr>
          <p:cNvPr id="16" name="TitleDash">
            <a:extLst>
              <a:ext uri="{FF2B5EF4-FFF2-40B4-BE49-F238E27FC236}">
                <a16:creationId xmlns:a16="http://schemas.microsoft.com/office/drawing/2014/main" id="{D566771E-B86F-8B4E-3F85-B1746EE0F5EB}"/>
              </a:ext>
            </a:extLst>
          </p:cNvPr>
          <p:cNvCxnSpPr/>
          <p:nvPr/>
        </p:nvCxnSpPr>
        <p:spPr>
          <a:xfrm>
            <a:off x="279400" y="558800"/>
            <a:ext cx="355600" cy="0"/>
          </a:xfrm>
          <a:prstGeom prst="straightConnector1">
            <a:avLst/>
          </a:prstGeom>
          <a:ln w="38100" cap="flat" cmpd="sng" algn="ctr">
            <a:solidFill>
              <a:srgbClr val="1E506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EAB8BCF-BCBB-A17B-5EF2-D922F3DF25F8}"/>
              </a:ext>
            </a:extLst>
          </p:cNvPr>
          <p:cNvCxnSpPr>
            <a:cxnSpLocks/>
          </p:cNvCxnSpPr>
          <p:nvPr/>
        </p:nvCxnSpPr>
        <p:spPr>
          <a:xfrm>
            <a:off x="4631284" y="604520"/>
            <a:ext cx="0" cy="4361285"/>
          </a:xfrm>
          <a:prstGeom prst="line">
            <a:avLst/>
          </a:prstGeom>
          <a:ln w="19050">
            <a:solidFill>
              <a:srgbClr val="1E5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4">
            <a:extLst>
              <a:ext uri="{FF2B5EF4-FFF2-40B4-BE49-F238E27FC236}">
                <a16:creationId xmlns:a16="http://schemas.microsoft.com/office/drawing/2014/main" id="{CDEC95F4-FDA4-53E1-8541-805E75149247}"/>
              </a:ext>
            </a:extLst>
          </p:cNvPr>
          <p:cNvSpPr/>
          <p:nvPr/>
        </p:nvSpPr>
        <p:spPr>
          <a:xfrm>
            <a:off x="259087" y="857831"/>
            <a:ext cx="4312913" cy="3904341"/>
          </a:xfrm>
          <a:prstGeom prst="rect">
            <a:avLst/>
          </a:prstGeom>
          <a:solidFill>
            <a:srgbClr val="C4DEDA">
              <a:alpha val="29804"/>
            </a:srgbClr>
          </a:solidFill>
          <a:ln/>
        </p:spPr>
        <p:txBody>
          <a:bodyPr wrap="square" lIns="36000" tIns="36000" rIns="36000" bIns="36000" rtlCol="0" anchor="ctr"/>
          <a:lstStyle/>
          <a:p>
            <a:pPr algn="l" latinLnBrk="1">
              <a:spcAft>
                <a:spcPts val="750"/>
              </a:spcAft>
              <a:buNone/>
            </a:pPr>
            <a:r>
              <a:rPr lang="en-GB" sz="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washes_seq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&lt;- </a:t>
            </a:r>
            <a:r>
              <a:rPr lang="en-GB" sz="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seq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800" b="0" i="0" dirty="0">
                <a:solidFill>
                  <a:srgbClr val="00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800" b="0" i="0" dirty="0">
                <a:solidFill>
                  <a:srgbClr val="00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length.out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800" b="0" i="0" dirty="0">
                <a:solidFill>
                  <a:srgbClr val="00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25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l" latinLnBrk="1">
              <a:spcAft>
                <a:spcPts val="750"/>
              </a:spcAft>
              <a:buNone/>
            </a:pPr>
            <a:r>
              <a:rPr lang="en-GB" sz="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kids_seq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&lt;- </a:t>
            </a:r>
            <a:r>
              <a:rPr lang="en-GB" sz="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seq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800" b="0" i="0" dirty="0">
                <a:solidFill>
                  <a:srgbClr val="00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800" b="0" i="0" dirty="0">
                <a:solidFill>
                  <a:srgbClr val="00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 </a:t>
            </a:r>
            <a:r>
              <a:rPr lang="en-GB" sz="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length.out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800" b="0" i="0" dirty="0">
                <a:solidFill>
                  <a:srgbClr val="00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25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l" latinLnBrk="1">
              <a:spcAft>
                <a:spcPts val="750"/>
              </a:spcAft>
              <a:buNone/>
            </a:pPr>
            <a:endParaRPr lang="en-GB" sz="800" b="0" i="0" dirty="0">
              <a:solidFill>
                <a:srgbClr val="333333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latinLnBrk="1">
              <a:spcAft>
                <a:spcPts val="750"/>
              </a:spcAft>
              <a:buNone/>
            </a:pP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grid &lt;- </a:t>
            </a:r>
            <a:r>
              <a:rPr lang="en-GB" sz="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expand.grid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(washes = </a:t>
            </a:r>
            <a:r>
              <a:rPr lang="en-GB" sz="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washes_seq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kids = </a:t>
            </a:r>
            <a:r>
              <a:rPr lang="en-GB" sz="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kids_seq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l" latinLnBrk="1">
              <a:spcAft>
                <a:spcPts val="750"/>
              </a:spcAft>
              <a:buNone/>
            </a:pPr>
            <a:r>
              <a:rPr lang="en-GB" sz="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grid$pred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&lt;- predict(mod2, </a:t>
            </a:r>
            <a:r>
              <a:rPr lang="en-GB" sz="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newdata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grid)</a:t>
            </a:r>
          </a:p>
          <a:p>
            <a:pPr algn="l" latinLnBrk="1">
              <a:spcAft>
                <a:spcPts val="750"/>
              </a:spcAft>
              <a:buNone/>
            </a:pPr>
            <a:endParaRPr lang="en-GB" sz="800" b="0" i="0" dirty="0">
              <a:solidFill>
                <a:srgbClr val="333333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latinLnBrk="1">
              <a:spcAft>
                <a:spcPts val="750"/>
              </a:spcAft>
              <a:buNone/>
            </a:pPr>
            <a:r>
              <a:rPr lang="en-GB" sz="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z_mat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&lt;- matrix(</a:t>
            </a:r>
            <a:r>
              <a:rPr lang="en-GB" sz="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grid$pred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algn="l" latinLnBrk="1">
              <a:spcAft>
                <a:spcPts val="750"/>
              </a:spcAft>
              <a:buNone/>
            </a:pP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GB" sz="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nrow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length(</a:t>
            </a:r>
            <a:r>
              <a:rPr lang="en-GB" sz="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washes_seq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pPr algn="l" latinLnBrk="1">
              <a:spcAft>
                <a:spcPts val="750"/>
              </a:spcAft>
              <a:buNone/>
            </a:pP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GB" sz="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ncol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length(</a:t>
            </a:r>
            <a:r>
              <a:rPr lang="en-GB" sz="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kids_seq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)) |&gt; t()</a:t>
            </a:r>
          </a:p>
          <a:p>
            <a:pPr algn="l" latinLnBrk="1">
              <a:spcAft>
                <a:spcPts val="750"/>
              </a:spcAft>
              <a:buNone/>
            </a:pPr>
            <a:endParaRPr lang="en-GB" sz="800" b="0" i="0" dirty="0">
              <a:solidFill>
                <a:srgbClr val="333333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latinLnBrk="1">
              <a:spcAft>
                <a:spcPts val="750"/>
              </a:spcAft>
              <a:buNone/>
            </a:pPr>
            <a:r>
              <a:rPr lang="en-GB" sz="800" b="0" i="1" dirty="0">
                <a:solidFill>
                  <a:srgbClr val="9999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 shared axis styling: no wall, no spikes, no grid</a:t>
            </a:r>
            <a:endParaRPr lang="en-GB" sz="800" b="0" i="0" dirty="0">
              <a:solidFill>
                <a:srgbClr val="333333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latinLnBrk="1">
              <a:spcAft>
                <a:spcPts val="750"/>
              </a:spcAft>
              <a:buNone/>
            </a:pPr>
            <a:r>
              <a:rPr lang="en-GB" sz="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ax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&lt;- list(</a:t>
            </a:r>
            <a:r>
              <a:rPr lang="en-GB" sz="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showspikes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= </a:t>
            </a:r>
            <a:r>
              <a:rPr lang="en-GB" sz="800" b="0" i="0" dirty="0">
                <a:solidFill>
                  <a:srgbClr val="99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algn="l" latinLnBrk="1">
              <a:spcAft>
                <a:spcPts val="750"/>
              </a:spcAft>
              <a:buNone/>
            </a:pP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en-GB" sz="8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zeroline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= </a:t>
            </a:r>
            <a:r>
              <a:rPr lang="en-GB" sz="800" b="0" i="0" dirty="0">
                <a:solidFill>
                  <a:srgbClr val="99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GB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9B95A46A-4B22-DC13-A57D-6182980E25F6}"/>
              </a:ext>
            </a:extLst>
          </p:cNvPr>
          <p:cNvSpPr/>
          <p:nvPr/>
        </p:nvSpPr>
        <p:spPr>
          <a:xfrm>
            <a:off x="4707485" y="857831"/>
            <a:ext cx="4448398" cy="3904341"/>
          </a:xfrm>
          <a:prstGeom prst="rect">
            <a:avLst/>
          </a:prstGeom>
          <a:solidFill>
            <a:srgbClr val="C4DEDA">
              <a:alpha val="29804"/>
            </a:srgbClr>
          </a:solidFill>
          <a:ln/>
        </p:spPr>
        <p:txBody>
          <a:bodyPr wrap="square" lIns="36000" tIns="36000" rIns="36000" bIns="36000" rtlCol="0" anchor="ctr"/>
          <a:lstStyle/>
          <a:p>
            <a:pPr algn="l" latinLnBrk="1">
              <a:spcAft>
                <a:spcPts val="750"/>
              </a:spcAft>
              <a:buNone/>
            </a:pPr>
            <a:r>
              <a:rPr lang="en-GB" sz="80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plot_ly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|&gt;</a:t>
            </a:r>
          </a:p>
          <a:p>
            <a:pPr algn="l" latinLnBrk="1">
              <a:spcAft>
                <a:spcPts val="750"/>
              </a:spcAft>
              <a:buNone/>
            </a:pP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80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add_markers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 algn="l" latinLnBrk="1">
              <a:spcAft>
                <a:spcPts val="750"/>
              </a:spcAft>
              <a:buNone/>
            </a:pP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data = </a:t>
            </a:r>
            <a:r>
              <a:rPr lang="en-GB" sz="80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x = ~washes, y = ~kids, z = ~</a:t>
            </a:r>
            <a:r>
              <a:rPr lang="en-GB" sz="80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sick_days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algn="l" latinLnBrk="1">
              <a:spcAft>
                <a:spcPts val="750"/>
              </a:spcAft>
              <a:buNone/>
            </a:pP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marker = list(size = </a:t>
            </a:r>
            <a:r>
              <a:rPr lang="en-GB" sz="800" i="0" dirty="0">
                <a:solidFill>
                  <a:srgbClr val="00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80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800" i="0" dirty="0">
                <a:solidFill>
                  <a:srgbClr val="DD114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"black"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pPr algn="l" latinLnBrk="1">
              <a:spcAft>
                <a:spcPts val="750"/>
              </a:spcAft>
              <a:buNone/>
            </a:pP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name = </a:t>
            </a:r>
            <a:r>
              <a:rPr lang="en-GB" sz="800" i="0" dirty="0">
                <a:solidFill>
                  <a:srgbClr val="DD114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"observed"</a:t>
            </a:r>
            <a:endParaRPr lang="en-GB" sz="800" i="0" dirty="0">
              <a:solidFill>
                <a:srgbClr val="333333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latinLnBrk="1">
              <a:spcAft>
                <a:spcPts val="750"/>
              </a:spcAft>
              <a:buNone/>
            </a:pP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) |&gt;</a:t>
            </a:r>
          </a:p>
          <a:p>
            <a:pPr algn="l" latinLnBrk="1">
              <a:spcAft>
                <a:spcPts val="750"/>
              </a:spcAft>
              <a:buNone/>
            </a:pP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80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add_surface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 algn="l" latinLnBrk="1">
              <a:spcAft>
                <a:spcPts val="750"/>
              </a:spcAft>
              <a:buNone/>
            </a:pP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x = </a:t>
            </a:r>
            <a:r>
              <a:rPr lang="en-GB" sz="80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washes_seq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y = </a:t>
            </a:r>
            <a:r>
              <a:rPr lang="en-GB" sz="80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kids_seq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z = </a:t>
            </a:r>
            <a:r>
              <a:rPr lang="en-GB" sz="80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z_mat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algn="l" latinLnBrk="1">
              <a:spcAft>
                <a:spcPts val="750"/>
              </a:spcAft>
              <a:buNone/>
            </a:pP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opacity = </a:t>
            </a:r>
            <a:r>
              <a:rPr lang="en-GB" sz="800" i="0" dirty="0">
                <a:solidFill>
                  <a:srgbClr val="00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0.5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80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showscale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800" i="0" dirty="0">
                <a:solidFill>
                  <a:srgbClr val="99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algn="l" latinLnBrk="1">
              <a:spcAft>
                <a:spcPts val="750"/>
              </a:spcAft>
              <a:buNone/>
            </a:pP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name = </a:t>
            </a:r>
            <a:r>
              <a:rPr lang="en-GB" sz="800" i="0" dirty="0">
                <a:solidFill>
                  <a:srgbClr val="DD114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"fitted plane"</a:t>
            </a:r>
            <a:endParaRPr lang="en-GB" sz="800" i="0" dirty="0">
              <a:solidFill>
                <a:srgbClr val="333333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latinLnBrk="1">
              <a:spcAft>
                <a:spcPts val="750"/>
              </a:spcAft>
              <a:buNone/>
            </a:pP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) |&gt;</a:t>
            </a:r>
          </a:p>
          <a:p>
            <a:pPr algn="l" latinLnBrk="1">
              <a:spcAft>
                <a:spcPts val="750"/>
              </a:spcAft>
              <a:buNone/>
            </a:pP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layout(scene = list(</a:t>
            </a:r>
          </a:p>
          <a:p>
            <a:pPr algn="l" latinLnBrk="1">
              <a:spcAft>
                <a:spcPts val="750"/>
              </a:spcAft>
              <a:buNone/>
            </a:pP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80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xaxis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80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modifyList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80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ax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list(title = </a:t>
            </a:r>
            <a:r>
              <a:rPr lang="en-GB" sz="800" i="0" dirty="0">
                <a:solidFill>
                  <a:srgbClr val="DD114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"washes"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   range = c(</a:t>
            </a:r>
            <a:r>
              <a:rPr lang="en-GB" sz="800" i="0" dirty="0">
                <a:solidFill>
                  <a:srgbClr val="00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800" i="0" dirty="0">
                <a:solidFill>
                  <a:srgbClr val="00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))),</a:t>
            </a:r>
          </a:p>
          <a:p>
            <a:pPr algn="l" latinLnBrk="1">
              <a:spcAft>
                <a:spcPts val="750"/>
              </a:spcAft>
              <a:buNone/>
            </a:pP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80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yaxis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80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modifyList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80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ax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list(title = </a:t>
            </a:r>
            <a:r>
              <a:rPr lang="en-GB" sz="800" i="0" dirty="0">
                <a:solidFill>
                  <a:srgbClr val="DD114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"kids"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     range = c(</a:t>
            </a:r>
            <a:r>
              <a:rPr lang="en-GB" sz="800" i="0" dirty="0">
                <a:solidFill>
                  <a:srgbClr val="00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800" i="0" dirty="0">
                <a:solidFill>
                  <a:srgbClr val="00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))),</a:t>
            </a:r>
          </a:p>
          <a:p>
            <a:pPr algn="l" latinLnBrk="1">
              <a:spcAft>
                <a:spcPts val="750"/>
              </a:spcAft>
              <a:buNone/>
            </a:pP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80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zaxis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80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modifyList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80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ax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list(title = </a:t>
            </a:r>
            <a:r>
              <a:rPr lang="en-GB" sz="800" i="0" dirty="0">
                <a:solidFill>
                  <a:srgbClr val="DD114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800" i="0" dirty="0" err="1">
                <a:solidFill>
                  <a:srgbClr val="DD114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sick_days</a:t>
            </a:r>
            <a:r>
              <a:rPr lang="en-GB" sz="800" i="0" dirty="0">
                <a:solidFill>
                  <a:srgbClr val="DD114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range = c(</a:t>
            </a:r>
            <a:r>
              <a:rPr lang="en-GB" sz="800" i="0" dirty="0">
                <a:solidFill>
                  <a:srgbClr val="00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800" i="0" dirty="0">
                <a:solidFill>
                  <a:srgbClr val="00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25</a:t>
            </a: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)))</a:t>
            </a:r>
          </a:p>
          <a:p>
            <a:pPr algn="l" latinLnBrk="1">
              <a:spcAft>
                <a:spcPts val="750"/>
              </a:spcAft>
              <a:buNone/>
            </a:pPr>
            <a:r>
              <a:rPr lang="en-GB" sz="800" i="0" dirty="0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))</a:t>
            </a:r>
          </a:p>
        </p:txBody>
      </p:sp>
    </p:spTree>
    <p:extLst>
      <p:ext uri="{BB962C8B-B14F-4D97-AF65-F5344CB8AC3E}">
        <p14:creationId xmlns:p14="http://schemas.microsoft.com/office/powerpoint/2010/main" val="941374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2E6B5-1F2A-12F8-AB5C-DCB3DDADF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183D35F-CEA9-CAC7-66EA-D13B1F515623}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16498FA-7CC9-6525-46C6-3365DD896897}"/>
              </a:ext>
            </a:extLst>
          </p:cNvPr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201C810-47A5-999F-634C-5B9D52A9CC1C}"/>
              </a:ext>
            </a:extLst>
          </p:cNvPr>
          <p:cNvSpPr/>
          <p:nvPr/>
        </p:nvSpPr>
        <p:spPr>
          <a:xfrm>
            <a:off x="266700" y="101600"/>
            <a:ext cx="8623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061"/>
                </a:solidFill>
                <a:latin typeface="Calibri" pitchFamily="34" charset="0"/>
              </a:rPr>
              <a:t>Practice  | the geometry of multiple linear regression</a:t>
            </a:r>
          </a:p>
        </p:txBody>
      </p:sp>
      <p:cxnSp>
        <p:nvCxnSpPr>
          <p:cNvPr id="16" name="TitleDash">
            <a:extLst>
              <a:ext uri="{FF2B5EF4-FFF2-40B4-BE49-F238E27FC236}">
                <a16:creationId xmlns:a16="http://schemas.microsoft.com/office/drawing/2014/main" id="{6F645542-05F7-E571-E3C2-2394B6C960FD}"/>
              </a:ext>
            </a:extLst>
          </p:cNvPr>
          <p:cNvCxnSpPr/>
          <p:nvPr/>
        </p:nvCxnSpPr>
        <p:spPr>
          <a:xfrm>
            <a:off x="279400" y="558800"/>
            <a:ext cx="355600" cy="0"/>
          </a:xfrm>
          <a:prstGeom prst="straightConnector1">
            <a:avLst/>
          </a:prstGeom>
          <a:ln w="38100" cap="flat" cmpd="sng" algn="ctr">
            <a:solidFill>
              <a:srgbClr val="1E506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QSh 103">
            <a:extLst>
              <a:ext uri="{FF2B5EF4-FFF2-40B4-BE49-F238E27FC236}">
                <a16:creationId xmlns:a16="http://schemas.microsoft.com/office/drawing/2014/main" id="{9150FB56-2299-DC84-DFD0-CCDFF112B830}"/>
              </a:ext>
            </a:extLst>
          </p:cNvPr>
          <p:cNvSpPr txBox="1"/>
          <p:nvPr/>
        </p:nvSpPr>
        <p:spPr>
          <a:xfrm>
            <a:off x="279400" y="2242819"/>
            <a:ext cx="3704771" cy="556019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</a:ln>
        </p:spPr>
        <p:txBody>
          <a:bodyPr wrap="square" lIns="137160" tIns="81000" rIns="137160" bIns="8100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5061"/>
                </a:solidFill>
                <a:latin typeface="Calibri" pitchFamily="34" charset="0"/>
              </a:rPr>
              <a:t>Which of the three images best illustrates the fitted model?</a:t>
            </a:r>
          </a:p>
        </p:txBody>
      </p:sp>
      <p:sp>
        <p:nvSpPr>
          <p:cNvPr id="50" name="Setup 50">
            <a:extLst>
              <a:ext uri="{FF2B5EF4-FFF2-40B4-BE49-F238E27FC236}">
                <a16:creationId xmlns:a16="http://schemas.microsoft.com/office/drawing/2014/main" id="{6F85D256-5ACB-F092-3BB3-FE7DE029AC2C}"/>
              </a:ext>
            </a:extLst>
          </p:cNvPr>
          <p:cNvSpPr txBox="1"/>
          <p:nvPr/>
        </p:nvSpPr>
        <p:spPr>
          <a:xfrm>
            <a:off x="279400" y="736600"/>
            <a:ext cx="4572000" cy="14605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3"/>
            </a:solidFill>
          </a:ln>
        </p:spPr>
        <p:txBody>
          <a:bodyPr wrap="square" lIns="91440" tIns="36000" rIns="91440" bIns="3600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kern="0" spc="200" dirty="0">
                <a:solidFill>
                  <a:srgbClr val="1F5061"/>
                </a:solidFill>
                <a:latin typeface="Calibri" pitchFamily="34" charset="0"/>
              </a:rPr>
              <a:t>THE SETUP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</a:rPr>
              <a:t>A consultancy fits a model predicting employee salary (in $1000s) from years of experience and years of post-secondary education, n = 312 employees.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onsolas" pitchFamily="34" charset="0"/>
              </a:rPr>
              <a:t>lm(salary ~ exp + </a:t>
            </a:r>
            <a:r>
              <a:rPr lang="en-US" sz="1150" dirty="0" err="1">
                <a:solidFill>
                  <a:srgbClr val="2C3E50"/>
                </a:solidFill>
                <a:latin typeface="Consolas" pitchFamily="34" charset="0"/>
              </a:rPr>
              <a:t>edu</a:t>
            </a:r>
            <a:r>
              <a:rPr lang="en-US" sz="1150" dirty="0">
                <a:solidFill>
                  <a:srgbClr val="2C3E50"/>
                </a:solidFill>
                <a:latin typeface="Consolas" pitchFamily="34" charset="0"/>
              </a:rPr>
              <a:t>, data = staff)</a:t>
            </a:r>
          </a:p>
        </p:txBody>
      </p:sp>
      <p:sp>
        <p:nvSpPr>
          <p:cNvPr id="51" name="Setup 51">
            <a:extLst>
              <a:ext uri="{FF2B5EF4-FFF2-40B4-BE49-F238E27FC236}">
                <a16:creationId xmlns:a16="http://schemas.microsoft.com/office/drawing/2014/main" id="{1C3215C9-2736-647C-B389-6822B44E41D7}"/>
              </a:ext>
            </a:extLst>
          </p:cNvPr>
          <p:cNvSpPr txBox="1"/>
          <p:nvPr/>
        </p:nvSpPr>
        <p:spPr>
          <a:xfrm>
            <a:off x="5029200" y="736600"/>
            <a:ext cx="38354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18000" rIns="91440" bIns="1800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5061"/>
                </a:solidFill>
                <a:latin typeface="Calibri" pitchFamily="34" charset="0"/>
              </a:rPr>
              <a:t>THE OUTPUT</a:t>
            </a:r>
          </a:p>
        </p:txBody>
      </p:sp>
      <p:sp>
        <p:nvSpPr>
          <p:cNvPr id="52" name="Setup 52">
            <a:extLst>
              <a:ext uri="{FF2B5EF4-FFF2-40B4-BE49-F238E27FC236}">
                <a16:creationId xmlns:a16="http://schemas.microsoft.com/office/drawing/2014/main" id="{3F5C9BB5-9B97-3837-EFEC-4C887D4D3057}"/>
              </a:ext>
            </a:extLst>
          </p:cNvPr>
          <p:cNvSpPr txBox="1"/>
          <p:nvPr/>
        </p:nvSpPr>
        <p:spPr>
          <a:xfrm>
            <a:off x="5029200" y="1016000"/>
            <a:ext cx="1227328" cy="279400"/>
          </a:xfrm>
          <a:prstGeom prst="rect">
            <a:avLst/>
          </a:prstGeom>
          <a:solidFill>
            <a:srgbClr val="1F5061"/>
          </a:solidFill>
          <a:ln>
            <a:noFill/>
          </a:ln>
        </p:spPr>
        <p:txBody>
          <a:bodyPr wrap="square" lIns="54000" tIns="18000" rIns="54000" bIns="1800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term</a:t>
            </a:r>
          </a:p>
        </p:txBody>
      </p:sp>
      <p:sp>
        <p:nvSpPr>
          <p:cNvPr id="53" name="Setup 53">
            <a:extLst>
              <a:ext uri="{FF2B5EF4-FFF2-40B4-BE49-F238E27FC236}">
                <a16:creationId xmlns:a16="http://schemas.microsoft.com/office/drawing/2014/main" id="{C536CA27-C257-D663-060E-921C0A7A63A5}"/>
              </a:ext>
            </a:extLst>
          </p:cNvPr>
          <p:cNvSpPr txBox="1"/>
          <p:nvPr/>
        </p:nvSpPr>
        <p:spPr>
          <a:xfrm>
            <a:off x="6256528" y="1016000"/>
            <a:ext cx="920496" cy="279400"/>
          </a:xfrm>
          <a:prstGeom prst="rect">
            <a:avLst/>
          </a:prstGeom>
          <a:solidFill>
            <a:srgbClr val="1F5061"/>
          </a:solidFill>
          <a:ln>
            <a:noFill/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estimate</a:t>
            </a:r>
          </a:p>
        </p:txBody>
      </p:sp>
      <p:sp>
        <p:nvSpPr>
          <p:cNvPr id="54" name="Setup 54">
            <a:extLst>
              <a:ext uri="{FF2B5EF4-FFF2-40B4-BE49-F238E27FC236}">
                <a16:creationId xmlns:a16="http://schemas.microsoft.com/office/drawing/2014/main" id="{DB73F62F-9EC0-8CB3-2811-5CD4DEDDCF48}"/>
              </a:ext>
            </a:extLst>
          </p:cNvPr>
          <p:cNvSpPr txBox="1"/>
          <p:nvPr/>
        </p:nvSpPr>
        <p:spPr>
          <a:xfrm>
            <a:off x="7177024" y="1016000"/>
            <a:ext cx="767080" cy="279400"/>
          </a:xfrm>
          <a:prstGeom prst="rect">
            <a:avLst/>
          </a:prstGeom>
          <a:solidFill>
            <a:srgbClr val="1F5061"/>
          </a:solidFill>
          <a:ln>
            <a:noFill/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SE</a:t>
            </a:r>
          </a:p>
        </p:txBody>
      </p:sp>
      <p:sp>
        <p:nvSpPr>
          <p:cNvPr id="55" name="Setup 55">
            <a:extLst>
              <a:ext uri="{FF2B5EF4-FFF2-40B4-BE49-F238E27FC236}">
                <a16:creationId xmlns:a16="http://schemas.microsoft.com/office/drawing/2014/main" id="{FA5626F3-0CAA-EB83-A435-AE0DBCABF5A4}"/>
              </a:ext>
            </a:extLst>
          </p:cNvPr>
          <p:cNvSpPr txBox="1"/>
          <p:nvPr/>
        </p:nvSpPr>
        <p:spPr>
          <a:xfrm>
            <a:off x="7944104" y="1016000"/>
            <a:ext cx="920496" cy="279400"/>
          </a:xfrm>
          <a:prstGeom prst="rect">
            <a:avLst/>
          </a:prstGeom>
          <a:solidFill>
            <a:srgbClr val="1F5061"/>
          </a:solidFill>
          <a:ln>
            <a:noFill/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p</a:t>
            </a:r>
          </a:p>
        </p:txBody>
      </p:sp>
      <p:sp>
        <p:nvSpPr>
          <p:cNvPr id="56" name="Setup 56">
            <a:extLst>
              <a:ext uri="{FF2B5EF4-FFF2-40B4-BE49-F238E27FC236}">
                <a16:creationId xmlns:a16="http://schemas.microsoft.com/office/drawing/2014/main" id="{3464F9C8-22D8-46AD-0355-CF7DA9B0B6BA}"/>
              </a:ext>
            </a:extLst>
          </p:cNvPr>
          <p:cNvSpPr txBox="1"/>
          <p:nvPr/>
        </p:nvSpPr>
        <p:spPr>
          <a:xfrm>
            <a:off x="5029200" y="1295400"/>
            <a:ext cx="1227328" cy="279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</a:rPr>
              <a:t>(Intercept)</a:t>
            </a:r>
          </a:p>
        </p:txBody>
      </p:sp>
      <p:sp>
        <p:nvSpPr>
          <p:cNvPr id="57" name="Setup 57">
            <a:extLst>
              <a:ext uri="{FF2B5EF4-FFF2-40B4-BE49-F238E27FC236}">
                <a16:creationId xmlns:a16="http://schemas.microsoft.com/office/drawing/2014/main" id="{22D8EDFA-E685-1E28-BB51-A377538AF768}"/>
              </a:ext>
            </a:extLst>
          </p:cNvPr>
          <p:cNvSpPr txBox="1"/>
          <p:nvPr/>
        </p:nvSpPr>
        <p:spPr>
          <a:xfrm>
            <a:off x="6256528" y="1295400"/>
            <a:ext cx="920496" cy="279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</a:rPr>
              <a:t>28.450</a:t>
            </a:r>
          </a:p>
        </p:txBody>
      </p:sp>
      <p:sp>
        <p:nvSpPr>
          <p:cNvPr id="58" name="Setup 58">
            <a:extLst>
              <a:ext uri="{FF2B5EF4-FFF2-40B4-BE49-F238E27FC236}">
                <a16:creationId xmlns:a16="http://schemas.microsoft.com/office/drawing/2014/main" id="{A086908C-F0F1-E13F-1E83-378FA4E5DF39}"/>
              </a:ext>
            </a:extLst>
          </p:cNvPr>
          <p:cNvSpPr txBox="1"/>
          <p:nvPr/>
        </p:nvSpPr>
        <p:spPr>
          <a:xfrm>
            <a:off x="7177024" y="1295400"/>
            <a:ext cx="767080" cy="279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</a:rPr>
              <a:t>2.134</a:t>
            </a:r>
          </a:p>
        </p:txBody>
      </p:sp>
      <p:sp>
        <p:nvSpPr>
          <p:cNvPr id="59" name="Setup 59">
            <a:extLst>
              <a:ext uri="{FF2B5EF4-FFF2-40B4-BE49-F238E27FC236}">
                <a16:creationId xmlns:a16="http://schemas.microsoft.com/office/drawing/2014/main" id="{70A9B6F0-CDD2-9B33-199A-82B00164D71D}"/>
              </a:ext>
            </a:extLst>
          </p:cNvPr>
          <p:cNvSpPr txBox="1"/>
          <p:nvPr/>
        </p:nvSpPr>
        <p:spPr>
          <a:xfrm>
            <a:off x="7944104" y="1295400"/>
            <a:ext cx="920496" cy="279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</a:rPr>
              <a:t>&lt;0.001 ***</a:t>
            </a:r>
          </a:p>
        </p:txBody>
      </p:sp>
      <p:sp>
        <p:nvSpPr>
          <p:cNvPr id="60" name="Setup 60">
            <a:extLst>
              <a:ext uri="{FF2B5EF4-FFF2-40B4-BE49-F238E27FC236}">
                <a16:creationId xmlns:a16="http://schemas.microsoft.com/office/drawing/2014/main" id="{E3DA3733-217F-104D-1569-2F838FA70767}"/>
              </a:ext>
            </a:extLst>
          </p:cNvPr>
          <p:cNvSpPr txBox="1"/>
          <p:nvPr/>
        </p:nvSpPr>
        <p:spPr>
          <a:xfrm>
            <a:off x="5029200" y="1574800"/>
            <a:ext cx="1227328" cy="279400"/>
          </a:xfrm>
          <a:prstGeom prst="rect">
            <a:avLst/>
          </a:prstGeom>
          <a:solidFill>
            <a:srgbClr val="F4F7F9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</a:rPr>
              <a:t>exp</a:t>
            </a:r>
          </a:p>
        </p:txBody>
      </p:sp>
      <p:sp>
        <p:nvSpPr>
          <p:cNvPr id="61" name="Setup 61">
            <a:extLst>
              <a:ext uri="{FF2B5EF4-FFF2-40B4-BE49-F238E27FC236}">
                <a16:creationId xmlns:a16="http://schemas.microsoft.com/office/drawing/2014/main" id="{24CBB2B4-14F2-FEB1-B180-BE3ACC71D072}"/>
              </a:ext>
            </a:extLst>
          </p:cNvPr>
          <p:cNvSpPr txBox="1"/>
          <p:nvPr/>
        </p:nvSpPr>
        <p:spPr>
          <a:xfrm>
            <a:off x="6256528" y="1574800"/>
            <a:ext cx="920496" cy="279400"/>
          </a:xfrm>
          <a:prstGeom prst="rect">
            <a:avLst/>
          </a:prstGeom>
          <a:solidFill>
            <a:srgbClr val="F4F7F9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</a:rPr>
              <a:t>1.820</a:t>
            </a:r>
          </a:p>
        </p:txBody>
      </p:sp>
      <p:sp>
        <p:nvSpPr>
          <p:cNvPr id="62" name="Setup 62">
            <a:extLst>
              <a:ext uri="{FF2B5EF4-FFF2-40B4-BE49-F238E27FC236}">
                <a16:creationId xmlns:a16="http://schemas.microsoft.com/office/drawing/2014/main" id="{306A783C-7327-6942-F295-71953A6AD4B2}"/>
              </a:ext>
            </a:extLst>
          </p:cNvPr>
          <p:cNvSpPr txBox="1"/>
          <p:nvPr/>
        </p:nvSpPr>
        <p:spPr>
          <a:xfrm>
            <a:off x="7177024" y="1574800"/>
            <a:ext cx="767080" cy="279400"/>
          </a:xfrm>
          <a:prstGeom prst="rect">
            <a:avLst/>
          </a:prstGeom>
          <a:solidFill>
            <a:srgbClr val="F4F7F9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</a:rPr>
              <a:t>0.310</a:t>
            </a:r>
          </a:p>
        </p:txBody>
      </p:sp>
      <p:sp>
        <p:nvSpPr>
          <p:cNvPr id="63" name="Setup 63">
            <a:extLst>
              <a:ext uri="{FF2B5EF4-FFF2-40B4-BE49-F238E27FC236}">
                <a16:creationId xmlns:a16="http://schemas.microsoft.com/office/drawing/2014/main" id="{5F9217C8-AB6B-BD75-3835-603F2A0092DD}"/>
              </a:ext>
            </a:extLst>
          </p:cNvPr>
          <p:cNvSpPr txBox="1"/>
          <p:nvPr/>
        </p:nvSpPr>
        <p:spPr>
          <a:xfrm>
            <a:off x="7944104" y="1574800"/>
            <a:ext cx="920496" cy="279400"/>
          </a:xfrm>
          <a:prstGeom prst="rect">
            <a:avLst/>
          </a:prstGeom>
          <a:solidFill>
            <a:srgbClr val="F4F7F9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</a:rPr>
              <a:t>&lt;0.001 ***</a:t>
            </a:r>
          </a:p>
        </p:txBody>
      </p:sp>
      <p:sp>
        <p:nvSpPr>
          <p:cNvPr id="64" name="Setup 64">
            <a:extLst>
              <a:ext uri="{FF2B5EF4-FFF2-40B4-BE49-F238E27FC236}">
                <a16:creationId xmlns:a16="http://schemas.microsoft.com/office/drawing/2014/main" id="{AAE8BB8F-D728-A167-79B6-7AA060F63C6D}"/>
              </a:ext>
            </a:extLst>
          </p:cNvPr>
          <p:cNvSpPr txBox="1"/>
          <p:nvPr/>
        </p:nvSpPr>
        <p:spPr>
          <a:xfrm>
            <a:off x="5029200" y="1854200"/>
            <a:ext cx="1227328" cy="279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r>
              <a:rPr lang="en-US" sz="1050" dirty="0" err="1">
                <a:solidFill>
                  <a:srgbClr val="2C3E50"/>
                </a:solidFill>
                <a:latin typeface="Consolas" pitchFamily="34" charset="0"/>
              </a:rPr>
              <a:t>edu</a:t>
            </a:r>
            <a:endParaRPr lang="en-US" sz="1050" dirty="0">
              <a:solidFill>
                <a:srgbClr val="2C3E50"/>
              </a:solidFill>
              <a:latin typeface="Calibri" pitchFamily="34" charset="0"/>
            </a:endParaRPr>
          </a:p>
        </p:txBody>
      </p:sp>
      <p:sp>
        <p:nvSpPr>
          <p:cNvPr id="65" name="Setup 65">
            <a:extLst>
              <a:ext uri="{FF2B5EF4-FFF2-40B4-BE49-F238E27FC236}">
                <a16:creationId xmlns:a16="http://schemas.microsoft.com/office/drawing/2014/main" id="{6E51BB7C-C775-02DB-C5E1-050FD5066B22}"/>
              </a:ext>
            </a:extLst>
          </p:cNvPr>
          <p:cNvSpPr txBox="1"/>
          <p:nvPr/>
        </p:nvSpPr>
        <p:spPr>
          <a:xfrm>
            <a:off x="6256528" y="1854200"/>
            <a:ext cx="920496" cy="279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</a:rPr>
              <a:t>3.260</a:t>
            </a:r>
          </a:p>
        </p:txBody>
      </p:sp>
      <p:sp>
        <p:nvSpPr>
          <p:cNvPr id="66" name="Setup 66">
            <a:extLst>
              <a:ext uri="{FF2B5EF4-FFF2-40B4-BE49-F238E27FC236}">
                <a16:creationId xmlns:a16="http://schemas.microsoft.com/office/drawing/2014/main" id="{3D248095-DF77-02AC-9418-AFFA70F92157}"/>
              </a:ext>
            </a:extLst>
          </p:cNvPr>
          <p:cNvSpPr txBox="1"/>
          <p:nvPr/>
        </p:nvSpPr>
        <p:spPr>
          <a:xfrm>
            <a:off x="7177024" y="1854200"/>
            <a:ext cx="767080" cy="279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</a:rPr>
              <a:t>0.482</a:t>
            </a:r>
          </a:p>
        </p:txBody>
      </p:sp>
      <p:sp>
        <p:nvSpPr>
          <p:cNvPr id="67" name="Setup 67">
            <a:extLst>
              <a:ext uri="{FF2B5EF4-FFF2-40B4-BE49-F238E27FC236}">
                <a16:creationId xmlns:a16="http://schemas.microsoft.com/office/drawing/2014/main" id="{CD9DCBC7-2AF3-7CD9-830C-092B2B7C6BC0}"/>
              </a:ext>
            </a:extLst>
          </p:cNvPr>
          <p:cNvSpPr txBox="1"/>
          <p:nvPr/>
        </p:nvSpPr>
        <p:spPr>
          <a:xfrm>
            <a:off x="7944104" y="1854200"/>
            <a:ext cx="920496" cy="279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</a:rPr>
              <a:t>&lt;0.001 ***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58BCFD-8C9F-7CBA-9D17-E74CC927C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27" y="3072326"/>
            <a:ext cx="4144058" cy="1475689"/>
          </a:xfrm>
          <a:prstGeom prst="rect">
            <a:avLst/>
          </a:prstGeom>
        </p:spPr>
      </p:pic>
      <p:sp>
        <p:nvSpPr>
          <p:cNvPr id="200" name="QSh 200"/>
          <p:cNvSpPr txBox="1"/>
          <p:nvPr/>
        </p:nvSpPr>
        <p:spPr>
          <a:xfrm>
            <a:off x="4622800" y="2249488"/>
            <a:ext cx="4216400" cy="11798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5061"/>
                </a:solidFill>
                <a:latin typeface="Calibri" pitchFamily="34" charset="0"/>
              </a:rPr>
              <a:t>An observed employee sits above the fitted plane. What does that mean geometrically?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</a:rPr>
              <a:t>A)  Their observed salary is lower than predicted.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</a:rPr>
              <a:t>B)  Their education value was entered incorrectly.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</a:rPr>
              <a:t>C)  Their residual is positive.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9DF874-7EAA-4CBC-9BC1-4A7D15CDBD1F}"/>
              </a:ext>
            </a:extLst>
          </p:cNvPr>
          <p:cNvSpPr txBox="1"/>
          <p:nvPr/>
        </p:nvSpPr>
        <p:spPr>
          <a:xfrm>
            <a:off x="4657026" y="3673043"/>
            <a:ext cx="4579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54A24B"/>
                </a:solidFill>
                <a:latin typeface="Calibri" pitchFamily="34" charset="0"/>
              </a:rPr>
              <a:t>Answer: C.</a:t>
            </a:r>
            <a:r>
              <a:rPr lang="en-US" sz="1200" i="1" dirty="0">
                <a:solidFill>
                  <a:srgbClr val="6B7B8A"/>
                </a:solidFill>
                <a:latin typeface="Calibri" pitchFamily="34" charset="0"/>
              </a:rPr>
              <a:t>  Observed &gt; predicted, so the residual y − </a:t>
            </a:r>
            <a:r>
              <a:rPr lang="en-US" sz="1200" i="1" dirty="0" err="1">
                <a:solidFill>
                  <a:srgbClr val="6B7B8A"/>
                </a:solidFill>
                <a:latin typeface="Calibri" pitchFamily="34" charset="0"/>
              </a:rPr>
              <a:t>ŷ</a:t>
            </a:r>
            <a:r>
              <a:rPr lang="en-US" sz="1200" i="1" dirty="0">
                <a:solidFill>
                  <a:srgbClr val="6B7B8A"/>
                </a:solidFill>
                <a:latin typeface="Calibri" pitchFamily="34" charset="0"/>
              </a:rPr>
              <a:t> is positive.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D8A9C5-6D56-F227-998C-F9069C2D23C9}"/>
              </a:ext>
            </a:extLst>
          </p:cNvPr>
          <p:cNvSpPr txBox="1"/>
          <p:nvPr/>
        </p:nvSpPr>
        <p:spPr>
          <a:xfrm>
            <a:off x="457200" y="4691742"/>
            <a:ext cx="4579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54A24B"/>
                </a:solidFill>
                <a:latin typeface="Calibri" pitchFamily="34" charset="0"/>
              </a:rPr>
              <a:t>Answer: Left</a:t>
            </a:r>
            <a:endParaRPr lang="en-US" sz="1200" i="1" dirty="0">
              <a:solidFill>
                <a:srgbClr val="6B7B8A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24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200" grpId="0"/>
      <p:bldP spid="6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66700" y="101600"/>
            <a:ext cx="8623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061"/>
                </a:solidFill>
                <a:latin typeface="Calibri" pitchFamily="34" charset="0"/>
              </a:rPr>
              <a:t>Illustrating the confounding</a:t>
            </a:r>
          </a:p>
        </p:txBody>
      </p:sp>
      <p:cxnSp>
        <p:nvCxnSpPr>
          <p:cNvPr id="16" name="TitleDash">
            <a:extLst>
              <a:ext uri="{FF2B5EF4-FFF2-40B4-BE49-F238E27FC236}">
                <a16:creationId xmlns:a16="http://schemas.microsoft.com/office/drawing/2014/main" id="{6F071326-413D-E14F-9ACC-E4299043D005}"/>
              </a:ext>
            </a:extLst>
          </p:cNvPr>
          <p:cNvCxnSpPr/>
          <p:nvPr/>
        </p:nvCxnSpPr>
        <p:spPr>
          <a:xfrm>
            <a:off x="279400" y="558800"/>
            <a:ext cx="355600" cy="0"/>
          </a:xfrm>
          <a:prstGeom prst="straightConnector1">
            <a:avLst/>
          </a:prstGeom>
          <a:ln w="38100" cap="flat" cmpd="sng" algn="ctr">
            <a:solidFill>
              <a:srgbClr val="1E506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00BA819B-9CF2-285A-F174-B150850DF7D7}"/>
              </a:ext>
            </a:extLst>
          </p:cNvPr>
          <p:cNvGrpSpPr/>
          <p:nvPr/>
        </p:nvGrpSpPr>
        <p:grpSpPr>
          <a:xfrm>
            <a:off x="5139477" y="1155241"/>
            <a:ext cx="3571474" cy="2698032"/>
            <a:chOff x="762000" y="1460500"/>
            <a:chExt cx="4076827" cy="2509554"/>
          </a:xfrm>
        </p:grpSpPr>
        <p:sp>
          <p:nvSpPr>
            <p:cNvPr id="100" name="DAG 100"/>
            <p:cNvSpPr txBox="1"/>
            <p:nvPr/>
          </p:nvSpPr>
          <p:spPr>
            <a:xfrm>
              <a:off x="1790827" y="3690654"/>
              <a:ext cx="3048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0" tIns="18000" rIns="36000" bIns="18000" anchor="t"/>
            <a:lstStyle/>
            <a:p>
              <a:pPr algn="l">
                <a:buNone/>
              </a:pPr>
              <a:r>
                <a:rPr lang="en-US" sz="1200" b="1" dirty="0">
                  <a:solidFill>
                    <a:srgbClr val="1F5061"/>
                  </a:solidFill>
                  <a:latin typeface="Calibri"/>
                </a:rPr>
                <a:t>Directed acyclic graph (DAG)</a:t>
              </a:r>
            </a:p>
          </p:txBody>
        </p:sp>
        <p:sp>
          <p:nvSpPr>
            <p:cNvPr id="101" name="DAG 101"/>
            <p:cNvSpPr txBox="1"/>
            <p:nvPr/>
          </p:nvSpPr>
          <p:spPr>
            <a:xfrm>
              <a:off x="2286000" y="1460500"/>
              <a:ext cx="914400" cy="703545"/>
            </a:xfrm>
            <a:prstGeom prst="ellipse">
              <a:avLst/>
            </a:prstGeom>
            <a:solidFill>
              <a:srgbClr val="1F5061"/>
            </a:solidFill>
            <a:ln>
              <a:noFill/>
            </a:ln>
          </p:spPr>
          <p:txBody>
            <a:bodyPr wrap="square" lIns="0" tIns="0" rIns="0" bIns="0" anchor="ctr"/>
            <a:lstStyle/>
            <a:p>
              <a:pPr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/>
                </a:rPr>
                <a:t>Z</a:t>
              </a:r>
            </a:p>
            <a:p>
              <a:pPr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/>
                </a:rPr>
                <a:t>kids</a:t>
              </a:r>
            </a:p>
          </p:txBody>
        </p:sp>
        <p:sp>
          <p:nvSpPr>
            <p:cNvPr id="102" name="DAG 102"/>
            <p:cNvSpPr txBox="1"/>
            <p:nvPr/>
          </p:nvSpPr>
          <p:spPr>
            <a:xfrm>
              <a:off x="762000" y="2857499"/>
              <a:ext cx="914400" cy="747069"/>
            </a:xfrm>
            <a:prstGeom prst="ellipse">
              <a:avLst/>
            </a:prstGeom>
            <a:solidFill>
              <a:srgbClr val="5DADE2"/>
            </a:solidFill>
            <a:ln>
              <a:noFill/>
            </a:ln>
          </p:spPr>
          <p:txBody>
            <a:bodyPr wrap="square" lIns="0" tIns="0" rIns="0" bIns="0" anchor="ctr"/>
            <a:lstStyle/>
            <a:p>
              <a:pPr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/>
                </a:rPr>
                <a:t>X</a:t>
              </a:r>
            </a:p>
            <a:p>
              <a:pPr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/>
                </a:rPr>
                <a:t>washes</a:t>
              </a:r>
            </a:p>
          </p:txBody>
        </p:sp>
        <p:sp>
          <p:nvSpPr>
            <p:cNvPr id="103" name="DAG 103"/>
            <p:cNvSpPr txBox="1"/>
            <p:nvPr/>
          </p:nvSpPr>
          <p:spPr>
            <a:xfrm>
              <a:off x="3810000" y="2857499"/>
              <a:ext cx="914400" cy="747069"/>
            </a:xfrm>
            <a:prstGeom prst="ellipse">
              <a:avLst/>
            </a:prstGeom>
            <a:solidFill>
              <a:srgbClr val="5DADE2"/>
            </a:solidFill>
            <a:ln>
              <a:noFill/>
            </a:ln>
          </p:spPr>
          <p:txBody>
            <a:bodyPr wrap="square" lIns="0" tIns="0" rIns="0" bIns="0" anchor="ctr"/>
            <a:lstStyle/>
            <a:p>
              <a:pPr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/>
                </a:rPr>
                <a:t>Y</a:t>
              </a:r>
            </a:p>
            <a:p>
              <a:pPr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/>
                </a:rPr>
                <a:t>Sick days</a:t>
              </a:r>
            </a:p>
          </p:txBody>
        </p:sp>
        <p:cxnSp>
          <p:nvCxnSpPr>
            <p:cNvPr id="104" name="Conn 104"/>
            <p:cNvCxnSpPr/>
            <p:nvPr/>
          </p:nvCxnSpPr>
          <p:spPr>
            <a:xfrm flipH="1">
              <a:off x="1219200" y="2019300"/>
              <a:ext cx="1270000" cy="838200"/>
            </a:xfrm>
            <a:prstGeom prst="straightConnector1">
              <a:avLst/>
            </a:prstGeom>
            <a:ln w="28575">
              <a:solidFill>
                <a:srgbClr val="2C3E50"/>
              </a:solidFill>
              <a:tailEnd type="triangle" w="med" len="med"/>
            </a:ln>
          </p:spPr>
        </p:cxnSp>
        <p:cxnSp>
          <p:nvCxnSpPr>
            <p:cNvPr id="105" name="Conn 105"/>
            <p:cNvCxnSpPr/>
            <p:nvPr/>
          </p:nvCxnSpPr>
          <p:spPr>
            <a:xfrm>
              <a:off x="3048000" y="2019300"/>
              <a:ext cx="1219200" cy="838200"/>
            </a:xfrm>
            <a:prstGeom prst="straightConnector1">
              <a:avLst/>
            </a:prstGeom>
            <a:ln w="28575">
              <a:solidFill>
                <a:srgbClr val="2C3E50"/>
              </a:solidFill>
              <a:tailEnd type="triangle" w="med" len="med"/>
            </a:ln>
          </p:spPr>
        </p:cxnSp>
        <p:cxnSp>
          <p:nvCxnSpPr>
            <p:cNvPr id="106" name="Conn 106"/>
            <p:cNvCxnSpPr/>
            <p:nvPr/>
          </p:nvCxnSpPr>
          <p:spPr>
            <a:xfrm>
              <a:off x="1676400" y="3136900"/>
              <a:ext cx="2133600" cy="0"/>
            </a:xfrm>
            <a:prstGeom prst="straightConnector1">
              <a:avLst/>
            </a:prstGeom>
            <a:ln w="28575">
              <a:solidFill>
                <a:srgbClr val="C0392B"/>
              </a:solidFill>
              <a:tailEnd type="triangle" w="med" len="med"/>
            </a:ln>
          </p:spPr>
        </p:cxnSp>
      </p:grpSp>
      <p:sp>
        <p:nvSpPr>
          <p:cNvPr id="109" name="DAG 109"/>
          <p:cNvSpPr txBox="1"/>
          <p:nvPr/>
        </p:nvSpPr>
        <p:spPr>
          <a:xfrm>
            <a:off x="2296491" y="4065088"/>
            <a:ext cx="5685971" cy="738581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algn="l">
              <a:buNone/>
            </a:pPr>
            <a:r>
              <a:rPr lang="en-US" sz="1400" b="1" dirty="0">
                <a:solidFill>
                  <a:srgbClr val="1F5061"/>
                </a:solidFill>
                <a:latin typeface="Calibri"/>
              </a:rPr>
              <a:t>NOTE: </a:t>
            </a:r>
          </a:p>
          <a:p>
            <a:pPr algn="l">
              <a:buNone/>
            </a:pPr>
            <a:r>
              <a:rPr lang="en-US" sz="1400" b="1" dirty="0">
                <a:solidFill>
                  <a:srgbClr val="1F5061"/>
                </a:solidFill>
                <a:latin typeface="Calibri"/>
              </a:rPr>
              <a:t>Confounding doesn't always flip the slope</a:t>
            </a:r>
            <a:endParaRPr lang="en-US" sz="1400" dirty="0">
              <a:solidFill>
                <a:srgbClr val="2C3E50"/>
              </a:solidFill>
              <a:latin typeface="Calibri"/>
            </a:endParaRPr>
          </a:p>
          <a:p>
            <a:pPr algn="l">
              <a:buNone/>
            </a:pPr>
            <a:r>
              <a:rPr lang="en-US" sz="1400" dirty="0">
                <a:solidFill>
                  <a:srgbClr val="2C3E50"/>
                </a:solidFill>
                <a:latin typeface="Calibri"/>
              </a:rPr>
              <a:t>it can also </a:t>
            </a:r>
            <a:r>
              <a:rPr lang="en-US" sz="1400" b="1" dirty="0">
                <a:solidFill>
                  <a:srgbClr val="C0392B"/>
                </a:solidFill>
                <a:latin typeface="Calibri"/>
              </a:rPr>
              <a:t>inflate, shrink, mask, or fabricate</a:t>
            </a:r>
            <a:r>
              <a:rPr lang="en-US" sz="1400" dirty="0">
                <a:solidFill>
                  <a:srgbClr val="2C3E50"/>
                </a:solidFill>
                <a:latin typeface="Calibri"/>
              </a:rPr>
              <a:t> an effect.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0EB340-D631-1FB4-251F-2F0BB0588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01" y="1016001"/>
            <a:ext cx="3931025" cy="2630841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/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8CD3767F-3FC1-DF13-E396-64817F8B613B}"/>
              </a:ext>
            </a:extLst>
          </p:cNvPr>
          <p:cNvSpPr/>
          <p:nvPr/>
        </p:nvSpPr>
        <p:spPr>
          <a:xfrm rot="19801040">
            <a:off x="1263093" y="2306435"/>
            <a:ext cx="1704011" cy="7861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Effect of kids</a:t>
            </a:r>
          </a:p>
        </p:txBody>
      </p:sp>
    </p:spTree>
    <p:extLst>
      <p:ext uri="{BB962C8B-B14F-4D97-AF65-F5344CB8AC3E}">
        <p14:creationId xmlns:p14="http://schemas.microsoft.com/office/powerpoint/2010/main" val="3550309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66700" y="101600"/>
            <a:ext cx="8623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061"/>
                </a:solidFill>
                <a:latin typeface="Calibri" pitchFamily="34" charset="0"/>
              </a:rPr>
              <a:t>Practice  |  Confounding &amp; DAGs</a:t>
            </a:r>
          </a:p>
        </p:txBody>
      </p:sp>
      <p:sp>
        <p:nvSpPr>
          <p:cNvPr id="100" name="QSh 100"/>
          <p:cNvSpPr txBox="1"/>
          <p:nvPr/>
        </p:nvSpPr>
        <p:spPr>
          <a:xfrm>
            <a:off x="281749" y="2443067"/>
            <a:ext cx="4216400" cy="381000"/>
          </a:xfrm>
          <a:prstGeom prst="rect">
            <a:avLst/>
          </a:prstGeom>
          <a:solidFill>
            <a:srgbClr val="1F5061"/>
          </a:solidFill>
          <a:ln>
            <a:noFill/>
          </a:ln>
        </p:spPr>
        <p:txBody>
          <a:bodyPr wrap="square" lIns="137160" tIns="36000" rIns="91440" bIns="3600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</a:rPr>
              <a:t>EXPLAIN THE COEFFICIENT CHANGE</a:t>
            </a:r>
          </a:p>
        </p:txBody>
      </p:sp>
      <p:sp>
        <p:nvSpPr>
          <p:cNvPr id="101" name="QSh 101"/>
          <p:cNvSpPr txBox="1"/>
          <p:nvPr/>
        </p:nvSpPr>
        <p:spPr>
          <a:xfrm>
            <a:off x="281749" y="2824068"/>
            <a:ext cx="4216400" cy="1381184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</a:ln>
        </p:spPr>
        <p:txBody>
          <a:bodyPr wrap="square" lIns="137160" tIns="81000" rIns="137160" bIns="8100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5061"/>
                </a:solidFill>
                <a:latin typeface="Calibri" pitchFamily="34" charset="0"/>
              </a:rPr>
              <a:t>Which of these might explain the fertilizer estimate drop from 12.40 to 2.10 once rainfall is added?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</a:rPr>
              <a:t>A)  Fertilizer use is correlated with rainfall, which drives most of the yield gain.</a:t>
            </a:r>
          </a:p>
          <a:p>
            <a:pPr marL="0" indent="0">
              <a:spcAft>
                <a:spcPts val="15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</a:rPr>
              <a:t>B)  Adding predictors always shrinks coefficients toward zero, due to higher residual variance.</a:t>
            </a:r>
          </a:p>
        </p:txBody>
      </p:sp>
      <p:sp>
        <p:nvSpPr>
          <p:cNvPr id="102" name="QSh 102"/>
          <p:cNvSpPr txBox="1"/>
          <p:nvPr/>
        </p:nvSpPr>
        <p:spPr>
          <a:xfrm>
            <a:off x="4648200" y="2443068"/>
            <a:ext cx="4216400" cy="381000"/>
          </a:xfrm>
          <a:prstGeom prst="rect">
            <a:avLst/>
          </a:prstGeom>
          <a:solidFill>
            <a:srgbClr val="1F5061"/>
          </a:solidFill>
          <a:ln>
            <a:noFill/>
          </a:ln>
        </p:spPr>
        <p:txBody>
          <a:bodyPr wrap="square" lIns="137160" tIns="36000" rIns="91440" bIns="36000" anchor="ctr"/>
          <a:lstStyle>
            <a:lvl1pPr indent="0">
              <a:buNone/>
              <a:defRPr sz="1300" b="1" kern="0" spc="200">
                <a:solidFill>
                  <a:srgbClr val="FFFFFF"/>
                </a:solidFill>
                <a:latin typeface="Calibri" pitchFamily="34" charset="0"/>
              </a:defRPr>
            </a:lvl1pPr>
          </a:lstStyle>
          <a:p>
            <a:pPr marL="0" indent="0" algn="l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</a:rPr>
              <a:t>WHICH DAG SHOWS CONFOUNDING?</a:t>
            </a:r>
          </a:p>
        </p:txBody>
      </p:sp>
      <p:sp>
        <p:nvSpPr>
          <p:cNvPr id="103" name="QSh 103"/>
          <p:cNvSpPr txBox="1"/>
          <p:nvPr/>
        </p:nvSpPr>
        <p:spPr>
          <a:xfrm>
            <a:off x="4648200" y="2824068"/>
            <a:ext cx="4216400" cy="139700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</a:ln>
        </p:spPr>
        <p:txBody>
          <a:bodyPr wrap="square" lIns="137160" tIns="81000" rIns="137160" bIns="8100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5061"/>
                </a:solidFill>
                <a:latin typeface="Calibri" pitchFamily="34" charset="0"/>
              </a:rPr>
              <a:t>In which DAG is rainfall a confounder of fertilizer → yield?</a:t>
            </a:r>
          </a:p>
        </p:txBody>
      </p:sp>
      <p:sp>
        <p:nvSpPr>
          <p:cNvPr id="50" name="Setup 50"/>
          <p:cNvSpPr txBox="1"/>
          <p:nvPr/>
        </p:nvSpPr>
        <p:spPr>
          <a:xfrm>
            <a:off x="279400" y="736600"/>
            <a:ext cx="4572000" cy="14605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3"/>
            </a:solidFill>
          </a:ln>
        </p:spPr>
        <p:txBody>
          <a:bodyPr wrap="square" lIns="91440" tIns="36000" rIns="91440" bIns="3600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kern="0" spc="200" dirty="0">
                <a:solidFill>
                  <a:srgbClr val="1F5061"/>
                </a:solidFill>
                <a:latin typeface="Calibri" pitchFamily="34" charset="0"/>
              </a:rPr>
              <a:t>THE SETUP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</a:rPr>
              <a:t>An agronomist studies crop yield (kg/acre) and fits two models.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388792"/>
                </a:solidFill>
                <a:latin typeface="Calibri" pitchFamily="34" charset="0"/>
              </a:rPr>
              <a:t>Model 1:  </a:t>
            </a:r>
            <a:r>
              <a:rPr lang="en-US" sz="1050" dirty="0">
                <a:solidFill>
                  <a:srgbClr val="388792"/>
                </a:solidFill>
                <a:latin typeface="Consolas" pitchFamily="34" charset="0"/>
              </a:rPr>
              <a:t>lm(yield ~ fertilizer)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D7A600"/>
                </a:solidFill>
                <a:latin typeface="Calibri" pitchFamily="34" charset="0"/>
              </a:rPr>
              <a:t>Model 2:  </a:t>
            </a:r>
            <a:r>
              <a:rPr lang="en-US" sz="1050" dirty="0">
                <a:solidFill>
                  <a:srgbClr val="D7A600"/>
                </a:solidFill>
                <a:latin typeface="Consolas" pitchFamily="34" charset="0"/>
              </a:rPr>
              <a:t>lm(yield ~ fertilizer + rainfall)</a:t>
            </a:r>
          </a:p>
        </p:txBody>
      </p:sp>
      <p:sp>
        <p:nvSpPr>
          <p:cNvPr id="51" name="Setup 51"/>
          <p:cNvSpPr txBox="1"/>
          <p:nvPr/>
        </p:nvSpPr>
        <p:spPr>
          <a:xfrm>
            <a:off x="5029200" y="736600"/>
            <a:ext cx="3835400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18000" rIns="91440" bIns="1800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5061"/>
                </a:solidFill>
                <a:latin typeface="Calibri" pitchFamily="34" charset="0"/>
              </a:rPr>
              <a:t>THE OUTPUT</a:t>
            </a:r>
          </a:p>
        </p:txBody>
      </p:sp>
      <p:sp>
        <p:nvSpPr>
          <p:cNvPr id="52" name="Setup 52"/>
          <p:cNvSpPr txBox="1"/>
          <p:nvPr/>
        </p:nvSpPr>
        <p:spPr>
          <a:xfrm>
            <a:off x="5029200" y="1016000"/>
            <a:ext cx="1227328" cy="279400"/>
          </a:xfrm>
          <a:prstGeom prst="rect">
            <a:avLst/>
          </a:prstGeom>
          <a:solidFill>
            <a:srgbClr val="1F5061"/>
          </a:solidFill>
          <a:ln>
            <a:noFill/>
          </a:ln>
        </p:spPr>
        <p:txBody>
          <a:bodyPr wrap="square" lIns="54000" tIns="18000" rIns="54000" bIns="1800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term</a:t>
            </a:r>
          </a:p>
        </p:txBody>
      </p:sp>
      <p:sp>
        <p:nvSpPr>
          <p:cNvPr id="53" name="Setup 53"/>
          <p:cNvSpPr txBox="1"/>
          <p:nvPr/>
        </p:nvSpPr>
        <p:spPr>
          <a:xfrm>
            <a:off x="6256528" y="1016000"/>
            <a:ext cx="920496" cy="279400"/>
          </a:xfrm>
          <a:prstGeom prst="rect">
            <a:avLst/>
          </a:prstGeom>
          <a:solidFill>
            <a:srgbClr val="1F5061"/>
          </a:solidFill>
          <a:ln>
            <a:noFill/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estimate</a:t>
            </a:r>
          </a:p>
        </p:txBody>
      </p:sp>
      <p:sp>
        <p:nvSpPr>
          <p:cNvPr id="54" name="Setup 54"/>
          <p:cNvSpPr txBox="1"/>
          <p:nvPr/>
        </p:nvSpPr>
        <p:spPr>
          <a:xfrm>
            <a:off x="7177024" y="1016000"/>
            <a:ext cx="767080" cy="279400"/>
          </a:xfrm>
          <a:prstGeom prst="rect">
            <a:avLst/>
          </a:prstGeom>
          <a:solidFill>
            <a:srgbClr val="1F5061"/>
          </a:solidFill>
          <a:ln>
            <a:noFill/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SE</a:t>
            </a:r>
          </a:p>
        </p:txBody>
      </p:sp>
      <p:sp>
        <p:nvSpPr>
          <p:cNvPr id="55" name="Setup 55"/>
          <p:cNvSpPr txBox="1"/>
          <p:nvPr/>
        </p:nvSpPr>
        <p:spPr>
          <a:xfrm>
            <a:off x="7944104" y="1016000"/>
            <a:ext cx="920496" cy="279400"/>
          </a:xfrm>
          <a:prstGeom prst="rect">
            <a:avLst/>
          </a:prstGeom>
          <a:solidFill>
            <a:srgbClr val="1F5061"/>
          </a:solidFill>
          <a:ln>
            <a:noFill/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p</a:t>
            </a:r>
          </a:p>
        </p:txBody>
      </p:sp>
      <p:sp>
        <p:nvSpPr>
          <p:cNvPr id="56" name="Setup 56"/>
          <p:cNvSpPr txBox="1"/>
          <p:nvPr/>
        </p:nvSpPr>
        <p:spPr>
          <a:xfrm>
            <a:off x="5029200" y="1295400"/>
            <a:ext cx="1227328" cy="279400"/>
          </a:xfrm>
          <a:prstGeom prst="rect">
            <a:avLst/>
          </a:prstGeom>
          <a:solidFill>
            <a:srgbClr val="23877E">
              <a:alpha val="11765"/>
            </a:srgbClr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</a:rPr>
              <a:t>M1: fertilizer</a:t>
            </a:r>
          </a:p>
        </p:txBody>
      </p:sp>
      <p:sp>
        <p:nvSpPr>
          <p:cNvPr id="57" name="Setup 57"/>
          <p:cNvSpPr txBox="1"/>
          <p:nvPr/>
        </p:nvSpPr>
        <p:spPr>
          <a:xfrm>
            <a:off x="6256528" y="1295400"/>
            <a:ext cx="920496" cy="279400"/>
          </a:xfrm>
          <a:prstGeom prst="rect">
            <a:avLst/>
          </a:prstGeom>
          <a:solidFill>
            <a:srgbClr val="23877E">
              <a:alpha val="11765"/>
            </a:srgbClr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</a:rPr>
              <a:t>12.40</a:t>
            </a:r>
          </a:p>
        </p:txBody>
      </p:sp>
      <p:sp>
        <p:nvSpPr>
          <p:cNvPr id="58" name="Setup 58"/>
          <p:cNvSpPr txBox="1"/>
          <p:nvPr/>
        </p:nvSpPr>
        <p:spPr>
          <a:xfrm>
            <a:off x="7177024" y="1295400"/>
            <a:ext cx="767080" cy="279400"/>
          </a:xfrm>
          <a:prstGeom prst="rect">
            <a:avLst/>
          </a:prstGeom>
          <a:solidFill>
            <a:srgbClr val="23877E">
              <a:alpha val="11765"/>
            </a:srgbClr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</a:rPr>
              <a:t>1.85</a:t>
            </a:r>
          </a:p>
        </p:txBody>
      </p:sp>
      <p:sp>
        <p:nvSpPr>
          <p:cNvPr id="59" name="Setup 59"/>
          <p:cNvSpPr txBox="1"/>
          <p:nvPr/>
        </p:nvSpPr>
        <p:spPr>
          <a:xfrm>
            <a:off x="7944104" y="1295400"/>
            <a:ext cx="920496" cy="279400"/>
          </a:xfrm>
          <a:prstGeom prst="rect">
            <a:avLst/>
          </a:prstGeom>
          <a:solidFill>
            <a:srgbClr val="23877E">
              <a:alpha val="11765"/>
            </a:srgbClr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</a:rPr>
              <a:t>&lt;0.001 ***</a:t>
            </a:r>
          </a:p>
        </p:txBody>
      </p:sp>
      <p:sp>
        <p:nvSpPr>
          <p:cNvPr id="60" name="Setup 60"/>
          <p:cNvSpPr txBox="1"/>
          <p:nvPr/>
        </p:nvSpPr>
        <p:spPr>
          <a:xfrm>
            <a:off x="5029200" y="1574800"/>
            <a:ext cx="1227328" cy="279400"/>
          </a:xfrm>
          <a:prstGeom prst="rect">
            <a:avLst/>
          </a:prstGeom>
          <a:solidFill>
            <a:srgbClr val="F5C842">
              <a:alpha val="27843"/>
            </a:srgbClr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</a:rPr>
              <a:t>M2: fertilizer</a:t>
            </a:r>
          </a:p>
        </p:txBody>
      </p:sp>
      <p:sp>
        <p:nvSpPr>
          <p:cNvPr id="61" name="Setup 61"/>
          <p:cNvSpPr txBox="1"/>
          <p:nvPr/>
        </p:nvSpPr>
        <p:spPr>
          <a:xfrm>
            <a:off x="6256528" y="1574800"/>
            <a:ext cx="920496" cy="279400"/>
          </a:xfrm>
          <a:prstGeom prst="rect">
            <a:avLst/>
          </a:prstGeom>
          <a:solidFill>
            <a:srgbClr val="F5C842">
              <a:alpha val="27843"/>
            </a:srgbClr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</a:rPr>
              <a:t>2.10</a:t>
            </a:r>
          </a:p>
        </p:txBody>
      </p:sp>
      <p:sp>
        <p:nvSpPr>
          <p:cNvPr id="62" name="Setup 62"/>
          <p:cNvSpPr txBox="1"/>
          <p:nvPr/>
        </p:nvSpPr>
        <p:spPr>
          <a:xfrm>
            <a:off x="7177024" y="1574800"/>
            <a:ext cx="767080" cy="279400"/>
          </a:xfrm>
          <a:prstGeom prst="rect">
            <a:avLst/>
          </a:prstGeom>
          <a:solidFill>
            <a:srgbClr val="F5C842">
              <a:alpha val="27843"/>
            </a:srgbClr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</a:rPr>
              <a:t>2.18</a:t>
            </a:r>
          </a:p>
        </p:txBody>
      </p:sp>
      <p:sp>
        <p:nvSpPr>
          <p:cNvPr id="63" name="Setup 63"/>
          <p:cNvSpPr txBox="1"/>
          <p:nvPr/>
        </p:nvSpPr>
        <p:spPr>
          <a:xfrm>
            <a:off x="7944104" y="1574800"/>
            <a:ext cx="920496" cy="279400"/>
          </a:xfrm>
          <a:prstGeom prst="rect">
            <a:avLst/>
          </a:prstGeom>
          <a:solidFill>
            <a:srgbClr val="F5C842">
              <a:alpha val="27843"/>
            </a:srgbClr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</a:rPr>
              <a:t>0.34</a:t>
            </a:r>
          </a:p>
        </p:txBody>
      </p:sp>
      <p:sp>
        <p:nvSpPr>
          <p:cNvPr id="64" name="Setup 64"/>
          <p:cNvSpPr txBox="1"/>
          <p:nvPr/>
        </p:nvSpPr>
        <p:spPr>
          <a:xfrm>
            <a:off x="5029200" y="1854200"/>
            <a:ext cx="1227328" cy="279400"/>
          </a:xfrm>
          <a:prstGeom prst="rect">
            <a:avLst/>
          </a:prstGeom>
          <a:solidFill>
            <a:srgbClr val="F5C842">
              <a:alpha val="27843"/>
            </a:srgbClr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</a:rPr>
              <a:t>M2: rainfall</a:t>
            </a:r>
          </a:p>
        </p:txBody>
      </p:sp>
      <p:sp>
        <p:nvSpPr>
          <p:cNvPr id="65" name="Setup 65"/>
          <p:cNvSpPr txBox="1"/>
          <p:nvPr/>
        </p:nvSpPr>
        <p:spPr>
          <a:xfrm>
            <a:off x="6256528" y="1854200"/>
            <a:ext cx="920496" cy="279400"/>
          </a:xfrm>
          <a:prstGeom prst="rect">
            <a:avLst/>
          </a:prstGeom>
          <a:solidFill>
            <a:srgbClr val="F5C842">
              <a:alpha val="27843"/>
            </a:srgbClr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</a:rPr>
              <a:t>5.80</a:t>
            </a:r>
          </a:p>
        </p:txBody>
      </p:sp>
      <p:sp>
        <p:nvSpPr>
          <p:cNvPr id="66" name="Setup 66"/>
          <p:cNvSpPr txBox="1"/>
          <p:nvPr/>
        </p:nvSpPr>
        <p:spPr>
          <a:xfrm>
            <a:off x="7177024" y="1854200"/>
            <a:ext cx="767080" cy="279400"/>
          </a:xfrm>
          <a:prstGeom prst="rect">
            <a:avLst/>
          </a:prstGeom>
          <a:solidFill>
            <a:srgbClr val="F5C842">
              <a:alpha val="27843"/>
            </a:srgbClr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</a:rPr>
              <a:t>0.74</a:t>
            </a:r>
          </a:p>
        </p:txBody>
      </p:sp>
      <p:sp>
        <p:nvSpPr>
          <p:cNvPr id="67" name="Setup 67"/>
          <p:cNvSpPr txBox="1"/>
          <p:nvPr/>
        </p:nvSpPr>
        <p:spPr>
          <a:xfrm>
            <a:off x="7944104" y="1854200"/>
            <a:ext cx="920496" cy="279400"/>
          </a:xfrm>
          <a:prstGeom prst="rect">
            <a:avLst/>
          </a:prstGeom>
          <a:solidFill>
            <a:srgbClr val="F5C842">
              <a:alpha val="27843"/>
            </a:srgbClr>
          </a:solidFill>
          <a:ln w="6350">
            <a:solidFill>
              <a:srgbClr val="D5DDE3"/>
            </a:solidFill>
          </a:ln>
        </p:spPr>
        <p:txBody>
          <a:bodyPr wrap="square" lIns="54000" tIns="18000" rIns="54000" bIns="1800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</a:rPr>
              <a:t>&lt;0.001 ***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85FC68-FBB9-3890-F085-A4D1B048436E}"/>
              </a:ext>
            </a:extLst>
          </p:cNvPr>
          <p:cNvSpPr txBox="1"/>
          <p:nvPr/>
        </p:nvSpPr>
        <p:spPr>
          <a:xfrm>
            <a:off x="4684486" y="4279929"/>
            <a:ext cx="15720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400" b="1" dirty="0">
                <a:solidFill>
                  <a:srgbClr val="54A24B"/>
                </a:solidFill>
                <a:latin typeface="Calibri" pitchFamily="34" charset="0"/>
              </a:rPr>
              <a:t>Answer: DAG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CB32FE-6298-6415-351A-3A7BFB893299}"/>
              </a:ext>
            </a:extLst>
          </p:cNvPr>
          <p:cNvSpPr txBox="1"/>
          <p:nvPr/>
        </p:nvSpPr>
        <p:spPr>
          <a:xfrm>
            <a:off x="235485" y="4250262"/>
            <a:ext cx="45797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400" b="1" dirty="0">
                <a:solidFill>
                  <a:srgbClr val="54A24B"/>
                </a:solidFill>
                <a:latin typeface="Calibri" pitchFamily="34" charset="0"/>
              </a:rPr>
              <a:t>Answer: A.</a:t>
            </a:r>
          </a:p>
        </p:txBody>
      </p:sp>
      <p:sp>
        <p:nvSpPr>
          <p:cNvPr id="1000" name="DAGLabel_1000"/>
          <p:cNvSpPr txBox="1"/>
          <p:nvPr/>
        </p:nvSpPr>
        <p:spPr>
          <a:xfrm>
            <a:off x="4965700" y="3086128"/>
            <a:ext cx="762000" cy="1778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</a:rPr>
              <a:t>DAG 1</a:t>
            </a:r>
          </a:p>
        </p:txBody>
      </p:sp>
      <p:sp>
        <p:nvSpPr>
          <p:cNvPr id="1001" name="DAGNode_R_1001"/>
          <p:cNvSpPr/>
          <p:nvPr/>
        </p:nvSpPr>
        <p:spPr>
          <a:xfrm>
            <a:off x="5232400" y="3276628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5061"/>
            </a:solidFill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1F5061"/>
                </a:solidFill>
                <a:latin typeface="Calibri" pitchFamily="34" charset="0"/>
              </a:rPr>
              <a:t>Rain</a:t>
            </a:r>
          </a:p>
        </p:txBody>
      </p:sp>
      <p:sp>
        <p:nvSpPr>
          <p:cNvPr id="1002" name="DAGNode_F_1002"/>
          <p:cNvSpPr/>
          <p:nvPr/>
        </p:nvSpPr>
        <p:spPr>
          <a:xfrm>
            <a:off x="4902200" y="3911628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5061"/>
            </a:solidFill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1F5061"/>
                </a:solidFill>
                <a:latin typeface="Calibri" pitchFamily="34" charset="0"/>
              </a:rPr>
              <a:t>Fert</a:t>
            </a:r>
          </a:p>
        </p:txBody>
      </p:sp>
      <p:sp>
        <p:nvSpPr>
          <p:cNvPr id="1003" name="DAGNode_Y_1003"/>
          <p:cNvSpPr/>
          <p:nvPr/>
        </p:nvSpPr>
        <p:spPr>
          <a:xfrm>
            <a:off x="5562600" y="3911628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5061"/>
            </a:solidFill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1F5061"/>
                </a:solidFill>
                <a:latin typeface="Calibri" pitchFamily="34" charset="0"/>
              </a:rPr>
              <a:t>Yield</a:t>
            </a:r>
          </a:p>
        </p:txBody>
      </p:sp>
      <p:cxnSp>
        <p:nvCxnSpPr>
          <p:cNvPr id="1004" name="DAGEdge_1004"/>
          <p:cNvCxnSpPr/>
          <p:nvPr/>
        </p:nvCxnSpPr>
        <p:spPr>
          <a:xfrm>
            <a:off x="5130800" y="4025928"/>
            <a:ext cx="419100" cy="1"/>
          </a:xfrm>
          <a:prstGeom prst="straightConnector1">
            <a:avLst/>
          </a:prstGeom>
          <a:ln w="12700">
            <a:solidFill>
              <a:srgbClr val="1F506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5" name="DAGEdge_1005"/>
          <p:cNvCxnSpPr/>
          <p:nvPr/>
        </p:nvCxnSpPr>
        <p:spPr>
          <a:xfrm>
            <a:off x="5399433" y="3492337"/>
            <a:ext cx="218876" cy="420915"/>
          </a:xfrm>
          <a:prstGeom prst="straightConnector1">
            <a:avLst/>
          </a:prstGeom>
          <a:ln w="12700">
            <a:solidFill>
              <a:srgbClr val="1F506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6" name="DAGLabel_1006"/>
          <p:cNvSpPr txBox="1"/>
          <p:nvPr/>
        </p:nvSpPr>
        <p:spPr>
          <a:xfrm>
            <a:off x="6375400" y="3086128"/>
            <a:ext cx="762000" cy="1778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</a:rPr>
              <a:t>DAG 2</a:t>
            </a:r>
          </a:p>
        </p:txBody>
      </p:sp>
      <p:sp>
        <p:nvSpPr>
          <p:cNvPr id="1007" name="DAGNode_R_1007"/>
          <p:cNvSpPr/>
          <p:nvPr/>
        </p:nvSpPr>
        <p:spPr>
          <a:xfrm>
            <a:off x="6642100" y="3276628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5061"/>
            </a:solidFill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1F5061"/>
                </a:solidFill>
                <a:latin typeface="Calibri" pitchFamily="34" charset="0"/>
              </a:rPr>
              <a:t>Rain</a:t>
            </a:r>
          </a:p>
        </p:txBody>
      </p:sp>
      <p:sp>
        <p:nvSpPr>
          <p:cNvPr id="1008" name="DAGNode_F_1008"/>
          <p:cNvSpPr/>
          <p:nvPr/>
        </p:nvSpPr>
        <p:spPr>
          <a:xfrm>
            <a:off x="6311900" y="3911628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5061"/>
            </a:solidFill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1F5061"/>
                </a:solidFill>
                <a:latin typeface="Calibri" pitchFamily="34" charset="0"/>
              </a:rPr>
              <a:t>Fert</a:t>
            </a:r>
          </a:p>
        </p:txBody>
      </p:sp>
      <p:sp>
        <p:nvSpPr>
          <p:cNvPr id="1009" name="DAGNode_Y_1009"/>
          <p:cNvSpPr/>
          <p:nvPr/>
        </p:nvSpPr>
        <p:spPr>
          <a:xfrm>
            <a:off x="6972300" y="3911628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5061"/>
            </a:solidFill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1F5061"/>
                </a:solidFill>
                <a:latin typeface="Calibri" pitchFamily="34" charset="0"/>
              </a:rPr>
              <a:t>Yield</a:t>
            </a:r>
          </a:p>
        </p:txBody>
      </p:sp>
      <p:cxnSp>
        <p:nvCxnSpPr>
          <p:cNvPr id="1010" name="DAGEdge_1010"/>
          <p:cNvCxnSpPr/>
          <p:nvPr/>
        </p:nvCxnSpPr>
        <p:spPr>
          <a:xfrm flipH="1">
            <a:off x="6484792" y="3492337"/>
            <a:ext cx="218876" cy="420915"/>
          </a:xfrm>
          <a:prstGeom prst="straightConnector1">
            <a:avLst/>
          </a:prstGeom>
          <a:ln w="12700">
            <a:solidFill>
              <a:srgbClr val="1F506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1" name="DAGEdge_1011"/>
          <p:cNvCxnSpPr/>
          <p:nvPr/>
        </p:nvCxnSpPr>
        <p:spPr>
          <a:xfrm>
            <a:off x="6809133" y="3492337"/>
            <a:ext cx="218876" cy="420915"/>
          </a:xfrm>
          <a:prstGeom prst="straightConnector1">
            <a:avLst/>
          </a:prstGeom>
          <a:ln w="12700">
            <a:solidFill>
              <a:srgbClr val="1F506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2" name="DAGEdge_1012"/>
          <p:cNvCxnSpPr/>
          <p:nvPr/>
        </p:nvCxnSpPr>
        <p:spPr>
          <a:xfrm>
            <a:off x="6540500" y="4025928"/>
            <a:ext cx="419100" cy="1"/>
          </a:xfrm>
          <a:prstGeom prst="straightConnector1">
            <a:avLst/>
          </a:prstGeom>
          <a:ln w="12700">
            <a:solidFill>
              <a:srgbClr val="1F506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3" name="DAGLabel_1013"/>
          <p:cNvSpPr txBox="1"/>
          <p:nvPr/>
        </p:nvSpPr>
        <p:spPr>
          <a:xfrm>
            <a:off x="7785100" y="3086128"/>
            <a:ext cx="762000" cy="1778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</a:rPr>
              <a:t>DAG 3</a:t>
            </a:r>
          </a:p>
        </p:txBody>
      </p:sp>
      <p:sp>
        <p:nvSpPr>
          <p:cNvPr id="1014" name="DAGNode_R_1014"/>
          <p:cNvSpPr/>
          <p:nvPr/>
        </p:nvSpPr>
        <p:spPr>
          <a:xfrm>
            <a:off x="8051800" y="3276628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5061"/>
            </a:solidFill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1F5061"/>
                </a:solidFill>
                <a:latin typeface="Calibri" pitchFamily="34" charset="0"/>
              </a:rPr>
              <a:t>Rain</a:t>
            </a:r>
          </a:p>
        </p:txBody>
      </p:sp>
      <p:sp>
        <p:nvSpPr>
          <p:cNvPr id="1015" name="DAGNode_F_1015"/>
          <p:cNvSpPr/>
          <p:nvPr/>
        </p:nvSpPr>
        <p:spPr>
          <a:xfrm>
            <a:off x="7721600" y="3911628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5061"/>
            </a:solidFill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1F5061"/>
                </a:solidFill>
                <a:latin typeface="Calibri" pitchFamily="34" charset="0"/>
              </a:rPr>
              <a:t>Fert</a:t>
            </a:r>
          </a:p>
        </p:txBody>
      </p:sp>
      <p:sp>
        <p:nvSpPr>
          <p:cNvPr id="1016" name="DAGNode_Y_1016"/>
          <p:cNvSpPr/>
          <p:nvPr/>
        </p:nvSpPr>
        <p:spPr>
          <a:xfrm>
            <a:off x="8382000" y="3911628"/>
            <a:ext cx="228600" cy="228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5061"/>
            </a:solidFill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1F5061"/>
                </a:solidFill>
                <a:latin typeface="Calibri" pitchFamily="34" charset="0"/>
              </a:rPr>
              <a:t>Yield</a:t>
            </a:r>
          </a:p>
        </p:txBody>
      </p:sp>
      <p:cxnSp>
        <p:nvCxnSpPr>
          <p:cNvPr id="1017" name="DAGEdge_1017"/>
          <p:cNvCxnSpPr/>
          <p:nvPr/>
        </p:nvCxnSpPr>
        <p:spPr>
          <a:xfrm>
            <a:off x="7950200" y="4025928"/>
            <a:ext cx="419100" cy="1"/>
          </a:xfrm>
          <a:prstGeom prst="straightConnector1">
            <a:avLst/>
          </a:prstGeom>
          <a:ln w="12700">
            <a:solidFill>
              <a:srgbClr val="1F506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8" name="DAGEdge_1018"/>
          <p:cNvCxnSpPr/>
          <p:nvPr/>
        </p:nvCxnSpPr>
        <p:spPr>
          <a:xfrm flipH="1" flipV="1">
            <a:off x="8224692" y="3503605"/>
            <a:ext cx="218876" cy="420915"/>
          </a:xfrm>
          <a:prstGeom prst="straightConnector1">
            <a:avLst/>
          </a:prstGeom>
          <a:ln w="12700">
            <a:solidFill>
              <a:srgbClr val="1F506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876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01" grpId="0" animBg="1"/>
      <p:bldP spid="102" grpId="0" animBg="1"/>
      <p:bldP spid="103" grpId="0" animBg="1"/>
      <p:bldP spid="6" grpId="0"/>
      <p:bldP spid="8" grpId="0"/>
      <p:bldP spid="1000" grpId="0"/>
      <p:bldP spid="1001" grpId="0" animBg="1"/>
      <p:bldP spid="1002" grpId="0" animBg="1"/>
      <p:bldP spid="1003" grpId="0" animBg="1"/>
      <p:bldP spid="1006" grpId="0"/>
      <p:bldP spid="1007" grpId="0" animBg="1"/>
      <p:bldP spid="1008" grpId="0" animBg="1"/>
      <p:bldP spid="1009" grpId="0" animBg="1"/>
      <p:bldP spid="1013" grpId="0"/>
      <p:bldP spid="1014" grpId="0" animBg="1"/>
      <p:bldP spid="1015" grpId="0" animBg="1"/>
      <p:bldP spid="10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66700" y="101600"/>
            <a:ext cx="8623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061"/>
                </a:solidFill>
                <a:latin typeface="Calibri" pitchFamily="34" charset="0"/>
              </a:rPr>
              <a:t>So is our regression wrong?</a:t>
            </a:r>
          </a:p>
        </p:txBody>
      </p:sp>
      <p:cxnSp>
        <p:nvCxnSpPr>
          <p:cNvPr id="16" name="TitleDash">
            <a:extLst>
              <a:ext uri="{FF2B5EF4-FFF2-40B4-BE49-F238E27FC236}">
                <a16:creationId xmlns:a16="http://schemas.microsoft.com/office/drawing/2014/main" id="{6F071326-413D-E14F-9ACC-E4299043D005}"/>
              </a:ext>
            </a:extLst>
          </p:cNvPr>
          <p:cNvCxnSpPr/>
          <p:nvPr/>
        </p:nvCxnSpPr>
        <p:spPr>
          <a:xfrm>
            <a:off x="279400" y="558800"/>
            <a:ext cx="355600" cy="0"/>
          </a:xfrm>
          <a:prstGeom prst="straightConnector1">
            <a:avLst/>
          </a:prstGeom>
          <a:ln w="38100" cap="flat" cmpd="sng" algn="ctr">
            <a:solidFill>
              <a:srgbClr val="1E506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Copied Picture 17">
            <a:extLst>
              <a:ext uri="{FF2B5EF4-FFF2-40B4-BE49-F238E27FC236}">
                <a16:creationId xmlns:a16="http://schemas.microsoft.com/office/drawing/2014/main" id="{18EE0766-F427-07FF-6E98-3F3F89F1A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02" y="738777"/>
            <a:ext cx="4064000" cy="2476500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/>
        </p:spPr>
      </p:pic>
      <p:sp>
        <p:nvSpPr>
          <p:cNvPr id="201" name="Bullets"/>
          <p:cNvSpPr txBox="1"/>
          <p:nvPr/>
        </p:nvSpPr>
        <p:spPr>
          <a:xfrm>
            <a:off x="279400" y="952500"/>
            <a:ext cx="4191000" cy="152073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/>
              </a:rPr>
              <a:t>OLS regression gives a valid </a:t>
            </a:r>
            <a:r>
              <a:rPr lang="en-US" sz="1500" b="1" dirty="0">
                <a:solidFill>
                  <a:srgbClr val="1F5061"/>
                </a:solidFill>
                <a:latin typeface="Calibri"/>
              </a:rPr>
              <a:t>association</a:t>
            </a:r>
            <a:r>
              <a:rPr lang="en-US" sz="1500" dirty="0">
                <a:solidFill>
                  <a:srgbClr val="2C3E50"/>
                </a:solidFill>
                <a:latin typeface="Calibri"/>
              </a:rPr>
              <a:t> in the sample.</a:t>
            </a:r>
          </a:p>
          <a:p>
            <a:pPr marL="228600" lvl="1" indent="-228600">
              <a:spcAft>
                <a:spcPts val="600"/>
              </a:spcAft>
              <a:buFont typeface="Arial"/>
              <a:buChar char="◦"/>
            </a:pPr>
            <a:r>
              <a:rPr lang="en-US" sz="1300" i="1" dirty="0">
                <a:solidFill>
                  <a:srgbClr val="2C3E50"/>
                </a:solidFill>
                <a:latin typeface="Calibri"/>
              </a:rPr>
              <a:t>"On average, hand washers had more sick days."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/>
              </a:rPr>
              <a:t>Valid description</a:t>
            </a:r>
          </a:p>
          <a:p>
            <a:pPr marL="228600" indent="-228600">
              <a:buFont typeface="Arial"/>
              <a:buChar char="•"/>
            </a:pPr>
            <a:r>
              <a:rPr lang="en-US" sz="1500" b="1" dirty="0">
                <a:solidFill>
                  <a:srgbClr val="C0392B"/>
                </a:solidFill>
                <a:latin typeface="Calibri"/>
              </a:rPr>
              <a:t>Not </a:t>
            </a:r>
            <a:r>
              <a:rPr lang="en-US" sz="1500" dirty="0">
                <a:solidFill>
                  <a:srgbClr val="2C3E50"/>
                </a:solidFill>
                <a:latin typeface="Calibri"/>
              </a:rPr>
              <a:t>causal effect of washing on sick days.</a:t>
            </a:r>
          </a:p>
        </p:txBody>
      </p:sp>
    </p:spTree>
    <p:extLst>
      <p:ext uri="{BB962C8B-B14F-4D97-AF65-F5344CB8AC3E}">
        <p14:creationId xmlns:p14="http://schemas.microsoft.com/office/powerpoint/2010/main" val="1126928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66700" y="101600"/>
            <a:ext cx="8623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061"/>
                </a:solidFill>
                <a:latin typeface="Calibri" pitchFamily="34" charset="0"/>
              </a:rPr>
              <a:t>Controlling helps, but may not get you all the way to cause</a:t>
            </a:r>
          </a:p>
        </p:txBody>
      </p:sp>
      <p:cxnSp>
        <p:nvCxnSpPr>
          <p:cNvPr id="16" name="TitleDash">
            <a:extLst>
              <a:ext uri="{FF2B5EF4-FFF2-40B4-BE49-F238E27FC236}">
                <a16:creationId xmlns:a16="http://schemas.microsoft.com/office/drawing/2014/main" id="{6F071326-413D-E14F-9ACC-E4299043D005}"/>
              </a:ext>
            </a:extLst>
          </p:cNvPr>
          <p:cNvCxnSpPr/>
          <p:nvPr/>
        </p:nvCxnSpPr>
        <p:spPr>
          <a:xfrm>
            <a:off x="279400" y="558800"/>
            <a:ext cx="355600" cy="0"/>
          </a:xfrm>
          <a:prstGeom prst="straightConnector1">
            <a:avLst/>
          </a:prstGeom>
          <a:ln w="38100" cap="flat" cmpd="sng" algn="ctr">
            <a:solidFill>
              <a:srgbClr val="1E506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Bullets"/>
          <p:cNvSpPr txBox="1"/>
          <p:nvPr/>
        </p:nvSpPr>
        <p:spPr>
          <a:xfrm>
            <a:off x="285750" y="830797"/>
            <a:ext cx="4191000" cy="1790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F5061"/>
                </a:solidFill>
                <a:latin typeface="Calibri"/>
              </a:rPr>
              <a:t>Add controls → get a conditional association.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/>
              </a:rPr>
              <a:t>Slope on X is now "holding controls fixed."</a:t>
            </a:r>
          </a:p>
          <a:p>
            <a:pPr marL="228600" lvl="1" indent="-228600">
              <a:spcAft>
                <a:spcPts val="600"/>
              </a:spcAft>
              <a:buFont typeface="Arial"/>
              <a:buChar char="◦"/>
            </a:pPr>
            <a:r>
              <a:rPr lang="en-US" sz="1300" i="1" dirty="0">
                <a:solidFill>
                  <a:srgbClr val="2C3E50"/>
                </a:solidFill>
                <a:latin typeface="Calibri"/>
              </a:rPr>
              <a:t>"Among people with the same number of kids…"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/>
              </a:rPr>
              <a:t>Closes back-door paths through </a:t>
            </a:r>
            <a:r>
              <a:rPr lang="en-US" sz="1500" b="1" dirty="0">
                <a:solidFill>
                  <a:srgbClr val="1F5061"/>
                </a:solidFill>
                <a:latin typeface="Calibri"/>
              </a:rPr>
              <a:t>variables you measured</a:t>
            </a:r>
            <a:r>
              <a:rPr lang="en-US" sz="1500" dirty="0">
                <a:solidFill>
                  <a:srgbClr val="2C3E50"/>
                </a:solidFill>
                <a:latin typeface="Calibri"/>
              </a:rPr>
              <a:t>.</a:t>
            </a:r>
          </a:p>
          <a:p>
            <a:pPr marL="228600" indent="-228600">
              <a:buFont typeface="Arial"/>
              <a:buChar char="•"/>
            </a:pPr>
            <a:r>
              <a:rPr lang="en-US" sz="1500" b="1" dirty="0">
                <a:solidFill>
                  <a:srgbClr val="C0392B"/>
                </a:solidFill>
                <a:latin typeface="Calibri"/>
              </a:rPr>
              <a:t>Unobserved confounders may still be there</a:t>
            </a:r>
          </a:p>
          <a:p>
            <a:r>
              <a:rPr lang="en-US" sz="1500" b="1" dirty="0">
                <a:solidFill>
                  <a:srgbClr val="C0392B"/>
                </a:solidFill>
                <a:latin typeface="Calibri"/>
              </a:rPr>
              <a:t>(e.g. travel habits, city)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87A1CF-D4CA-F20A-A59A-0C9DB0E68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211" y="1231900"/>
            <a:ext cx="4611789" cy="2530203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/>
        </p:spPr>
      </p:pic>
    </p:spTree>
    <p:extLst>
      <p:ext uri="{BB962C8B-B14F-4D97-AF65-F5344CB8AC3E}">
        <p14:creationId xmlns:p14="http://schemas.microsoft.com/office/powerpoint/2010/main" val="1922560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09984F7-8CA8-52A4-6536-FC6A908A9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D28A0E-E4AD-9C05-522D-11FD51A64433}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42A0320-EDE9-E7BE-F321-CD411029B3CF}"/>
              </a:ext>
            </a:extLst>
          </p:cNvPr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F86D7D4-DE6D-BB32-EC5B-7892ECC557DE}"/>
              </a:ext>
            </a:extLst>
          </p:cNvPr>
          <p:cNvSpPr/>
          <p:nvPr/>
        </p:nvSpPr>
        <p:spPr>
          <a:xfrm>
            <a:off x="266700" y="101600"/>
            <a:ext cx="8623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F5061"/>
                </a:solidFill>
                <a:latin typeface="Calibri" pitchFamily="34" charset="0"/>
              </a:rPr>
              <a:t>A regression coefficient is not automatically a causal effect</a:t>
            </a:r>
          </a:p>
        </p:txBody>
      </p:sp>
      <p:cxnSp>
        <p:nvCxnSpPr>
          <p:cNvPr id="16" name="TitleDash">
            <a:extLst>
              <a:ext uri="{FF2B5EF4-FFF2-40B4-BE49-F238E27FC236}">
                <a16:creationId xmlns:a16="http://schemas.microsoft.com/office/drawing/2014/main" id="{DBE40F2B-5A88-00C1-713F-B8D710762C75}"/>
              </a:ext>
            </a:extLst>
          </p:cNvPr>
          <p:cNvCxnSpPr/>
          <p:nvPr/>
        </p:nvCxnSpPr>
        <p:spPr>
          <a:xfrm>
            <a:off x="279400" y="558800"/>
            <a:ext cx="355600" cy="0"/>
          </a:xfrm>
          <a:prstGeom prst="straightConnector1">
            <a:avLst/>
          </a:prstGeom>
          <a:ln w="38100" cap="flat" cmpd="sng" algn="ctr">
            <a:solidFill>
              <a:srgbClr val="1E506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Bullets">
            <a:extLst>
              <a:ext uri="{FF2B5EF4-FFF2-40B4-BE49-F238E27FC236}">
                <a16:creationId xmlns:a16="http://schemas.microsoft.com/office/drawing/2014/main" id="{568199A4-ABAB-3B9D-832A-0E46DE42FD3C}"/>
              </a:ext>
            </a:extLst>
          </p:cNvPr>
          <p:cNvSpPr txBox="1"/>
          <p:nvPr/>
        </p:nvSpPr>
        <p:spPr>
          <a:xfrm>
            <a:off x="285750" y="830797"/>
            <a:ext cx="4191000" cy="1790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spcAft>
                <a:spcPts val="500"/>
              </a:spcAft>
              <a:buNone/>
            </a:pPr>
            <a:endParaRPr lang="en-US" sz="1500" b="1" dirty="0">
              <a:solidFill>
                <a:srgbClr val="C0392B"/>
              </a:solidFill>
              <a:latin typeface="Calibri"/>
            </a:endParaRPr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0008F26D-94F2-28A3-4754-95942510E630}"/>
              </a:ext>
            </a:extLst>
          </p:cNvPr>
          <p:cNvSpPr txBox="1"/>
          <p:nvPr/>
        </p:nvSpPr>
        <p:spPr>
          <a:xfrm>
            <a:off x="230289" y="952499"/>
            <a:ext cx="4064000" cy="3925826"/>
          </a:xfrm>
          <a:prstGeom prst="roundRect">
            <a:avLst>
              <a:gd name="adj" fmla="val 2582"/>
            </a:avLst>
          </a:prstGeom>
          <a:solidFill>
            <a:srgbClr val="1F5061"/>
          </a:solidFill>
          <a:ln>
            <a:noFill/>
          </a:ln>
        </p:spPr>
        <p:txBody>
          <a:bodyPr wrap="square" lIns="91440" tIns="54000" rIns="91440" bIns="5400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Several things can produce the slope without a causal link:</a:t>
            </a:r>
          </a:p>
          <a:p>
            <a:pPr>
              <a:spcAft>
                <a:spcPts val="100"/>
              </a:spcAft>
              <a:buNone/>
            </a:pPr>
            <a:endParaRPr lang="en-US" sz="1400" dirty="0">
              <a:solidFill>
                <a:srgbClr val="FFFFFF"/>
              </a:solidFill>
            </a:endParaRPr>
          </a:p>
          <a:p>
            <a:pPr>
              <a:spcAft>
                <a:spcPts val="1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• </a:t>
            </a:r>
            <a:r>
              <a:rPr lang="en-US" sz="1400" b="1" dirty="0">
                <a:solidFill>
                  <a:srgbClr val="FFFFFF"/>
                </a:solidFill>
              </a:rPr>
              <a:t>Confounding: </a:t>
            </a:r>
            <a:r>
              <a:rPr lang="en-US" sz="1400" dirty="0">
                <a:solidFill>
                  <a:srgbClr val="FFFFFF"/>
                </a:solidFill>
              </a:rPr>
              <a:t>kids, travel, crowding, income etc.</a:t>
            </a:r>
          </a:p>
          <a:p>
            <a:pPr>
              <a:spcAft>
                <a:spcPts val="100"/>
              </a:spcAft>
              <a:buNone/>
            </a:pPr>
            <a:endParaRPr lang="en-US" sz="1400" dirty="0">
              <a:solidFill>
                <a:srgbClr val="FFFFFF"/>
              </a:solidFill>
            </a:endParaRPr>
          </a:p>
          <a:p>
            <a:pPr>
              <a:spcAft>
                <a:spcPts val="1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• </a:t>
            </a:r>
            <a:r>
              <a:rPr lang="en-US" sz="1400" b="1" dirty="0">
                <a:solidFill>
                  <a:srgbClr val="FFFFFF"/>
                </a:solidFill>
              </a:rPr>
              <a:t>Reverse causation: </a:t>
            </a:r>
            <a:r>
              <a:rPr lang="en-US" sz="1400" dirty="0">
                <a:solidFill>
                  <a:srgbClr val="FFFFFF"/>
                </a:solidFill>
              </a:rPr>
              <a:t>Being sick may cause more washing. </a:t>
            </a:r>
          </a:p>
          <a:p>
            <a:pPr>
              <a:spcAft>
                <a:spcPts val="100"/>
              </a:spcAft>
              <a:buNone/>
            </a:pPr>
            <a:endParaRPr lang="en-US" sz="1400" dirty="0">
              <a:solidFill>
                <a:srgbClr val="FFFFFF"/>
              </a:solidFill>
            </a:endParaRPr>
          </a:p>
          <a:p>
            <a:pPr>
              <a:spcAft>
                <a:spcPts val="1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• </a:t>
            </a:r>
            <a:r>
              <a:rPr lang="en-US" sz="1400" b="1" dirty="0">
                <a:solidFill>
                  <a:srgbClr val="FFFFFF"/>
                </a:solidFill>
              </a:rPr>
              <a:t>Selection / missing data: </a:t>
            </a:r>
            <a:r>
              <a:rPr lang="en-US" sz="1400" dirty="0">
                <a:solidFill>
                  <a:srgbClr val="FFFFFF"/>
                </a:solidFill>
              </a:rPr>
              <a:t>Oversampled from medical personnel with high washing habits and high sickness.</a:t>
            </a:r>
          </a:p>
          <a:p>
            <a:pPr>
              <a:spcAft>
                <a:spcPts val="100"/>
              </a:spcAft>
              <a:buNone/>
            </a:pPr>
            <a:endParaRPr lang="en-US" sz="1400" dirty="0">
              <a:solidFill>
                <a:srgbClr val="FFFFFF"/>
              </a:solidFill>
            </a:endParaRPr>
          </a:p>
          <a:p>
            <a:pPr>
              <a:spcAft>
                <a:spcPts val="1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• </a:t>
            </a:r>
            <a:r>
              <a:rPr lang="en-US" sz="1400" b="1" dirty="0">
                <a:solidFill>
                  <a:srgbClr val="FFFFFF"/>
                </a:solidFill>
              </a:rPr>
              <a:t>Measurement error: </a:t>
            </a:r>
            <a:r>
              <a:rPr lang="en-US" sz="1400" dirty="0">
                <a:solidFill>
                  <a:srgbClr val="FFFFFF"/>
                </a:solidFill>
              </a:rPr>
              <a:t>“washes per day” and “sick days” misremembered or misreported.</a:t>
            </a:r>
          </a:p>
          <a:p>
            <a:pPr>
              <a:spcAft>
                <a:spcPts val="100"/>
              </a:spcAft>
              <a:buNone/>
            </a:pPr>
            <a:endParaRPr lang="en-US" sz="1400" dirty="0">
              <a:solidFill>
                <a:srgbClr val="FFFFFF"/>
              </a:solidFill>
            </a:endParaRPr>
          </a:p>
          <a:p>
            <a:pPr>
              <a:spcAft>
                <a:spcPts val="1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GOLD STANDARD FOR CAUSAL INFERENCE: Randomized controlled experiments</a:t>
            </a:r>
          </a:p>
        </p:txBody>
      </p:sp>
      <p:pic>
        <p:nvPicPr>
          <p:cNvPr id="7" name="Copied Picture 17">
            <a:extLst>
              <a:ext uri="{FF2B5EF4-FFF2-40B4-BE49-F238E27FC236}">
                <a16:creationId xmlns:a16="http://schemas.microsoft.com/office/drawing/2014/main" id="{0300166D-AE4A-E210-E733-7BDF6BACF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065" y="1307302"/>
            <a:ext cx="4317187" cy="2630786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/>
        </p:spPr>
      </p:pic>
    </p:spTree>
    <p:extLst>
      <p:ext uri="{BB962C8B-B14F-4D97-AF65-F5344CB8AC3E}">
        <p14:creationId xmlns:p14="http://schemas.microsoft.com/office/powerpoint/2010/main" val="1586148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221E8-8543-92CB-4817-CB8DCFB38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32C301-55A0-52B2-1B84-D02E388608AF}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EE7F950-8240-B6F7-8B69-3FDFEB1D243F}"/>
              </a:ext>
            </a:extLst>
          </p:cNvPr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D7F7999-B465-E108-3E0C-4B6342A7223B}"/>
              </a:ext>
            </a:extLst>
          </p:cNvPr>
          <p:cNvSpPr/>
          <p:nvPr/>
        </p:nvSpPr>
        <p:spPr>
          <a:xfrm>
            <a:off x="266700" y="101600"/>
            <a:ext cx="8623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  |  Multiple Linear Regression</a:t>
            </a: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5839F9A-1CF5-2976-ED3D-20EFBA7F0F2F}"/>
              </a:ext>
            </a:extLst>
          </p:cNvPr>
          <p:cNvSpPr/>
          <p:nvPr/>
        </p:nvSpPr>
        <p:spPr>
          <a:xfrm>
            <a:off x="548640" y="914400"/>
            <a:ext cx="365760" cy="365760"/>
          </a:xfrm>
          <a:prstGeom prst="ellipse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D86A872-BA92-5DE2-5314-6F65DCF53002}"/>
              </a:ext>
            </a:extLst>
          </p:cNvPr>
          <p:cNvSpPr/>
          <p:nvPr/>
        </p:nvSpPr>
        <p:spPr>
          <a:xfrm>
            <a:off x="548640" y="914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B1BFD01-97DE-B134-52A1-2BECDAC576D1}"/>
              </a:ext>
            </a:extLst>
          </p:cNvPr>
          <p:cNvSpPr/>
          <p:nvPr/>
        </p:nvSpPr>
        <p:spPr>
          <a:xfrm>
            <a:off x="1051560" y="947495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why fitting a single predictor can give misleading slopes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993374E-6320-B0D1-85B7-C878B9D5A19C}"/>
              </a:ext>
            </a:extLst>
          </p:cNvPr>
          <p:cNvSpPr/>
          <p:nvPr/>
        </p:nvSpPr>
        <p:spPr>
          <a:xfrm>
            <a:off x="548640" y="1583078"/>
            <a:ext cx="365760" cy="365760"/>
          </a:xfrm>
          <a:prstGeom prst="ellipse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78F3C0B-A959-2479-1381-B8CB088FAB78}"/>
              </a:ext>
            </a:extLst>
          </p:cNvPr>
          <p:cNvSpPr/>
          <p:nvPr/>
        </p:nvSpPr>
        <p:spPr>
          <a:xfrm>
            <a:off x="548640" y="158307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CFDC391-D923-81E9-8210-DCC16AAEA757}"/>
              </a:ext>
            </a:extLst>
          </p:cNvPr>
          <p:cNvSpPr/>
          <p:nvPr/>
        </p:nvSpPr>
        <p:spPr>
          <a:xfrm>
            <a:off x="1051560" y="1616173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multiple linear regression in R with </a:t>
            </a:r>
            <a:r>
              <a:rPr lang="en-GB" sz="1400" dirty="0" err="1"/>
              <a:t>lm</a:t>
            </a:r>
            <a:r>
              <a:rPr lang="en-GB" sz="1400" dirty="0"/>
              <a:t>(y ~ x1 + x2)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read the coefficient table</a:t>
            </a:r>
            <a:endParaRPr lang="en-US" sz="1400" dirty="0"/>
          </a:p>
        </p:txBody>
      </p:sp>
      <p:cxnSp>
        <p:nvCxnSpPr>
          <p:cNvPr id="25" name="TitleDash">
            <a:extLst>
              <a:ext uri="{FF2B5EF4-FFF2-40B4-BE49-F238E27FC236}">
                <a16:creationId xmlns:a16="http://schemas.microsoft.com/office/drawing/2014/main" id="{F0235E95-A1B9-2BD9-A478-2D0D9F7FC9C7}"/>
              </a:ext>
            </a:extLst>
          </p:cNvPr>
          <p:cNvCxnSpPr/>
          <p:nvPr/>
        </p:nvCxnSpPr>
        <p:spPr>
          <a:xfrm>
            <a:off x="279400" y="558800"/>
            <a:ext cx="355600" cy="0"/>
          </a:xfrm>
          <a:prstGeom prst="straightConnector1">
            <a:avLst/>
          </a:prstGeom>
          <a:ln w="38100" cap="flat" cmpd="sng" algn="ctr">
            <a:solidFill>
              <a:srgbClr val="1E506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hape 11">
            <a:extLst>
              <a:ext uri="{FF2B5EF4-FFF2-40B4-BE49-F238E27FC236}">
                <a16:creationId xmlns:a16="http://schemas.microsoft.com/office/drawing/2014/main" id="{82B89D22-FF91-95C4-A629-618127E830D7}"/>
              </a:ext>
            </a:extLst>
          </p:cNvPr>
          <p:cNvSpPr/>
          <p:nvPr/>
        </p:nvSpPr>
        <p:spPr>
          <a:xfrm>
            <a:off x="548640" y="2259734"/>
            <a:ext cx="365760" cy="365760"/>
          </a:xfrm>
          <a:prstGeom prst="ellipse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6F05F354-FB01-7DAC-2B6C-BC53119DF2B2}"/>
              </a:ext>
            </a:extLst>
          </p:cNvPr>
          <p:cNvSpPr/>
          <p:nvPr/>
        </p:nvSpPr>
        <p:spPr>
          <a:xfrm>
            <a:off x="548640" y="225973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638F740F-934D-6CBE-9119-35E7639C5105}"/>
              </a:ext>
            </a:extLst>
          </p:cNvPr>
          <p:cNvSpPr/>
          <p:nvPr/>
        </p:nvSpPr>
        <p:spPr>
          <a:xfrm>
            <a:off x="1051560" y="2292829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confounding using a directed acyclic graph (DAG)</a:t>
            </a:r>
            <a:endParaRPr lang="en-US" sz="1400" dirty="0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C0464DDE-F86D-CF59-C78F-83C5BD3FA6F5}"/>
              </a:ext>
            </a:extLst>
          </p:cNvPr>
          <p:cNvSpPr/>
          <p:nvPr/>
        </p:nvSpPr>
        <p:spPr>
          <a:xfrm>
            <a:off x="548640" y="2920896"/>
            <a:ext cx="365760" cy="365760"/>
          </a:xfrm>
          <a:prstGeom prst="ellipse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7CA5ABDF-DF45-FFD8-036D-1D64B1A2A81F}"/>
              </a:ext>
            </a:extLst>
          </p:cNvPr>
          <p:cNvSpPr/>
          <p:nvPr/>
        </p:nvSpPr>
        <p:spPr>
          <a:xfrm>
            <a:off x="548640" y="2920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B2819FB9-9595-13F0-4BD7-471C21FBB571}"/>
              </a:ext>
            </a:extLst>
          </p:cNvPr>
          <p:cNvSpPr/>
          <p:nvPr/>
        </p:nvSpPr>
        <p:spPr>
          <a:xfrm>
            <a:off x="1051560" y="2953991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LO2 to three or more variables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41900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66700" y="101600"/>
            <a:ext cx="8623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two predictors to many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PREDICTORS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 =  b₀  +  b₁·x₁  +  b₂·x₂  +  ε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PREDICTORS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 =  b₀  +  b₁·x₁  +  b₂·x₂  +  ...  +  bₖ·xₖ  +  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2542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intercept. One slope per predictor. One error term.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lm(sick_days ~ washes + kids, data = df)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lm(sick_days ~ washes + kids + age, data = df)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lm(sick_days ~ washes + kids + age + commute, data = df)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add a "+ predictor" to the formula. R adds one more row to the coefficient table.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slope is still read the same way: effect, holding the other predictors constant.</a:t>
            </a:r>
            <a:endParaRPr lang="en-US" sz="1400" dirty="0"/>
          </a:p>
        </p:txBody>
      </p:sp>
      <p:cxnSp>
        <p:nvCxnSpPr>
          <p:cNvPr id="14" name="TitleDash">
            <a:extLst>
              <a:ext uri="{FF2B5EF4-FFF2-40B4-BE49-F238E27FC236}">
                <a16:creationId xmlns:a16="http://schemas.microsoft.com/office/drawing/2014/main" id="{D5A60C98-4A6E-964A-835C-01EAC6A5CECB}"/>
              </a:ext>
            </a:extLst>
          </p:cNvPr>
          <p:cNvCxnSpPr/>
          <p:nvPr/>
        </p:nvCxnSpPr>
        <p:spPr>
          <a:xfrm>
            <a:off x="279400" y="558800"/>
            <a:ext cx="355600" cy="0"/>
          </a:xfrm>
          <a:prstGeom prst="straightConnector1">
            <a:avLst/>
          </a:prstGeom>
          <a:ln w="38100" cap="flat" cmpd="sng" algn="ctr">
            <a:solidFill>
              <a:srgbClr val="1E506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66700" y="101600"/>
            <a:ext cx="8623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 |  Three predictors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 commute time (minutes on public transit) to the handwashing model.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8229600" cy="274320"/>
          </a:xfrm>
          <a:prstGeom prst="rect">
            <a:avLst/>
          </a:prstGeom>
          <a:solidFill>
            <a:srgbClr val="C4DEDA">
              <a:alpha val="29804"/>
            </a:srgbClr>
          </a:solidFill>
          <a:ln/>
        </p:spPr>
        <p:txBody>
          <a:bodyPr wrap="square" lIns="36000" tIns="36000" rIns="36000" bIns="36000" rtlCol="0" anchor="ctr"/>
          <a:lstStyle/>
          <a:p>
            <a:r>
              <a:rPr lang="en-US" sz="1400" dirty="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lm(sick_days ~ washes + kids + commute, data = </a:t>
            </a:r>
            <a:r>
              <a:rPr lang="en-US" sz="1400">
                <a:solidFill>
                  <a:srgbClr val="2C3E50"/>
                </a:solidFill>
                <a:latin typeface="Consolas" pitchFamily="34" charset="0"/>
                <a:cs typeface="Consolas" pitchFamily="34" charset="-120"/>
              </a:rPr>
              <a:t>df)</a:t>
            </a:r>
            <a:endParaRPr lang="en-US" sz="1400" dirty="0">
              <a:solidFill>
                <a:srgbClr val="2C3E50"/>
              </a:solidFill>
              <a:latin typeface="Consolas" pitchFamily="34" charset="0"/>
              <a:cs typeface="Consolas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  Std.Error  t value  Pr(&gt;|t|)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(Intercept)   10.50     1.10       9.55     &lt; 0.001 ***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washes        -0.95     0.25      -3.80      0.005  **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kids           5.80     0.85       6.82     &lt; 0.001 ***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commute        0.08     0.02       4.00      0.003  **</a:t>
            </a:r>
            <a:endParaRPr lang="en-US" sz="1100" dirty="0"/>
          </a:p>
        </p:txBody>
      </p:sp>
      <p:cxnSp>
        <p:nvCxnSpPr>
          <p:cNvPr id="16" name="TitleDash">
            <a:extLst>
              <a:ext uri="{FF2B5EF4-FFF2-40B4-BE49-F238E27FC236}">
                <a16:creationId xmlns:a16="http://schemas.microsoft.com/office/drawing/2014/main" id="{2B15ED79-2DAC-EF45-B5F2-F5B8CE600E16}"/>
              </a:ext>
            </a:extLst>
          </p:cNvPr>
          <p:cNvCxnSpPr/>
          <p:nvPr/>
        </p:nvCxnSpPr>
        <p:spPr>
          <a:xfrm>
            <a:off x="279400" y="558800"/>
            <a:ext cx="355600" cy="0"/>
          </a:xfrm>
          <a:prstGeom prst="straightConnector1">
            <a:avLst/>
          </a:prstGeom>
          <a:ln w="38100" cap="flat" cmpd="sng" algn="ctr">
            <a:solidFill>
              <a:srgbClr val="1E506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QSh 100">
            <a:extLst>
              <a:ext uri="{FF2B5EF4-FFF2-40B4-BE49-F238E27FC236}">
                <a16:creationId xmlns:a16="http://schemas.microsoft.com/office/drawing/2014/main" id="{920BEACC-94D1-14EB-8A43-218BB4ECC145}"/>
              </a:ext>
            </a:extLst>
          </p:cNvPr>
          <p:cNvSpPr txBox="1"/>
          <p:nvPr/>
        </p:nvSpPr>
        <p:spPr>
          <a:xfrm>
            <a:off x="279400" y="2623888"/>
            <a:ext cx="4216400" cy="381000"/>
          </a:xfrm>
          <a:prstGeom prst="rect">
            <a:avLst/>
          </a:prstGeom>
          <a:solidFill>
            <a:srgbClr val="1F5061"/>
          </a:solidFill>
          <a:ln>
            <a:noFill/>
          </a:ln>
        </p:spPr>
        <p:txBody>
          <a:bodyPr wrap="square" lIns="137160" tIns="36000" rIns="91440" bIns="3600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</a:rPr>
              <a:t>Q1.  INTERPRET THE COMMUTE SLOPE</a:t>
            </a:r>
          </a:p>
        </p:txBody>
      </p:sp>
      <p:sp>
        <p:nvSpPr>
          <p:cNvPr id="19" name="QSh 101">
            <a:extLst>
              <a:ext uri="{FF2B5EF4-FFF2-40B4-BE49-F238E27FC236}">
                <a16:creationId xmlns:a16="http://schemas.microsoft.com/office/drawing/2014/main" id="{6447349B-F0E9-475A-16C7-3267AFFC765B}"/>
              </a:ext>
            </a:extLst>
          </p:cNvPr>
          <p:cNvSpPr txBox="1"/>
          <p:nvPr/>
        </p:nvSpPr>
        <p:spPr>
          <a:xfrm>
            <a:off x="279400" y="3004889"/>
            <a:ext cx="4216400" cy="1298007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</a:ln>
        </p:spPr>
        <p:txBody>
          <a:bodyPr wrap="square" lIns="137160" tIns="81000" rIns="137160" bIns="8100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5061"/>
                </a:solidFill>
                <a:latin typeface="Calibri" pitchFamily="34" charset="0"/>
              </a:rPr>
              <a:t>How should the commute coefficient (0.08) be read?</a:t>
            </a:r>
            <a:endParaRPr lang="en-US" sz="1150" dirty="0">
              <a:solidFill>
                <a:srgbClr val="2C3E50"/>
              </a:solidFill>
              <a:latin typeface="Calibri" pitchFamily="34" charset="0"/>
            </a:endParaRPr>
          </a:p>
          <a:p>
            <a:pPr>
              <a:spcAft>
                <a:spcPts val="200"/>
              </a:spcAft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</a:rPr>
              <a:t>A)  Holding washes and kids fixed, each extra minute predicts ~0.08 more sick days/year.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</a:rPr>
              <a:t>B)  Longer commutes cause more sick days because the slope is &gt; 0, and p &lt; 0.01.</a:t>
            </a:r>
          </a:p>
        </p:txBody>
      </p:sp>
      <p:sp>
        <p:nvSpPr>
          <p:cNvPr id="20" name="QSh 102">
            <a:extLst>
              <a:ext uri="{FF2B5EF4-FFF2-40B4-BE49-F238E27FC236}">
                <a16:creationId xmlns:a16="http://schemas.microsoft.com/office/drawing/2014/main" id="{731A7D6C-A73F-8096-D6E3-F0061B266A2C}"/>
              </a:ext>
            </a:extLst>
          </p:cNvPr>
          <p:cNvSpPr txBox="1"/>
          <p:nvPr/>
        </p:nvSpPr>
        <p:spPr>
          <a:xfrm>
            <a:off x="4673600" y="2623888"/>
            <a:ext cx="4216400" cy="381000"/>
          </a:xfrm>
          <a:prstGeom prst="rect">
            <a:avLst/>
          </a:prstGeom>
          <a:solidFill>
            <a:srgbClr val="1F5061"/>
          </a:solidFill>
          <a:ln>
            <a:noFill/>
          </a:ln>
        </p:spPr>
        <p:txBody>
          <a:bodyPr wrap="square" lIns="137160" tIns="36000" rIns="91440" bIns="36000" anchor="ctr"/>
          <a:lstStyle>
            <a:lvl1pPr indent="0">
              <a:buNone/>
              <a:defRPr sz="1300" b="1" kern="0" spc="200">
                <a:solidFill>
                  <a:srgbClr val="FFFFFF"/>
                </a:solidFill>
                <a:latin typeface="Calibri" pitchFamily="34" charset="0"/>
              </a:defRPr>
            </a:lvl1pPr>
          </a:lstStyle>
          <a:p>
            <a:pPr marL="0" indent="0" algn="l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</a:rPr>
              <a:t>Q2.  PREDICT A NEW PERSON</a:t>
            </a:r>
          </a:p>
        </p:txBody>
      </p:sp>
      <p:sp>
        <p:nvSpPr>
          <p:cNvPr id="21" name="QSh 103">
            <a:extLst>
              <a:ext uri="{FF2B5EF4-FFF2-40B4-BE49-F238E27FC236}">
                <a16:creationId xmlns:a16="http://schemas.microsoft.com/office/drawing/2014/main" id="{1C8E423C-F4D5-13D1-4675-696309CC055C}"/>
              </a:ext>
            </a:extLst>
          </p:cNvPr>
          <p:cNvSpPr txBox="1"/>
          <p:nvPr/>
        </p:nvSpPr>
        <p:spPr>
          <a:xfrm>
            <a:off x="4673600" y="3004889"/>
            <a:ext cx="4216400" cy="1127759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</a:ln>
        </p:spPr>
        <p:txBody>
          <a:bodyPr wrap="square" lIns="137160" tIns="81000" rIns="137160" bIns="8100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5061"/>
                </a:solidFill>
                <a:latin typeface="Calibri" pitchFamily="34" charset="0"/>
              </a:rPr>
              <a:t>Predicted sick days for someone who washes 8×/day, has 1 kid, commutes 30 min?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</a:rPr>
              <a:t>A)  10.50 + (−0.95 + 5.80 + 0.08) · 39  =  200.7 days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</a:rPr>
              <a:t>B)  10.50 + (−0.95·8) + (5.80·1) + (0.08·30)  =  11.10 days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</a:rPr>
              <a:t>C)  (−0.95·8) + (5.80·1) + (0.08·30)  =  0.60 days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343132-3229-030E-7A9C-A998B94F0565}"/>
              </a:ext>
            </a:extLst>
          </p:cNvPr>
          <p:cNvSpPr txBox="1"/>
          <p:nvPr/>
        </p:nvSpPr>
        <p:spPr>
          <a:xfrm>
            <a:off x="254000" y="4314903"/>
            <a:ext cx="4419600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400" b="1" dirty="0">
                <a:solidFill>
                  <a:srgbClr val="54A24B"/>
                </a:solidFill>
                <a:latin typeface="Calibri" pitchFamily="34" charset="0"/>
              </a:rPr>
              <a:t>Answer: A.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6B7B8A"/>
                </a:solidFill>
                <a:latin typeface="Calibri" pitchFamily="34" charset="0"/>
              </a:rPr>
              <a:t>B overclaims causation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B4DDC5-0192-1664-E8F7-B61BC138C5C8}"/>
              </a:ext>
            </a:extLst>
          </p:cNvPr>
          <p:cNvSpPr txBox="1"/>
          <p:nvPr/>
        </p:nvSpPr>
        <p:spPr>
          <a:xfrm>
            <a:off x="4673600" y="4228150"/>
            <a:ext cx="3805074" cy="67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400" b="1" dirty="0">
                <a:solidFill>
                  <a:srgbClr val="54A24B"/>
                </a:solidFill>
                <a:latin typeface="Calibri" pitchFamily="34" charset="0"/>
              </a:rPr>
              <a:t>Answer: B.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6B7B8A"/>
                </a:solidFill>
                <a:latin typeface="Calibri" pitchFamily="34" charset="0"/>
              </a:rPr>
              <a:t>A lumps the slopes and applies them to (8 + 1 + 30). C drops the intercept.</a:t>
            </a:r>
          </a:p>
        </p:txBody>
      </p:sp>
    </p:spTree>
    <p:extLst>
      <p:ext uri="{BB962C8B-B14F-4D97-AF65-F5344CB8AC3E}">
        <p14:creationId xmlns:p14="http://schemas.microsoft.com/office/powerpoint/2010/main" val="2286411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9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85673-BAB5-2ED8-AE17-118353906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073EC4-D88D-D49E-736E-F2E278013196}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8E78506-5E30-9526-B1C8-B7FCA194850D}"/>
              </a:ext>
            </a:extLst>
          </p:cNvPr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800FD6-117A-08A0-89D8-885422ACE711}"/>
              </a:ext>
            </a:extLst>
          </p:cNvPr>
          <p:cNvSpPr/>
          <p:nvPr/>
        </p:nvSpPr>
        <p:spPr>
          <a:xfrm>
            <a:off x="266700" y="101600"/>
            <a:ext cx="8623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  |  Multiple Linear Regression</a:t>
            </a: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1674557-4923-B40D-5F5F-3385D40F7F66}"/>
              </a:ext>
            </a:extLst>
          </p:cNvPr>
          <p:cNvSpPr/>
          <p:nvPr/>
        </p:nvSpPr>
        <p:spPr>
          <a:xfrm>
            <a:off x="548640" y="914400"/>
            <a:ext cx="365760" cy="365760"/>
          </a:xfrm>
          <a:prstGeom prst="ellipse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5D147CE-736C-9F2B-2A47-F8773FF8533B}"/>
              </a:ext>
            </a:extLst>
          </p:cNvPr>
          <p:cNvSpPr/>
          <p:nvPr/>
        </p:nvSpPr>
        <p:spPr>
          <a:xfrm>
            <a:off x="548640" y="914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B24D80E-5ABE-5DA9-09C2-62F84419F40F}"/>
              </a:ext>
            </a:extLst>
          </p:cNvPr>
          <p:cNvSpPr/>
          <p:nvPr/>
        </p:nvSpPr>
        <p:spPr>
          <a:xfrm>
            <a:off x="1051560" y="947495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why fitting a single predictor can give misleading slopes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A00AB24-F2DB-509D-562C-B6CB373F965C}"/>
              </a:ext>
            </a:extLst>
          </p:cNvPr>
          <p:cNvSpPr/>
          <p:nvPr/>
        </p:nvSpPr>
        <p:spPr>
          <a:xfrm>
            <a:off x="548640" y="1583078"/>
            <a:ext cx="365760" cy="365760"/>
          </a:xfrm>
          <a:prstGeom prst="ellipse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6CF6423-9AB4-09AB-5F03-BEE6BA3A08BC}"/>
              </a:ext>
            </a:extLst>
          </p:cNvPr>
          <p:cNvSpPr/>
          <p:nvPr/>
        </p:nvSpPr>
        <p:spPr>
          <a:xfrm>
            <a:off x="548640" y="158307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7664ABB-EF97-E5E1-C3EE-2AF5307ED99A}"/>
              </a:ext>
            </a:extLst>
          </p:cNvPr>
          <p:cNvSpPr/>
          <p:nvPr/>
        </p:nvSpPr>
        <p:spPr>
          <a:xfrm>
            <a:off x="1051560" y="1616173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multiple linear regression in R with </a:t>
            </a:r>
            <a:r>
              <a:rPr lang="en-GB" sz="1400" dirty="0" err="1"/>
              <a:t>lm</a:t>
            </a:r>
            <a:r>
              <a:rPr lang="en-GB" sz="1400" dirty="0"/>
              <a:t>(y ~ x1 + x2)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read the coefficient table</a:t>
            </a:r>
            <a:endParaRPr lang="en-US" sz="1400" dirty="0"/>
          </a:p>
        </p:txBody>
      </p:sp>
      <p:cxnSp>
        <p:nvCxnSpPr>
          <p:cNvPr id="25" name="TitleDash">
            <a:extLst>
              <a:ext uri="{FF2B5EF4-FFF2-40B4-BE49-F238E27FC236}">
                <a16:creationId xmlns:a16="http://schemas.microsoft.com/office/drawing/2014/main" id="{EEF55512-B3C9-73CF-89A9-7BADD6AA871A}"/>
              </a:ext>
            </a:extLst>
          </p:cNvPr>
          <p:cNvCxnSpPr/>
          <p:nvPr/>
        </p:nvCxnSpPr>
        <p:spPr>
          <a:xfrm>
            <a:off x="279400" y="558800"/>
            <a:ext cx="355600" cy="0"/>
          </a:xfrm>
          <a:prstGeom prst="straightConnector1">
            <a:avLst/>
          </a:prstGeom>
          <a:ln w="38100" cap="flat" cmpd="sng" algn="ctr">
            <a:solidFill>
              <a:srgbClr val="1E506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hape 11">
            <a:extLst>
              <a:ext uri="{FF2B5EF4-FFF2-40B4-BE49-F238E27FC236}">
                <a16:creationId xmlns:a16="http://schemas.microsoft.com/office/drawing/2014/main" id="{3A8782B5-F8E3-47E6-0EB0-02F79FBFFDC8}"/>
              </a:ext>
            </a:extLst>
          </p:cNvPr>
          <p:cNvSpPr/>
          <p:nvPr/>
        </p:nvSpPr>
        <p:spPr>
          <a:xfrm>
            <a:off x="548640" y="2259734"/>
            <a:ext cx="365760" cy="365760"/>
          </a:xfrm>
          <a:prstGeom prst="ellipse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AFA26A8E-5FF4-D6F7-F7BD-061AE1801800}"/>
              </a:ext>
            </a:extLst>
          </p:cNvPr>
          <p:cNvSpPr/>
          <p:nvPr/>
        </p:nvSpPr>
        <p:spPr>
          <a:xfrm>
            <a:off x="548640" y="225973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952752BA-D59E-297F-50AD-4FBC5C8D6D65}"/>
              </a:ext>
            </a:extLst>
          </p:cNvPr>
          <p:cNvSpPr/>
          <p:nvPr/>
        </p:nvSpPr>
        <p:spPr>
          <a:xfrm>
            <a:off x="1051560" y="2292829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confounding using a directed acyclic graph (DAG)</a:t>
            </a:r>
            <a:endParaRPr lang="en-US" sz="1400" dirty="0"/>
          </a:p>
        </p:txBody>
      </p:sp>
      <p:sp>
        <p:nvSpPr>
          <p:cNvPr id="8" name="Shape 11">
            <a:extLst>
              <a:ext uri="{FF2B5EF4-FFF2-40B4-BE49-F238E27FC236}">
                <a16:creationId xmlns:a16="http://schemas.microsoft.com/office/drawing/2014/main" id="{FE130C34-F5FA-86A9-A932-C69A08371412}"/>
              </a:ext>
            </a:extLst>
          </p:cNvPr>
          <p:cNvSpPr/>
          <p:nvPr/>
        </p:nvSpPr>
        <p:spPr>
          <a:xfrm>
            <a:off x="548640" y="2920896"/>
            <a:ext cx="365760" cy="365760"/>
          </a:xfrm>
          <a:prstGeom prst="ellipse">
            <a:avLst/>
          </a:prstGeom>
          <a:solidFill>
            <a:srgbClr val="1F5061"/>
          </a:solidFill>
          <a:ln w="12700">
            <a:solidFill>
              <a:srgbClr val="1F506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A0F69340-54B5-5D5B-7992-65D44A7BEB4E}"/>
              </a:ext>
            </a:extLst>
          </p:cNvPr>
          <p:cNvSpPr/>
          <p:nvPr/>
        </p:nvSpPr>
        <p:spPr>
          <a:xfrm>
            <a:off x="548640" y="2920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A9ED6D01-06CA-B0E1-1786-9AEE2EA0B47C}"/>
              </a:ext>
            </a:extLst>
          </p:cNvPr>
          <p:cNvSpPr/>
          <p:nvPr/>
        </p:nvSpPr>
        <p:spPr>
          <a:xfrm>
            <a:off x="1051560" y="2953991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LO2 to three or more variables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39385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42158F4-63EE-E94D-96A7-8B59EACB2D03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8927fa98-d666-4c7b-bcba-c1eb073091e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2551</TotalTime>
  <Words>3025</Words>
  <Application>Microsoft Macintosh PowerPoint</Application>
  <PresentationFormat>On-screen Show (16:9)</PresentationFormat>
  <Paragraphs>430</Paragraphs>
  <Slides>22</Slides>
  <Notes>22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Multiple Linear Regression</dc:title>
  <dc:subject>PptxGenJS Presentation</dc:subject>
  <dc:creator>Graph</dc:creator>
  <cp:lastModifiedBy>Kenechukwu Nwosu</cp:lastModifiedBy>
  <cp:revision>59</cp:revision>
  <cp:lastPrinted>2026-05-27T08:03:14Z</cp:lastPrinted>
  <dcterms:created xsi:type="dcterms:W3CDTF">2026-05-25T15:26:34Z</dcterms:created>
  <dcterms:modified xsi:type="dcterms:W3CDTF">2026-05-27T10:10:37Z</dcterms:modified>
</cp:coreProperties>
</file>