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notesMasterIdLst>
    <p:notesMasterId r:id="rId14"/>
  </p:notesMasterIdLst>
  <p:sldIdLst>
    <p:sldId id="634" r:id="rId3"/>
    <p:sldId id="489" r:id="rId4"/>
    <p:sldId id="494" r:id="rId5"/>
    <p:sldId id="496" r:id="rId6"/>
    <p:sldId id="694" r:id="rId7"/>
    <p:sldId id="542" r:id="rId8"/>
    <p:sldId id="562" r:id="rId9"/>
    <p:sldId id="644" r:id="rId10"/>
    <p:sldId id="556" r:id="rId11"/>
    <p:sldId id="558" r:id="rId12"/>
    <p:sldId id="645" r:id="rId13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6CB0"/>
    <a:srgbClr val="CDE7EB"/>
    <a:srgbClr val="F1F4FF"/>
    <a:srgbClr val="D5952A"/>
    <a:srgbClr val="E0AF89"/>
    <a:srgbClr val="F6FFF6"/>
    <a:srgbClr val="4698C9"/>
    <a:srgbClr val="489BCC"/>
    <a:srgbClr val="FFF8E8"/>
    <a:srgbClr val="2C8B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37"/>
    <p:restoredTop sz="94685"/>
  </p:normalViewPr>
  <p:slideViewPr>
    <p:cSldViewPr snapToGrid="0">
      <p:cViewPr varScale="1">
        <p:scale>
          <a:sx n="130" d="100"/>
          <a:sy n="130" d="100"/>
        </p:scale>
        <p:origin x="6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35251F-F7EB-C247-A649-A1B8A95EA917}" type="datetimeFigureOut">
              <a:rPr lang="en-US" smtClean="0"/>
              <a:t>5/14/26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902261-1C33-9047-9202-2A1CD1296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5106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F416D-EA27-EB75-1A84-62FC6A21B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72185F-9BEC-A34F-AF2B-6669FE487175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DCFE0-00CC-17E9-4240-9E4B81EBD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785D9-A698-6E64-0523-0981FAF34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E9DAEE-CEDC-7047-B537-2C59D33963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6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731DC-DC9B-DE8D-8BD7-B5E190D6F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0D85DB-ACDB-F342-8778-050936A6C0DA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5739A-5894-BA89-9B3E-6D8D89B1D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814E3-73C3-2FA9-DC2A-9C2A82226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0F61A6-4CCF-1C48-81EC-84F4E5F87F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46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CECBC-D88B-A4B8-7803-7C3758D4E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2A9AC7-90A6-084B-B505-E329BE10E829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2E4A9-0BD1-5E3B-DE4C-803B67AD5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E2687-9D53-801B-CCAC-C41F7435E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9C9793-7BBD-D943-BF38-F03B08E54F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015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496DE14-28B4-55CD-0E59-1B359F038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89276-9F7E-F947-9A13-792B95FEFF0E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612C61B-FE6B-F0F4-0ADB-39F34A1CF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765E95C-4274-EA0B-A963-4C92444C5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672CA-1F3C-2D49-BD61-18CA98FF96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411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477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2FBBF54-EDDB-2C0B-2F59-986D98B0D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41DA9F-3695-2A44-8A09-2AB8451D4B6A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A20169A-5EB1-5F93-A6AE-25CBD0B22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65D4528-7C37-4AF6-2144-173F69770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4180E-A06E-8541-8933-BF1FA14508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043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125" y="279400"/>
            <a:ext cx="10515600" cy="699587"/>
          </a:xfrm>
        </p:spPr>
        <p:txBody>
          <a:bodyPr>
            <a:normAutofit/>
          </a:bodyPr>
          <a:lstStyle>
            <a:lvl1pPr>
              <a:defRPr sz="24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66F0596-8687-E3CF-7B68-EBFB308A5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0EA3B5-8EB2-F744-9D41-DF515E8AC934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A8A7B61-5549-7CCA-3552-BA10353D7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75DA0FA-517F-030E-0EAF-DD4CAE39A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62139D-A04C-F347-8C84-63E0B0D41B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686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D1340F9-8AFF-7D3B-9A66-3630B6802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F48225-4655-B147-AF98-F64D0ED938F9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BBF5AFC-4D64-C09E-EE39-925044A47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41416BE-1B7A-F93F-47A7-7EFC54411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061991-08C9-9840-AABC-72BAC8CE5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026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72DCD49-8F8A-C8A9-50CA-F7FC1D75E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588F7E-5EBB-7B40-B841-B9B4D90D3D57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12EEAAF-A44A-EDCF-3D90-0CA42E6E3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809F78-9F87-109E-8A5B-95E56F58D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B3F76-9E2F-EE41-A455-F7FC7FF38C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6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2D1080B-289F-42F6-EA74-49D670F60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6C4A26-FF98-9F42-959C-383CB611B028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D9EFB68-B8A7-E345-6FA6-1A1098A99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FD95BFE-7A07-3FC2-CE29-0573B3D93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2E94FF-211D-5B44-AB51-BB6D2E6C05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411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3D00C-737A-4398-C682-C36B6253C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2FFAA-6770-5649-9140-B2070A3E0683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B1956-6FF0-1AAC-FF00-915ADB864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CBED4-FCB8-D810-DDE9-C56264EE4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5D737-EE59-5946-A4D1-F0002A6AC4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138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0892E-5168-CBE2-E397-2A719C6E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D0E83E-54A3-FC45-A9C1-992A5B6A3004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165E0-4FD2-CEEB-2AD2-716AA10D8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D7FD2-5936-91F6-6101-0EE3616CD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F95CD9-0897-6E40-9BB4-9F4F707DCA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476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F416D-EA27-EB75-1A84-62FC6A21B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72185F-9BEC-A34F-AF2B-6669FE487175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DCFE0-00CC-17E9-4240-9E4B81EBD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6785D9-A698-6E64-0523-0981FAF34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E9DAEE-CEDC-7047-B537-2C59D33963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65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731DC-DC9B-DE8D-8BD7-B5E190D6F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0D85DB-ACDB-F342-8778-050936A6C0DA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5739A-5894-BA89-9B3E-6D8D89B1D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814E3-73C3-2FA9-DC2A-9C2A82226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0F61A6-4CCF-1C48-81EC-84F4E5F87F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461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CECBC-D88B-A4B8-7803-7C3758D4E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2A9AC7-90A6-084B-B505-E329BE10E829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2E4A9-0BD1-5E3B-DE4C-803B67AD5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E2687-9D53-801B-CCAC-C41F7435E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9C9793-7BBD-D943-BF38-F03B08E54F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0154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496DE14-28B4-55CD-0E59-1B359F038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B89276-9F7E-F947-9A13-792B95FEFF0E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612C61B-FE6B-F0F4-0ADB-39F34A1CF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765E95C-4274-EA0B-A963-4C92444C5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672CA-1F3C-2D49-BD61-18CA98FF96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4113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0477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2FBBF54-EDDB-2C0B-2F59-986D98B0D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41DA9F-3695-2A44-8A09-2AB8451D4B6A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A20169A-5EB1-5F93-A6AE-25CBD0B22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65D4528-7C37-4AF6-2144-173F69770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4180E-A06E-8541-8933-BF1FA14508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0434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125" y="279400"/>
            <a:ext cx="10515600" cy="699587"/>
          </a:xfrm>
        </p:spPr>
        <p:txBody>
          <a:bodyPr>
            <a:normAutofit/>
          </a:bodyPr>
          <a:lstStyle>
            <a:lvl1pPr>
              <a:defRPr sz="2400" b="1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66F0596-8687-E3CF-7B68-EBFB308A5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0EA3B5-8EB2-F744-9D41-DF515E8AC934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A8A7B61-5549-7CCA-3552-BA10353D7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75DA0FA-517F-030E-0EAF-DD4CAE39A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62139D-A04C-F347-8C84-63E0B0D41B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6860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6525"/>
            <a:ext cx="10515600" cy="699587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66F0596-8687-E3CF-7B68-EBFB308A5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0EA3B5-8EB2-F744-9D41-DF515E8AC934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A8A7B61-5549-7CCA-3552-BA10353D7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75DA0FA-517F-030E-0EAF-DD4CAE39A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62139D-A04C-F347-8C84-63E0B0D41B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6860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D1340F9-8AFF-7D3B-9A66-3630B6802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F48225-4655-B147-AF98-F64D0ED938F9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BBF5AFC-4D64-C09E-EE39-925044A47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41416BE-1B7A-F93F-47A7-7EFC54411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061991-08C9-9840-AABC-72BAC8CE5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0269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72DCD49-8F8A-C8A9-50CA-F7FC1D75E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588F7E-5EBB-7B40-B841-B9B4D90D3D57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12EEAAF-A44A-EDCF-3D90-0CA42E6E3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809F78-9F87-109E-8A5B-95E56F58D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B3F76-9E2F-EE41-A455-F7FC7FF38C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66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2D1080B-289F-42F6-EA74-49D670F60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6C4A26-FF98-9F42-959C-383CB611B028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D9EFB68-B8A7-E345-6FA6-1A1098A99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FD95BFE-7A07-3FC2-CE29-0573B3D93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2E94FF-211D-5B44-AB51-BB6D2E6C05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4111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33D00C-737A-4398-C682-C36B6253C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2FFAA-6770-5649-9140-B2070A3E0683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B1956-6FF0-1AAC-FF00-915ADB864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CBED4-FCB8-D810-DDE9-C56264EE4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5D737-EE59-5946-A4D1-F0002A6AC4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1385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0892E-5168-CBE2-E397-2A719C6E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D0E83E-54A3-FC45-A9C1-992A5B6A3004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165E0-4FD2-CEEB-2AD2-716AA10D8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D7FD2-5936-91F6-6101-0EE3616CD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F95CD9-0897-6E40-9BB4-9F4F707DCA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476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6D7AC141-0404-B33E-A5AE-BB5A2858A9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-44449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  <a:endParaRPr lang="en-US" altLang="en-US" dirty="0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598F9549-4836-01BC-E8AA-0B577C8BCA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B5968-90D6-C721-1D9A-72BF44ECA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4BAFFA7-C29B-5E43-BA99-0E224199AC81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AC8CB-7E4F-E7E2-5E23-A048277639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E814F-6D12-BC18-9C46-08F7BBE2F1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E6890FD-EFBE-1F4E-952F-28195696B7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1" name="TopBar">
            <a:extLst>
              <a:ext uri="{FF2B5EF4-FFF2-40B4-BE49-F238E27FC236}">
                <a16:creationId xmlns:a16="http://schemas.microsoft.com/office/drawing/2014/main" id="{AB5504C7-D7BC-EFA6-7415-C5898E887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36525"/>
          </a:xfrm>
          <a:prstGeom prst="rect">
            <a:avLst/>
          </a:prstGeom>
          <a:solidFill>
            <a:srgbClr val="F8D37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32" name="BottomBar">
            <a:extLst>
              <a:ext uri="{FF2B5EF4-FFF2-40B4-BE49-F238E27FC236}">
                <a16:creationId xmlns:a16="http://schemas.microsoft.com/office/drawing/2014/main" id="{27003A8C-AC43-824E-F89B-80D853F69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21474"/>
            <a:ext cx="12192000" cy="136525"/>
          </a:xfrm>
          <a:prstGeom prst="rect">
            <a:avLst/>
          </a:prstGeom>
          <a:solidFill>
            <a:srgbClr val="2E6B7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rgbClr val="2E6B75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rgbClr val="2E3640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6D7AC141-0404-B33E-A5AE-BB5A2858A9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-66575" y="68262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  <a:endParaRPr lang="en-US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598F9549-4836-01BC-E8AA-0B577C8BCA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B5968-90D6-C721-1D9A-72BF44ECA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4BAFFA7-C29B-5E43-BA99-0E224199AC81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AC8CB-7E4F-E7E2-5E23-A048277639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E814F-6D12-BC18-9C46-08F7BBE2F1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E6890FD-EFBE-1F4E-952F-28195696B7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1" name="TopBar">
            <a:extLst>
              <a:ext uri="{FF2B5EF4-FFF2-40B4-BE49-F238E27FC236}">
                <a16:creationId xmlns:a16="http://schemas.microsoft.com/office/drawing/2014/main" id="{AB5504C7-D7BC-EFA6-7415-C5898E887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36525"/>
          </a:xfrm>
          <a:prstGeom prst="rect">
            <a:avLst/>
          </a:prstGeom>
          <a:solidFill>
            <a:srgbClr val="F8D37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32" name="BottomBar">
            <a:extLst>
              <a:ext uri="{FF2B5EF4-FFF2-40B4-BE49-F238E27FC236}">
                <a16:creationId xmlns:a16="http://schemas.microsoft.com/office/drawing/2014/main" id="{27003A8C-AC43-824E-F89B-80D853F69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721474"/>
            <a:ext cx="12192000" cy="136526"/>
          </a:xfrm>
          <a:prstGeom prst="rect">
            <a:avLst/>
          </a:prstGeom>
          <a:solidFill>
            <a:srgbClr val="2E6B7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84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rgbClr val="2E6B75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2E6B75"/>
          </a:solidFill>
          <a:latin typeface="Montserrat" pitchFamily="2" charset="77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rgbClr val="2E3640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Box 14">
            <a:extLst>
              <a:ext uri="{FF2B5EF4-FFF2-40B4-BE49-F238E27FC236}">
                <a16:creationId xmlns:a16="http://schemas.microsoft.com/office/drawing/2014/main" id="{D78BF4A6-C9E7-BC82-9DBF-EBEF50FD80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300" y="245417"/>
            <a:ext cx="10515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r>
              <a:rPr lang="en-US" altLang="en-US" sz="2400" b="1" dirty="0">
                <a:solidFill>
                  <a:srgbClr val="2E6B75"/>
                </a:solidFill>
                <a:latin typeface="Montserrat"/>
              </a:rPr>
              <a:t>Learning Objectives | Standard Error and Confidence Intervals</a:t>
            </a:r>
          </a:p>
        </p:txBody>
      </p:sp>
      <p:sp>
        <p:nvSpPr>
          <p:cNvPr id="400" name="LO Circle 1"/>
          <p:cNvSpPr/>
          <p:nvPr/>
        </p:nvSpPr>
        <p:spPr>
          <a:xfrm>
            <a:off x="609600" y="1092200"/>
            <a:ext cx="406400" cy="406400"/>
          </a:xfrm>
          <a:prstGeom prst="ellipse">
            <a:avLst/>
          </a:prstGeom>
          <a:solidFill>
            <a:srgbClr val="2E6B75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401" name="LO Text 1"/>
          <p:cNvSpPr txBox="1"/>
          <p:nvPr/>
        </p:nvSpPr>
        <p:spPr>
          <a:xfrm>
            <a:off x="1168400" y="1066800"/>
            <a:ext cx="99060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800"/>
              </a:lnSpc>
              <a:spcAft>
                <a:spcPts val="100"/>
              </a:spcAft>
            </a:pPr>
            <a:r>
              <a:rPr lang="en-US" sz="1400" b="1" dirty="0">
                <a:solidFill>
                  <a:srgbClr val="2E3640"/>
                </a:solidFill>
                <a:latin typeface="Montserrat"/>
              </a:rPr>
              <a:t>Define the standard error (SE) of the slope</a:t>
            </a: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7A8694"/>
                </a:solidFill>
                <a:latin typeface="Montserrat"/>
              </a:rPr>
              <a:t>SE(b₁) quantifies how much the slope typically varies from sample to sample</a:t>
            </a:r>
          </a:p>
        </p:txBody>
      </p:sp>
      <p:sp>
        <p:nvSpPr>
          <p:cNvPr id="402" name="LO Circle 2"/>
          <p:cNvSpPr/>
          <p:nvPr/>
        </p:nvSpPr>
        <p:spPr>
          <a:xfrm>
            <a:off x="609600" y="2197100"/>
            <a:ext cx="406400" cy="406400"/>
          </a:xfrm>
          <a:prstGeom prst="ellipse">
            <a:avLst/>
          </a:prstGeom>
          <a:solidFill>
            <a:srgbClr val="2E6B75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403" name="LO Text 2"/>
          <p:cNvSpPr txBox="1"/>
          <p:nvPr/>
        </p:nvSpPr>
        <p:spPr>
          <a:xfrm>
            <a:off x="1168400" y="2171700"/>
            <a:ext cx="99060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800"/>
              </a:lnSpc>
              <a:spcAft>
                <a:spcPts val="100"/>
              </a:spcAft>
            </a:pPr>
            <a:r>
              <a:rPr lang="en-US" sz="1400" b="1" dirty="0">
                <a:solidFill>
                  <a:srgbClr val="2E3640"/>
                </a:solidFill>
                <a:latin typeface="Montserrat"/>
              </a:rPr>
              <a:t>Identify the three ingredients that control standard error</a:t>
            </a: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7A8694"/>
                </a:solidFill>
                <a:latin typeface="Montserrat"/>
              </a:rPr>
              <a:t>Residual spread (s), sample size (n), and x-spread (Sxx) all affect precision</a:t>
            </a:r>
          </a:p>
        </p:txBody>
      </p:sp>
    </p:spTree>
    <p:extLst>
      <p:ext uri="{BB962C8B-B14F-4D97-AF65-F5344CB8AC3E}">
        <p14:creationId xmlns:p14="http://schemas.microsoft.com/office/powerpoint/2010/main" val="1466960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Title 1">
            <a:extLst>
              <a:ext uri="{FF2B5EF4-FFF2-40B4-BE49-F238E27FC236}">
                <a16:creationId xmlns:a16="http://schemas.microsoft.com/office/drawing/2014/main" id="{AA82184B-B3F0-9807-1A42-2DA359A35E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1300" y="127000"/>
            <a:ext cx="10515600" cy="699587"/>
          </a:xfrm>
        </p:spPr>
        <p:txBody>
          <a:bodyPr anchor="ctr" anchorCtr="0">
            <a:normAutofit/>
          </a:bodyPr>
          <a:lstStyle/>
          <a:p>
            <a:r>
              <a:rPr lang="en-US" altLang="en-US" dirty="0">
                <a:latin typeface="Montserrat"/>
              </a:rPr>
              <a:t>Our Data and the Best-Fit Line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D0FF6D3-3C77-4214-FBB2-83D0BC2AB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249686"/>
              </p:ext>
            </p:extLst>
          </p:nvPr>
        </p:nvGraphicFramePr>
        <p:xfrm>
          <a:off x="208412" y="1855134"/>
          <a:ext cx="1545342" cy="27541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26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2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2694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Weeks</a:t>
                      </a:r>
                    </a:p>
                  </a:txBody>
                  <a:tcPr anchor="ctr">
                    <a:solidFill>
                      <a:srgbClr val="2E6B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</a:rPr>
                        <a:t>Weight (kg)</a:t>
                      </a:r>
                    </a:p>
                  </a:txBody>
                  <a:tcPr anchor="ctr">
                    <a:solidFill>
                      <a:srgbClr val="2E6B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93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1.65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93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36</a:t>
                      </a:r>
                    </a:p>
                  </a:txBody>
                  <a:tcPr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2.67</a:t>
                      </a:r>
                    </a:p>
                  </a:txBody>
                  <a:tcPr anchor="ctr"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938"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2.18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938"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36</a:t>
                      </a:r>
                    </a:p>
                  </a:txBody>
                  <a:tcPr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3.83</a:t>
                      </a:r>
                    </a:p>
                  </a:txBody>
                  <a:tcPr anchor="ctr"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938"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2.53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938"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36</a:t>
                      </a:r>
                    </a:p>
                  </a:txBody>
                  <a:tcPr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2.64</a:t>
                      </a:r>
                    </a:p>
                  </a:txBody>
                  <a:tcPr anchor="ctr"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938"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/>
                        <a:t>1.06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93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34</a:t>
                      </a:r>
                    </a:p>
                  </a:txBody>
                  <a:tcPr anchor="ctr"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3.06</a:t>
                      </a:r>
                    </a:p>
                  </a:txBody>
                  <a:tcPr anchor="ctr">
                    <a:solidFill>
                      <a:srgbClr val="EA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1" name="SlopeBox">
            <a:extLst>
              <a:ext uri="{FF2B5EF4-FFF2-40B4-BE49-F238E27FC236}">
                <a16:creationId xmlns:a16="http://schemas.microsoft.com/office/drawing/2014/main" id="{4DEE7DE5-18E6-802F-343F-EC20A12C5835}"/>
              </a:ext>
            </a:extLst>
          </p:cNvPr>
          <p:cNvSpPr/>
          <p:nvPr/>
        </p:nvSpPr>
        <p:spPr>
          <a:xfrm>
            <a:off x="6456324" y="4023710"/>
            <a:ext cx="5527264" cy="2087413"/>
          </a:xfrm>
          <a:prstGeom prst="roundRect">
            <a:avLst>
              <a:gd name="adj" fmla="val 3414"/>
            </a:avLst>
          </a:prstGeom>
          <a:noFill/>
          <a:ln w="12700">
            <a:noFill/>
          </a:ln>
        </p:spPr>
        <p:txBody>
          <a:bodyPr wrap="square" lIns="108000" tIns="72000" rIns="108000" bIns="72000" anchor="t"/>
          <a:lstStyle/>
          <a:p>
            <a:pPr>
              <a:spcAft>
                <a:spcPts val="300"/>
              </a:spcAft>
            </a:pPr>
            <a:r>
              <a:rPr lang="en-US" sz="1400" b="1" dirty="0">
                <a:solidFill>
                  <a:srgbClr val="CC3333"/>
                </a:solidFill>
                <a:latin typeface="Open Sans"/>
              </a:rPr>
              <a:t>Best-Fit Slope </a:t>
            </a:r>
            <a:r>
              <a:rPr lang="en-US" sz="1400" dirty="0">
                <a:solidFill>
                  <a:srgbClr val="2E3640"/>
                </a:solidFill>
                <a:latin typeface="Open Sans"/>
              </a:rPr>
              <a:t>b</a:t>
            </a:r>
            <a:r>
              <a:rPr lang="en-US" sz="1400" baseline="-25000" dirty="0">
                <a:solidFill>
                  <a:srgbClr val="2E3640"/>
                </a:solidFill>
                <a:latin typeface="Open Sans"/>
              </a:rPr>
              <a:t>1</a:t>
            </a:r>
            <a:r>
              <a:rPr lang="en-US" sz="1400" dirty="0">
                <a:solidFill>
                  <a:srgbClr val="2E3640"/>
                </a:solidFill>
                <a:latin typeface="Open Sans"/>
              </a:rPr>
              <a:t> = </a:t>
            </a:r>
            <a:r>
              <a:rPr lang="en-US" sz="1400" b="1" dirty="0">
                <a:solidFill>
                  <a:srgbClr val="CC3333"/>
                </a:solidFill>
                <a:latin typeface="Open Sans"/>
              </a:rPr>
              <a:t>0.386</a:t>
            </a:r>
            <a:r>
              <a:rPr lang="en-US" sz="1400" dirty="0">
                <a:solidFill>
                  <a:srgbClr val="2E3640"/>
                </a:solidFill>
                <a:latin typeface="Open Sans"/>
              </a:rPr>
              <a:t> kg per week. </a:t>
            </a:r>
          </a:p>
          <a:p>
            <a:pPr>
              <a:spcAft>
                <a:spcPts val="300"/>
              </a:spcAft>
            </a:pPr>
            <a:r>
              <a:rPr lang="en-US" sz="1400" dirty="0">
                <a:solidFill>
                  <a:srgbClr val="666666"/>
                </a:solidFill>
                <a:latin typeface="Open Sans"/>
              </a:rPr>
              <a:t>Each extra week of gestation adds ~0.4 kg to birth weight.</a:t>
            </a:r>
          </a:p>
          <a:p>
            <a:pPr>
              <a:spcAft>
                <a:spcPts val="200"/>
              </a:spcAft>
            </a:pPr>
            <a:endParaRPr lang="en-US" sz="1400" dirty="0">
              <a:solidFill>
                <a:srgbClr val="666666"/>
              </a:solidFill>
              <a:latin typeface="Open Sans"/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lang="en-US" sz="1400" b="1" dirty="0">
                <a:solidFill>
                  <a:srgbClr val="D4952B"/>
                </a:solidFill>
                <a:latin typeface="Open Sans"/>
              </a:rPr>
              <a:t>But can we trust this number?</a:t>
            </a:r>
          </a:p>
          <a:p>
            <a:pPr>
              <a:spcAft>
                <a:spcPts val="100"/>
              </a:spcAft>
            </a:pPr>
            <a:r>
              <a:rPr lang="en-US" sz="1400" dirty="0">
                <a:solidFill>
                  <a:srgbClr val="666666"/>
                </a:solidFill>
                <a:latin typeface="Open Sans"/>
              </a:rPr>
              <a:t>A different sample of 8 preemies would give a different slope. </a:t>
            </a:r>
          </a:p>
          <a:p>
            <a:pPr>
              <a:spcAft>
                <a:spcPts val="100"/>
              </a:spcAft>
            </a:pPr>
            <a:endParaRPr lang="en-US" sz="1400" dirty="0">
              <a:solidFill>
                <a:srgbClr val="666666"/>
              </a:solidFill>
              <a:latin typeface="Open Sans"/>
            </a:endParaRPr>
          </a:p>
          <a:p>
            <a:pPr>
              <a:spcAft>
                <a:spcPts val="100"/>
              </a:spcAft>
            </a:pPr>
            <a:r>
              <a:rPr lang="en-US" sz="1400" dirty="0">
                <a:solidFill>
                  <a:srgbClr val="666666"/>
                </a:solidFill>
                <a:latin typeface="Open Sans"/>
              </a:rPr>
              <a:t>To know how much to trust the number, we can ask “how different”?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CDD206C-9A8E-1504-1558-9950DD61DF45}"/>
              </a:ext>
            </a:extLst>
          </p:cNvPr>
          <p:cNvGrpSpPr/>
          <p:nvPr/>
        </p:nvGrpSpPr>
        <p:grpSpPr>
          <a:xfrm>
            <a:off x="1948143" y="1738410"/>
            <a:ext cx="4225196" cy="3619058"/>
            <a:chOff x="2642164" y="1252692"/>
            <a:chExt cx="4680507" cy="3256515"/>
          </a:xfrm>
        </p:grpSpPr>
        <p:sp>
          <p:nvSpPr>
            <p:cNvPr id="5" name="PlotBg">
              <a:extLst>
                <a:ext uri="{FF2B5EF4-FFF2-40B4-BE49-F238E27FC236}">
                  <a16:creationId xmlns:a16="http://schemas.microsoft.com/office/drawing/2014/main" id="{8FCEF582-0D9D-F674-7C9E-FFE260FF4F2F}"/>
                </a:ext>
              </a:extLst>
            </p:cNvPr>
            <p:cNvSpPr/>
            <p:nvPr/>
          </p:nvSpPr>
          <p:spPr>
            <a:xfrm>
              <a:off x="3169024" y="1252692"/>
              <a:ext cx="4153647" cy="2771503"/>
            </a:xfrm>
            <a:prstGeom prst="rect">
              <a:avLst/>
            </a:prstGeom>
            <a:solidFill>
              <a:srgbClr val="FAFAFA"/>
            </a:solidFill>
            <a:ln w="12700">
              <a:solidFill>
                <a:srgbClr val="CCCCCC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XLabel">
              <a:extLst>
                <a:ext uri="{FF2B5EF4-FFF2-40B4-BE49-F238E27FC236}">
                  <a16:creationId xmlns:a16="http://schemas.microsoft.com/office/drawing/2014/main" id="{5B918D8E-7430-5DC5-AE67-FEB05CFFA636}"/>
                </a:ext>
              </a:extLst>
            </p:cNvPr>
            <p:cNvSpPr/>
            <p:nvPr/>
          </p:nvSpPr>
          <p:spPr>
            <a:xfrm>
              <a:off x="4200043" y="4232057"/>
              <a:ext cx="2076824" cy="277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/>
            <a:p>
              <a:pPr algn="ctr"/>
              <a:r>
                <a:rPr lang="en-US" sz="1400" dirty="0">
                  <a:solidFill>
                    <a:srgbClr val="2E3640"/>
                  </a:solidFill>
                  <a:latin typeface="Open Sans"/>
                </a:rPr>
                <a:t>Gestational Weeks</a:t>
              </a:r>
            </a:p>
          </p:txBody>
        </p:sp>
        <p:sp>
          <p:nvSpPr>
            <p:cNvPr id="8" name="YLabel">
              <a:extLst>
                <a:ext uri="{FF2B5EF4-FFF2-40B4-BE49-F238E27FC236}">
                  <a16:creationId xmlns:a16="http://schemas.microsoft.com/office/drawing/2014/main" id="{7F7D9BB7-8993-C587-C963-39B84326951A}"/>
                </a:ext>
              </a:extLst>
            </p:cNvPr>
            <p:cNvSpPr/>
            <p:nvPr/>
          </p:nvSpPr>
          <p:spPr>
            <a:xfrm rot="16200000">
              <a:off x="1874091" y="2274818"/>
              <a:ext cx="1847669" cy="3115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/>
            <a:p>
              <a:pPr algn="ctr"/>
              <a:r>
                <a:rPr lang="en-US" sz="1400" dirty="0">
                  <a:solidFill>
                    <a:srgbClr val="2E3640"/>
                  </a:solidFill>
                  <a:latin typeface="Open Sans"/>
                </a:rPr>
                <a:t>Birth Weight (kg)</a:t>
              </a:r>
            </a:p>
          </p:txBody>
        </p:sp>
        <p:sp>
          <p:nvSpPr>
            <p:cNvPr id="9" name="XTick32">
              <a:extLst>
                <a:ext uri="{FF2B5EF4-FFF2-40B4-BE49-F238E27FC236}">
                  <a16:creationId xmlns:a16="http://schemas.microsoft.com/office/drawing/2014/main" id="{A58DB103-672A-DE23-EC0F-5C059F9A7346}"/>
                </a:ext>
              </a:extLst>
            </p:cNvPr>
            <p:cNvSpPr/>
            <p:nvPr/>
          </p:nvSpPr>
          <p:spPr>
            <a:xfrm>
              <a:off x="3653616" y="4042671"/>
              <a:ext cx="415365" cy="166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/>
            <a:p>
              <a:pPr algn="ctr"/>
              <a:r>
                <a:rPr lang="en-US" sz="1200" dirty="0">
                  <a:solidFill>
                    <a:srgbClr val="666666"/>
                  </a:solidFill>
                  <a:latin typeface="Open Sans"/>
                </a:rPr>
                <a:t>32</a:t>
              </a:r>
            </a:p>
          </p:txBody>
        </p:sp>
        <p:sp>
          <p:nvSpPr>
            <p:cNvPr id="10" name="XTick33">
              <a:extLst>
                <a:ext uri="{FF2B5EF4-FFF2-40B4-BE49-F238E27FC236}">
                  <a16:creationId xmlns:a16="http://schemas.microsoft.com/office/drawing/2014/main" id="{075CB4F4-231A-D46B-68A8-A662CD7EA275}"/>
                </a:ext>
              </a:extLst>
            </p:cNvPr>
            <p:cNvSpPr/>
            <p:nvPr/>
          </p:nvSpPr>
          <p:spPr>
            <a:xfrm>
              <a:off x="4345890" y="4042671"/>
              <a:ext cx="415365" cy="166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/>
            <a:p>
              <a:pPr algn="ctr"/>
              <a:r>
                <a:rPr lang="en-US" sz="1200" dirty="0">
                  <a:solidFill>
                    <a:srgbClr val="666666"/>
                  </a:solidFill>
                  <a:latin typeface="Open Sans"/>
                </a:rPr>
                <a:t>33</a:t>
              </a:r>
            </a:p>
          </p:txBody>
        </p:sp>
        <p:sp>
          <p:nvSpPr>
            <p:cNvPr id="11" name="XTick34">
              <a:extLst>
                <a:ext uri="{FF2B5EF4-FFF2-40B4-BE49-F238E27FC236}">
                  <a16:creationId xmlns:a16="http://schemas.microsoft.com/office/drawing/2014/main" id="{5A81F2D5-D382-04D6-AC86-60AD63BDE67B}"/>
                </a:ext>
              </a:extLst>
            </p:cNvPr>
            <p:cNvSpPr/>
            <p:nvPr/>
          </p:nvSpPr>
          <p:spPr>
            <a:xfrm>
              <a:off x="5038165" y="4042671"/>
              <a:ext cx="415365" cy="166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/>
            <a:p>
              <a:pPr algn="ctr"/>
              <a:r>
                <a:rPr lang="en-US" sz="1200" dirty="0">
                  <a:solidFill>
                    <a:srgbClr val="666666"/>
                  </a:solidFill>
                  <a:latin typeface="Open Sans"/>
                </a:rPr>
                <a:t>34</a:t>
              </a:r>
            </a:p>
          </p:txBody>
        </p:sp>
        <p:sp>
          <p:nvSpPr>
            <p:cNvPr id="12" name="XTick35">
              <a:extLst>
                <a:ext uri="{FF2B5EF4-FFF2-40B4-BE49-F238E27FC236}">
                  <a16:creationId xmlns:a16="http://schemas.microsoft.com/office/drawing/2014/main" id="{44D2531A-6913-5F47-EAF8-A01821C4A5D3}"/>
                </a:ext>
              </a:extLst>
            </p:cNvPr>
            <p:cNvSpPr/>
            <p:nvPr/>
          </p:nvSpPr>
          <p:spPr>
            <a:xfrm>
              <a:off x="5730439" y="4042671"/>
              <a:ext cx="415365" cy="166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/>
            <a:p>
              <a:pPr algn="ctr"/>
              <a:r>
                <a:rPr lang="en-US" sz="1200" dirty="0">
                  <a:solidFill>
                    <a:srgbClr val="666666"/>
                  </a:solidFill>
                  <a:latin typeface="Open Sans"/>
                </a:rPr>
                <a:t>35</a:t>
              </a:r>
            </a:p>
          </p:txBody>
        </p:sp>
        <p:sp>
          <p:nvSpPr>
            <p:cNvPr id="13" name="XTick36">
              <a:extLst>
                <a:ext uri="{FF2B5EF4-FFF2-40B4-BE49-F238E27FC236}">
                  <a16:creationId xmlns:a16="http://schemas.microsoft.com/office/drawing/2014/main" id="{79A56298-2F87-5374-4698-41698395BCE3}"/>
                </a:ext>
              </a:extLst>
            </p:cNvPr>
            <p:cNvSpPr/>
            <p:nvPr/>
          </p:nvSpPr>
          <p:spPr>
            <a:xfrm>
              <a:off x="6422713" y="4042671"/>
              <a:ext cx="415365" cy="166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/>
            <a:p>
              <a:pPr algn="ctr"/>
              <a:r>
                <a:rPr lang="en-US" sz="1200" dirty="0">
                  <a:solidFill>
                    <a:srgbClr val="666666"/>
                  </a:solidFill>
                  <a:latin typeface="Open Sans"/>
                </a:rPr>
                <a:t>36</a:t>
              </a:r>
            </a:p>
          </p:txBody>
        </p:sp>
        <p:sp>
          <p:nvSpPr>
            <p:cNvPr id="14" name="YTick1">
              <a:extLst>
                <a:ext uri="{FF2B5EF4-FFF2-40B4-BE49-F238E27FC236}">
                  <a16:creationId xmlns:a16="http://schemas.microsoft.com/office/drawing/2014/main" id="{A4813BE8-53F2-1928-926B-59AC76AA27D3}"/>
                </a:ext>
              </a:extLst>
            </p:cNvPr>
            <p:cNvSpPr/>
            <p:nvPr/>
          </p:nvSpPr>
          <p:spPr>
            <a:xfrm>
              <a:off x="2857500" y="3585373"/>
              <a:ext cx="290755" cy="1847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/>
            <a:p>
              <a:pPr algn="r"/>
              <a:r>
                <a:rPr lang="en-US" sz="1200" dirty="0">
                  <a:solidFill>
                    <a:srgbClr val="666666"/>
                  </a:solidFill>
                  <a:latin typeface="Open Sans"/>
                </a:rPr>
                <a:t>1</a:t>
              </a:r>
            </a:p>
          </p:txBody>
        </p:sp>
        <p:sp>
          <p:nvSpPr>
            <p:cNvPr id="15" name="YTick2">
              <a:extLst>
                <a:ext uri="{FF2B5EF4-FFF2-40B4-BE49-F238E27FC236}">
                  <a16:creationId xmlns:a16="http://schemas.microsoft.com/office/drawing/2014/main" id="{4200962C-0A0B-7F8B-5075-2C68CE00EA2C}"/>
                </a:ext>
              </a:extLst>
            </p:cNvPr>
            <p:cNvSpPr/>
            <p:nvPr/>
          </p:nvSpPr>
          <p:spPr>
            <a:xfrm>
              <a:off x="2857500" y="2892498"/>
              <a:ext cx="290755" cy="1847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/>
            <a:p>
              <a:pPr algn="r"/>
              <a:r>
                <a:rPr lang="en-US" sz="1200" dirty="0">
                  <a:solidFill>
                    <a:srgbClr val="666666"/>
                  </a:solidFill>
                  <a:latin typeface="Open Sans"/>
                </a:rPr>
                <a:t>2</a:t>
              </a:r>
            </a:p>
          </p:txBody>
        </p:sp>
        <p:sp>
          <p:nvSpPr>
            <p:cNvPr id="16" name="YTick3">
              <a:extLst>
                <a:ext uri="{FF2B5EF4-FFF2-40B4-BE49-F238E27FC236}">
                  <a16:creationId xmlns:a16="http://schemas.microsoft.com/office/drawing/2014/main" id="{8B947703-6209-6F64-9C1B-EE897E8930E3}"/>
                </a:ext>
              </a:extLst>
            </p:cNvPr>
            <p:cNvSpPr/>
            <p:nvPr/>
          </p:nvSpPr>
          <p:spPr>
            <a:xfrm>
              <a:off x="2857500" y="2199622"/>
              <a:ext cx="290755" cy="1847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/>
            <a:p>
              <a:pPr algn="r"/>
              <a:r>
                <a:rPr lang="en-US" sz="1200" dirty="0">
                  <a:solidFill>
                    <a:srgbClr val="666666"/>
                  </a:solidFill>
                  <a:latin typeface="Open Sans"/>
                </a:rPr>
                <a:t>3</a:t>
              </a:r>
            </a:p>
          </p:txBody>
        </p:sp>
        <p:sp>
          <p:nvSpPr>
            <p:cNvPr id="17" name="YTick4">
              <a:extLst>
                <a:ext uri="{FF2B5EF4-FFF2-40B4-BE49-F238E27FC236}">
                  <a16:creationId xmlns:a16="http://schemas.microsoft.com/office/drawing/2014/main" id="{0BE9B148-8AE1-EA5C-F3F1-B98D86AB511F}"/>
                </a:ext>
              </a:extLst>
            </p:cNvPr>
            <p:cNvSpPr/>
            <p:nvPr/>
          </p:nvSpPr>
          <p:spPr>
            <a:xfrm>
              <a:off x="2857500" y="1506746"/>
              <a:ext cx="290755" cy="1847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/>
            <a:p>
              <a:pPr algn="r"/>
              <a:r>
                <a:rPr lang="en-US" sz="1200" dirty="0">
                  <a:solidFill>
                    <a:srgbClr val="666666"/>
                  </a:solidFill>
                  <a:latin typeface="Open Sans"/>
                </a:rPr>
                <a:t>4</a:t>
              </a:r>
            </a:p>
          </p:txBody>
        </p:sp>
        <p:cxnSp>
          <p:nvCxnSpPr>
            <p:cNvPr id="18" name="Grid1">
              <a:extLst>
                <a:ext uri="{FF2B5EF4-FFF2-40B4-BE49-F238E27FC236}">
                  <a16:creationId xmlns:a16="http://schemas.microsoft.com/office/drawing/2014/main" id="{203B84C4-61C1-1410-AA34-CF9C7EA138F4}"/>
                </a:ext>
              </a:extLst>
            </p:cNvPr>
            <p:cNvCxnSpPr/>
            <p:nvPr/>
          </p:nvCxnSpPr>
          <p:spPr>
            <a:xfrm>
              <a:off x="3169024" y="3677757"/>
              <a:ext cx="4153647" cy="0"/>
            </a:xfrm>
            <a:prstGeom prst="line">
              <a:avLst/>
            </a:prstGeom>
            <a:ln w="6350">
              <a:solidFill>
                <a:srgbClr val="E0E0E0"/>
              </a:solidFill>
              <a:prstDash val="dash"/>
            </a:ln>
          </p:spPr>
        </p:cxnSp>
        <p:cxnSp>
          <p:nvCxnSpPr>
            <p:cNvPr id="19" name="Grid2">
              <a:extLst>
                <a:ext uri="{FF2B5EF4-FFF2-40B4-BE49-F238E27FC236}">
                  <a16:creationId xmlns:a16="http://schemas.microsoft.com/office/drawing/2014/main" id="{E9258AA8-4B1D-43C6-BA42-BA6EED5CD4DD}"/>
                </a:ext>
              </a:extLst>
            </p:cNvPr>
            <p:cNvCxnSpPr/>
            <p:nvPr/>
          </p:nvCxnSpPr>
          <p:spPr>
            <a:xfrm>
              <a:off x="3169024" y="2984881"/>
              <a:ext cx="4153647" cy="0"/>
            </a:xfrm>
            <a:prstGeom prst="line">
              <a:avLst/>
            </a:prstGeom>
            <a:ln w="6350">
              <a:solidFill>
                <a:srgbClr val="E0E0E0"/>
              </a:solidFill>
              <a:prstDash val="dash"/>
            </a:ln>
          </p:spPr>
        </p:cxnSp>
        <p:cxnSp>
          <p:nvCxnSpPr>
            <p:cNvPr id="20" name="Grid3">
              <a:extLst>
                <a:ext uri="{FF2B5EF4-FFF2-40B4-BE49-F238E27FC236}">
                  <a16:creationId xmlns:a16="http://schemas.microsoft.com/office/drawing/2014/main" id="{9A420B15-485D-77DA-5478-59C0E5F79095}"/>
                </a:ext>
              </a:extLst>
            </p:cNvPr>
            <p:cNvCxnSpPr/>
            <p:nvPr/>
          </p:nvCxnSpPr>
          <p:spPr>
            <a:xfrm>
              <a:off x="3169024" y="2292005"/>
              <a:ext cx="4153647" cy="0"/>
            </a:xfrm>
            <a:prstGeom prst="line">
              <a:avLst/>
            </a:prstGeom>
            <a:ln w="6350">
              <a:solidFill>
                <a:srgbClr val="E0E0E0"/>
              </a:solidFill>
              <a:prstDash val="dash"/>
            </a:ln>
          </p:spPr>
        </p:cxnSp>
        <p:cxnSp>
          <p:nvCxnSpPr>
            <p:cNvPr id="21" name="Grid4">
              <a:extLst>
                <a:ext uri="{FF2B5EF4-FFF2-40B4-BE49-F238E27FC236}">
                  <a16:creationId xmlns:a16="http://schemas.microsoft.com/office/drawing/2014/main" id="{3F9768B6-8A22-602B-CEF5-68F71F35D1A6}"/>
                </a:ext>
              </a:extLst>
            </p:cNvPr>
            <p:cNvCxnSpPr/>
            <p:nvPr/>
          </p:nvCxnSpPr>
          <p:spPr>
            <a:xfrm>
              <a:off x="3169024" y="1599130"/>
              <a:ext cx="4153647" cy="0"/>
            </a:xfrm>
            <a:prstGeom prst="line">
              <a:avLst/>
            </a:prstGeom>
            <a:ln w="6350">
              <a:solidFill>
                <a:srgbClr val="E0E0E0"/>
              </a:solidFill>
              <a:prstDash val="dash"/>
            </a:ln>
          </p:spPr>
        </p:cxnSp>
        <p:sp>
          <p:nvSpPr>
            <p:cNvPr id="22" name="Dot0">
              <a:extLst>
                <a:ext uri="{FF2B5EF4-FFF2-40B4-BE49-F238E27FC236}">
                  <a16:creationId xmlns:a16="http://schemas.microsoft.com/office/drawing/2014/main" id="{81D8D267-07AB-BFBE-CE86-33944812DCF6}"/>
                </a:ext>
              </a:extLst>
            </p:cNvPr>
            <p:cNvSpPr/>
            <p:nvPr/>
          </p:nvSpPr>
          <p:spPr>
            <a:xfrm>
              <a:off x="3798994" y="3171957"/>
              <a:ext cx="124609" cy="110860"/>
            </a:xfrm>
            <a:prstGeom prst="ellipse">
              <a:avLst/>
            </a:prstGeom>
            <a:solidFill>
              <a:srgbClr val="2E6B75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Dot1">
              <a:extLst>
                <a:ext uri="{FF2B5EF4-FFF2-40B4-BE49-F238E27FC236}">
                  <a16:creationId xmlns:a16="http://schemas.microsoft.com/office/drawing/2014/main" id="{18B3A295-331E-9CBC-5B53-715CB676EECE}"/>
                </a:ext>
              </a:extLst>
            </p:cNvPr>
            <p:cNvSpPr/>
            <p:nvPr/>
          </p:nvSpPr>
          <p:spPr>
            <a:xfrm>
              <a:off x="6568091" y="2465224"/>
              <a:ext cx="124609" cy="110860"/>
            </a:xfrm>
            <a:prstGeom prst="ellipse">
              <a:avLst/>
            </a:prstGeom>
            <a:solidFill>
              <a:srgbClr val="2E6B75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Dot2">
              <a:extLst>
                <a:ext uri="{FF2B5EF4-FFF2-40B4-BE49-F238E27FC236}">
                  <a16:creationId xmlns:a16="http://schemas.microsoft.com/office/drawing/2014/main" id="{8473FA49-F0FA-28AD-8408-29CA6A71D30A}"/>
                </a:ext>
              </a:extLst>
            </p:cNvPr>
            <p:cNvSpPr/>
            <p:nvPr/>
          </p:nvSpPr>
          <p:spPr>
            <a:xfrm>
              <a:off x="4491268" y="2804733"/>
              <a:ext cx="124609" cy="110860"/>
            </a:xfrm>
            <a:prstGeom prst="ellipse">
              <a:avLst/>
            </a:prstGeom>
            <a:solidFill>
              <a:srgbClr val="2E6B75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Dot3">
              <a:extLst>
                <a:ext uri="{FF2B5EF4-FFF2-40B4-BE49-F238E27FC236}">
                  <a16:creationId xmlns:a16="http://schemas.microsoft.com/office/drawing/2014/main" id="{2DC35F4B-2553-3942-D4DA-D4F6F9CAB4D1}"/>
                </a:ext>
              </a:extLst>
            </p:cNvPr>
            <p:cNvSpPr/>
            <p:nvPr/>
          </p:nvSpPr>
          <p:spPr>
            <a:xfrm>
              <a:off x="6568091" y="1661488"/>
              <a:ext cx="124609" cy="110860"/>
            </a:xfrm>
            <a:prstGeom prst="ellipse">
              <a:avLst/>
            </a:prstGeom>
            <a:solidFill>
              <a:srgbClr val="2E6B75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Dot4">
              <a:extLst>
                <a:ext uri="{FF2B5EF4-FFF2-40B4-BE49-F238E27FC236}">
                  <a16:creationId xmlns:a16="http://schemas.microsoft.com/office/drawing/2014/main" id="{D2140F8E-D476-8A5C-D7A4-7F868DA763C4}"/>
                </a:ext>
              </a:extLst>
            </p:cNvPr>
            <p:cNvSpPr/>
            <p:nvPr/>
          </p:nvSpPr>
          <p:spPr>
            <a:xfrm>
              <a:off x="5875817" y="2562227"/>
              <a:ext cx="124609" cy="110860"/>
            </a:xfrm>
            <a:prstGeom prst="ellipse">
              <a:avLst/>
            </a:prstGeom>
            <a:solidFill>
              <a:srgbClr val="2E6B75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Dot5">
              <a:extLst>
                <a:ext uri="{FF2B5EF4-FFF2-40B4-BE49-F238E27FC236}">
                  <a16:creationId xmlns:a16="http://schemas.microsoft.com/office/drawing/2014/main" id="{CF049752-01BD-1C67-F307-CBE1FBC64865}"/>
                </a:ext>
              </a:extLst>
            </p:cNvPr>
            <p:cNvSpPr/>
            <p:nvPr/>
          </p:nvSpPr>
          <p:spPr>
            <a:xfrm>
              <a:off x="6568091" y="2486010"/>
              <a:ext cx="124609" cy="110860"/>
            </a:xfrm>
            <a:prstGeom prst="ellipse">
              <a:avLst/>
            </a:prstGeom>
            <a:solidFill>
              <a:srgbClr val="2E6B75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Dot6">
              <a:extLst>
                <a:ext uri="{FF2B5EF4-FFF2-40B4-BE49-F238E27FC236}">
                  <a16:creationId xmlns:a16="http://schemas.microsoft.com/office/drawing/2014/main" id="{6BAE44B0-7D6D-8046-E7E3-C425FF964D2D}"/>
                </a:ext>
              </a:extLst>
            </p:cNvPr>
            <p:cNvSpPr/>
            <p:nvPr/>
          </p:nvSpPr>
          <p:spPr>
            <a:xfrm>
              <a:off x="3798994" y="3580754"/>
              <a:ext cx="124609" cy="110860"/>
            </a:xfrm>
            <a:prstGeom prst="ellipse">
              <a:avLst/>
            </a:prstGeom>
            <a:solidFill>
              <a:srgbClr val="2E6B75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Dot7">
              <a:extLst>
                <a:ext uri="{FF2B5EF4-FFF2-40B4-BE49-F238E27FC236}">
                  <a16:creationId xmlns:a16="http://schemas.microsoft.com/office/drawing/2014/main" id="{C73687CD-230C-6488-C7DE-B8101095ED7A}"/>
                </a:ext>
              </a:extLst>
            </p:cNvPr>
            <p:cNvSpPr/>
            <p:nvPr/>
          </p:nvSpPr>
          <p:spPr>
            <a:xfrm>
              <a:off x="5183542" y="2195003"/>
              <a:ext cx="124609" cy="110860"/>
            </a:xfrm>
            <a:prstGeom prst="ellipse">
              <a:avLst/>
            </a:prstGeom>
            <a:solidFill>
              <a:srgbClr val="2E6B75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30" name="RegLine">
              <a:extLst>
                <a:ext uri="{FF2B5EF4-FFF2-40B4-BE49-F238E27FC236}">
                  <a16:creationId xmlns:a16="http://schemas.microsoft.com/office/drawing/2014/main" id="{7789E253-312E-6EE5-3F9E-F9428AC37A13}"/>
                </a:ext>
              </a:extLst>
            </p:cNvPr>
            <p:cNvCxnSpPr/>
            <p:nvPr/>
          </p:nvCxnSpPr>
          <p:spPr>
            <a:xfrm flipV="1">
              <a:off x="3307478" y="1996979"/>
              <a:ext cx="3876738" cy="1497719"/>
            </a:xfrm>
            <a:prstGeom prst="line">
              <a:avLst/>
            </a:prstGeom>
            <a:ln w="28575" cap="rnd">
              <a:solidFill>
                <a:srgbClr val="CC3333"/>
              </a:solidFill>
            </a:ln>
          </p:spPr>
        </p:cxnSp>
      </p:grpSp>
      <p:pic>
        <p:nvPicPr>
          <p:cNvPr id="35" name="Picture 3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54EB72E9-9F8D-A389-BD68-01F602DEE4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746" b="33576"/>
          <a:stretch>
            <a:fillRect/>
          </a:stretch>
        </p:blipFill>
        <p:spPr>
          <a:xfrm>
            <a:off x="6525403" y="539263"/>
            <a:ext cx="5125361" cy="2582452"/>
          </a:xfrm>
          <a:prstGeom prst="rect">
            <a:avLst/>
          </a:prstGeom>
          <a:ln w="38100" cap="sq">
            <a:solidFill>
              <a:schemeClr val="bg1">
                <a:lumMod val="6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7" name="SlopeArrow">
            <a:extLst>
              <a:ext uri="{FF2B5EF4-FFF2-40B4-BE49-F238E27FC236}">
                <a16:creationId xmlns:a16="http://schemas.microsoft.com/office/drawing/2014/main" id="{F309AC6F-2C89-552B-FF63-8111E73FDE8B}"/>
              </a:ext>
            </a:extLst>
          </p:cNvPr>
          <p:cNvSpPr/>
          <p:nvPr/>
        </p:nvSpPr>
        <p:spPr>
          <a:xfrm>
            <a:off x="7025059" y="3198146"/>
            <a:ext cx="3749588" cy="699587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wrap="square" lIns="36000" tIns="0" rIns="36000" bIns="0" anchor="ctr"/>
          <a:lstStyle/>
          <a:p>
            <a:pPr algn="ctr"/>
            <a:r>
              <a:rPr lang="en-US" sz="2000" b="1" dirty="0">
                <a:latin typeface="Open Sans"/>
              </a:rPr>
              <a:t>ŷ = −10.78 + </a:t>
            </a:r>
            <a:r>
              <a:rPr lang="en-US" sz="2000" b="1" dirty="0">
                <a:solidFill>
                  <a:srgbClr val="CC3333"/>
                </a:solidFill>
                <a:latin typeface="Open Sans"/>
              </a:rPr>
              <a:t>0.386</a:t>
            </a:r>
            <a:r>
              <a:rPr lang="en-US" sz="2000" b="1" dirty="0">
                <a:latin typeface="Open Sans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707125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uiExpand="1" build="p"/>
      <p:bldP spid="3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18B47-852D-752C-ACC7-4E1276C29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00" y="127000"/>
            <a:ext cx="10515600" cy="699587"/>
          </a:xfrm>
        </p:spPr>
        <p:txBody>
          <a:bodyPr anchor="ctr" anchorCtr="0">
            <a:normAutofit/>
          </a:bodyPr>
          <a:lstStyle/>
          <a:p>
            <a:r>
              <a:rPr lang="en-US">
                <a:latin typeface="Montserrat"/>
              </a:rPr>
              <a:t>How Much Would the Slope Change?</a:t>
            </a:r>
          </a:p>
        </p:txBody>
      </p: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11F23814-40D7-8BB1-1D07-35D15A6AC71B}"/>
              </a:ext>
            </a:extLst>
          </p:cNvPr>
          <p:cNvGrpSpPr/>
          <p:nvPr/>
        </p:nvGrpSpPr>
        <p:grpSpPr>
          <a:xfrm>
            <a:off x="297545" y="1172032"/>
            <a:ext cx="1308653" cy="1226652"/>
            <a:chOff x="297545" y="1172032"/>
            <a:chExt cx="1308653" cy="1226652"/>
          </a:xfrm>
        </p:grpSpPr>
        <p:sp>
          <p:nvSpPr>
            <p:cNvPr id="3" name="Rectangle 2"/>
            <p:cNvSpPr/>
            <p:nvPr/>
          </p:nvSpPr>
          <p:spPr>
            <a:xfrm>
              <a:off x="297545" y="1172032"/>
              <a:ext cx="1308653" cy="1226652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rgbClr val="CCCCCC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Oval 3"/>
            <p:cNvSpPr/>
            <p:nvPr/>
          </p:nvSpPr>
          <p:spPr>
            <a:xfrm>
              <a:off x="506426" y="1751904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783257" y="1802085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921672" y="1701723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1060087" y="1726813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1198502" y="1776994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336918" y="1676632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644841" y="1726813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1060087" y="1751904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12" name="Straight Connector 11"/>
            <p:cNvCxnSpPr>
              <a:cxnSpLocks/>
            </p:cNvCxnSpPr>
            <p:nvPr/>
          </p:nvCxnSpPr>
          <p:spPr>
            <a:xfrm flipV="1">
              <a:off x="536626" y="1735177"/>
              <a:ext cx="827975" cy="110574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13" name="Rectangle 12"/>
          <p:cNvSpPr/>
          <p:nvPr/>
        </p:nvSpPr>
        <p:spPr>
          <a:xfrm>
            <a:off x="357029" y="2420987"/>
            <a:ext cx="1189685" cy="2007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400" dirty="0">
                <a:solidFill>
                  <a:srgbClr val="2D70A1"/>
                </a:solidFill>
                <a:latin typeface="Open Sans"/>
              </a:rPr>
              <a:t>b₁ = 0.12</a:t>
            </a: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73E90AA9-A9B3-3E08-12DC-FBEAB5F0CA91}"/>
              </a:ext>
            </a:extLst>
          </p:cNvPr>
          <p:cNvGrpSpPr/>
          <p:nvPr/>
        </p:nvGrpSpPr>
        <p:grpSpPr>
          <a:xfrm>
            <a:off x="1706864" y="1172032"/>
            <a:ext cx="1308653" cy="1226652"/>
            <a:chOff x="1706864" y="1172032"/>
            <a:chExt cx="1308653" cy="1226652"/>
          </a:xfrm>
        </p:grpSpPr>
        <p:sp>
          <p:nvSpPr>
            <p:cNvPr id="14" name="Rectangle 13"/>
            <p:cNvSpPr/>
            <p:nvPr/>
          </p:nvSpPr>
          <p:spPr>
            <a:xfrm>
              <a:off x="1706864" y="1172032"/>
              <a:ext cx="1308653" cy="1226652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rgbClr val="CCCCCC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1915745" y="2128263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Oval 15"/>
            <p:cNvSpPr/>
            <p:nvPr/>
          </p:nvSpPr>
          <p:spPr>
            <a:xfrm>
              <a:off x="1972679" y="1912253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>
              <a:off x="2192575" y="1902448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Oval 17"/>
            <p:cNvSpPr/>
            <p:nvPr/>
          </p:nvSpPr>
          <p:spPr>
            <a:xfrm>
              <a:off x="2168028" y="1670422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Oval 18"/>
            <p:cNvSpPr/>
            <p:nvPr/>
          </p:nvSpPr>
          <p:spPr>
            <a:xfrm>
              <a:off x="2532780" y="1845345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2607821" y="1450817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2746236" y="1375545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2469406" y="1551179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23" name="Straight Connector 22"/>
            <p:cNvCxnSpPr/>
            <p:nvPr/>
          </p:nvCxnSpPr>
          <p:spPr>
            <a:xfrm flipV="1">
              <a:off x="1976866" y="1374537"/>
              <a:ext cx="830491" cy="827990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4" name="Rectangle 23"/>
          <p:cNvSpPr/>
          <p:nvPr/>
        </p:nvSpPr>
        <p:spPr>
          <a:xfrm>
            <a:off x="1766348" y="2420987"/>
            <a:ext cx="1189685" cy="2007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400" dirty="0">
                <a:solidFill>
                  <a:srgbClr val="2D70A1"/>
                </a:solidFill>
                <a:latin typeface="Open Sans"/>
              </a:rPr>
              <a:t>b₁ = 0.55</a:t>
            </a:r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B1CB8BFC-89DE-9C73-3FD9-A3C12812A7C7}"/>
              </a:ext>
            </a:extLst>
          </p:cNvPr>
          <p:cNvGrpSpPr/>
          <p:nvPr/>
        </p:nvGrpSpPr>
        <p:grpSpPr>
          <a:xfrm>
            <a:off x="3107128" y="1199193"/>
            <a:ext cx="1308653" cy="1226652"/>
            <a:chOff x="3107128" y="1199193"/>
            <a:chExt cx="1308653" cy="1226652"/>
          </a:xfrm>
        </p:grpSpPr>
        <p:sp>
          <p:nvSpPr>
            <p:cNvPr id="25" name="Rectangle 24"/>
            <p:cNvSpPr/>
            <p:nvPr/>
          </p:nvSpPr>
          <p:spPr>
            <a:xfrm>
              <a:off x="3107128" y="1199193"/>
              <a:ext cx="1308653" cy="1226652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rgbClr val="CCCCCC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3325064" y="1551179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3463479" y="1626451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3640722" y="1775443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3878724" y="1676632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3863231" y="1912253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4155555" y="1726813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Oval 31"/>
            <p:cNvSpPr/>
            <p:nvPr/>
          </p:nvSpPr>
          <p:spPr>
            <a:xfrm>
              <a:off x="3601894" y="1526088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Oval 32"/>
            <p:cNvSpPr/>
            <p:nvPr/>
          </p:nvSpPr>
          <p:spPr>
            <a:xfrm>
              <a:off x="4017140" y="1651541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34" name="Straight Connector 33"/>
            <p:cNvCxnSpPr/>
            <p:nvPr/>
          </p:nvCxnSpPr>
          <p:spPr>
            <a:xfrm>
              <a:off x="3346284" y="1677615"/>
              <a:ext cx="830491" cy="120435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35" name="Rectangle 34"/>
          <p:cNvSpPr/>
          <p:nvPr/>
        </p:nvSpPr>
        <p:spPr>
          <a:xfrm>
            <a:off x="3175666" y="2420987"/>
            <a:ext cx="1189685" cy="2007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400" dirty="0">
                <a:solidFill>
                  <a:srgbClr val="2D70A1"/>
                </a:solidFill>
                <a:latin typeface="Open Sans"/>
              </a:rPr>
              <a:t>b₁ = −0.08</a:t>
            </a:r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EFB69F33-BF8B-A523-A69D-D38E938F344F}"/>
              </a:ext>
            </a:extLst>
          </p:cNvPr>
          <p:cNvGrpSpPr/>
          <p:nvPr/>
        </p:nvGrpSpPr>
        <p:grpSpPr>
          <a:xfrm>
            <a:off x="297545" y="3134675"/>
            <a:ext cx="1308653" cy="1226652"/>
            <a:chOff x="297545" y="3134675"/>
            <a:chExt cx="1308653" cy="1226652"/>
          </a:xfrm>
        </p:grpSpPr>
        <p:sp>
          <p:nvSpPr>
            <p:cNvPr id="36" name="Rectangle 35"/>
            <p:cNvSpPr/>
            <p:nvPr/>
          </p:nvSpPr>
          <p:spPr>
            <a:xfrm>
              <a:off x="297545" y="3134675"/>
              <a:ext cx="1308653" cy="1226652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rgbClr val="CCCCCC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506426" y="3965453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783257" y="3840000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Oval 38"/>
            <p:cNvSpPr/>
            <p:nvPr/>
          </p:nvSpPr>
          <p:spPr>
            <a:xfrm>
              <a:off x="921672" y="3689457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Oval 39"/>
            <p:cNvSpPr/>
            <p:nvPr/>
          </p:nvSpPr>
          <p:spPr>
            <a:xfrm>
              <a:off x="1060087" y="3664366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Oval 40"/>
            <p:cNvSpPr/>
            <p:nvPr/>
          </p:nvSpPr>
          <p:spPr>
            <a:xfrm>
              <a:off x="1198502" y="3589094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Oval 41"/>
            <p:cNvSpPr/>
            <p:nvPr/>
          </p:nvSpPr>
          <p:spPr>
            <a:xfrm>
              <a:off x="1336918" y="3513822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Oval 42"/>
            <p:cNvSpPr/>
            <p:nvPr/>
          </p:nvSpPr>
          <p:spPr>
            <a:xfrm>
              <a:off x="644841" y="3915272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Oval 43"/>
            <p:cNvSpPr/>
            <p:nvPr/>
          </p:nvSpPr>
          <p:spPr>
            <a:xfrm>
              <a:off x="1060087" y="3614185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45" name="Straight Connector 44"/>
            <p:cNvCxnSpPr/>
            <p:nvPr/>
          </p:nvCxnSpPr>
          <p:spPr>
            <a:xfrm flipV="1">
              <a:off x="536626" y="3472005"/>
              <a:ext cx="830491" cy="526903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46" name="Rectangle 45"/>
          <p:cNvSpPr/>
          <p:nvPr/>
        </p:nvSpPr>
        <p:spPr>
          <a:xfrm>
            <a:off x="357029" y="4383630"/>
            <a:ext cx="1189685" cy="2007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400" dirty="0">
                <a:solidFill>
                  <a:srgbClr val="2D70A1"/>
                </a:solidFill>
                <a:latin typeface="Open Sans"/>
              </a:rPr>
              <a:t>b₁ = 0.35</a:t>
            </a:r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A776A424-FF2F-03C3-368B-C7719ADF6368}"/>
              </a:ext>
            </a:extLst>
          </p:cNvPr>
          <p:cNvGrpSpPr/>
          <p:nvPr/>
        </p:nvGrpSpPr>
        <p:grpSpPr>
          <a:xfrm>
            <a:off x="1706864" y="3134675"/>
            <a:ext cx="1308653" cy="1226652"/>
            <a:chOff x="1706864" y="3134675"/>
            <a:chExt cx="1308653" cy="1226652"/>
          </a:xfrm>
        </p:grpSpPr>
        <p:sp>
          <p:nvSpPr>
            <p:cNvPr id="47" name="Rectangle 46"/>
            <p:cNvSpPr/>
            <p:nvPr/>
          </p:nvSpPr>
          <p:spPr>
            <a:xfrm>
              <a:off x="1706864" y="3134675"/>
              <a:ext cx="1308653" cy="1226652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rgbClr val="CCCCCC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Oval 47"/>
            <p:cNvSpPr/>
            <p:nvPr/>
          </p:nvSpPr>
          <p:spPr>
            <a:xfrm>
              <a:off x="1915745" y="4015634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Oval 48"/>
            <p:cNvSpPr/>
            <p:nvPr/>
          </p:nvSpPr>
          <p:spPr>
            <a:xfrm>
              <a:off x="2054160" y="3890181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Oval 49"/>
            <p:cNvSpPr/>
            <p:nvPr/>
          </p:nvSpPr>
          <p:spPr>
            <a:xfrm>
              <a:off x="2192575" y="3814910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Oval 50"/>
            <p:cNvSpPr/>
            <p:nvPr/>
          </p:nvSpPr>
          <p:spPr>
            <a:xfrm>
              <a:off x="2278010" y="3624899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Oval 51"/>
            <p:cNvSpPr/>
            <p:nvPr/>
          </p:nvSpPr>
          <p:spPr>
            <a:xfrm>
              <a:off x="2437278" y="3466033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>
              <a:off x="2586579" y="3346989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Oval 53"/>
            <p:cNvSpPr/>
            <p:nvPr/>
          </p:nvSpPr>
          <p:spPr>
            <a:xfrm>
              <a:off x="2469406" y="3639275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Oval 54"/>
            <p:cNvSpPr/>
            <p:nvPr/>
          </p:nvSpPr>
          <p:spPr>
            <a:xfrm>
              <a:off x="2330991" y="3764728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56" name="Straight Connector 55"/>
            <p:cNvCxnSpPr>
              <a:cxnSpLocks/>
            </p:cNvCxnSpPr>
            <p:nvPr/>
          </p:nvCxnSpPr>
          <p:spPr>
            <a:xfrm flipV="1">
              <a:off x="1945945" y="3326860"/>
              <a:ext cx="787527" cy="722229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57" name="Rectangle 56"/>
          <p:cNvSpPr/>
          <p:nvPr/>
        </p:nvSpPr>
        <p:spPr>
          <a:xfrm>
            <a:off x="1766348" y="4383630"/>
            <a:ext cx="1189685" cy="2007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400" dirty="0">
                <a:solidFill>
                  <a:srgbClr val="2D70A1"/>
                </a:solidFill>
                <a:latin typeface="Open Sans"/>
              </a:rPr>
              <a:t>b₁ = 0.41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77356A38-F311-D3A1-68B1-4D43E127695E}"/>
              </a:ext>
            </a:extLst>
          </p:cNvPr>
          <p:cNvGrpSpPr/>
          <p:nvPr/>
        </p:nvGrpSpPr>
        <p:grpSpPr>
          <a:xfrm>
            <a:off x="3116182" y="3134675"/>
            <a:ext cx="1308653" cy="1226652"/>
            <a:chOff x="3116182" y="3134675"/>
            <a:chExt cx="1308653" cy="1226652"/>
          </a:xfrm>
        </p:grpSpPr>
        <p:sp>
          <p:nvSpPr>
            <p:cNvPr id="58" name="Rectangle 57"/>
            <p:cNvSpPr/>
            <p:nvPr/>
          </p:nvSpPr>
          <p:spPr>
            <a:xfrm>
              <a:off x="3116182" y="3134675"/>
              <a:ext cx="1308653" cy="1226652"/>
            </a:xfrm>
            <a:prstGeom prst="rect">
              <a:avLst/>
            </a:prstGeom>
            <a:solidFill>
              <a:srgbClr val="F8F8F8"/>
            </a:solidFill>
            <a:ln w="9525">
              <a:solidFill>
                <a:srgbClr val="CCCCCC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Oval 58"/>
            <p:cNvSpPr/>
            <p:nvPr/>
          </p:nvSpPr>
          <p:spPr>
            <a:xfrm>
              <a:off x="3325064" y="3990544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Oval 59"/>
            <p:cNvSpPr/>
            <p:nvPr/>
          </p:nvSpPr>
          <p:spPr>
            <a:xfrm>
              <a:off x="3601894" y="3789819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Oval 60"/>
            <p:cNvSpPr/>
            <p:nvPr/>
          </p:nvSpPr>
          <p:spPr>
            <a:xfrm>
              <a:off x="3740309" y="3739638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Oval 61"/>
            <p:cNvSpPr/>
            <p:nvPr/>
          </p:nvSpPr>
          <p:spPr>
            <a:xfrm>
              <a:off x="3878724" y="3664366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Oval 62"/>
            <p:cNvSpPr/>
            <p:nvPr/>
          </p:nvSpPr>
          <p:spPr>
            <a:xfrm>
              <a:off x="4017140" y="3614185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Oval 63"/>
            <p:cNvSpPr/>
            <p:nvPr/>
          </p:nvSpPr>
          <p:spPr>
            <a:xfrm>
              <a:off x="4155555" y="3538913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Oval 64"/>
            <p:cNvSpPr/>
            <p:nvPr/>
          </p:nvSpPr>
          <p:spPr>
            <a:xfrm>
              <a:off x="3463479" y="3940363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Oval 65"/>
            <p:cNvSpPr/>
            <p:nvPr/>
          </p:nvSpPr>
          <p:spPr>
            <a:xfrm>
              <a:off x="4017140" y="3589094"/>
              <a:ext cx="60399" cy="66908"/>
            </a:xfrm>
            <a:prstGeom prst="ellipse">
              <a:avLst/>
            </a:prstGeom>
            <a:solidFill>
              <a:srgbClr val="2E6B75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cxnSp>
          <p:nvCxnSpPr>
            <p:cNvPr id="67" name="Straight Connector 66"/>
            <p:cNvCxnSpPr/>
            <p:nvPr/>
          </p:nvCxnSpPr>
          <p:spPr>
            <a:xfrm flipV="1">
              <a:off x="3355263" y="3451932"/>
              <a:ext cx="830491" cy="572066"/>
            </a:xfrm>
            <a:prstGeom prst="line">
              <a:avLst/>
            </a:prstGeom>
            <a:ln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68" name="Rectangle 67"/>
          <p:cNvSpPr/>
          <p:nvPr/>
        </p:nvSpPr>
        <p:spPr>
          <a:xfrm>
            <a:off x="3175666" y="4383630"/>
            <a:ext cx="1189685" cy="2007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1400" dirty="0">
                <a:solidFill>
                  <a:srgbClr val="2D70A1"/>
                </a:solidFill>
                <a:latin typeface="Open Sans"/>
              </a:rPr>
              <a:t>b₁ = 0.38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575834" y="1211286"/>
            <a:ext cx="1874393" cy="1365656"/>
          </a:xfrm>
          <a:prstGeom prst="roundRect">
            <a:avLst/>
          </a:prstGeom>
          <a:solidFill>
            <a:srgbClr val="FFF0F0"/>
          </a:solidFill>
          <a:ln w="15875">
            <a:solidFill>
              <a:srgbClr val="CC3333"/>
            </a:solidFill>
          </a:ln>
        </p:spPr>
        <p:txBody>
          <a:bodyPr wrap="square" lIns="72000" tIns="54000" rIns="72000" bIns="54000" anchor="ctr"/>
          <a:lstStyle/>
          <a:p>
            <a:pPr algn="ctr">
              <a:spcAft>
                <a:spcPts val="200"/>
              </a:spcAft>
            </a:pPr>
            <a:r>
              <a:rPr lang="en-US" sz="1400" b="1" dirty="0">
                <a:solidFill>
                  <a:srgbClr val="CC3333"/>
                </a:solidFill>
                <a:latin typeface="Open Sans"/>
              </a:rPr>
              <a:t>Slopes highly variable</a:t>
            </a:r>
          </a:p>
          <a:p>
            <a:pPr algn="ctr">
              <a:spcAft>
                <a:spcPts val="200"/>
              </a:spcAft>
            </a:pPr>
            <a:r>
              <a:rPr lang="en-US" sz="1200" dirty="0">
                <a:solidFill>
                  <a:srgbClr val="666666"/>
                </a:solidFill>
                <a:latin typeface="Open Sans"/>
              </a:rPr>
              <a:t>0.12 → 0.55 → −0.08</a:t>
            </a:r>
          </a:p>
          <a:p>
            <a:pPr algn="ctr"/>
            <a:r>
              <a:rPr lang="en-US" sz="1400" b="1" dirty="0">
                <a:solidFill>
                  <a:srgbClr val="CC3333"/>
                </a:solidFill>
                <a:latin typeface="Open Sans"/>
              </a:rPr>
              <a:t>Hard to trust any slope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575834" y="3241967"/>
            <a:ext cx="1874393" cy="1187526"/>
          </a:xfrm>
          <a:prstGeom prst="roundRect">
            <a:avLst/>
          </a:prstGeom>
          <a:solidFill>
            <a:srgbClr val="F0FFF4"/>
          </a:solidFill>
          <a:ln w="15875">
            <a:solidFill>
              <a:srgbClr val="2E8B57"/>
            </a:solidFill>
          </a:ln>
        </p:spPr>
        <p:txBody>
          <a:bodyPr wrap="square" lIns="72000" tIns="54000" rIns="72000" bIns="54000" anchor="ctr"/>
          <a:lstStyle/>
          <a:p>
            <a:pPr algn="ctr">
              <a:spcAft>
                <a:spcPts val="200"/>
              </a:spcAft>
            </a:pPr>
            <a:r>
              <a:rPr lang="en-US" sz="1400" b="1" dirty="0">
                <a:solidFill>
                  <a:srgbClr val="2E8B57"/>
                </a:solidFill>
                <a:latin typeface="Open Sans"/>
              </a:rPr>
              <a:t>Slopes consistent</a:t>
            </a:r>
          </a:p>
          <a:p>
            <a:pPr algn="ctr">
              <a:spcAft>
                <a:spcPts val="200"/>
              </a:spcAft>
            </a:pPr>
            <a:r>
              <a:rPr lang="en-US" sz="1200" dirty="0">
                <a:solidFill>
                  <a:srgbClr val="666666"/>
                </a:solidFill>
                <a:latin typeface="Open Sans"/>
              </a:rPr>
              <a:t>0.35 → 0.41 → 0.38</a:t>
            </a:r>
          </a:p>
          <a:p>
            <a:pPr algn="ctr"/>
            <a:r>
              <a:rPr lang="en-US" sz="1400" b="1" dirty="0">
                <a:solidFill>
                  <a:srgbClr val="2E8B57"/>
                </a:solidFill>
                <a:latin typeface="Open Sans"/>
              </a:rPr>
              <a:t>Safe to ~trust the slope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97544" y="5587542"/>
            <a:ext cx="10931734" cy="1003299"/>
          </a:xfrm>
          <a:prstGeom prst="roundRect">
            <a:avLst/>
          </a:prstGeom>
          <a:noFill/>
          <a:ln>
            <a:noFill/>
          </a:ln>
        </p:spPr>
        <p:txBody>
          <a:bodyPr wrap="square" lIns="91440" tIns="36000" rIns="91440" bIns="36000" anchor="ctr"/>
          <a:lstStyle/>
          <a:p>
            <a:pPr algn="ctr">
              <a:spcAft>
                <a:spcPts val="100"/>
              </a:spcAft>
            </a:pPr>
            <a:r>
              <a:rPr lang="en-US" sz="2400" b="1" dirty="0">
                <a:latin typeface="Open Sans"/>
              </a:rPr>
              <a:t>✋</a:t>
            </a:r>
            <a:r>
              <a:rPr lang="en-US" b="1" dirty="0">
                <a:latin typeface="Open Sans"/>
              </a:rPr>
              <a:t>But wait: we (usually) only have one sample! </a:t>
            </a:r>
          </a:p>
          <a:p>
            <a:pPr algn="ctr">
              <a:spcAft>
                <a:spcPts val="100"/>
              </a:spcAft>
            </a:pPr>
            <a:r>
              <a:rPr lang="en-US" b="1" dirty="0">
                <a:latin typeface="Open Sans"/>
              </a:rPr>
              <a:t>We can’t actually resample from the population.</a:t>
            </a:r>
          </a:p>
          <a:p>
            <a:pPr algn="ctr"/>
            <a:r>
              <a:rPr lang="en-US" dirty="0">
                <a:latin typeface="Open Sans"/>
              </a:rPr>
              <a:t>So how can we know how much the slope would vary?</a:t>
            </a:r>
            <a:endParaRPr lang="en-US" b="1" dirty="0">
              <a:latin typeface="Open Sans"/>
            </a:endParaRPr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D77AD6EC-19A8-70EB-36E8-04906CE43FF5}"/>
              </a:ext>
            </a:extLst>
          </p:cNvPr>
          <p:cNvCxnSpPr>
            <a:cxnSpLocks/>
          </p:cNvCxnSpPr>
          <p:nvPr/>
        </p:nvCxnSpPr>
        <p:spPr>
          <a:xfrm>
            <a:off x="7018317" y="831272"/>
            <a:ext cx="0" cy="4756270"/>
          </a:xfrm>
          <a:prstGeom prst="line">
            <a:avLst/>
          </a:prstGeom>
          <a:ln w="9525">
            <a:solidFill>
              <a:srgbClr val="CCCCCC"/>
            </a:solidFill>
            <a:prstDash val="dash"/>
          </a:ln>
        </p:spPr>
      </p:cxn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F1E1D90-8129-6AC5-00C3-355172CAD9D9}"/>
              </a:ext>
            </a:extLst>
          </p:cNvPr>
          <p:cNvGrpSpPr/>
          <p:nvPr/>
        </p:nvGrpSpPr>
        <p:grpSpPr>
          <a:xfrm>
            <a:off x="7575375" y="812933"/>
            <a:ext cx="3966246" cy="3219907"/>
            <a:chOff x="889000" y="1270000"/>
            <a:chExt cx="5461000" cy="4381500"/>
          </a:xfrm>
        </p:grpSpPr>
        <p:sp>
          <p:nvSpPr>
            <p:cNvPr id="73" name="PlotBg2">
              <a:extLst>
                <a:ext uri="{FF2B5EF4-FFF2-40B4-BE49-F238E27FC236}">
                  <a16:creationId xmlns:a16="http://schemas.microsoft.com/office/drawing/2014/main" id="{9A630829-A92D-E3A2-308A-082B6B135C10}"/>
                </a:ext>
              </a:extLst>
            </p:cNvPr>
            <p:cNvSpPr/>
            <p:nvPr/>
          </p:nvSpPr>
          <p:spPr>
            <a:xfrm>
              <a:off x="1270000" y="1270000"/>
              <a:ext cx="5080000" cy="3810000"/>
            </a:xfrm>
            <a:prstGeom prst="rect">
              <a:avLst/>
            </a:prstGeom>
            <a:solidFill>
              <a:srgbClr val="FAFAFA"/>
            </a:solidFill>
            <a:ln w="12700">
              <a:solidFill>
                <a:srgbClr val="CCCCCC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XLabel2">
              <a:extLst>
                <a:ext uri="{FF2B5EF4-FFF2-40B4-BE49-F238E27FC236}">
                  <a16:creationId xmlns:a16="http://schemas.microsoft.com/office/drawing/2014/main" id="{EED27C5D-74BD-2765-1519-0C6CB38A2914}"/>
                </a:ext>
              </a:extLst>
            </p:cNvPr>
            <p:cNvSpPr/>
            <p:nvPr/>
          </p:nvSpPr>
          <p:spPr>
            <a:xfrm>
              <a:off x="2540000" y="5270500"/>
              <a:ext cx="254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/>
            <a:p>
              <a:pPr algn="ctr"/>
              <a:r>
                <a:rPr lang="en-US" sz="1600" dirty="0">
                  <a:solidFill>
                    <a:srgbClr val="2E3640"/>
                  </a:solidFill>
                  <a:latin typeface="Open Sans"/>
                </a:rPr>
                <a:t>Gestational Weeks</a:t>
              </a:r>
            </a:p>
          </p:txBody>
        </p:sp>
        <p:sp>
          <p:nvSpPr>
            <p:cNvPr id="109" name="YLabel2">
              <a:extLst>
                <a:ext uri="{FF2B5EF4-FFF2-40B4-BE49-F238E27FC236}">
                  <a16:creationId xmlns:a16="http://schemas.microsoft.com/office/drawing/2014/main" id="{A5EFEBC9-39BF-5C1D-4B94-159A6F34BB59}"/>
                </a:ext>
              </a:extLst>
            </p:cNvPr>
            <p:cNvSpPr/>
            <p:nvPr/>
          </p:nvSpPr>
          <p:spPr>
            <a:xfrm rot="16200000">
              <a:off x="240396" y="2660826"/>
              <a:ext cx="254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/>
            <a:p>
              <a:pPr algn="ctr"/>
              <a:r>
                <a:rPr lang="en-US" sz="1600" dirty="0">
                  <a:solidFill>
                    <a:srgbClr val="2E3640"/>
                  </a:solidFill>
                  <a:latin typeface="Open Sans"/>
                </a:rPr>
                <a:t>Birth Weight (kg)</a:t>
              </a:r>
            </a:p>
          </p:txBody>
        </p:sp>
        <p:sp>
          <p:nvSpPr>
            <p:cNvPr id="110" name="XT32">
              <a:extLst>
                <a:ext uri="{FF2B5EF4-FFF2-40B4-BE49-F238E27FC236}">
                  <a16:creationId xmlns:a16="http://schemas.microsoft.com/office/drawing/2014/main" id="{56395FEF-6D63-FD41-289F-647B4AB2DBE2}"/>
                </a:ext>
              </a:extLst>
            </p:cNvPr>
            <p:cNvSpPr/>
            <p:nvPr/>
          </p:nvSpPr>
          <p:spPr>
            <a:xfrm>
              <a:off x="1862667" y="5105400"/>
              <a:ext cx="508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/>
            <a:p>
              <a:pPr algn="ctr"/>
              <a:r>
                <a:rPr lang="en-US" sz="1200" dirty="0">
                  <a:solidFill>
                    <a:srgbClr val="666666"/>
                  </a:solidFill>
                  <a:latin typeface="Open Sans"/>
                </a:rPr>
                <a:t>32</a:t>
              </a:r>
            </a:p>
          </p:txBody>
        </p:sp>
        <p:sp>
          <p:nvSpPr>
            <p:cNvPr id="111" name="XT33">
              <a:extLst>
                <a:ext uri="{FF2B5EF4-FFF2-40B4-BE49-F238E27FC236}">
                  <a16:creationId xmlns:a16="http://schemas.microsoft.com/office/drawing/2014/main" id="{33D7C118-6474-E68D-F4D8-20714E07CD18}"/>
                </a:ext>
              </a:extLst>
            </p:cNvPr>
            <p:cNvSpPr/>
            <p:nvPr/>
          </p:nvSpPr>
          <p:spPr>
            <a:xfrm>
              <a:off x="2709333" y="5105400"/>
              <a:ext cx="508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/>
            <a:p>
              <a:pPr algn="ctr"/>
              <a:r>
                <a:rPr lang="en-US" sz="1200" dirty="0">
                  <a:solidFill>
                    <a:srgbClr val="666666"/>
                  </a:solidFill>
                  <a:latin typeface="Open Sans"/>
                </a:rPr>
                <a:t>33</a:t>
              </a:r>
            </a:p>
          </p:txBody>
        </p:sp>
        <p:sp>
          <p:nvSpPr>
            <p:cNvPr id="113" name="XT34">
              <a:extLst>
                <a:ext uri="{FF2B5EF4-FFF2-40B4-BE49-F238E27FC236}">
                  <a16:creationId xmlns:a16="http://schemas.microsoft.com/office/drawing/2014/main" id="{AA3B868F-1767-3102-8573-9C6BE0A385D5}"/>
                </a:ext>
              </a:extLst>
            </p:cNvPr>
            <p:cNvSpPr/>
            <p:nvPr/>
          </p:nvSpPr>
          <p:spPr>
            <a:xfrm>
              <a:off x="3556000" y="5105400"/>
              <a:ext cx="508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/>
            <a:p>
              <a:pPr algn="ctr"/>
              <a:r>
                <a:rPr lang="en-US" sz="1200" dirty="0">
                  <a:solidFill>
                    <a:srgbClr val="666666"/>
                  </a:solidFill>
                  <a:latin typeface="Open Sans"/>
                </a:rPr>
                <a:t>34</a:t>
              </a:r>
            </a:p>
          </p:txBody>
        </p:sp>
        <p:sp>
          <p:nvSpPr>
            <p:cNvPr id="115" name="XT35">
              <a:extLst>
                <a:ext uri="{FF2B5EF4-FFF2-40B4-BE49-F238E27FC236}">
                  <a16:creationId xmlns:a16="http://schemas.microsoft.com/office/drawing/2014/main" id="{B6214D0C-8034-ECB0-9F70-88BA39A05705}"/>
                </a:ext>
              </a:extLst>
            </p:cNvPr>
            <p:cNvSpPr/>
            <p:nvPr/>
          </p:nvSpPr>
          <p:spPr>
            <a:xfrm>
              <a:off x="4402667" y="5105400"/>
              <a:ext cx="508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/>
            <a:p>
              <a:pPr algn="ctr"/>
              <a:r>
                <a:rPr lang="en-US" sz="1200" dirty="0">
                  <a:solidFill>
                    <a:srgbClr val="666666"/>
                  </a:solidFill>
                  <a:latin typeface="Open Sans"/>
                </a:rPr>
                <a:t>35</a:t>
              </a:r>
            </a:p>
          </p:txBody>
        </p:sp>
        <p:sp>
          <p:nvSpPr>
            <p:cNvPr id="116" name="XT36">
              <a:extLst>
                <a:ext uri="{FF2B5EF4-FFF2-40B4-BE49-F238E27FC236}">
                  <a16:creationId xmlns:a16="http://schemas.microsoft.com/office/drawing/2014/main" id="{4862D777-DB67-F9EB-3D88-69A58DE9DD95}"/>
                </a:ext>
              </a:extLst>
            </p:cNvPr>
            <p:cNvSpPr/>
            <p:nvPr/>
          </p:nvSpPr>
          <p:spPr>
            <a:xfrm>
              <a:off x="5249333" y="5105400"/>
              <a:ext cx="508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/>
            <a:p>
              <a:pPr algn="ctr"/>
              <a:r>
                <a:rPr lang="en-US" sz="1200" dirty="0">
                  <a:solidFill>
                    <a:srgbClr val="666666"/>
                  </a:solidFill>
                  <a:latin typeface="Open Sans"/>
                </a:rPr>
                <a:t>36</a:t>
              </a:r>
            </a:p>
          </p:txBody>
        </p:sp>
        <p:sp>
          <p:nvSpPr>
            <p:cNvPr id="117" name="YT1">
              <a:extLst>
                <a:ext uri="{FF2B5EF4-FFF2-40B4-BE49-F238E27FC236}">
                  <a16:creationId xmlns:a16="http://schemas.microsoft.com/office/drawing/2014/main" id="{EE4BD242-256B-6112-0401-CD6EE6E29907}"/>
                </a:ext>
              </a:extLst>
            </p:cNvPr>
            <p:cNvSpPr/>
            <p:nvPr/>
          </p:nvSpPr>
          <p:spPr>
            <a:xfrm>
              <a:off x="889000" y="4476750"/>
              <a:ext cx="355600" cy="254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/>
            <a:p>
              <a:pPr algn="r"/>
              <a:r>
                <a:rPr lang="en-US" sz="1200" dirty="0">
                  <a:solidFill>
                    <a:srgbClr val="666666"/>
                  </a:solidFill>
                  <a:latin typeface="Open Sans"/>
                </a:rPr>
                <a:t>1</a:t>
              </a:r>
            </a:p>
          </p:txBody>
        </p:sp>
        <p:sp>
          <p:nvSpPr>
            <p:cNvPr id="118" name="YT2">
              <a:extLst>
                <a:ext uri="{FF2B5EF4-FFF2-40B4-BE49-F238E27FC236}">
                  <a16:creationId xmlns:a16="http://schemas.microsoft.com/office/drawing/2014/main" id="{24DAE58C-81AA-4079-D5B9-0E7E9F73CE69}"/>
                </a:ext>
              </a:extLst>
            </p:cNvPr>
            <p:cNvSpPr/>
            <p:nvPr/>
          </p:nvSpPr>
          <p:spPr>
            <a:xfrm>
              <a:off x="889000" y="3524250"/>
              <a:ext cx="355600" cy="254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/>
            <a:p>
              <a:pPr algn="r"/>
              <a:r>
                <a:rPr lang="en-US" sz="1200" dirty="0">
                  <a:solidFill>
                    <a:srgbClr val="666666"/>
                  </a:solidFill>
                  <a:latin typeface="Open Sans"/>
                </a:rPr>
                <a:t>2</a:t>
              </a:r>
            </a:p>
          </p:txBody>
        </p:sp>
        <p:sp>
          <p:nvSpPr>
            <p:cNvPr id="119" name="YT3">
              <a:extLst>
                <a:ext uri="{FF2B5EF4-FFF2-40B4-BE49-F238E27FC236}">
                  <a16:creationId xmlns:a16="http://schemas.microsoft.com/office/drawing/2014/main" id="{3FBAF051-3DB8-A420-E795-9EA643A308D1}"/>
                </a:ext>
              </a:extLst>
            </p:cNvPr>
            <p:cNvSpPr/>
            <p:nvPr/>
          </p:nvSpPr>
          <p:spPr>
            <a:xfrm>
              <a:off x="889000" y="2571750"/>
              <a:ext cx="355600" cy="254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/>
            <a:p>
              <a:pPr algn="r"/>
              <a:r>
                <a:rPr lang="en-US" sz="1200" dirty="0">
                  <a:solidFill>
                    <a:srgbClr val="666666"/>
                  </a:solidFill>
                  <a:latin typeface="Open Sans"/>
                </a:rPr>
                <a:t>3</a:t>
              </a:r>
            </a:p>
          </p:txBody>
        </p:sp>
        <p:sp>
          <p:nvSpPr>
            <p:cNvPr id="120" name="YT4">
              <a:extLst>
                <a:ext uri="{FF2B5EF4-FFF2-40B4-BE49-F238E27FC236}">
                  <a16:creationId xmlns:a16="http://schemas.microsoft.com/office/drawing/2014/main" id="{FD758045-E5B4-7259-16A2-195FA850770E}"/>
                </a:ext>
              </a:extLst>
            </p:cNvPr>
            <p:cNvSpPr/>
            <p:nvPr/>
          </p:nvSpPr>
          <p:spPr>
            <a:xfrm>
              <a:off x="889000" y="1619250"/>
              <a:ext cx="355600" cy="254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/>
            <a:lstStyle/>
            <a:p>
              <a:pPr algn="r"/>
              <a:r>
                <a:rPr lang="en-US" sz="1200" dirty="0">
                  <a:solidFill>
                    <a:srgbClr val="666666"/>
                  </a:solidFill>
                  <a:latin typeface="Open Sans"/>
                </a:rPr>
                <a:t>4</a:t>
              </a:r>
            </a:p>
          </p:txBody>
        </p:sp>
        <p:cxnSp>
          <p:nvCxnSpPr>
            <p:cNvPr id="121" name="G1">
              <a:extLst>
                <a:ext uri="{FF2B5EF4-FFF2-40B4-BE49-F238E27FC236}">
                  <a16:creationId xmlns:a16="http://schemas.microsoft.com/office/drawing/2014/main" id="{9354E293-A548-32B4-B8B6-9842BF3536EE}"/>
                </a:ext>
              </a:extLst>
            </p:cNvPr>
            <p:cNvCxnSpPr/>
            <p:nvPr/>
          </p:nvCxnSpPr>
          <p:spPr>
            <a:xfrm>
              <a:off x="1270000" y="4603750"/>
              <a:ext cx="5080000" cy="0"/>
            </a:xfrm>
            <a:prstGeom prst="line">
              <a:avLst/>
            </a:prstGeom>
            <a:ln w="6350">
              <a:solidFill>
                <a:srgbClr val="E0E0E0"/>
              </a:solidFill>
              <a:prstDash val="dash"/>
            </a:ln>
          </p:spPr>
        </p:cxnSp>
        <p:cxnSp>
          <p:nvCxnSpPr>
            <p:cNvPr id="122" name="G2">
              <a:extLst>
                <a:ext uri="{FF2B5EF4-FFF2-40B4-BE49-F238E27FC236}">
                  <a16:creationId xmlns:a16="http://schemas.microsoft.com/office/drawing/2014/main" id="{65270193-3D7A-105F-1F83-9001DF5C7847}"/>
                </a:ext>
              </a:extLst>
            </p:cNvPr>
            <p:cNvCxnSpPr/>
            <p:nvPr/>
          </p:nvCxnSpPr>
          <p:spPr>
            <a:xfrm>
              <a:off x="1270000" y="3651250"/>
              <a:ext cx="5080000" cy="0"/>
            </a:xfrm>
            <a:prstGeom prst="line">
              <a:avLst/>
            </a:prstGeom>
            <a:ln w="6350">
              <a:solidFill>
                <a:srgbClr val="E0E0E0"/>
              </a:solidFill>
              <a:prstDash val="dash"/>
            </a:ln>
          </p:spPr>
        </p:cxnSp>
        <p:cxnSp>
          <p:nvCxnSpPr>
            <p:cNvPr id="123" name="G3">
              <a:extLst>
                <a:ext uri="{FF2B5EF4-FFF2-40B4-BE49-F238E27FC236}">
                  <a16:creationId xmlns:a16="http://schemas.microsoft.com/office/drawing/2014/main" id="{862920D5-468B-752A-4854-1E13E0671BCC}"/>
                </a:ext>
              </a:extLst>
            </p:cNvPr>
            <p:cNvCxnSpPr/>
            <p:nvPr/>
          </p:nvCxnSpPr>
          <p:spPr>
            <a:xfrm>
              <a:off x="1270000" y="2698750"/>
              <a:ext cx="5080000" cy="0"/>
            </a:xfrm>
            <a:prstGeom prst="line">
              <a:avLst/>
            </a:prstGeom>
            <a:ln w="6350">
              <a:solidFill>
                <a:srgbClr val="E0E0E0"/>
              </a:solidFill>
              <a:prstDash val="dash"/>
            </a:ln>
          </p:spPr>
        </p:cxnSp>
        <p:cxnSp>
          <p:nvCxnSpPr>
            <p:cNvPr id="124" name="G4">
              <a:extLst>
                <a:ext uri="{FF2B5EF4-FFF2-40B4-BE49-F238E27FC236}">
                  <a16:creationId xmlns:a16="http://schemas.microsoft.com/office/drawing/2014/main" id="{9B56A6B4-CC61-5CBB-8E22-A50E916D63C8}"/>
                </a:ext>
              </a:extLst>
            </p:cNvPr>
            <p:cNvCxnSpPr/>
            <p:nvPr/>
          </p:nvCxnSpPr>
          <p:spPr>
            <a:xfrm>
              <a:off x="1270000" y="1746250"/>
              <a:ext cx="5080000" cy="0"/>
            </a:xfrm>
            <a:prstGeom prst="line">
              <a:avLst/>
            </a:prstGeom>
            <a:ln w="6350">
              <a:solidFill>
                <a:srgbClr val="E0E0E0"/>
              </a:solidFill>
              <a:prstDash val="dash"/>
            </a:ln>
          </p:spPr>
        </p:cxnSp>
        <p:cxnSp>
          <p:nvCxnSpPr>
            <p:cNvPr id="130" name="RegLine2">
              <a:extLst>
                <a:ext uri="{FF2B5EF4-FFF2-40B4-BE49-F238E27FC236}">
                  <a16:creationId xmlns:a16="http://schemas.microsoft.com/office/drawing/2014/main" id="{F1289B61-0628-FADA-40B1-CECFF074D9B3}"/>
                </a:ext>
              </a:extLst>
            </p:cNvPr>
            <p:cNvCxnSpPr/>
            <p:nvPr/>
          </p:nvCxnSpPr>
          <p:spPr>
            <a:xfrm flipV="1">
              <a:off x="1439333" y="2293176"/>
              <a:ext cx="4741334" cy="2058923"/>
            </a:xfrm>
            <a:prstGeom prst="line">
              <a:avLst/>
            </a:prstGeom>
            <a:ln w="28575" cap="rnd">
              <a:solidFill>
                <a:srgbClr val="D94535"/>
              </a:solidFill>
            </a:ln>
          </p:spPr>
        </p:cxnSp>
        <p:sp>
          <p:nvSpPr>
            <p:cNvPr id="131" name="D0">
              <a:extLst>
                <a:ext uri="{FF2B5EF4-FFF2-40B4-BE49-F238E27FC236}">
                  <a16:creationId xmlns:a16="http://schemas.microsoft.com/office/drawing/2014/main" id="{3ECBA1BA-D292-E045-76B0-D05004D952CA}"/>
                </a:ext>
              </a:extLst>
            </p:cNvPr>
            <p:cNvSpPr/>
            <p:nvPr/>
          </p:nvSpPr>
          <p:spPr>
            <a:xfrm>
              <a:off x="2040467" y="3908425"/>
              <a:ext cx="152400" cy="152400"/>
            </a:xfrm>
            <a:prstGeom prst="ellipse">
              <a:avLst/>
            </a:prstGeom>
            <a:solidFill>
              <a:srgbClr val="2E6B75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D1">
              <a:extLst>
                <a:ext uri="{FF2B5EF4-FFF2-40B4-BE49-F238E27FC236}">
                  <a16:creationId xmlns:a16="http://schemas.microsoft.com/office/drawing/2014/main" id="{CE3A7B98-00D4-2CCA-83EF-32B18F66DD84}"/>
                </a:ext>
              </a:extLst>
            </p:cNvPr>
            <p:cNvSpPr/>
            <p:nvPr/>
          </p:nvSpPr>
          <p:spPr>
            <a:xfrm>
              <a:off x="5427133" y="2936875"/>
              <a:ext cx="152400" cy="152400"/>
            </a:xfrm>
            <a:prstGeom prst="ellipse">
              <a:avLst/>
            </a:prstGeom>
            <a:solidFill>
              <a:srgbClr val="2E6B75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D2">
              <a:extLst>
                <a:ext uri="{FF2B5EF4-FFF2-40B4-BE49-F238E27FC236}">
                  <a16:creationId xmlns:a16="http://schemas.microsoft.com/office/drawing/2014/main" id="{18C0EB6A-F96F-8CC0-C86E-703ED7D13852}"/>
                </a:ext>
              </a:extLst>
            </p:cNvPr>
            <p:cNvSpPr/>
            <p:nvPr/>
          </p:nvSpPr>
          <p:spPr>
            <a:xfrm>
              <a:off x="2887133" y="3403600"/>
              <a:ext cx="152400" cy="152400"/>
            </a:xfrm>
            <a:prstGeom prst="ellipse">
              <a:avLst/>
            </a:prstGeom>
            <a:solidFill>
              <a:srgbClr val="2E6B75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D3">
              <a:extLst>
                <a:ext uri="{FF2B5EF4-FFF2-40B4-BE49-F238E27FC236}">
                  <a16:creationId xmlns:a16="http://schemas.microsoft.com/office/drawing/2014/main" id="{CE367E81-59AC-691B-9AE8-81A264849A9C}"/>
                </a:ext>
              </a:extLst>
            </p:cNvPr>
            <p:cNvSpPr/>
            <p:nvPr/>
          </p:nvSpPr>
          <p:spPr>
            <a:xfrm>
              <a:off x="5427133" y="1831975"/>
              <a:ext cx="152400" cy="152400"/>
            </a:xfrm>
            <a:prstGeom prst="ellipse">
              <a:avLst/>
            </a:prstGeom>
            <a:solidFill>
              <a:srgbClr val="2E6B75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D4">
              <a:extLst>
                <a:ext uri="{FF2B5EF4-FFF2-40B4-BE49-F238E27FC236}">
                  <a16:creationId xmlns:a16="http://schemas.microsoft.com/office/drawing/2014/main" id="{3B62364C-226B-A7FB-751D-E5AE0E020150}"/>
                </a:ext>
              </a:extLst>
            </p:cNvPr>
            <p:cNvSpPr/>
            <p:nvPr/>
          </p:nvSpPr>
          <p:spPr>
            <a:xfrm>
              <a:off x="4580467" y="3070225"/>
              <a:ext cx="152400" cy="152400"/>
            </a:xfrm>
            <a:prstGeom prst="ellipse">
              <a:avLst/>
            </a:prstGeom>
            <a:solidFill>
              <a:srgbClr val="2E6B75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D5">
              <a:extLst>
                <a:ext uri="{FF2B5EF4-FFF2-40B4-BE49-F238E27FC236}">
                  <a16:creationId xmlns:a16="http://schemas.microsoft.com/office/drawing/2014/main" id="{948A6D40-0E68-71A8-710B-82F16DA7E9C6}"/>
                </a:ext>
              </a:extLst>
            </p:cNvPr>
            <p:cNvSpPr/>
            <p:nvPr/>
          </p:nvSpPr>
          <p:spPr>
            <a:xfrm>
              <a:off x="5427133" y="2965450"/>
              <a:ext cx="152400" cy="152400"/>
            </a:xfrm>
            <a:prstGeom prst="ellipse">
              <a:avLst/>
            </a:prstGeom>
            <a:solidFill>
              <a:srgbClr val="2E6B75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D6">
              <a:extLst>
                <a:ext uri="{FF2B5EF4-FFF2-40B4-BE49-F238E27FC236}">
                  <a16:creationId xmlns:a16="http://schemas.microsoft.com/office/drawing/2014/main" id="{AB02217D-47B9-91E5-6E6D-D98DD439EE97}"/>
                </a:ext>
              </a:extLst>
            </p:cNvPr>
            <p:cNvSpPr/>
            <p:nvPr/>
          </p:nvSpPr>
          <p:spPr>
            <a:xfrm>
              <a:off x="2040467" y="4470400"/>
              <a:ext cx="152400" cy="152400"/>
            </a:xfrm>
            <a:prstGeom prst="ellipse">
              <a:avLst/>
            </a:prstGeom>
            <a:solidFill>
              <a:srgbClr val="2E6B75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D7">
              <a:extLst>
                <a:ext uri="{FF2B5EF4-FFF2-40B4-BE49-F238E27FC236}">
                  <a16:creationId xmlns:a16="http://schemas.microsoft.com/office/drawing/2014/main" id="{59E2F427-9A53-1E82-3CA9-6F22C09E2F86}"/>
                </a:ext>
              </a:extLst>
            </p:cNvPr>
            <p:cNvSpPr/>
            <p:nvPr/>
          </p:nvSpPr>
          <p:spPr>
            <a:xfrm>
              <a:off x="3733800" y="2565400"/>
              <a:ext cx="152400" cy="152400"/>
            </a:xfrm>
            <a:prstGeom prst="ellipse">
              <a:avLst/>
            </a:prstGeom>
            <a:solidFill>
              <a:srgbClr val="2E6B75"/>
            </a:solidFill>
            <a:ln w="12700">
              <a:solidFill>
                <a:srgbClr val="FFFFFF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9" name="SpreadLabel">
            <a:extLst>
              <a:ext uri="{FF2B5EF4-FFF2-40B4-BE49-F238E27FC236}">
                <a16:creationId xmlns:a16="http://schemas.microsoft.com/office/drawing/2014/main" id="{0075444B-A5B1-4F63-A7A7-7D86D97B6E9E}"/>
              </a:ext>
            </a:extLst>
          </p:cNvPr>
          <p:cNvSpPr/>
          <p:nvPr/>
        </p:nvSpPr>
        <p:spPr>
          <a:xfrm>
            <a:off x="7378578" y="4132538"/>
            <a:ext cx="4291336" cy="85592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2B6CB0"/>
                </a:solidFill>
                <a:latin typeface="Open Sans"/>
              </a:rPr>
              <a:t>Typical variation from slope to slope </a:t>
            </a:r>
          </a:p>
          <a:p>
            <a:pPr algn="ctr"/>
            <a:r>
              <a:rPr lang="en-US" b="1" dirty="0">
                <a:solidFill>
                  <a:srgbClr val="2B6CB0"/>
                </a:solidFill>
                <a:latin typeface="Open Sans"/>
              </a:rPr>
              <a:t>“Spread”</a:t>
            </a:r>
          </a:p>
          <a:p>
            <a:pPr algn="ctr"/>
            <a:r>
              <a:rPr lang="en-US" b="1" dirty="0">
                <a:solidFill>
                  <a:srgbClr val="2B6CB0"/>
                </a:solidFill>
                <a:latin typeface="Open Sans"/>
              </a:rPr>
              <a:t>“Standard error” of the slope</a:t>
            </a:r>
          </a:p>
        </p:txBody>
      </p:sp>
      <p:cxnSp>
        <p:nvCxnSpPr>
          <p:cNvPr id="178" name="AltLine0">
            <a:extLst>
              <a:ext uri="{FF2B5EF4-FFF2-40B4-BE49-F238E27FC236}">
                <a16:creationId xmlns:a16="http://schemas.microsoft.com/office/drawing/2014/main" id="{8D07C9FC-22DA-D242-E898-35094F6A5855}"/>
              </a:ext>
            </a:extLst>
          </p:cNvPr>
          <p:cNvCxnSpPr/>
          <p:nvPr/>
        </p:nvCxnSpPr>
        <p:spPr>
          <a:xfrm flipV="1">
            <a:off x="8096014" y="1906906"/>
            <a:ext cx="3074610" cy="874975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9" name="AltLine1">
            <a:extLst>
              <a:ext uri="{FF2B5EF4-FFF2-40B4-BE49-F238E27FC236}">
                <a16:creationId xmlns:a16="http://schemas.microsoft.com/office/drawing/2014/main" id="{FF692E32-3064-D210-ECE8-3B57CA1E870F}"/>
              </a:ext>
            </a:extLst>
          </p:cNvPr>
          <p:cNvCxnSpPr/>
          <p:nvPr/>
        </p:nvCxnSpPr>
        <p:spPr>
          <a:xfrm flipV="1">
            <a:off x="8096014" y="1828450"/>
            <a:ext cx="3074610" cy="1049970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0" name="AltLine2">
            <a:extLst>
              <a:ext uri="{FF2B5EF4-FFF2-40B4-BE49-F238E27FC236}">
                <a16:creationId xmlns:a16="http://schemas.microsoft.com/office/drawing/2014/main" id="{C3DDECD4-0775-4035-667C-895D450E7775}"/>
              </a:ext>
            </a:extLst>
          </p:cNvPr>
          <p:cNvCxnSpPr/>
          <p:nvPr/>
        </p:nvCxnSpPr>
        <p:spPr>
          <a:xfrm flipV="1">
            <a:off x="8171942" y="1513169"/>
            <a:ext cx="3074610" cy="1574955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1" name="AltLine3">
            <a:extLst>
              <a:ext uri="{FF2B5EF4-FFF2-40B4-BE49-F238E27FC236}">
                <a16:creationId xmlns:a16="http://schemas.microsoft.com/office/drawing/2014/main" id="{62095016-0D51-5174-974F-3AFC1E3490FD}"/>
              </a:ext>
            </a:extLst>
          </p:cNvPr>
          <p:cNvCxnSpPr/>
          <p:nvPr/>
        </p:nvCxnSpPr>
        <p:spPr>
          <a:xfrm flipV="1">
            <a:off x="8171942" y="1425671"/>
            <a:ext cx="3074611" cy="1749949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2" name="SpreadFan">
            <a:extLst>
              <a:ext uri="{FF2B5EF4-FFF2-40B4-BE49-F238E27FC236}">
                <a16:creationId xmlns:a16="http://schemas.microsoft.com/office/drawing/2014/main" id="{5DE4BA4E-51B2-2B88-ABA3-462A44FCC8EB}"/>
              </a:ext>
            </a:extLst>
          </p:cNvPr>
          <p:cNvSpPr/>
          <p:nvPr/>
        </p:nvSpPr>
        <p:spPr>
          <a:xfrm>
            <a:off x="8171941" y="1205468"/>
            <a:ext cx="3074611" cy="2295934"/>
          </a:xfrm>
          <a:custGeom>
            <a:avLst/>
            <a:gdLst/>
            <a:ahLst/>
            <a:cxnLst/>
            <a:rect l="0" t="0" r="4233334" b="3124200"/>
            <a:pathLst>
              <a:path w="4233334" h="3124200">
                <a:moveTo>
                  <a:pt x="0" y="1766888"/>
                </a:moveTo>
                <a:lnTo>
                  <a:pt x="211667" y="1710690"/>
                </a:lnTo>
                <a:lnTo>
                  <a:pt x="423334" y="1654493"/>
                </a:lnTo>
                <a:lnTo>
                  <a:pt x="635000" y="1598295"/>
                </a:lnTo>
                <a:lnTo>
                  <a:pt x="846667" y="1542098"/>
                </a:lnTo>
                <a:lnTo>
                  <a:pt x="1058334" y="1485900"/>
                </a:lnTo>
                <a:lnTo>
                  <a:pt x="1270000" y="1429703"/>
                </a:lnTo>
                <a:lnTo>
                  <a:pt x="1481667" y="1373505"/>
                </a:lnTo>
                <a:lnTo>
                  <a:pt x="1693334" y="1317308"/>
                </a:lnTo>
                <a:lnTo>
                  <a:pt x="1905000" y="1261110"/>
                </a:lnTo>
                <a:lnTo>
                  <a:pt x="2116667" y="1204913"/>
                </a:lnTo>
                <a:lnTo>
                  <a:pt x="2328334" y="1148715"/>
                </a:lnTo>
                <a:lnTo>
                  <a:pt x="2540000" y="1021080"/>
                </a:lnTo>
                <a:lnTo>
                  <a:pt x="2751667" y="893445"/>
                </a:lnTo>
                <a:lnTo>
                  <a:pt x="2963334" y="765810"/>
                </a:lnTo>
                <a:lnTo>
                  <a:pt x="3175000" y="638175"/>
                </a:lnTo>
                <a:lnTo>
                  <a:pt x="3386667" y="510540"/>
                </a:lnTo>
                <a:lnTo>
                  <a:pt x="3598334" y="382905"/>
                </a:lnTo>
                <a:lnTo>
                  <a:pt x="3810000" y="255270"/>
                </a:lnTo>
                <a:lnTo>
                  <a:pt x="4021667" y="127635"/>
                </a:lnTo>
                <a:lnTo>
                  <a:pt x="4233334" y="0"/>
                </a:lnTo>
                <a:lnTo>
                  <a:pt x="4233334" y="1214438"/>
                </a:lnTo>
                <a:lnTo>
                  <a:pt x="4021667" y="1270635"/>
                </a:lnTo>
                <a:lnTo>
                  <a:pt x="3810000" y="1326833"/>
                </a:lnTo>
                <a:lnTo>
                  <a:pt x="3598334" y="1383030"/>
                </a:lnTo>
                <a:lnTo>
                  <a:pt x="3386667" y="1439228"/>
                </a:lnTo>
                <a:lnTo>
                  <a:pt x="3175000" y="1495425"/>
                </a:lnTo>
                <a:lnTo>
                  <a:pt x="2963334" y="1551623"/>
                </a:lnTo>
                <a:lnTo>
                  <a:pt x="2751667" y="1607820"/>
                </a:lnTo>
                <a:lnTo>
                  <a:pt x="2540000" y="1664018"/>
                </a:lnTo>
                <a:lnTo>
                  <a:pt x="2328334" y="1720215"/>
                </a:lnTo>
                <a:lnTo>
                  <a:pt x="2116667" y="1847850"/>
                </a:lnTo>
                <a:lnTo>
                  <a:pt x="1905000" y="1975485"/>
                </a:lnTo>
                <a:lnTo>
                  <a:pt x="1693334" y="2103120"/>
                </a:lnTo>
                <a:lnTo>
                  <a:pt x="1481667" y="2230755"/>
                </a:lnTo>
                <a:lnTo>
                  <a:pt x="1270000" y="2358390"/>
                </a:lnTo>
                <a:lnTo>
                  <a:pt x="1058334" y="2486025"/>
                </a:lnTo>
                <a:lnTo>
                  <a:pt x="846667" y="2613660"/>
                </a:lnTo>
                <a:lnTo>
                  <a:pt x="635000" y="2741295"/>
                </a:lnTo>
                <a:lnTo>
                  <a:pt x="423334" y="2868930"/>
                </a:lnTo>
                <a:lnTo>
                  <a:pt x="211667" y="2996565"/>
                </a:lnTo>
                <a:lnTo>
                  <a:pt x="0" y="3124200"/>
                </a:lnTo>
                <a:close/>
              </a:path>
            </a:pathLst>
          </a:custGeom>
          <a:solidFill>
            <a:srgbClr val="489BCC">
              <a:alpha val="36078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260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4" grpId="0"/>
      <p:bldP spid="35" grpId="0"/>
      <p:bldP spid="46" grpId="0"/>
      <p:bldP spid="57" grpId="0"/>
      <p:bldP spid="68" grpId="0"/>
      <p:bldP spid="69" grpId="0" animBg="1"/>
      <p:bldP spid="70" grpId="0" animBg="1"/>
      <p:bldP spid="74" grpId="0" uiExpand="1" build="p"/>
      <p:bldP spid="139" grpId="0"/>
      <p:bldP spid="18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48836-0B0C-9F45-4880-BA2C76A86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Title 1">
            <a:extLst>
              <a:ext uri="{FF2B5EF4-FFF2-40B4-BE49-F238E27FC236}">
                <a16:creationId xmlns:a16="http://schemas.microsoft.com/office/drawing/2014/main" id="{923F73F8-AC3F-C821-6DF5-5A203BB952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1300" y="127000"/>
            <a:ext cx="10515600" cy="699587"/>
          </a:xfrm>
        </p:spPr>
        <p:txBody>
          <a:bodyPr anchor="ctr" anchorCtr="0">
            <a:normAutofit/>
          </a:bodyPr>
          <a:lstStyle/>
          <a:p>
            <a:r>
              <a:rPr lang="en-US" altLang="en-US" dirty="0"/>
              <a:t>Estimating Slope Variability (SE) from a Single Sample</a:t>
            </a:r>
            <a:endParaRPr lang="en-US" altLang="en-US" dirty="0">
              <a:latin typeface="Montserra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Q1">
                <a:extLst>
                  <a:ext uri="{FF2B5EF4-FFF2-40B4-BE49-F238E27FC236}">
                    <a16:creationId xmlns:a16="http://schemas.microsoft.com/office/drawing/2014/main" id="{EB58BE1D-0DA0-9C9A-D244-EC99CDE77D8D}"/>
                  </a:ext>
                </a:extLst>
              </p:cNvPr>
              <p:cNvSpPr/>
              <p:nvPr/>
            </p:nvSpPr>
            <p:spPr>
              <a:xfrm>
                <a:off x="238124" y="893774"/>
                <a:ext cx="6374281" cy="26518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72000" tIns="36000" rIns="72000" bIns="36000" anchor="t"/>
              <a:lstStyle/>
              <a:p>
                <a:pPr>
                  <a:spcAft>
                    <a:spcPts val="400"/>
                  </a:spcAft>
                  <a:buNone/>
                </a:pPr>
                <a:r>
                  <a:rPr lang="en-US" dirty="0">
                    <a:solidFill>
                      <a:srgbClr val="2E3640"/>
                    </a:solidFill>
                    <a:latin typeface="Open Sans"/>
                  </a:rPr>
                  <a:t>In stats, you don’t have the underlying population to resample from. </a:t>
                </a:r>
                <a:endParaRPr lang="en-US" sz="1600" dirty="0">
                  <a:solidFill>
                    <a:srgbClr val="2E3640"/>
                  </a:solidFill>
                  <a:latin typeface="Open Sans"/>
                </a:endParaRPr>
              </a:p>
              <a:p>
                <a:pPr>
                  <a:spcAft>
                    <a:spcPts val="400"/>
                  </a:spcAft>
                  <a:buNone/>
                </a:pPr>
                <a:endParaRPr lang="en-US" dirty="0">
                  <a:solidFill>
                    <a:srgbClr val="2E3640"/>
                  </a:solidFill>
                  <a:latin typeface="Open Sans"/>
                </a:endParaRPr>
              </a:p>
              <a:p>
                <a:pPr>
                  <a:spcAft>
                    <a:spcPts val="600"/>
                  </a:spcAft>
                  <a:buNone/>
                </a:pPr>
                <a:r>
                  <a:rPr lang="en-US" dirty="0">
                    <a:solidFill>
                      <a:srgbClr val="2E3640"/>
                    </a:solidFill>
                    <a:latin typeface="Open Sans"/>
                  </a:rPr>
                  <a:t>So linear regression estimates SE of the slope from the single sample, using a formula: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2E364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en-US" sz="1600" b="1" i="1">
                              <a:solidFill>
                                <a:srgbClr val="2E36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2E3640"/>
                              </a:solidFill>
                              <a:latin typeface="Cambria Math" panose="02040503050406030204" pitchFamily="18" charset="0"/>
                            </a:rPr>
                            <m:t>𝐄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b="1" i="1">
                                  <a:solidFill>
                                    <a:srgbClr val="2E36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>
                                  <a:solidFill>
                                    <a:srgbClr val="2E3640"/>
                                  </a:solidFill>
                                  <a:latin typeface="Cambria Math" panose="02040503050406030204" pitchFamily="18" charset="0"/>
                                </a:rPr>
                                <m:t>𝛃</m:t>
                              </m:r>
                            </m:e>
                            <m:sub>
                              <m:r>
                                <a:rPr lang="en-US" sz="1600" b="1" i="1">
                                  <a:solidFill>
                                    <a:srgbClr val="2E364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  <m:r>
                        <a:rPr lang="en-US" sz="1600" b="1" i="1">
                          <a:solidFill>
                            <a:srgbClr val="2E364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1" i="1">
                              <a:solidFill>
                                <a:srgbClr val="2E364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b="1" i="1">
                                  <a:solidFill>
                                    <a:srgbClr val="2E36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>
                                  <a:solidFill>
                                    <a:srgbClr val="2E364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sz="1600" b="1" i="1">
                                  <a:solidFill>
                                    <a:srgbClr val="2E3640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600" b="1" i="1">
                                  <a:solidFill>
                                    <a:srgbClr val="2E36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n-US" sz="1600" b="1" i="1">
                                      <a:solidFill>
                                        <a:srgbClr val="2E364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600" b="1" i="1">
                                      <a:solidFill>
                                        <a:srgbClr val="2E364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US" sz="1600" b="1" i="1">
                                      <a:solidFill>
                                        <a:srgbClr val="2E364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1600" b="1" i="1">
                                      <a:solidFill>
                                        <a:srgbClr val="2E364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sz="1600" b="1" i="1">
                                      <a:solidFill>
                                        <a:srgbClr val="2E364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1600" b="1" i="1">
                                          <a:solidFill>
                                            <a:srgbClr val="2E364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600" b="1" i="1">
                                              <a:solidFill>
                                                <a:srgbClr val="2E364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b="1" i="1">
                                                  <a:solidFill>
                                                    <a:srgbClr val="2E364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1" i="1">
                                                  <a:solidFill>
                                                    <a:srgbClr val="2E364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1" i="1">
                                                  <a:solidFill>
                                                    <a:srgbClr val="2E364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𝒊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600" b="1" i="1">
                                              <a:solidFill>
                                                <a:srgbClr val="2E364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sz="1600" b="1" i="1">
                                                  <a:solidFill>
                                                    <a:srgbClr val="2E364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sz="1600" b="1" i="1">
                                                  <a:solidFill>
                                                    <a:srgbClr val="2E364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600" b="1" i="1">
                                          <a:solidFill>
                                            <a:srgbClr val="2E364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  <m:r>
                        <a:rPr lang="en-US" sz="1600" b="1" i="1">
                          <a:solidFill>
                            <a:srgbClr val="2E364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600" b="1" i="1">
                          <a:solidFill>
                            <a:srgbClr val="2E3640"/>
                          </a:solidFill>
                          <a:latin typeface="Cambria Math" panose="02040503050406030204" pitchFamily="18" charset="0"/>
                        </a:rPr>
                        <m:t>where</m:t>
                      </m:r>
                      <m:r>
                        <a:rPr lang="en-US" sz="1600" b="1" i="1" smtClean="0">
                          <a:solidFill>
                            <a:srgbClr val="2E364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1600" b="1" i="1" smtClean="0">
                              <a:solidFill>
                                <a:srgbClr val="2E36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solidFill>
                                <a:srgbClr val="2E364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sz="1600" b="1" i="1">
                              <a:solidFill>
                                <a:srgbClr val="2E364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sub>
                      </m:sSub>
                      <m:r>
                        <a:rPr lang="en-US" sz="1600" b="1" i="1">
                          <a:solidFill>
                            <a:srgbClr val="2E364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600" b="1" i="1">
                              <a:solidFill>
                                <a:srgbClr val="2E364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600" b="1" i="1">
                                  <a:solidFill>
                                    <a:srgbClr val="2E36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sz="1600" b="1" i="1">
                                      <a:solidFill>
                                        <a:srgbClr val="2E364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sz="1600" b="1" i="1">
                                          <a:solidFill>
                                            <a:srgbClr val="2E364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sz="1600" b="1" i="1">
                                              <a:solidFill>
                                                <a:srgbClr val="2E364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b="1" i="1">
                                                  <a:solidFill>
                                                    <a:srgbClr val="2E364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1" i="1">
                                                  <a:solidFill>
                                                    <a:srgbClr val="2E364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1" i="1">
                                                  <a:solidFill>
                                                    <a:srgbClr val="2E364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𝒊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1600" b="1" i="1">
                                              <a:solidFill>
                                                <a:srgbClr val="2E364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sz="1600" b="1" i="1">
                                                  <a:solidFill>
                                                    <a:srgbClr val="2E364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sz="1600" b="1" i="1">
                                                      <a:solidFill>
                                                        <a:srgbClr val="2E364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1600" b="1" i="1">
                                                      <a:solidFill>
                                                        <a:srgbClr val="2E364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𝒚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1600" b="1" i="1">
                                                      <a:solidFill>
                                                        <a:srgbClr val="2E364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𝒊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1600" b="1" i="1">
                                          <a:solidFill>
                                            <a:srgbClr val="2E364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en-US" sz="1600" b="1" i="1">
                                  <a:solidFill>
                                    <a:srgbClr val="2E364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sz="1600" b="1" i="1">
                                  <a:solidFill>
                                    <a:srgbClr val="2E364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1" i="1">
                                  <a:solidFill>
                                    <a:srgbClr val="2E364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sz="1600" b="1" dirty="0">
                  <a:solidFill>
                    <a:srgbClr val="2B6CB0"/>
                  </a:solidFill>
                  <a:latin typeface="Open Sans"/>
                </a:endParaRPr>
              </a:p>
            </p:txBody>
          </p:sp>
        </mc:Choice>
        <mc:Fallback xmlns="">
          <p:sp>
            <p:nvSpPr>
              <p:cNvPr id="3" name="Q1">
                <a:extLst>
                  <a:ext uri="{FF2B5EF4-FFF2-40B4-BE49-F238E27FC236}">
                    <a16:creationId xmlns:a16="http://schemas.microsoft.com/office/drawing/2014/main" id="{EB58BE1D-0DA0-9C9A-D244-EC99CDE77D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124" y="893774"/>
                <a:ext cx="6374281" cy="2651891"/>
              </a:xfrm>
              <a:prstGeom prst="rect">
                <a:avLst/>
              </a:prstGeom>
              <a:blipFill>
                <a:blip r:embed="rId2"/>
                <a:stretch>
                  <a:fillRect l="-1193" t="-1429" b="-1142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07" name="Picture 410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6C256F8-59AB-F236-BC1A-E19116788D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9746" b="33576"/>
          <a:stretch>
            <a:fillRect/>
          </a:stretch>
        </p:blipFill>
        <p:spPr>
          <a:xfrm>
            <a:off x="425718" y="3912065"/>
            <a:ext cx="5125361" cy="2582452"/>
          </a:xfrm>
          <a:prstGeom prst="rect">
            <a:avLst/>
          </a:prstGeom>
          <a:ln w="38100" cap="sq">
            <a:solidFill>
              <a:schemeClr val="bg1">
                <a:lumMod val="6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108" name="Rectangle 4107">
            <a:extLst>
              <a:ext uri="{FF2B5EF4-FFF2-40B4-BE49-F238E27FC236}">
                <a16:creationId xmlns:a16="http://schemas.microsoft.com/office/drawing/2014/main" id="{BD4FA319-8B47-4C22-0BFF-7DE3CA8437E9}"/>
              </a:ext>
            </a:extLst>
          </p:cNvPr>
          <p:cNvSpPr/>
          <p:nvPr/>
        </p:nvSpPr>
        <p:spPr>
          <a:xfrm>
            <a:off x="2685288" y="6173352"/>
            <a:ext cx="887517" cy="278409"/>
          </a:xfrm>
          <a:prstGeom prst="rect">
            <a:avLst/>
          </a:prstGeom>
          <a:noFill/>
          <a:ln w="57150">
            <a:solidFill>
              <a:srgbClr val="2B6C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0" name="SEInterpNote">
            <a:extLst>
              <a:ext uri="{FF2B5EF4-FFF2-40B4-BE49-F238E27FC236}">
                <a16:creationId xmlns:a16="http://schemas.microsoft.com/office/drawing/2014/main" id="{712FF62A-2993-DD42-A6BC-39CAFA865BD9}"/>
              </a:ext>
            </a:extLst>
          </p:cNvPr>
          <p:cNvSpPr txBox="1"/>
          <p:nvPr/>
        </p:nvSpPr>
        <p:spPr>
          <a:xfrm>
            <a:off x="5719854" y="5059072"/>
            <a:ext cx="5125361" cy="168734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i="1" dirty="0">
                <a:solidFill>
                  <a:srgbClr val="5A6A78"/>
                </a:solidFill>
                <a:latin typeface="Open Sans"/>
                <a:ea typeface="Open Sans"/>
                <a:cs typeface="Open Sans"/>
              </a:rPr>
              <a:t>This estimate (0.118) gives us a sense of the typical variation of the slope across samples. (How wide the cloud is)</a:t>
            </a:r>
          </a:p>
        </p:txBody>
      </p:sp>
      <p:sp>
        <p:nvSpPr>
          <p:cNvPr id="4163" name="SpreadLabel">
            <a:extLst>
              <a:ext uri="{FF2B5EF4-FFF2-40B4-BE49-F238E27FC236}">
                <a16:creationId xmlns:a16="http://schemas.microsoft.com/office/drawing/2014/main" id="{9BC83742-A796-A4A1-5A46-B5D36BDA9D8F}"/>
              </a:ext>
            </a:extLst>
          </p:cNvPr>
          <p:cNvSpPr/>
          <p:nvPr/>
        </p:nvSpPr>
        <p:spPr>
          <a:xfrm>
            <a:off x="7378578" y="4132538"/>
            <a:ext cx="4291336" cy="85592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2B6CB0"/>
                </a:solidFill>
                <a:latin typeface="Open Sans"/>
              </a:rPr>
              <a:t>Typical variation from slope to slope </a:t>
            </a:r>
          </a:p>
          <a:p>
            <a:pPr algn="ctr"/>
            <a:r>
              <a:rPr lang="en-US" b="1" dirty="0">
                <a:solidFill>
                  <a:srgbClr val="2B6CB0"/>
                </a:solidFill>
                <a:latin typeface="Open Sans"/>
              </a:rPr>
              <a:t>“Spread”</a:t>
            </a:r>
          </a:p>
          <a:p>
            <a:pPr algn="ctr"/>
            <a:r>
              <a:rPr lang="en-US" b="1" dirty="0">
                <a:solidFill>
                  <a:srgbClr val="2B6CB0"/>
                </a:solidFill>
                <a:latin typeface="Open Sans"/>
              </a:rPr>
              <a:t>“Standard error” of the slope</a:t>
            </a:r>
          </a:p>
        </p:txBody>
      </p:sp>
      <p:grpSp>
        <p:nvGrpSpPr>
          <p:cNvPr id="4195" name="Group 4194">
            <a:extLst>
              <a:ext uri="{FF2B5EF4-FFF2-40B4-BE49-F238E27FC236}">
                <a16:creationId xmlns:a16="http://schemas.microsoft.com/office/drawing/2014/main" id="{331CF694-DA65-20F4-0680-2EE52EA429EA}"/>
              </a:ext>
            </a:extLst>
          </p:cNvPr>
          <p:cNvGrpSpPr/>
          <p:nvPr/>
        </p:nvGrpSpPr>
        <p:grpSpPr>
          <a:xfrm>
            <a:off x="7575375" y="812933"/>
            <a:ext cx="3966246" cy="3219907"/>
            <a:chOff x="7575375" y="812933"/>
            <a:chExt cx="3966246" cy="3219907"/>
          </a:xfrm>
        </p:grpSpPr>
        <p:grpSp>
          <p:nvGrpSpPr>
            <p:cNvPr id="4164" name="Group 4163">
              <a:extLst>
                <a:ext uri="{FF2B5EF4-FFF2-40B4-BE49-F238E27FC236}">
                  <a16:creationId xmlns:a16="http://schemas.microsoft.com/office/drawing/2014/main" id="{72AB55CE-B399-FE8A-6068-71275EDA00E3}"/>
                </a:ext>
              </a:extLst>
            </p:cNvPr>
            <p:cNvGrpSpPr/>
            <p:nvPr/>
          </p:nvGrpSpPr>
          <p:grpSpPr>
            <a:xfrm>
              <a:off x="7575375" y="812933"/>
              <a:ext cx="3966246" cy="3219907"/>
              <a:chOff x="889000" y="1270000"/>
              <a:chExt cx="5461000" cy="4381500"/>
            </a:xfrm>
          </p:grpSpPr>
          <p:sp>
            <p:nvSpPr>
              <p:cNvPr id="4165" name="PlotBg2">
                <a:extLst>
                  <a:ext uri="{FF2B5EF4-FFF2-40B4-BE49-F238E27FC236}">
                    <a16:creationId xmlns:a16="http://schemas.microsoft.com/office/drawing/2014/main" id="{BB78A8BF-BC4C-DE31-5F10-50AD51452796}"/>
                  </a:ext>
                </a:extLst>
              </p:cNvPr>
              <p:cNvSpPr/>
              <p:nvPr/>
            </p:nvSpPr>
            <p:spPr>
              <a:xfrm>
                <a:off x="1270000" y="1270000"/>
                <a:ext cx="5080000" cy="3810000"/>
              </a:xfrm>
              <a:prstGeom prst="rect">
                <a:avLst/>
              </a:prstGeom>
              <a:solidFill>
                <a:srgbClr val="FAFAFA"/>
              </a:solidFill>
              <a:ln w="12700">
                <a:solidFill>
                  <a:srgbClr val="CCCCCC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66" name="XLabel2">
                <a:extLst>
                  <a:ext uri="{FF2B5EF4-FFF2-40B4-BE49-F238E27FC236}">
                    <a16:creationId xmlns:a16="http://schemas.microsoft.com/office/drawing/2014/main" id="{6F8D55C8-93FD-6B9B-AAD6-7B940366D37D}"/>
                  </a:ext>
                </a:extLst>
              </p:cNvPr>
              <p:cNvSpPr/>
              <p:nvPr/>
            </p:nvSpPr>
            <p:spPr>
              <a:xfrm>
                <a:off x="2540000" y="5270500"/>
                <a:ext cx="2540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/>
              <a:lstStyle/>
              <a:p>
                <a:pPr algn="ctr"/>
                <a:r>
                  <a:rPr lang="en-US" sz="1600" dirty="0">
                    <a:solidFill>
                      <a:srgbClr val="2E3640"/>
                    </a:solidFill>
                    <a:latin typeface="Open Sans"/>
                  </a:rPr>
                  <a:t>Gestational Weeks</a:t>
                </a:r>
              </a:p>
            </p:txBody>
          </p:sp>
          <p:sp>
            <p:nvSpPr>
              <p:cNvPr id="4167" name="YLabel2">
                <a:extLst>
                  <a:ext uri="{FF2B5EF4-FFF2-40B4-BE49-F238E27FC236}">
                    <a16:creationId xmlns:a16="http://schemas.microsoft.com/office/drawing/2014/main" id="{9E0988C5-6FD8-10AE-9EFD-5585169F362E}"/>
                  </a:ext>
                </a:extLst>
              </p:cNvPr>
              <p:cNvSpPr/>
              <p:nvPr/>
            </p:nvSpPr>
            <p:spPr>
              <a:xfrm rot="16200000">
                <a:off x="240396" y="2660826"/>
                <a:ext cx="2540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/>
              <a:lstStyle/>
              <a:p>
                <a:pPr algn="ctr"/>
                <a:r>
                  <a:rPr lang="en-US" sz="1600" dirty="0">
                    <a:solidFill>
                      <a:srgbClr val="2E3640"/>
                    </a:solidFill>
                    <a:latin typeface="Open Sans"/>
                  </a:rPr>
                  <a:t>Birth Weight (kg)</a:t>
                </a:r>
              </a:p>
            </p:txBody>
          </p:sp>
          <p:sp>
            <p:nvSpPr>
              <p:cNvPr id="4168" name="XT32">
                <a:extLst>
                  <a:ext uri="{FF2B5EF4-FFF2-40B4-BE49-F238E27FC236}">
                    <a16:creationId xmlns:a16="http://schemas.microsoft.com/office/drawing/2014/main" id="{1FB518A2-D764-ED4B-035B-0DDE97C74DC8}"/>
                  </a:ext>
                </a:extLst>
              </p:cNvPr>
              <p:cNvSpPr/>
              <p:nvPr/>
            </p:nvSpPr>
            <p:spPr>
              <a:xfrm>
                <a:off x="1862667" y="5105400"/>
                <a:ext cx="508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/>
              <a:lstStyle/>
              <a:p>
                <a:pPr algn="ctr"/>
                <a:r>
                  <a:rPr lang="en-US" sz="1200" dirty="0">
                    <a:solidFill>
                      <a:srgbClr val="666666"/>
                    </a:solidFill>
                    <a:latin typeface="Open Sans"/>
                  </a:rPr>
                  <a:t>32</a:t>
                </a:r>
              </a:p>
            </p:txBody>
          </p:sp>
          <p:sp>
            <p:nvSpPr>
              <p:cNvPr id="4169" name="XT33">
                <a:extLst>
                  <a:ext uri="{FF2B5EF4-FFF2-40B4-BE49-F238E27FC236}">
                    <a16:creationId xmlns:a16="http://schemas.microsoft.com/office/drawing/2014/main" id="{ADB285AF-B9A6-CAD9-18BD-9A4EACEA3D8A}"/>
                  </a:ext>
                </a:extLst>
              </p:cNvPr>
              <p:cNvSpPr/>
              <p:nvPr/>
            </p:nvSpPr>
            <p:spPr>
              <a:xfrm>
                <a:off x="2709333" y="5105400"/>
                <a:ext cx="508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/>
              <a:lstStyle/>
              <a:p>
                <a:pPr algn="ctr"/>
                <a:r>
                  <a:rPr lang="en-US" sz="1200" dirty="0">
                    <a:solidFill>
                      <a:srgbClr val="666666"/>
                    </a:solidFill>
                    <a:latin typeface="Open Sans"/>
                  </a:rPr>
                  <a:t>33</a:t>
                </a:r>
              </a:p>
            </p:txBody>
          </p:sp>
          <p:sp>
            <p:nvSpPr>
              <p:cNvPr id="4170" name="XT34">
                <a:extLst>
                  <a:ext uri="{FF2B5EF4-FFF2-40B4-BE49-F238E27FC236}">
                    <a16:creationId xmlns:a16="http://schemas.microsoft.com/office/drawing/2014/main" id="{37914104-DBF2-C690-DFE7-180F94D8C312}"/>
                  </a:ext>
                </a:extLst>
              </p:cNvPr>
              <p:cNvSpPr/>
              <p:nvPr/>
            </p:nvSpPr>
            <p:spPr>
              <a:xfrm>
                <a:off x="3556000" y="5105400"/>
                <a:ext cx="508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/>
              <a:lstStyle/>
              <a:p>
                <a:pPr algn="ctr"/>
                <a:r>
                  <a:rPr lang="en-US" sz="1200" dirty="0">
                    <a:solidFill>
                      <a:srgbClr val="666666"/>
                    </a:solidFill>
                    <a:latin typeface="Open Sans"/>
                  </a:rPr>
                  <a:t>34</a:t>
                </a:r>
              </a:p>
            </p:txBody>
          </p:sp>
          <p:sp>
            <p:nvSpPr>
              <p:cNvPr id="4171" name="XT35">
                <a:extLst>
                  <a:ext uri="{FF2B5EF4-FFF2-40B4-BE49-F238E27FC236}">
                    <a16:creationId xmlns:a16="http://schemas.microsoft.com/office/drawing/2014/main" id="{BF5F518C-015B-F5DC-558C-ABDA84467FE2}"/>
                  </a:ext>
                </a:extLst>
              </p:cNvPr>
              <p:cNvSpPr/>
              <p:nvPr/>
            </p:nvSpPr>
            <p:spPr>
              <a:xfrm>
                <a:off x="4402667" y="5105400"/>
                <a:ext cx="508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/>
              <a:lstStyle/>
              <a:p>
                <a:pPr algn="ctr"/>
                <a:r>
                  <a:rPr lang="en-US" sz="1200" dirty="0">
                    <a:solidFill>
                      <a:srgbClr val="666666"/>
                    </a:solidFill>
                    <a:latin typeface="Open Sans"/>
                  </a:rPr>
                  <a:t>35</a:t>
                </a:r>
              </a:p>
            </p:txBody>
          </p:sp>
          <p:sp>
            <p:nvSpPr>
              <p:cNvPr id="4172" name="XT36">
                <a:extLst>
                  <a:ext uri="{FF2B5EF4-FFF2-40B4-BE49-F238E27FC236}">
                    <a16:creationId xmlns:a16="http://schemas.microsoft.com/office/drawing/2014/main" id="{8C077797-B71E-DFAF-60AC-85EB4816283B}"/>
                  </a:ext>
                </a:extLst>
              </p:cNvPr>
              <p:cNvSpPr/>
              <p:nvPr/>
            </p:nvSpPr>
            <p:spPr>
              <a:xfrm>
                <a:off x="5249333" y="5105400"/>
                <a:ext cx="5080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/>
              <a:lstStyle/>
              <a:p>
                <a:pPr algn="ctr"/>
                <a:r>
                  <a:rPr lang="en-US" sz="1200" dirty="0">
                    <a:solidFill>
                      <a:srgbClr val="666666"/>
                    </a:solidFill>
                    <a:latin typeface="Open Sans"/>
                  </a:rPr>
                  <a:t>36</a:t>
                </a:r>
              </a:p>
            </p:txBody>
          </p:sp>
          <p:sp>
            <p:nvSpPr>
              <p:cNvPr id="4173" name="YT1">
                <a:extLst>
                  <a:ext uri="{FF2B5EF4-FFF2-40B4-BE49-F238E27FC236}">
                    <a16:creationId xmlns:a16="http://schemas.microsoft.com/office/drawing/2014/main" id="{8F339617-8A67-902D-E8FD-5764EF95E664}"/>
                  </a:ext>
                </a:extLst>
              </p:cNvPr>
              <p:cNvSpPr/>
              <p:nvPr/>
            </p:nvSpPr>
            <p:spPr>
              <a:xfrm>
                <a:off x="889000" y="4476750"/>
                <a:ext cx="355600" cy="2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/>
              <a:lstStyle/>
              <a:p>
                <a:pPr algn="r"/>
                <a:r>
                  <a:rPr lang="en-US" sz="1200" dirty="0">
                    <a:solidFill>
                      <a:srgbClr val="666666"/>
                    </a:solidFill>
                    <a:latin typeface="Open Sans"/>
                  </a:rPr>
                  <a:t>1</a:t>
                </a:r>
              </a:p>
            </p:txBody>
          </p:sp>
          <p:sp>
            <p:nvSpPr>
              <p:cNvPr id="4174" name="YT2">
                <a:extLst>
                  <a:ext uri="{FF2B5EF4-FFF2-40B4-BE49-F238E27FC236}">
                    <a16:creationId xmlns:a16="http://schemas.microsoft.com/office/drawing/2014/main" id="{583514C8-333E-A98E-35AB-6BB459995D17}"/>
                  </a:ext>
                </a:extLst>
              </p:cNvPr>
              <p:cNvSpPr/>
              <p:nvPr/>
            </p:nvSpPr>
            <p:spPr>
              <a:xfrm>
                <a:off x="889000" y="3524250"/>
                <a:ext cx="355600" cy="2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/>
              <a:lstStyle/>
              <a:p>
                <a:pPr algn="r"/>
                <a:r>
                  <a:rPr lang="en-US" sz="1200" dirty="0">
                    <a:solidFill>
                      <a:srgbClr val="666666"/>
                    </a:solidFill>
                    <a:latin typeface="Open Sans"/>
                  </a:rPr>
                  <a:t>2</a:t>
                </a:r>
              </a:p>
            </p:txBody>
          </p:sp>
          <p:sp>
            <p:nvSpPr>
              <p:cNvPr id="4175" name="YT3">
                <a:extLst>
                  <a:ext uri="{FF2B5EF4-FFF2-40B4-BE49-F238E27FC236}">
                    <a16:creationId xmlns:a16="http://schemas.microsoft.com/office/drawing/2014/main" id="{537CA380-F968-3CDE-9CEB-7151AD10850E}"/>
                  </a:ext>
                </a:extLst>
              </p:cNvPr>
              <p:cNvSpPr/>
              <p:nvPr/>
            </p:nvSpPr>
            <p:spPr>
              <a:xfrm>
                <a:off x="889000" y="2571750"/>
                <a:ext cx="355600" cy="2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/>
              <a:lstStyle/>
              <a:p>
                <a:pPr algn="r"/>
                <a:r>
                  <a:rPr lang="en-US" sz="1200" dirty="0">
                    <a:solidFill>
                      <a:srgbClr val="666666"/>
                    </a:solidFill>
                    <a:latin typeface="Open Sans"/>
                  </a:rPr>
                  <a:t>3</a:t>
                </a:r>
              </a:p>
            </p:txBody>
          </p:sp>
          <p:sp>
            <p:nvSpPr>
              <p:cNvPr id="4176" name="YT4">
                <a:extLst>
                  <a:ext uri="{FF2B5EF4-FFF2-40B4-BE49-F238E27FC236}">
                    <a16:creationId xmlns:a16="http://schemas.microsoft.com/office/drawing/2014/main" id="{D9A0396B-E4E7-5162-9E3D-B7E5E539F7EF}"/>
                  </a:ext>
                </a:extLst>
              </p:cNvPr>
              <p:cNvSpPr/>
              <p:nvPr/>
            </p:nvSpPr>
            <p:spPr>
              <a:xfrm>
                <a:off x="889000" y="1619250"/>
                <a:ext cx="355600" cy="2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/>
              <a:lstStyle/>
              <a:p>
                <a:pPr algn="r"/>
                <a:r>
                  <a:rPr lang="en-US" sz="1200" dirty="0">
                    <a:solidFill>
                      <a:srgbClr val="666666"/>
                    </a:solidFill>
                    <a:latin typeface="Open Sans"/>
                  </a:rPr>
                  <a:t>4</a:t>
                </a:r>
              </a:p>
            </p:txBody>
          </p:sp>
          <p:cxnSp>
            <p:nvCxnSpPr>
              <p:cNvPr id="4177" name="G1">
                <a:extLst>
                  <a:ext uri="{FF2B5EF4-FFF2-40B4-BE49-F238E27FC236}">
                    <a16:creationId xmlns:a16="http://schemas.microsoft.com/office/drawing/2014/main" id="{5E228D0F-42BC-7433-18EF-8E824F2AE674}"/>
                  </a:ext>
                </a:extLst>
              </p:cNvPr>
              <p:cNvCxnSpPr/>
              <p:nvPr/>
            </p:nvCxnSpPr>
            <p:spPr>
              <a:xfrm>
                <a:off x="1270000" y="4603750"/>
                <a:ext cx="5080000" cy="0"/>
              </a:xfrm>
              <a:prstGeom prst="line">
                <a:avLst/>
              </a:prstGeom>
              <a:ln w="6350">
                <a:solidFill>
                  <a:srgbClr val="E0E0E0"/>
                </a:solidFill>
                <a:prstDash val="dash"/>
              </a:ln>
            </p:spPr>
          </p:cxnSp>
          <p:cxnSp>
            <p:nvCxnSpPr>
              <p:cNvPr id="4178" name="G2">
                <a:extLst>
                  <a:ext uri="{FF2B5EF4-FFF2-40B4-BE49-F238E27FC236}">
                    <a16:creationId xmlns:a16="http://schemas.microsoft.com/office/drawing/2014/main" id="{11F75EE6-427C-66CF-659C-62CCDAC6E402}"/>
                  </a:ext>
                </a:extLst>
              </p:cNvPr>
              <p:cNvCxnSpPr/>
              <p:nvPr/>
            </p:nvCxnSpPr>
            <p:spPr>
              <a:xfrm>
                <a:off x="1270000" y="3651250"/>
                <a:ext cx="5080000" cy="0"/>
              </a:xfrm>
              <a:prstGeom prst="line">
                <a:avLst/>
              </a:prstGeom>
              <a:ln w="6350">
                <a:solidFill>
                  <a:srgbClr val="E0E0E0"/>
                </a:solidFill>
                <a:prstDash val="dash"/>
              </a:ln>
            </p:spPr>
          </p:cxnSp>
          <p:cxnSp>
            <p:nvCxnSpPr>
              <p:cNvPr id="4179" name="G3">
                <a:extLst>
                  <a:ext uri="{FF2B5EF4-FFF2-40B4-BE49-F238E27FC236}">
                    <a16:creationId xmlns:a16="http://schemas.microsoft.com/office/drawing/2014/main" id="{8EC13958-0C51-ADEA-56A9-27E8BC25A1E5}"/>
                  </a:ext>
                </a:extLst>
              </p:cNvPr>
              <p:cNvCxnSpPr/>
              <p:nvPr/>
            </p:nvCxnSpPr>
            <p:spPr>
              <a:xfrm>
                <a:off x="1270000" y="2698750"/>
                <a:ext cx="5080000" cy="0"/>
              </a:xfrm>
              <a:prstGeom prst="line">
                <a:avLst/>
              </a:prstGeom>
              <a:ln w="6350">
                <a:solidFill>
                  <a:srgbClr val="E0E0E0"/>
                </a:solidFill>
                <a:prstDash val="dash"/>
              </a:ln>
            </p:spPr>
          </p:cxnSp>
          <p:cxnSp>
            <p:nvCxnSpPr>
              <p:cNvPr id="4180" name="G4">
                <a:extLst>
                  <a:ext uri="{FF2B5EF4-FFF2-40B4-BE49-F238E27FC236}">
                    <a16:creationId xmlns:a16="http://schemas.microsoft.com/office/drawing/2014/main" id="{58B0416B-8B80-DF4E-877B-2C63CE684704}"/>
                  </a:ext>
                </a:extLst>
              </p:cNvPr>
              <p:cNvCxnSpPr/>
              <p:nvPr/>
            </p:nvCxnSpPr>
            <p:spPr>
              <a:xfrm>
                <a:off x="1270000" y="1746250"/>
                <a:ext cx="5080000" cy="0"/>
              </a:xfrm>
              <a:prstGeom prst="line">
                <a:avLst/>
              </a:prstGeom>
              <a:ln w="6350">
                <a:solidFill>
                  <a:srgbClr val="E0E0E0"/>
                </a:solidFill>
                <a:prstDash val="dash"/>
              </a:ln>
            </p:spPr>
          </p:cxnSp>
          <p:cxnSp>
            <p:nvCxnSpPr>
              <p:cNvPr id="4181" name="RegLine2">
                <a:extLst>
                  <a:ext uri="{FF2B5EF4-FFF2-40B4-BE49-F238E27FC236}">
                    <a16:creationId xmlns:a16="http://schemas.microsoft.com/office/drawing/2014/main" id="{36F2CBDA-1CDB-52E9-656A-F1A7CF2EAF0C}"/>
                  </a:ext>
                </a:extLst>
              </p:cNvPr>
              <p:cNvCxnSpPr/>
              <p:nvPr/>
            </p:nvCxnSpPr>
            <p:spPr>
              <a:xfrm flipV="1">
                <a:off x="1439333" y="2293176"/>
                <a:ext cx="4741334" cy="2058923"/>
              </a:xfrm>
              <a:prstGeom prst="line">
                <a:avLst/>
              </a:prstGeom>
              <a:ln w="28575" cap="rnd">
                <a:solidFill>
                  <a:srgbClr val="D94535"/>
                </a:solidFill>
              </a:ln>
            </p:spPr>
          </p:cxnSp>
          <p:sp>
            <p:nvSpPr>
              <p:cNvPr id="4182" name="D0">
                <a:extLst>
                  <a:ext uri="{FF2B5EF4-FFF2-40B4-BE49-F238E27FC236}">
                    <a16:creationId xmlns:a16="http://schemas.microsoft.com/office/drawing/2014/main" id="{8658093F-4480-03AD-6C65-D722B29CFB6C}"/>
                  </a:ext>
                </a:extLst>
              </p:cNvPr>
              <p:cNvSpPr/>
              <p:nvPr/>
            </p:nvSpPr>
            <p:spPr>
              <a:xfrm>
                <a:off x="2040467" y="3908425"/>
                <a:ext cx="152400" cy="152400"/>
              </a:xfrm>
              <a:prstGeom prst="ellipse">
                <a:avLst/>
              </a:prstGeom>
              <a:solidFill>
                <a:srgbClr val="2E6B75"/>
              </a:solidFill>
              <a:ln w="1270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83" name="D1">
                <a:extLst>
                  <a:ext uri="{FF2B5EF4-FFF2-40B4-BE49-F238E27FC236}">
                    <a16:creationId xmlns:a16="http://schemas.microsoft.com/office/drawing/2014/main" id="{A9EBB9E3-5584-DFEF-713A-6165A8ACC771}"/>
                  </a:ext>
                </a:extLst>
              </p:cNvPr>
              <p:cNvSpPr/>
              <p:nvPr/>
            </p:nvSpPr>
            <p:spPr>
              <a:xfrm>
                <a:off x="5427133" y="2936875"/>
                <a:ext cx="152400" cy="152400"/>
              </a:xfrm>
              <a:prstGeom prst="ellipse">
                <a:avLst/>
              </a:prstGeom>
              <a:solidFill>
                <a:srgbClr val="2E6B75"/>
              </a:solidFill>
              <a:ln w="1270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84" name="D2">
                <a:extLst>
                  <a:ext uri="{FF2B5EF4-FFF2-40B4-BE49-F238E27FC236}">
                    <a16:creationId xmlns:a16="http://schemas.microsoft.com/office/drawing/2014/main" id="{5E3B1F44-AD99-AADD-48CB-DFACBF9ED2D7}"/>
                  </a:ext>
                </a:extLst>
              </p:cNvPr>
              <p:cNvSpPr/>
              <p:nvPr/>
            </p:nvSpPr>
            <p:spPr>
              <a:xfrm>
                <a:off x="2887133" y="3403600"/>
                <a:ext cx="152400" cy="152400"/>
              </a:xfrm>
              <a:prstGeom prst="ellipse">
                <a:avLst/>
              </a:prstGeom>
              <a:solidFill>
                <a:srgbClr val="2E6B75"/>
              </a:solidFill>
              <a:ln w="1270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85" name="D3">
                <a:extLst>
                  <a:ext uri="{FF2B5EF4-FFF2-40B4-BE49-F238E27FC236}">
                    <a16:creationId xmlns:a16="http://schemas.microsoft.com/office/drawing/2014/main" id="{5AF93315-3B23-D28B-CEEE-A8A667BB7BA7}"/>
                  </a:ext>
                </a:extLst>
              </p:cNvPr>
              <p:cNvSpPr/>
              <p:nvPr/>
            </p:nvSpPr>
            <p:spPr>
              <a:xfrm>
                <a:off x="5427133" y="1831975"/>
                <a:ext cx="152400" cy="152400"/>
              </a:xfrm>
              <a:prstGeom prst="ellipse">
                <a:avLst/>
              </a:prstGeom>
              <a:solidFill>
                <a:srgbClr val="2E6B75"/>
              </a:solidFill>
              <a:ln w="1270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86" name="D4">
                <a:extLst>
                  <a:ext uri="{FF2B5EF4-FFF2-40B4-BE49-F238E27FC236}">
                    <a16:creationId xmlns:a16="http://schemas.microsoft.com/office/drawing/2014/main" id="{5BD4685C-9723-C1C6-2A4C-30C76646D036}"/>
                  </a:ext>
                </a:extLst>
              </p:cNvPr>
              <p:cNvSpPr/>
              <p:nvPr/>
            </p:nvSpPr>
            <p:spPr>
              <a:xfrm>
                <a:off x="4580467" y="3070225"/>
                <a:ext cx="152400" cy="152400"/>
              </a:xfrm>
              <a:prstGeom prst="ellipse">
                <a:avLst/>
              </a:prstGeom>
              <a:solidFill>
                <a:srgbClr val="2E6B75"/>
              </a:solidFill>
              <a:ln w="1270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87" name="D5">
                <a:extLst>
                  <a:ext uri="{FF2B5EF4-FFF2-40B4-BE49-F238E27FC236}">
                    <a16:creationId xmlns:a16="http://schemas.microsoft.com/office/drawing/2014/main" id="{5AD20834-6BDE-FE45-5F22-E3E4A0429625}"/>
                  </a:ext>
                </a:extLst>
              </p:cNvPr>
              <p:cNvSpPr/>
              <p:nvPr/>
            </p:nvSpPr>
            <p:spPr>
              <a:xfrm>
                <a:off x="5427133" y="2965450"/>
                <a:ext cx="152400" cy="152400"/>
              </a:xfrm>
              <a:prstGeom prst="ellipse">
                <a:avLst/>
              </a:prstGeom>
              <a:solidFill>
                <a:srgbClr val="2E6B75"/>
              </a:solidFill>
              <a:ln w="1270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88" name="D6">
                <a:extLst>
                  <a:ext uri="{FF2B5EF4-FFF2-40B4-BE49-F238E27FC236}">
                    <a16:creationId xmlns:a16="http://schemas.microsoft.com/office/drawing/2014/main" id="{0AC578C1-2D6B-6D11-59A7-39D478FF777F}"/>
                  </a:ext>
                </a:extLst>
              </p:cNvPr>
              <p:cNvSpPr/>
              <p:nvPr/>
            </p:nvSpPr>
            <p:spPr>
              <a:xfrm>
                <a:off x="2040467" y="4470400"/>
                <a:ext cx="152400" cy="152400"/>
              </a:xfrm>
              <a:prstGeom prst="ellipse">
                <a:avLst/>
              </a:prstGeom>
              <a:solidFill>
                <a:srgbClr val="2E6B75"/>
              </a:solidFill>
              <a:ln w="1270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89" name="D7">
                <a:extLst>
                  <a:ext uri="{FF2B5EF4-FFF2-40B4-BE49-F238E27FC236}">
                    <a16:creationId xmlns:a16="http://schemas.microsoft.com/office/drawing/2014/main" id="{967CD35D-905A-7F20-5392-CDFD065C0A7A}"/>
                  </a:ext>
                </a:extLst>
              </p:cNvPr>
              <p:cNvSpPr/>
              <p:nvPr/>
            </p:nvSpPr>
            <p:spPr>
              <a:xfrm>
                <a:off x="3733800" y="2565400"/>
                <a:ext cx="152400" cy="152400"/>
              </a:xfrm>
              <a:prstGeom prst="ellipse">
                <a:avLst/>
              </a:prstGeom>
              <a:solidFill>
                <a:srgbClr val="2E6B75"/>
              </a:solidFill>
              <a:ln w="1270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4190" name="AltLine0">
              <a:extLst>
                <a:ext uri="{FF2B5EF4-FFF2-40B4-BE49-F238E27FC236}">
                  <a16:creationId xmlns:a16="http://schemas.microsoft.com/office/drawing/2014/main" id="{B4D4B905-8858-E084-03A3-804BA0FAB654}"/>
                </a:ext>
              </a:extLst>
            </p:cNvPr>
            <p:cNvCxnSpPr/>
            <p:nvPr/>
          </p:nvCxnSpPr>
          <p:spPr>
            <a:xfrm flipV="1">
              <a:off x="8096014" y="1906906"/>
              <a:ext cx="3074610" cy="874975"/>
            </a:xfrm>
            <a:prstGeom prst="line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91" name="AltLine1">
              <a:extLst>
                <a:ext uri="{FF2B5EF4-FFF2-40B4-BE49-F238E27FC236}">
                  <a16:creationId xmlns:a16="http://schemas.microsoft.com/office/drawing/2014/main" id="{81034FB6-53CC-5874-3CB0-1330AE4FDB5A}"/>
                </a:ext>
              </a:extLst>
            </p:cNvPr>
            <p:cNvCxnSpPr/>
            <p:nvPr/>
          </p:nvCxnSpPr>
          <p:spPr>
            <a:xfrm flipV="1">
              <a:off x="8096014" y="1828450"/>
              <a:ext cx="3074610" cy="1049970"/>
            </a:xfrm>
            <a:prstGeom prst="line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92" name="AltLine2">
              <a:extLst>
                <a:ext uri="{FF2B5EF4-FFF2-40B4-BE49-F238E27FC236}">
                  <a16:creationId xmlns:a16="http://schemas.microsoft.com/office/drawing/2014/main" id="{3A0221E9-C646-7113-A492-9801A7794A7D}"/>
                </a:ext>
              </a:extLst>
            </p:cNvPr>
            <p:cNvCxnSpPr/>
            <p:nvPr/>
          </p:nvCxnSpPr>
          <p:spPr>
            <a:xfrm flipV="1">
              <a:off x="8171942" y="1513169"/>
              <a:ext cx="3074610" cy="1574955"/>
            </a:xfrm>
            <a:prstGeom prst="line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93" name="AltLine3">
              <a:extLst>
                <a:ext uri="{FF2B5EF4-FFF2-40B4-BE49-F238E27FC236}">
                  <a16:creationId xmlns:a16="http://schemas.microsoft.com/office/drawing/2014/main" id="{FD200D32-04DE-7848-CCB5-62A60A52953A}"/>
                </a:ext>
              </a:extLst>
            </p:cNvPr>
            <p:cNvCxnSpPr/>
            <p:nvPr/>
          </p:nvCxnSpPr>
          <p:spPr>
            <a:xfrm flipV="1">
              <a:off x="8171942" y="1425671"/>
              <a:ext cx="3074611" cy="1749949"/>
            </a:xfrm>
            <a:prstGeom prst="line">
              <a:avLst/>
            </a:prstGeom>
            <a:ln w="19050" cap="flat" cmpd="sng" algn="ctr">
              <a:solidFill>
                <a:schemeClr val="accent6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4194" name="SpreadFan">
              <a:extLst>
                <a:ext uri="{FF2B5EF4-FFF2-40B4-BE49-F238E27FC236}">
                  <a16:creationId xmlns:a16="http://schemas.microsoft.com/office/drawing/2014/main" id="{429B6DD4-5DDF-44C1-C8A2-2DAB21F259B5}"/>
                </a:ext>
              </a:extLst>
            </p:cNvPr>
            <p:cNvSpPr/>
            <p:nvPr/>
          </p:nvSpPr>
          <p:spPr>
            <a:xfrm>
              <a:off x="8171941" y="1205468"/>
              <a:ext cx="3074611" cy="2295934"/>
            </a:xfrm>
            <a:custGeom>
              <a:avLst/>
              <a:gdLst/>
              <a:ahLst/>
              <a:cxnLst/>
              <a:rect l="0" t="0" r="4233334" b="3124200"/>
              <a:pathLst>
                <a:path w="4233334" h="3124200">
                  <a:moveTo>
                    <a:pt x="0" y="1766888"/>
                  </a:moveTo>
                  <a:lnTo>
                    <a:pt x="211667" y="1710690"/>
                  </a:lnTo>
                  <a:lnTo>
                    <a:pt x="423334" y="1654493"/>
                  </a:lnTo>
                  <a:lnTo>
                    <a:pt x="635000" y="1598295"/>
                  </a:lnTo>
                  <a:lnTo>
                    <a:pt x="846667" y="1542098"/>
                  </a:lnTo>
                  <a:lnTo>
                    <a:pt x="1058334" y="1485900"/>
                  </a:lnTo>
                  <a:lnTo>
                    <a:pt x="1270000" y="1429703"/>
                  </a:lnTo>
                  <a:lnTo>
                    <a:pt x="1481667" y="1373505"/>
                  </a:lnTo>
                  <a:lnTo>
                    <a:pt x="1693334" y="1317308"/>
                  </a:lnTo>
                  <a:lnTo>
                    <a:pt x="1905000" y="1261110"/>
                  </a:lnTo>
                  <a:lnTo>
                    <a:pt x="2116667" y="1204913"/>
                  </a:lnTo>
                  <a:lnTo>
                    <a:pt x="2328334" y="1148715"/>
                  </a:lnTo>
                  <a:lnTo>
                    <a:pt x="2540000" y="1021080"/>
                  </a:lnTo>
                  <a:lnTo>
                    <a:pt x="2751667" y="893445"/>
                  </a:lnTo>
                  <a:lnTo>
                    <a:pt x="2963334" y="765810"/>
                  </a:lnTo>
                  <a:lnTo>
                    <a:pt x="3175000" y="638175"/>
                  </a:lnTo>
                  <a:lnTo>
                    <a:pt x="3386667" y="510540"/>
                  </a:lnTo>
                  <a:lnTo>
                    <a:pt x="3598334" y="382905"/>
                  </a:lnTo>
                  <a:lnTo>
                    <a:pt x="3810000" y="255270"/>
                  </a:lnTo>
                  <a:lnTo>
                    <a:pt x="4021667" y="127635"/>
                  </a:lnTo>
                  <a:lnTo>
                    <a:pt x="4233334" y="0"/>
                  </a:lnTo>
                  <a:lnTo>
                    <a:pt x="4233334" y="1214438"/>
                  </a:lnTo>
                  <a:lnTo>
                    <a:pt x="4021667" y="1270635"/>
                  </a:lnTo>
                  <a:lnTo>
                    <a:pt x="3810000" y="1326833"/>
                  </a:lnTo>
                  <a:lnTo>
                    <a:pt x="3598334" y="1383030"/>
                  </a:lnTo>
                  <a:lnTo>
                    <a:pt x="3386667" y="1439228"/>
                  </a:lnTo>
                  <a:lnTo>
                    <a:pt x="3175000" y="1495425"/>
                  </a:lnTo>
                  <a:lnTo>
                    <a:pt x="2963334" y="1551623"/>
                  </a:lnTo>
                  <a:lnTo>
                    <a:pt x="2751667" y="1607820"/>
                  </a:lnTo>
                  <a:lnTo>
                    <a:pt x="2540000" y="1664018"/>
                  </a:lnTo>
                  <a:lnTo>
                    <a:pt x="2328334" y="1720215"/>
                  </a:lnTo>
                  <a:lnTo>
                    <a:pt x="2116667" y="1847850"/>
                  </a:lnTo>
                  <a:lnTo>
                    <a:pt x="1905000" y="1975485"/>
                  </a:lnTo>
                  <a:lnTo>
                    <a:pt x="1693334" y="2103120"/>
                  </a:lnTo>
                  <a:lnTo>
                    <a:pt x="1481667" y="2230755"/>
                  </a:lnTo>
                  <a:lnTo>
                    <a:pt x="1270000" y="2358390"/>
                  </a:lnTo>
                  <a:lnTo>
                    <a:pt x="1058334" y="2486025"/>
                  </a:lnTo>
                  <a:lnTo>
                    <a:pt x="846667" y="2613660"/>
                  </a:lnTo>
                  <a:lnTo>
                    <a:pt x="635000" y="2741295"/>
                  </a:lnTo>
                  <a:lnTo>
                    <a:pt x="423334" y="2868930"/>
                  </a:lnTo>
                  <a:lnTo>
                    <a:pt x="211667" y="2996565"/>
                  </a:lnTo>
                  <a:lnTo>
                    <a:pt x="0" y="3124200"/>
                  </a:lnTo>
                  <a:close/>
                </a:path>
              </a:pathLst>
            </a:custGeom>
            <a:solidFill>
              <a:srgbClr val="489BCC">
                <a:alpha val="36078"/>
              </a:srgbClr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50906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108" grpId="0" animBg="1"/>
      <p:bldP spid="41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64210-A117-E8DC-0BAC-00B534DD1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latin typeface="Montserrat"/>
              </a:rPr>
              <a:t>Intuition Pumps: Is that SE big or small?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480F8EC-589E-FB78-086B-7DC660D7461E}"/>
              </a:ext>
            </a:extLst>
          </p:cNvPr>
          <p:cNvGrpSpPr/>
          <p:nvPr/>
        </p:nvGrpSpPr>
        <p:grpSpPr>
          <a:xfrm>
            <a:off x="406400" y="1117600"/>
            <a:ext cx="5588000" cy="381000"/>
            <a:chOff x="406400" y="1117600"/>
            <a:chExt cx="5588000" cy="381000"/>
          </a:xfrm>
        </p:grpSpPr>
        <p:sp>
          <p:nvSpPr>
            <p:cNvPr id="200" name="Circ1"/>
            <p:cNvSpPr/>
            <p:nvPr/>
          </p:nvSpPr>
          <p:spPr>
            <a:xfrm>
              <a:off x="406400" y="1117600"/>
              <a:ext cx="304800" cy="3048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lIns="0" tIns="0" rIns="0" bIns="0" anchor="ctr"/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Open Sans"/>
                </a:rPr>
                <a:t>1</a:t>
              </a:r>
            </a:p>
          </p:txBody>
        </p:sp>
        <p:sp>
          <p:nvSpPr>
            <p:cNvPr id="210" name="Hdr1"/>
            <p:cNvSpPr/>
            <p:nvPr/>
          </p:nvSpPr>
          <p:spPr>
            <a:xfrm>
              <a:off x="787400" y="1117600"/>
              <a:ext cx="5207000" cy="355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/>
            <a:lstStyle/>
            <a:p>
              <a:pPr algn="l"/>
              <a:r>
                <a:rPr lang="en-US" b="1" dirty="0">
                  <a:solidFill>
                    <a:schemeClr val="tx2"/>
                  </a:solidFill>
                  <a:latin typeface="Open Sans"/>
                </a:rPr>
                <a:t>The Sign-Flip Test</a:t>
              </a:r>
            </a:p>
          </p:txBody>
        </p:sp>
        <p:sp>
          <p:nvSpPr>
            <p:cNvPr id="220" name="Div1"/>
            <p:cNvSpPr/>
            <p:nvPr/>
          </p:nvSpPr>
          <p:spPr>
            <a:xfrm>
              <a:off x="406400" y="1498600"/>
              <a:ext cx="5486400" cy="0"/>
            </a:xfrm>
            <a:prstGeom prst="rect">
              <a:avLst/>
            </a:prstGeom>
            <a:noFill/>
            <a:ln w="9525">
              <a:solidFill>
                <a:schemeClr val="tx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0" name="Body1"/>
          <p:cNvSpPr/>
          <p:nvPr/>
        </p:nvSpPr>
        <p:spPr>
          <a:xfrm>
            <a:off x="406400" y="1574800"/>
            <a:ext cx="4858936" cy="1496389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 anchor="t"/>
          <a:lstStyle/>
          <a:p>
            <a:pPr algn="l">
              <a:spcBef>
                <a:spcPts val="0"/>
              </a:spcBef>
            </a:pPr>
            <a:r>
              <a:rPr lang="en-US" sz="1700" dirty="0">
                <a:solidFill>
                  <a:srgbClr val="2E3640"/>
                </a:solidFill>
                <a:latin typeface="Open Sans"/>
              </a:rPr>
              <a:t>Compute slope ± 1 SE.</a:t>
            </a:r>
          </a:p>
          <a:p>
            <a:pPr algn="l">
              <a:spcBef>
                <a:spcPts val="0"/>
              </a:spcBef>
            </a:pPr>
            <a:r>
              <a:rPr lang="en-US" sz="1700" dirty="0">
                <a:solidFill>
                  <a:srgbClr val="2E3640"/>
                </a:solidFill>
                <a:latin typeface="Open Sans"/>
              </a:rPr>
              <a:t>Does the interval cross zero?</a:t>
            </a:r>
          </a:p>
          <a:p>
            <a:endParaRPr lang="en-US" sz="1700" dirty="0">
              <a:latin typeface="Open Sans"/>
            </a:endParaRPr>
          </a:p>
          <a:p>
            <a:pPr algn="l">
              <a:spcBef>
                <a:spcPts val="0"/>
              </a:spcBef>
            </a:pPr>
            <a:r>
              <a:rPr lang="en-US" sz="1700" i="1" dirty="0">
                <a:solidFill>
                  <a:srgbClr val="2E3640"/>
                </a:solidFill>
                <a:latin typeface="Open Sans"/>
              </a:rPr>
              <a:t>If yes → the wobble is big enough to flip the sign of your effect.</a:t>
            </a:r>
          </a:p>
          <a:p>
            <a:endParaRPr lang="en-US" sz="1700" dirty="0">
              <a:latin typeface="Open Sans"/>
            </a:endParaRPr>
          </a:p>
          <a:p>
            <a:pPr algn="l">
              <a:spcBef>
                <a:spcPts val="0"/>
              </a:spcBef>
            </a:pPr>
            <a:r>
              <a:rPr lang="en-US" sz="1700" b="1" dirty="0">
                <a:solidFill>
                  <a:srgbClr val="2E3640"/>
                </a:solidFill>
                <a:latin typeface="Open Sans"/>
              </a:rPr>
              <a:t>Ex: slope = 0.15, SE = 0.20</a:t>
            </a:r>
          </a:p>
          <a:p>
            <a:pPr algn="l">
              <a:spcBef>
                <a:spcPts val="0"/>
              </a:spcBef>
            </a:pPr>
            <a:r>
              <a:rPr lang="en-US" sz="1700" dirty="0">
                <a:solidFill>
                  <a:srgbClr val="C53030"/>
                </a:solidFill>
                <a:latin typeface="Open Sans"/>
              </a:rPr>
              <a:t>Range: [–0.05, 0.35] → crosses zero!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5670DB9-3E10-F09E-DC53-8E09F69FCDF5}"/>
              </a:ext>
            </a:extLst>
          </p:cNvPr>
          <p:cNvGrpSpPr/>
          <p:nvPr/>
        </p:nvGrpSpPr>
        <p:grpSpPr>
          <a:xfrm>
            <a:off x="6299200" y="1117600"/>
            <a:ext cx="5588000" cy="381000"/>
            <a:chOff x="6299200" y="1117600"/>
            <a:chExt cx="5588000" cy="381000"/>
          </a:xfrm>
        </p:grpSpPr>
        <p:sp>
          <p:nvSpPr>
            <p:cNvPr id="201" name="Circ2"/>
            <p:cNvSpPr/>
            <p:nvPr/>
          </p:nvSpPr>
          <p:spPr>
            <a:xfrm>
              <a:off x="6299200" y="1117600"/>
              <a:ext cx="304800" cy="3048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lIns="0" tIns="0" rIns="0" bIns="0" anchor="ctr"/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Open Sans"/>
                </a:rPr>
                <a:t>2</a:t>
              </a:r>
            </a:p>
          </p:txBody>
        </p:sp>
        <p:sp>
          <p:nvSpPr>
            <p:cNvPr id="211" name="Hdr2"/>
            <p:cNvSpPr/>
            <p:nvPr/>
          </p:nvSpPr>
          <p:spPr>
            <a:xfrm>
              <a:off x="6680200" y="1117600"/>
              <a:ext cx="5207000" cy="355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/>
            <a:lstStyle/>
            <a:p>
              <a:pPr algn="l"/>
              <a:r>
                <a:rPr lang="en-US" b="1" dirty="0">
                  <a:solidFill>
                    <a:schemeClr val="tx2"/>
                  </a:solidFill>
                  <a:latin typeface="Open Sans"/>
                </a:rPr>
                <a:t>The Fraction Test</a:t>
              </a:r>
            </a:p>
          </p:txBody>
        </p:sp>
        <p:sp>
          <p:nvSpPr>
            <p:cNvPr id="221" name="Div2"/>
            <p:cNvSpPr/>
            <p:nvPr/>
          </p:nvSpPr>
          <p:spPr>
            <a:xfrm>
              <a:off x="6299200" y="1498600"/>
              <a:ext cx="5486400" cy="0"/>
            </a:xfrm>
            <a:prstGeom prst="rect">
              <a:avLst/>
            </a:prstGeom>
            <a:noFill/>
            <a:ln w="9525">
              <a:solidFill>
                <a:schemeClr val="tx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1" name="Body2"/>
          <p:cNvSpPr/>
          <p:nvPr/>
        </p:nvSpPr>
        <p:spPr>
          <a:xfrm>
            <a:off x="6299200" y="1574800"/>
            <a:ext cx="5486400" cy="1416876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 anchor="t"/>
          <a:lstStyle/>
          <a:p>
            <a:pPr algn="l">
              <a:spcBef>
                <a:spcPts val="0"/>
              </a:spcBef>
            </a:pPr>
            <a:r>
              <a:rPr lang="en-US" sz="1700" dirty="0">
                <a:solidFill>
                  <a:srgbClr val="2E3640"/>
                </a:solidFill>
                <a:latin typeface="Open Sans"/>
              </a:rPr>
              <a:t>Compare SE to |slope|:</a:t>
            </a:r>
          </a:p>
          <a:p>
            <a:endParaRPr lang="en-US" sz="1700" dirty="0">
              <a:latin typeface="Open Sans"/>
            </a:endParaRPr>
          </a:p>
          <a:p>
            <a:pPr algn="l">
              <a:spcBef>
                <a:spcPts val="0"/>
              </a:spcBef>
            </a:pPr>
            <a:r>
              <a:rPr lang="en-US" sz="1700" b="1" dirty="0">
                <a:solidFill>
                  <a:srgbClr val="C53030"/>
                </a:solidFill>
                <a:latin typeface="Open Sans"/>
              </a:rPr>
              <a:t>SE &gt; half the slope → big</a:t>
            </a:r>
          </a:p>
          <a:p>
            <a:pPr algn="l">
              <a:spcBef>
                <a:spcPts val="0"/>
              </a:spcBef>
            </a:pPr>
            <a:r>
              <a:rPr lang="en-US" sz="1700" b="1" dirty="0">
                <a:solidFill>
                  <a:srgbClr val="276749"/>
                </a:solidFill>
                <a:latin typeface="Open Sans"/>
              </a:rPr>
              <a:t>SE &lt; tenth of slope → small</a:t>
            </a:r>
          </a:p>
          <a:p>
            <a:pPr algn="l">
              <a:spcBef>
                <a:spcPts val="0"/>
              </a:spcBef>
            </a:pPr>
            <a:endParaRPr lang="en-US" sz="1700" b="1" dirty="0">
              <a:latin typeface="Open Sans"/>
            </a:endParaRPr>
          </a:p>
          <a:p>
            <a:pPr>
              <a:spcBef>
                <a:spcPts val="0"/>
              </a:spcBef>
            </a:pPr>
            <a:r>
              <a:rPr lang="en-US" sz="1700" b="1" dirty="0">
                <a:latin typeface="Open Sans"/>
              </a:rPr>
              <a:t>slope = 0.44, SE = 0.008 → ?</a:t>
            </a:r>
          </a:p>
          <a:p>
            <a:pPr>
              <a:spcBef>
                <a:spcPts val="0"/>
              </a:spcBef>
            </a:pPr>
            <a:r>
              <a:rPr lang="en-US" sz="1700" b="1" dirty="0">
                <a:latin typeface="Open Sans"/>
              </a:rPr>
              <a:t>slope = –0.11, SE = 0.061 → ?</a:t>
            </a:r>
          </a:p>
        </p:txBody>
      </p:sp>
      <p:sp>
        <p:nvSpPr>
          <p:cNvPr id="202" name="Circ3"/>
          <p:cNvSpPr/>
          <p:nvPr/>
        </p:nvSpPr>
        <p:spPr>
          <a:xfrm>
            <a:off x="6336888" y="4212938"/>
            <a:ext cx="304800" cy="3048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Open Sans"/>
              </a:rPr>
              <a:t>4</a:t>
            </a:r>
          </a:p>
        </p:txBody>
      </p:sp>
      <p:sp>
        <p:nvSpPr>
          <p:cNvPr id="212" name="Hdr3"/>
          <p:cNvSpPr/>
          <p:nvPr/>
        </p:nvSpPr>
        <p:spPr>
          <a:xfrm>
            <a:off x="6717888" y="4212938"/>
            <a:ext cx="5207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b="1" dirty="0">
                <a:solidFill>
                  <a:schemeClr val="tx2"/>
                </a:solidFill>
                <a:latin typeface="Open Sans"/>
              </a:rPr>
              <a:t>Example SDs in the world</a:t>
            </a:r>
          </a:p>
        </p:txBody>
      </p:sp>
      <p:sp>
        <p:nvSpPr>
          <p:cNvPr id="222" name="Div3"/>
          <p:cNvSpPr/>
          <p:nvPr/>
        </p:nvSpPr>
        <p:spPr>
          <a:xfrm>
            <a:off x="6336888" y="4593938"/>
            <a:ext cx="5486400" cy="0"/>
          </a:xfrm>
          <a:prstGeom prst="rect">
            <a:avLst/>
          </a:prstGeom>
          <a:noFill/>
          <a:ln w="9525">
            <a:solidFill>
              <a:schemeClr val="tx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2" name="Body3"/>
          <p:cNvSpPr/>
          <p:nvPr/>
        </p:nvSpPr>
        <p:spPr>
          <a:xfrm>
            <a:off x="6336888" y="4670138"/>
            <a:ext cx="5486400" cy="2184400"/>
          </a:xfrm>
          <a:prstGeom prst="rect">
            <a:avLst/>
          </a:prstGeom>
          <a:noFill/>
          <a:ln>
            <a:noFill/>
          </a:ln>
        </p:spPr>
        <p:txBody>
          <a:bodyPr wrap="square" lIns="36000" tIns="36000" rIns="36000" bIns="36000" anchor="t"/>
          <a:lstStyle/>
          <a:p>
            <a:endParaRPr lang="en-US" sz="1700" dirty="0">
              <a:latin typeface="Open Sans"/>
            </a:endParaRPr>
          </a:p>
          <a:p>
            <a:pPr algn="l">
              <a:spcBef>
                <a:spcPts val="0"/>
              </a:spcBef>
            </a:pPr>
            <a:r>
              <a:rPr lang="en-US" sz="1700" b="1" dirty="0">
                <a:solidFill>
                  <a:srgbClr val="2E3640"/>
                </a:solidFill>
                <a:latin typeface="Open Sans"/>
              </a:rPr>
              <a:t>Physical SDs you already know:</a:t>
            </a:r>
          </a:p>
          <a:p>
            <a:pPr algn="l">
              <a:spcBef>
                <a:spcPts val="0"/>
              </a:spcBef>
            </a:pPr>
            <a:r>
              <a:rPr lang="en-US" sz="1700" dirty="0">
                <a:solidFill>
                  <a:srgbClr val="D5952A"/>
                </a:solidFill>
                <a:latin typeface="Open Sans"/>
              </a:rPr>
              <a:t>• Nightly sleep: avg ~7 hrs, SD ≈ 1 hr</a:t>
            </a:r>
          </a:p>
          <a:p>
            <a:pPr>
              <a:spcBef>
                <a:spcPts val="0"/>
              </a:spcBef>
            </a:pPr>
            <a:r>
              <a:rPr lang="en-US" sz="1700" dirty="0">
                <a:solidFill>
                  <a:srgbClr val="D5952A"/>
                </a:solidFill>
                <a:latin typeface="Open Sans"/>
              </a:rPr>
              <a:t>• Pregnancy length: avg ~ 9 months, SD  ≈ 2 weeks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B95FBC2-DF21-04ED-9186-95E428FE0F8C}"/>
              </a:ext>
            </a:extLst>
          </p:cNvPr>
          <p:cNvGrpSpPr/>
          <p:nvPr/>
        </p:nvGrpSpPr>
        <p:grpSpPr>
          <a:xfrm>
            <a:off x="508000" y="4212938"/>
            <a:ext cx="5588000" cy="381000"/>
            <a:chOff x="508000" y="3921538"/>
            <a:chExt cx="5588000" cy="381000"/>
          </a:xfrm>
        </p:grpSpPr>
        <p:sp>
          <p:nvSpPr>
            <p:cNvPr id="203" name="Circ4"/>
            <p:cNvSpPr/>
            <p:nvPr/>
          </p:nvSpPr>
          <p:spPr>
            <a:xfrm>
              <a:off x="508000" y="3921538"/>
              <a:ext cx="304800" cy="30480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lIns="0" tIns="0" rIns="0" bIns="0" anchor="ctr"/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Open Sans"/>
                </a:rPr>
                <a:t>3</a:t>
              </a:r>
            </a:p>
          </p:txBody>
        </p:sp>
        <p:sp>
          <p:nvSpPr>
            <p:cNvPr id="213" name="Hdr4"/>
            <p:cNvSpPr/>
            <p:nvPr/>
          </p:nvSpPr>
          <p:spPr>
            <a:xfrm>
              <a:off x="889000" y="3921538"/>
              <a:ext cx="5207000" cy="3556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/>
            <a:lstStyle/>
            <a:p>
              <a:pPr algn="l"/>
              <a:r>
                <a:rPr lang="en-US" b="1" dirty="0">
                  <a:solidFill>
                    <a:schemeClr val="tx2"/>
                  </a:solidFill>
                  <a:latin typeface="Open Sans"/>
                </a:rPr>
                <a:t>Play with our SD simulation</a:t>
              </a:r>
            </a:p>
          </p:txBody>
        </p:sp>
        <p:sp>
          <p:nvSpPr>
            <p:cNvPr id="223" name="Div4"/>
            <p:cNvSpPr/>
            <p:nvPr/>
          </p:nvSpPr>
          <p:spPr>
            <a:xfrm>
              <a:off x="508000" y="4302538"/>
              <a:ext cx="5486400" cy="0"/>
            </a:xfrm>
            <a:prstGeom prst="rect">
              <a:avLst/>
            </a:prstGeom>
            <a:noFill/>
            <a:ln w="9525">
              <a:solidFill>
                <a:schemeClr val="tx2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2D6A82F-CE2C-D5CA-2DED-9AC4AD5B6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4765153"/>
            <a:ext cx="2136851" cy="16188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E452AD-68F5-5A44-A01A-49FCAE6C1C84}"/>
              </a:ext>
            </a:extLst>
          </p:cNvPr>
          <p:cNvSpPr txBox="1"/>
          <p:nvPr/>
        </p:nvSpPr>
        <p:spPr>
          <a:xfrm>
            <a:off x="3048000" y="4765153"/>
            <a:ext cx="30480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lang="en-US" sz="1700" dirty="0">
                <a:solidFill>
                  <a:srgbClr val="2E3640"/>
                </a:solidFill>
                <a:latin typeface="Open Sans"/>
              </a:rPr>
              <a:t>SE is like an SD for your slope estimate.</a:t>
            </a:r>
          </a:p>
          <a:p>
            <a:pPr algn="l">
              <a:spcBef>
                <a:spcPts val="0"/>
              </a:spcBef>
            </a:pPr>
            <a:r>
              <a:rPr lang="en-US" sz="1700" b="1" dirty="0">
                <a:solidFill>
                  <a:srgbClr val="2E3640"/>
                </a:solidFill>
                <a:latin typeface="Open Sans"/>
              </a:rPr>
              <a:t>±1 SE covers ~68% of implied variation.</a:t>
            </a:r>
          </a:p>
        </p:txBody>
      </p:sp>
    </p:spTree>
    <p:extLst>
      <p:ext uri="{BB962C8B-B14F-4D97-AF65-F5344CB8AC3E}">
        <p14:creationId xmlns:p14="http://schemas.microsoft.com/office/powerpoint/2010/main" val="1748338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" grpId="0" uiExpand="1" build="p"/>
      <p:bldP spid="231" grpId="0" uiExpand="1" build="p"/>
      <p:bldP spid="202" grpId="0" animBg="1"/>
      <p:bldP spid="212" grpId="0"/>
      <p:bldP spid="222" grpId="0" animBg="1"/>
      <p:bldP spid="232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>
            <a:extLst>
              <a:ext uri="{FF2B5EF4-FFF2-40B4-BE49-F238E27FC236}">
                <a16:creationId xmlns:a16="http://schemas.microsoft.com/office/drawing/2014/main" id="{A2CDF99F-859F-DD1D-C3E1-CB29196BAB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1300" y="127000"/>
            <a:ext cx="10515600" cy="699587"/>
          </a:xfrm>
        </p:spPr>
        <p:txBody>
          <a:bodyPr anchor="ctr" anchorCtr="0">
            <a:normAutofit/>
          </a:bodyPr>
          <a:lstStyle/>
          <a:p>
            <a:r>
              <a:rPr lang="en-US" altLang="en-US" dirty="0">
                <a:latin typeface="Montserrat"/>
              </a:rPr>
              <a:t>Practice: Sample vs. Population</a:t>
            </a:r>
          </a:p>
        </p:txBody>
      </p:sp>
      <p:sp>
        <p:nvSpPr>
          <p:cNvPr id="100" name="Q1"/>
          <p:cNvSpPr/>
          <p:nvPr/>
        </p:nvSpPr>
        <p:spPr>
          <a:xfrm>
            <a:off x="457200" y="1168400"/>
            <a:ext cx="5588000" cy="635000"/>
          </a:xfrm>
          <a:prstGeom prst="roundRect">
            <a:avLst/>
          </a:prstGeom>
          <a:solidFill>
            <a:srgbClr val="2E6B75"/>
          </a:solidFill>
          <a:ln>
            <a:noFill/>
          </a:ln>
        </p:spPr>
        <p:txBody>
          <a:bodyPr wrap="square" lIns="72000" tIns="36000" rIns="72000" bIns="36000" anchor="t"/>
          <a:lstStyle/>
          <a:p>
            <a:r>
              <a:rPr lang="en-US" sz="1600" b="1" dirty="0">
                <a:solidFill>
                  <a:srgbClr val="FFFFFF"/>
                </a:solidFill>
                <a:latin typeface="Open Sans"/>
              </a:rPr>
              <a:t>If we repeated the study with 8 different babies, would the slope be identical?</a:t>
            </a:r>
          </a:p>
        </p:txBody>
      </p:sp>
      <p:sp>
        <p:nvSpPr>
          <p:cNvPr id="110" name="Q1OptA"/>
          <p:cNvSpPr/>
          <p:nvPr/>
        </p:nvSpPr>
        <p:spPr>
          <a:xfrm>
            <a:off x="660400" y="1879600"/>
            <a:ext cx="5384800" cy="330200"/>
          </a:xfrm>
          <a:prstGeom prst="roundRect">
            <a:avLst>
              <a:gd name="adj" fmla="val 15000"/>
            </a:avLst>
          </a:prstGeom>
          <a:solidFill>
            <a:srgbClr val="F0F4F8"/>
          </a:solidFill>
          <a:ln w="6350">
            <a:solidFill>
              <a:srgbClr val="CCCCCC"/>
            </a:solidFill>
          </a:ln>
        </p:spPr>
        <p:txBody>
          <a:bodyPr wrap="square" lIns="54000" tIns="18000" rIns="36000" bIns="18000" anchor="ctr"/>
          <a:lstStyle/>
          <a:p>
            <a:r>
              <a:rPr lang="en-US" sz="1500" dirty="0">
                <a:solidFill>
                  <a:srgbClr val="2E3640"/>
                </a:solidFill>
                <a:latin typeface="Open Sans"/>
              </a:rPr>
              <a:t>A)  No; different samples give different slopes</a:t>
            </a:r>
          </a:p>
        </p:txBody>
      </p:sp>
      <p:sp>
        <p:nvSpPr>
          <p:cNvPr id="111" name="Q1OptB"/>
          <p:cNvSpPr/>
          <p:nvPr/>
        </p:nvSpPr>
        <p:spPr>
          <a:xfrm>
            <a:off x="660400" y="2260600"/>
            <a:ext cx="5384800" cy="330200"/>
          </a:xfrm>
          <a:prstGeom prst="roundRect">
            <a:avLst>
              <a:gd name="adj" fmla="val 15000"/>
            </a:avLst>
          </a:prstGeom>
          <a:solidFill>
            <a:srgbClr val="F0F4F8"/>
          </a:solidFill>
          <a:ln w="6350">
            <a:solidFill>
              <a:srgbClr val="CCCCCC"/>
            </a:solidFill>
          </a:ln>
        </p:spPr>
        <p:txBody>
          <a:bodyPr wrap="square" lIns="54000" tIns="18000" rIns="36000" bIns="18000" anchor="ctr"/>
          <a:lstStyle/>
          <a:p>
            <a:r>
              <a:rPr lang="en-US" sz="1500" dirty="0">
                <a:solidFill>
                  <a:srgbClr val="2E3640"/>
                </a:solidFill>
                <a:latin typeface="Open Sans"/>
              </a:rPr>
              <a:t>B)  Yes, the slope is a fixed property</a:t>
            </a:r>
          </a:p>
        </p:txBody>
      </p:sp>
      <p:sp>
        <p:nvSpPr>
          <p:cNvPr id="112" name="Q1OptC"/>
          <p:cNvSpPr/>
          <p:nvPr/>
        </p:nvSpPr>
        <p:spPr>
          <a:xfrm>
            <a:off x="660400" y="2641600"/>
            <a:ext cx="5384800" cy="330200"/>
          </a:xfrm>
          <a:prstGeom prst="roundRect">
            <a:avLst>
              <a:gd name="adj" fmla="val 15000"/>
            </a:avLst>
          </a:prstGeom>
          <a:solidFill>
            <a:srgbClr val="F0F4F8"/>
          </a:solidFill>
          <a:ln w="6350">
            <a:solidFill>
              <a:srgbClr val="CCCCCC"/>
            </a:solidFill>
          </a:ln>
        </p:spPr>
        <p:txBody>
          <a:bodyPr wrap="square" lIns="54000" tIns="18000" rIns="36000" bIns="18000" anchor="ctr"/>
          <a:lstStyle/>
          <a:p>
            <a:r>
              <a:rPr lang="en-US" sz="1500" dirty="0">
                <a:solidFill>
                  <a:srgbClr val="2E3640"/>
                </a:solidFill>
                <a:latin typeface="Open Sans"/>
              </a:rPr>
              <a:t>C)  Only if gestational ages are the same</a:t>
            </a:r>
          </a:p>
        </p:txBody>
      </p:sp>
      <p:sp>
        <p:nvSpPr>
          <p:cNvPr id="120" name="Q1Ans"/>
          <p:cNvSpPr/>
          <p:nvPr/>
        </p:nvSpPr>
        <p:spPr>
          <a:xfrm>
            <a:off x="457200" y="3268473"/>
            <a:ext cx="5588000" cy="1700692"/>
          </a:xfrm>
          <a:prstGeom prst="roundRect">
            <a:avLst>
              <a:gd name="adj" fmla="val 6963"/>
            </a:avLst>
          </a:prstGeom>
          <a:solidFill>
            <a:srgbClr val="EAF4F4"/>
          </a:solidFill>
          <a:ln w="12700">
            <a:solidFill>
              <a:srgbClr val="2E6B75"/>
            </a:solidFill>
          </a:ln>
        </p:spPr>
        <p:txBody>
          <a:bodyPr wrap="square" lIns="90000" tIns="72000" rIns="90000" bIns="72000" anchor="t"/>
          <a:lstStyle/>
          <a:p>
            <a:pPr>
              <a:spcAft>
                <a:spcPts val="400"/>
              </a:spcAft>
            </a:pPr>
            <a:r>
              <a:rPr lang="en-US" sz="1500" b="1" dirty="0">
                <a:solidFill>
                  <a:srgbClr val="2E6B75"/>
                </a:solidFill>
                <a:latin typeface="Open Sans"/>
              </a:rPr>
              <a:t>Answer: A</a:t>
            </a:r>
          </a:p>
          <a:p>
            <a:pPr>
              <a:spcAft>
                <a:spcPts val="300"/>
              </a:spcAft>
            </a:pPr>
            <a:r>
              <a:rPr lang="en-US" sz="1400" dirty="0">
                <a:solidFill>
                  <a:srgbClr val="2E3640"/>
                </a:solidFill>
                <a:latin typeface="Open Sans"/>
              </a:rPr>
              <a:t>Our slope of 0.386 is </a:t>
            </a:r>
            <a:r>
              <a:rPr lang="en-US" sz="1400" b="1" dirty="0">
                <a:solidFill>
                  <a:srgbClr val="2E6B75"/>
                </a:solidFill>
                <a:latin typeface="Open Sans"/>
              </a:rPr>
              <a:t>one estimate</a:t>
            </a:r>
            <a:r>
              <a:rPr lang="en-US" sz="1400" dirty="0">
                <a:solidFill>
                  <a:srgbClr val="2E3640"/>
                </a:solidFill>
                <a:latin typeface="Open Sans"/>
              </a:rPr>
              <a:t> of the slope, not the one-true slope. A new sample might give 0.35 or 0.42.</a:t>
            </a:r>
          </a:p>
          <a:p>
            <a:pPr>
              <a:spcAft>
                <a:spcPts val="300"/>
              </a:spcAft>
            </a:pPr>
            <a:endParaRPr lang="en-US" sz="1400" dirty="0">
              <a:solidFill>
                <a:srgbClr val="2E3640"/>
              </a:solidFill>
              <a:latin typeface="Open Sans"/>
            </a:endParaRPr>
          </a:p>
          <a:p>
            <a:r>
              <a:rPr lang="en-US" sz="1400" i="1" dirty="0">
                <a:solidFill>
                  <a:srgbClr val="666666"/>
                </a:solidFill>
                <a:latin typeface="Open Sans"/>
              </a:rPr>
              <a:t>This is why we need the standard error: to measure how much the slope varies.</a:t>
            </a:r>
          </a:p>
        </p:txBody>
      </p:sp>
      <p:cxnSp>
        <p:nvCxnSpPr>
          <p:cNvPr id="130" name="Divider"/>
          <p:cNvCxnSpPr/>
          <p:nvPr/>
        </p:nvCxnSpPr>
        <p:spPr>
          <a:xfrm>
            <a:off x="6121400" y="1168400"/>
            <a:ext cx="0" cy="4953000"/>
          </a:xfrm>
          <a:prstGeom prst="line">
            <a:avLst/>
          </a:prstGeom>
          <a:ln w="12700">
            <a:solidFill>
              <a:srgbClr val="CCCCCC"/>
            </a:solidFill>
            <a:prstDash val="dash"/>
          </a:ln>
        </p:spPr>
      </p:cxnSp>
      <p:sp>
        <p:nvSpPr>
          <p:cNvPr id="6" name="Q1">
            <a:extLst>
              <a:ext uri="{FF2B5EF4-FFF2-40B4-BE49-F238E27FC236}">
                <a16:creationId xmlns:a16="http://schemas.microsoft.com/office/drawing/2014/main" id="{EBCA8C21-2F6A-3F82-EA1F-B6E8CE2F510E}"/>
              </a:ext>
            </a:extLst>
          </p:cNvPr>
          <p:cNvSpPr/>
          <p:nvPr/>
        </p:nvSpPr>
        <p:spPr>
          <a:xfrm>
            <a:off x="6197601" y="1168400"/>
            <a:ext cx="5588000" cy="635000"/>
          </a:xfrm>
          <a:prstGeom prst="roundRect">
            <a:avLst/>
          </a:prstGeom>
          <a:solidFill>
            <a:srgbClr val="2E6B75"/>
          </a:solidFill>
          <a:ln>
            <a:noFill/>
          </a:ln>
        </p:spPr>
        <p:txBody>
          <a:bodyPr wrap="square" lIns="72000" tIns="36000" rIns="72000" bIns="36000" anchor="t"/>
          <a:lstStyle/>
          <a:p>
            <a:r>
              <a:rPr lang="en-US" sz="1600" b="1" dirty="0">
                <a:solidFill>
                  <a:srgbClr val="FFFFFF"/>
                </a:solidFill>
                <a:latin typeface="Open Sans"/>
              </a:rPr>
              <a:t>What is the SE of the slope estimating?</a:t>
            </a:r>
          </a:p>
        </p:txBody>
      </p:sp>
      <p:sp>
        <p:nvSpPr>
          <p:cNvPr id="7" name="Q1OptA">
            <a:extLst>
              <a:ext uri="{FF2B5EF4-FFF2-40B4-BE49-F238E27FC236}">
                <a16:creationId xmlns:a16="http://schemas.microsoft.com/office/drawing/2014/main" id="{DB154047-5401-B192-1312-41D8EF912304}"/>
              </a:ext>
            </a:extLst>
          </p:cNvPr>
          <p:cNvSpPr/>
          <p:nvPr/>
        </p:nvSpPr>
        <p:spPr>
          <a:xfrm>
            <a:off x="6400801" y="1879600"/>
            <a:ext cx="5384800" cy="508000"/>
          </a:xfrm>
          <a:prstGeom prst="roundRect">
            <a:avLst>
              <a:gd name="adj" fmla="val 15000"/>
            </a:avLst>
          </a:prstGeom>
          <a:solidFill>
            <a:srgbClr val="F0F4F8"/>
          </a:solidFill>
          <a:ln w="6350">
            <a:solidFill>
              <a:srgbClr val="CCCCCC"/>
            </a:solidFill>
          </a:ln>
        </p:spPr>
        <p:txBody>
          <a:bodyPr wrap="square" lIns="54000" tIns="18000" rIns="36000" bIns="18000" anchor="ctr"/>
          <a:lstStyle/>
          <a:p>
            <a:r>
              <a:rPr lang="en-US" sz="1500" dirty="0">
                <a:solidFill>
                  <a:srgbClr val="2E3640"/>
                </a:solidFill>
                <a:latin typeface="Open Sans"/>
              </a:rPr>
              <a:t>A)  The variation of the x and y values within the selected sample</a:t>
            </a:r>
          </a:p>
        </p:txBody>
      </p:sp>
      <p:sp>
        <p:nvSpPr>
          <p:cNvPr id="9" name="Q1OptC">
            <a:extLst>
              <a:ext uri="{FF2B5EF4-FFF2-40B4-BE49-F238E27FC236}">
                <a16:creationId xmlns:a16="http://schemas.microsoft.com/office/drawing/2014/main" id="{8DC56C97-A3B8-683F-D81E-71F4558DB03E}"/>
              </a:ext>
            </a:extLst>
          </p:cNvPr>
          <p:cNvSpPr/>
          <p:nvPr/>
        </p:nvSpPr>
        <p:spPr>
          <a:xfrm>
            <a:off x="6400801" y="2552700"/>
            <a:ext cx="5384800" cy="508000"/>
          </a:xfrm>
          <a:prstGeom prst="roundRect">
            <a:avLst>
              <a:gd name="adj" fmla="val 15000"/>
            </a:avLst>
          </a:prstGeom>
          <a:solidFill>
            <a:srgbClr val="F0F4F8"/>
          </a:solidFill>
          <a:ln w="6350">
            <a:solidFill>
              <a:srgbClr val="CCCCCC"/>
            </a:solidFill>
          </a:ln>
        </p:spPr>
        <p:txBody>
          <a:bodyPr wrap="square" lIns="54000" tIns="18000" rIns="36000" bIns="18000" anchor="ctr"/>
          <a:lstStyle/>
          <a:p>
            <a:r>
              <a:rPr lang="en-US" sz="1500" dirty="0">
                <a:solidFill>
                  <a:srgbClr val="2E3640"/>
                </a:solidFill>
                <a:latin typeface="Open Sans"/>
              </a:rPr>
              <a:t>B)  The variation of slopes across many hypothetical samples</a:t>
            </a:r>
          </a:p>
        </p:txBody>
      </p:sp>
      <p:sp>
        <p:nvSpPr>
          <p:cNvPr id="10" name="Q1Ans">
            <a:extLst>
              <a:ext uri="{FF2B5EF4-FFF2-40B4-BE49-F238E27FC236}">
                <a16:creationId xmlns:a16="http://schemas.microsoft.com/office/drawing/2014/main" id="{0A71D3D3-D6A8-770F-DDC7-E8EA6D336838}"/>
              </a:ext>
            </a:extLst>
          </p:cNvPr>
          <p:cNvSpPr/>
          <p:nvPr/>
        </p:nvSpPr>
        <p:spPr>
          <a:xfrm>
            <a:off x="6197601" y="3268472"/>
            <a:ext cx="5588000" cy="1414364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2E6B75"/>
            </a:solidFill>
          </a:ln>
        </p:spPr>
        <p:txBody>
          <a:bodyPr wrap="square" lIns="90000" tIns="72000" rIns="90000" bIns="72000" anchor="t"/>
          <a:lstStyle/>
          <a:p>
            <a:pPr>
              <a:spcAft>
                <a:spcPts val="400"/>
              </a:spcAft>
            </a:pPr>
            <a:r>
              <a:rPr lang="en-US" sz="1500" b="1" dirty="0">
                <a:solidFill>
                  <a:srgbClr val="2E6B75"/>
                </a:solidFill>
                <a:latin typeface="Open Sans"/>
              </a:rPr>
              <a:t>Answer: B</a:t>
            </a:r>
          </a:p>
          <a:p>
            <a:pPr>
              <a:spcAft>
                <a:spcPts val="300"/>
              </a:spcAft>
            </a:pPr>
            <a:r>
              <a:rPr lang="en-US" sz="1400" dirty="0">
                <a:solidFill>
                  <a:srgbClr val="2E3640"/>
                </a:solidFill>
                <a:latin typeface="Open Sans"/>
              </a:rPr>
              <a:t>Imagine drawing sample after sample from the population. Each gives a different slope. The variation (standard deviation) of all those slopes is the SE.</a:t>
            </a:r>
          </a:p>
          <a:p>
            <a:endParaRPr lang="en-US" sz="1400" i="1" dirty="0">
              <a:solidFill>
                <a:srgbClr val="666666"/>
              </a:solidFill>
              <a:latin typeface="Open Sa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63304B-9959-964F-8F9C-04820797E86A}"/>
              </a:ext>
            </a:extLst>
          </p:cNvPr>
          <p:cNvSpPr txBox="1"/>
          <p:nvPr/>
        </p:nvSpPr>
        <p:spPr>
          <a:xfrm>
            <a:off x="4100945" y="-5357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621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110" grpId="0" animBg="1"/>
      <p:bldP spid="111" grpId="0" animBg="1"/>
      <p:bldP spid="112" grpId="0" animBg="1"/>
      <p:bldP spid="120" grpId="0" animBg="1"/>
      <p:bldP spid="6" grpId="0" animBg="1"/>
      <p:bldP spid="7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A32F4-E229-368D-DD6E-40659F11E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>
            <a:extLst>
              <a:ext uri="{FF2B5EF4-FFF2-40B4-BE49-F238E27FC236}">
                <a16:creationId xmlns:a16="http://schemas.microsoft.com/office/drawing/2014/main" id="{09479109-C386-61DA-8AE4-2948B89C93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1300" y="127000"/>
            <a:ext cx="10515600" cy="699587"/>
          </a:xfrm>
        </p:spPr>
        <p:txBody>
          <a:bodyPr anchor="ctr" anchorCtr="0">
            <a:normAutofit/>
          </a:bodyPr>
          <a:lstStyle/>
          <a:p>
            <a:r>
              <a:rPr lang="en-US" altLang="en-US" dirty="0">
                <a:latin typeface="Montserrat"/>
              </a:rPr>
              <a:t>Practice: Sample vs. Population</a:t>
            </a:r>
          </a:p>
        </p:txBody>
      </p:sp>
      <p:cxnSp>
        <p:nvCxnSpPr>
          <p:cNvPr id="130" name="Divider">
            <a:extLst>
              <a:ext uri="{FF2B5EF4-FFF2-40B4-BE49-F238E27FC236}">
                <a16:creationId xmlns:a16="http://schemas.microsoft.com/office/drawing/2014/main" id="{0F7C0E69-15C8-D573-5BC4-356B9E31207E}"/>
              </a:ext>
            </a:extLst>
          </p:cNvPr>
          <p:cNvCxnSpPr/>
          <p:nvPr/>
        </p:nvCxnSpPr>
        <p:spPr>
          <a:xfrm>
            <a:off x="6121400" y="1168400"/>
            <a:ext cx="0" cy="4953000"/>
          </a:xfrm>
          <a:prstGeom prst="line">
            <a:avLst/>
          </a:prstGeom>
          <a:ln w="12700">
            <a:solidFill>
              <a:srgbClr val="CCCCCC"/>
            </a:solidFill>
            <a:prstDash val="dash"/>
          </a:ln>
        </p:spPr>
      </p:cxnSp>
      <p:sp>
        <p:nvSpPr>
          <p:cNvPr id="200" name="Q2">
            <a:extLst>
              <a:ext uri="{FF2B5EF4-FFF2-40B4-BE49-F238E27FC236}">
                <a16:creationId xmlns:a16="http://schemas.microsoft.com/office/drawing/2014/main" id="{58AFF9A4-667E-7615-2D16-A4CBC8CBC1B2}"/>
              </a:ext>
            </a:extLst>
          </p:cNvPr>
          <p:cNvSpPr/>
          <p:nvPr/>
        </p:nvSpPr>
        <p:spPr>
          <a:xfrm>
            <a:off x="6223000" y="1168400"/>
            <a:ext cx="5588000" cy="635000"/>
          </a:xfrm>
          <a:prstGeom prst="roundRect">
            <a:avLst/>
          </a:prstGeom>
          <a:solidFill>
            <a:srgbClr val="2E6B75"/>
          </a:solidFill>
          <a:ln>
            <a:noFill/>
          </a:ln>
        </p:spPr>
        <p:txBody>
          <a:bodyPr wrap="square" lIns="72000" tIns="36000" rIns="72000" bIns="36000" anchor="t"/>
          <a:lstStyle/>
          <a:p>
            <a:r>
              <a:rPr lang="en-US" sz="1600" b="1" dirty="0">
                <a:solidFill>
                  <a:srgbClr val="FFFFFF"/>
                </a:solidFill>
                <a:latin typeface="Open Sans"/>
              </a:rPr>
              <a:t>If the SE of the slope is large, what does that mean?</a:t>
            </a:r>
          </a:p>
        </p:txBody>
      </p:sp>
      <p:sp>
        <p:nvSpPr>
          <p:cNvPr id="2" name="Q2OptA">
            <a:extLst>
              <a:ext uri="{FF2B5EF4-FFF2-40B4-BE49-F238E27FC236}">
                <a16:creationId xmlns:a16="http://schemas.microsoft.com/office/drawing/2014/main" id="{4B8A5F61-7694-AE85-59A5-948C305C95F5}"/>
              </a:ext>
            </a:extLst>
          </p:cNvPr>
          <p:cNvSpPr/>
          <p:nvPr/>
        </p:nvSpPr>
        <p:spPr>
          <a:xfrm>
            <a:off x="6426200" y="1879600"/>
            <a:ext cx="5384800" cy="330200"/>
          </a:xfrm>
          <a:prstGeom prst="roundRect">
            <a:avLst>
              <a:gd name="adj" fmla="val 15000"/>
            </a:avLst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dirty="0">
                <a:solidFill>
                  <a:srgbClr val="2E3640"/>
                </a:solidFill>
                <a:latin typeface="Open Sans"/>
                <a:ea typeface="Open Sans"/>
                <a:cs typeface="Open Sans"/>
              </a:rPr>
              <a:t>A)  The slope estimate is probably wrong</a:t>
            </a:r>
          </a:p>
        </p:txBody>
      </p:sp>
      <p:sp>
        <p:nvSpPr>
          <p:cNvPr id="3" name="Q2OptB">
            <a:extLst>
              <a:ext uri="{FF2B5EF4-FFF2-40B4-BE49-F238E27FC236}">
                <a16:creationId xmlns:a16="http://schemas.microsoft.com/office/drawing/2014/main" id="{84816F2B-638E-0E99-C80D-D00020BD7EF9}"/>
              </a:ext>
            </a:extLst>
          </p:cNvPr>
          <p:cNvSpPr/>
          <p:nvPr/>
        </p:nvSpPr>
        <p:spPr>
          <a:xfrm>
            <a:off x="6426200" y="2260600"/>
            <a:ext cx="5384800" cy="330200"/>
          </a:xfrm>
          <a:prstGeom prst="roundRect">
            <a:avLst>
              <a:gd name="adj" fmla="val 15000"/>
            </a:avLst>
          </a:prstGeom>
          <a:solidFill>
            <a:srgbClr val="F0F4F8"/>
          </a:solidFill>
          <a:ln w="6350">
            <a:solidFill>
              <a:srgbClr val="CCCC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500" dirty="0">
                <a:solidFill>
                  <a:srgbClr val="2E3640"/>
                </a:solidFill>
                <a:latin typeface="Open Sans"/>
                <a:ea typeface="Open Sans"/>
                <a:cs typeface="Open Sans"/>
              </a:rPr>
              <a:t>B)  Different samples would give very different slopes</a:t>
            </a:r>
          </a:p>
        </p:txBody>
      </p:sp>
      <p:sp>
        <p:nvSpPr>
          <p:cNvPr id="5" name="Q2Ans">
            <a:extLst>
              <a:ext uri="{FF2B5EF4-FFF2-40B4-BE49-F238E27FC236}">
                <a16:creationId xmlns:a16="http://schemas.microsoft.com/office/drawing/2014/main" id="{DAE26271-57D9-5EEA-7280-D05B78C4F42C}"/>
              </a:ext>
            </a:extLst>
          </p:cNvPr>
          <p:cNvSpPr/>
          <p:nvPr/>
        </p:nvSpPr>
        <p:spPr>
          <a:xfrm>
            <a:off x="6223000" y="3149600"/>
            <a:ext cx="5588000" cy="2472602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2E6B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 anchorCtr="0">
            <a:noAutofit/>
          </a:bodyPr>
          <a:lstStyle/>
          <a:p>
            <a:pPr>
              <a:spcAft>
                <a:spcPts val="400"/>
              </a:spcAft>
            </a:pPr>
            <a:r>
              <a:rPr lang="en-US" sz="1500" b="1" dirty="0">
                <a:solidFill>
                  <a:srgbClr val="2E6B75"/>
                </a:solidFill>
                <a:latin typeface="Open Sans"/>
              </a:rPr>
              <a:t>Answer: B</a:t>
            </a:r>
          </a:p>
          <a:p>
            <a:pPr>
              <a:spcAft>
                <a:spcPts val="300"/>
              </a:spcAft>
            </a:pPr>
            <a:r>
              <a:rPr lang="en-US" sz="1400" dirty="0">
                <a:solidFill>
                  <a:srgbClr val="2E3640"/>
                </a:solidFill>
                <a:latin typeface="Open Sans"/>
              </a:rPr>
              <a:t>A large SE means that if we repeated the study with new samples, we'd get </a:t>
            </a:r>
            <a:r>
              <a:rPr lang="en-US" sz="1400" b="1" dirty="0">
                <a:solidFill>
                  <a:srgbClr val="2E3640"/>
                </a:solidFill>
                <a:latin typeface="Open Sans"/>
              </a:rPr>
              <a:t>wide variation </a:t>
            </a:r>
            <a:r>
              <a:rPr lang="en-US" sz="1400" dirty="0">
                <a:solidFill>
                  <a:srgbClr val="2E3640"/>
                </a:solidFill>
                <a:latin typeface="Open Sans"/>
              </a:rPr>
              <a:t>in the slopes between studies.</a:t>
            </a:r>
          </a:p>
          <a:p>
            <a:pPr>
              <a:spcAft>
                <a:spcPts val="300"/>
              </a:spcAft>
            </a:pPr>
            <a:r>
              <a:rPr lang="en-US" sz="1400" dirty="0">
                <a:solidFill>
                  <a:srgbClr val="2E3640"/>
                </a:solidFill>
                <a:latin typeface="Open Sans"/>
              </a:rPr>
              <a:t>A small SE means different samples would give </a:t>
            </a:r>
            <a:r>
              <a:rPr lang="en-US" sz="1400" b="1" dirty="0">
                <a:solidFill>
                  <a:srgbClr val="2E3640"/>
                </a:solidFill>
                <a:latin typeface="Open Sans"/>
              </a:rPr>
              <a:t>similar slopes;</a:t>
            </a:r>
            <a:r>
              <a:rPr lang="en-US" sz="1400" dirty="0">
                <a:solidFill>
                  <a:srgbClr val="2E3640"/>
                </a:solidFill>
                <a:latin typeface="Open Sans"/>
              </a:rPr>
              <a:t> we can trust our estimate more.</a:t>
            </a:r>
          </a:p>
          <a:p>
            <a:pPr>
              <a:spcAft>
                <a:spcPts val="300"/>
              </a:spcAft>
            </a:pPr>
            <a:endParaRPr lang="en-US" sz="1400" dirty="0">
              <a:solidFill>
                <a:srgbClr val="2E3640"/>
              </a:solidFill>
              <a:latin typeface="Open Sans"/>
            </a:endParaRPr>
          </a:p>
        </p:txBody>
      </p:sp>
      <p:sp>
        <p:nvSpPr>
          <p:cNvPr id="6" name="Q2">
            <a:extLst>
              <a:ext uri="{FF2B5EF4-FFF2-40B4-BE49-F238E27FC236}">
                <a16:creationId xmlns:a16="http://schemas.microsoft.com/office/drawing/2014/main" id="{73B4F693-02C7-8ACB-3577-EFCC6FFDCCF7}"/>
              </a:ext>
            </a:extLst>
          </p:cNvPr>
          <p:cNvSpPr/>
          <p:nvPr/>
        </p:nvSpPr>
        <p:spPr>
          <a:xfrm>
            <a:off x="241300" y="1168400"/>
            <a:ext cx="5588000" cy="635000"/>
          </a:xfrm>
          <a:prstGeom prst="roundRect">
            <a:avLst/>
          </a:prstGeom>
          <a:solidFill>
            <a:srgbClr val="2E6B75"/>
          </a:solidFill>
          <a:ln>
            <a:noFill/>
          </a:ln>
        </p:spPr>
        <p:txBody>
          <a:bodyPr wrap="square" lIns="72000" tIns="36000" rIns="72000" bIns="36000" anchor="t"/>
          <a:lstStyle/>
          <a:p>
            <a:r>
              <a:rPr lang="en-US" sz="1600" b="1" dirty="0">
                <a:solidFill>
                  <a:srgbClr val="FFFFFF"/>
                </a:solidFill>
                <a:latin typeface="Open Sans"/>
              </a:rPr>
              <a:t>In practice, how do we get the SE?</a:t>
            </a:r>
          </a:p>
        </p:txBody>
      </p:sp>
      <p:sp>
        <p:nvSpPr>
          <p:cNvPr id="7" name="Q2OptA">
            <a:extLst>
              <a:ext uri="{FF2B5EF4-FFF2-40B4-BE49-F238E27FC236}">
                <a16:creationId xmlns:a16="http://schemas.microsoft.com/office/drawing/2014/main" id="{AF1C9F89-6D00-F9F5-0E2A-A672CFB09E74}"/>
              </a:ext>
            </a:extLst>
          </p:cNvPr>
          <p:cNvSpPr/>
          <p:nvPr/>
        </p:nvSpPr>
        <p:spPr>
          <a:xfrm>
            <a:off x="444499" y="1879600"/>
            <a:ext cx="5384800" cy="330200"/>
          </a:xfrm>
          <a:prstGeom prst="roundRect">
            <a:avLst>
              <a:gd name="adj" fmla="val 15000"/>
            </a:avLst>
          </a:prstGeom>
          <a:solidFill>
            <a:srgbClr val="F0F4F8"/>
          </a:solidFill>
          <a:ln w="6350">
            <a:solidFill>
              <a:srgbClr val="CCCCCC"/>
            </a:solidFill>
          </a:ln>
        </p:spPr>
        <p:txBody>
          <a:bodyPr wrap="square" lIns="54000" tIns="18000" rIns="36000" bIns="18000" anchor="ctr"/>
          <a:lstStyle/>
          <a:p>
            <a:r>
              <a:rPr lang="en-US" sz="1500" dirty="0">
                <a:solidFill>
                  <a:srgbClr val="2E3640"/>
                </a:solidFill>
                <a:latin typeface="Open Sans"/>
              </a:rPr>
              <a:t>A)  Repeat the study ~1000 times and check the variability</a:t>
            </a:r>
          </a:p>
        </p:txBody>
      </p:sp>
      <p:sp>
        <p:nvSpPr>
          <p:cNvPr id="8" name="Q2OptB">
            <a:extLst>
              <a:ext uri="{FF2B5EF4-FFF2-40B4-BE49-F238E27FC236}">
                <a16:creationId xmlns:a16="http://schemas.microsoft.com/office/drawing/2014/main" id="{2EE58A04-159F-03A6-19D3-3777612F1EC4}"/>
              </a:ext>
            </a:extLst>
          </p:cNvPr>
          <p:cNvSpPr/>
          <p:nvPr/>
        </p:nvSpPr>
        <p:spPr>
          <a:xfrm>
            <a:off x="444500" y="2260600"/>
            <a:ext cx="5384800" cy="330200"/>
          </a:xfrm>
          <a:prstGeom prst="roundRect">
            <a:avLst>
              <a:gd name="adj" fmla="val 15000"/>
            </a:avLst>
          </a:prstGeom>
          <a:solidFill>
            <a:srgbClr val="F0F4F8"/>
          </a:solidFill>
          <a:ln w="6350">
            <a:solidFill>
              <a:srgbClr val="CCCCCC"/>
            </a:solidFill>
          </a:ln>
        </p:spPr>
        <p:txBody>
          <a:bodyPr wrap="square" lIns="54000" tIns="18000" rIns="36000" bIns="18000" anchor="ctr"/>
          <a:lstStyle/>
          <a:p>
            <a:r>
              <a:rPr lang="en-US" sz="1500" dirty="0">
                <a:solidFill>
                  <a:srgbClr val="2E3640"/>
                </a:solidFill>
                <a:latin typeface="Open Sans"/>
              </a:rPr>
              <a:t>B)  Use a formula that estimates it from our one sample</a:t>
            </a:r>
          </a:p>
        </p:txBody>
      </p:sp>
      <p:sp>
        <p:nvSpPr>
          <p:cNvPr id="9" name="Q2Ans">
            <a:extLst>
              <a:ext uri="{FF2B5EF4-FFF2-40B4-BE49-F238E27FC236}">
                <a16:creationId xmlns:a16="http://schemas.microsoft.com/office/drawing/2014/main" id="{4DB1067A-8285-FD5A-2DDE-637DE1EC6326}"/>
              </a:ext>
            </a:extLst>
          </p:cNvPr>
          <p:cNvSpPr/>
          <p:nvPr/>
        </p:nvSpPr>
        <p:spPr>
          <a:xfrm>
            <a:off x="241300" y="3268472"/>
            <a:ext cx="5588000" cy="2211672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2E6B75"/>
            </a:solidFill>
          </a:ln>
        </p:spPr>
        <p:txBody>
          <a:bodyPr wrap="square" lIns="90000" tIns="72000" rIns="90000" bIns="72000" anchor="t"/>
          <a:lstStyle/>
          <a:p>
            <a:pPr>
              <a:spcAft>
                <a:spcPts val="400"/>
              </a:spcAft>
            </a:pPr>
            <a:r>
              <a:rPr lang="en-US" sz="1500" b="1" dirty="0">
                <a:solidFill>
                  <a:srgbClr val="2E6B75"/>
                </a:solidFill>
                <a:latin typeface="Open Sans"/>
              </a:rPr>
              <a:t>Answer: B</a:t>
            </a:r>
          </a:p>
          <a:p>
            <a:pPr>
              <a:spcAft>
                <a:spcPts val="300"/>
              </a:spcAft>
            </a:pPr>
            <a:r>
              <a:rPr lang="en-US" sz="1400" dirty="0">
                <a:solidFill>
                  <a:srgbClr val="2E3640"/>
                </a:solidFill>
                <a:latin typeface="Open Sans"/>
              </a:rPr>
              <a:t>We </a:t>
            </a:r>
            <a:r>
              <a:rPr lang="en-US" sz="1400" b="1" dirty="0">
                <a:solidFill>
                  <a:srgbClr val="D94535"/>
                </a:solidFill>
                <a:latin typeface="Open Sans"/>
              </a:rPr>
              <a:t>don't have</a:t>
            </a:r>
            <a:r>
              <a:rPr lang="en-US" sz="1400" dirty="0">
                <a:solidFill>
                  <a:srgbClr val="2E3640"/>
                </a:solidFill>
                <a:latin typeface="Open Sans"/>
              </a:rPr>
              <a:t> the population, so we can't actually draw 2,000 samples. Instead, R uses: SE(b₁) = √(SER / ∑(x</a:t>
            </a:r>
            <a:r>
              <a:rPr lang="en-US" sz="1400" baseline="-25000" dirty="0">
                <a:solidFill>
                  <a:srgbClr val="2E3640"/>
                </a:solidFill>
                <a:latin typeface="Open Sans"/>
              </a:rPr>
              <a:t>i</a:t>
            </a:r>
            <a:r>
              <a:rPr lang="en-US" sz="1400" dirty="0">
                <a:solidFill>
                  <a:srgbClr val="2E3640"/>
                </a:solidFill>
                <a:latin typeface="Open Sans"/>
              </a:rPr>
              <a:t> − x̄)²)</a:t>
            </a:r>
          </a:p>
        </p:txBody>
      </p:sp>
    </p:spTree>
    <p:extLst>
      <p:ext uri="{BB962C8B-B14F-4D97-AF65-F5344CB8AC3E}">
        <p14:creationId xmlns:p14="http://schemas.microsoft.com/office/powerpoint/2010/main" val="424018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" grpId="0" animBg="1"/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A0129-0DAA-BD4E-799D-564015E70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Box 14">
            <a:extLst>
              <a:ext uri="{FF2B5EF4-FFF2-40B4-BE49-F238E27FC236}">
                <a16:creationId xmlns:a16="http://schemas.microsoft.com/office/drawing/2014/main" id="{FECC8CBC-0CDC-EDA8-69EC-7FE6B1CAD7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300" y="245417"/>
            <a:ext cx="10515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r>
              <a:rPr lang="en-US" altLang="en-US" sz="2400" b="1" dirty="0">
                <a:solidFill>
                  <a:srgbClr val="2E6B75"/>
                </a:solidFill>
                <a:latin typeface="Montserrat"/>
              </a:rPr>
              <a:t>Learning Objectives | Standard Error and Confidence Intervals</a:t>
            </a:r>
          </a:p>
        </p:txBody>
      </p:sp>
      <p:sp>
        <p:nvSpPr>
          <p:cNvPr id="400" name="LO Circle 1">
            <a:extLst>
              <a:ext uri="{FF2B5EF4-FFF2-40B4-BE49-F238E27FC236}">
                <a16:creationId xmlns:a16="http://schemas.microsoft.com/office/drawing/2014/main" id="{64CE39C5-586E-5DCA-0A9F-9C25195A35CA}"/>
              </a:ext>
            </a:extLst>
          </p:cNvPr>
          <p:cNvSpPr/>
          <p:nvPr/>
        </p:nvSpPr>
        <p:spPr>
          <a:xfrm>
            <a:off x="609600" y="1092200"/>
            <a:ext cx="406400" cy="406400"/>
          </a:xfrm>
          <a:prstGeom prst="ellipse">
            <a:avLst/>
          </a:prstGeom>
          <a:solidFill>
            <a:srgbClr val="2E6B75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401" name="LO Text 1">
            <a:extLst>
              <a:ext uri="{FF2B5EF4-FFF2-40B4-BE49-F238E27FC236}">
                <a16:creationId xmlns:a16="http://schemas.microsoft.com/office/drawing/2014/main" id="{D21114A7-805B-515E-F792-C1FA7344675F}"/>
              </a:ext>
            </a:extLst>
          </p:cNvPr>
          <p:cNvSpPr txBox="1"/>
          <p:nvPr/>
        </p:nvSpPr>
        <p:spPr>
          <a:xfrm>
            <a:off x="1168400" y="1066800"/>
            <a:ext cx="99060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800"/>
              </a:lnSpc>
              <a:spcAft>
                <a:spcPts val="100"/>
              </a:spcAft>
            </a:pPr>
            <a:r>
              <a:rPr lang="en-US" sz="1400" b="1" dirty="0">
                <a:solidFill>
                  <a:srgbClr val="2E3640"/>
                </a:solidFill>
                <a:latin typeface="Montserrat"/>
              </a:rPr>
              <a:t>Define the standard error of the slope </a:t>
            </a:r>
            <a:r>
              <a:rPr lang="en-US" sz="2400" b="1" dirty="0">
                <a:solidFill>
                  <a:srgbClr val="2E3640"/>
                </a:solidFill>
                <a:latin typeface="Montserrat"/>
              </a:rPr>
              <a:t>✅</a:t>
            </a:r>
            <a:endParaRPr lang="en-US" sz="1400" b="1" dirty="0">
              <a:solidFill>
                <a:srgbClr val="2E3640"/>
              </a:solidFill>
              <a:latin typeface="Montserrat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7A8694"/>
                </a:solidFill>
                <a:latin typeface="Montserrat"/>
              </a:rPr>
              <a:t>SE(b₁) quantifies how much the slope typically varies from sample to theoretical sample</a:t>
            </a:r>
          </a:p>
        </p:txBody>
      </p:sp>
      <p:sp>
        <p:nvSpPr>
          <p:cNvPr id="402" name="LO Circle 2">
            <a:extLst>
              <a:ext uri="{FF2B5EF4-FFF2-40B4-BE49-F238E27FC236}">
                <a16:creationId xmlns:a16="http://schemas.microsoft.com/office/drawing/2014/main" id="{3F150826-9597-920A-73BB-649CA02D8B94}"/>
              </a:ext>
            </a:extLst>
          </p:cNvPr>
          <p:cNvSpPr/>
          <p:nvPr/>
        </p:nvSpPr>
        <p:spPr>
          <a:xfrm>
            <a:off x="609600" y="2197100"/>
            <a:ext cx="406400" cy="406400"/>
          </a:xfrm>
          <a:prstGeom prst="ellipse">
            <a:avLst/>
          </a:prstGeom>
          <a:solidFill>
            <a:srgbClr val="2E6B75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403" name="LO Text 2">
            <a:extLst>
              <a:ext uri="{FF2B5EF4-FFF2-40B4-BE49-F238E27FC236}">
                <a16:creationId xmlns:a16="http://schemas.microsoft.com/office/drawing/2014/main" id="{23ADDA10-AF24-31A6-D724-923BEC9B6542}"/>
              </a:ext>
            </a:extLst>
          </p:cNvPr>
          <p:cNvSpPr txBox="1"/>
          <p:nvPr/>
        </p:nvSpPr>
        <p:spPr>
          <a:xfrm>
            <a:off x="1168400" y="2171700"/>
            <a:ext cx="99060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800"/>
              </a:lnSpc>
              <a:spcAft>
                <a:spcPts val="100"/>
              </a:spcAft>
            </a:pPr>
            <a:r>
              <a:rPr lang="en-US" sz="1400" b="1" dirty="0">
                <a:solidFill>
                  <a:srgbClr val="2E3640"/>
                </a:solidFill>
                <a:latin typeface="Montserrat"/>
              </a:rPr>
              <a:t>Identify the three ingredients that control SE</a:t>
            </a: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7A8694"/>
                </a:solidFill>
                <a:latin typeface="Montserrat"/>
              </a:rPr>
              <a:t>Residual spread (s), sample size (n), and x-spread (Sxx) all affect precision</a:t>
            </a:r>
          </a:p>
        </p:txBody>
      </p:sp>
      <p:sp>
        <p:nvSpPr>
          <p:cNvPr id="404" name="LO Circle 3">
            <a:extLst>
              <a:ext uri="{FF2B5EF4-FFF2-40B4-BE49-F238E27FC236}">
                <a16:creationId xmlns:a16="http://schemas.microsoft.com/office/drawing/2014/main" id="{C079AF5E-C86B-C3B3-AC2A-0A72541DD222}"/>
              </a:ext>
            </a:extLst>
          </p:cNvPr>
          <p:cNvSpPr/>
          <p:nvPr/>
        </p:nvSpPr>
        <p:spPr>
          <a:xfrm>
            <a:off x="584200" y="5331011"/>
            <a:ext cx="406400" cy="406400"/>
          </a:xfrm>
          <a:prstGeom prst="ellipse">
            <a:avLst/>
          </a:prstGeom>
          <a:solidFill>
            <a:srgbClr val="2E6B75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405" name="LO Text 3">
            <a:extLst>
              <a:ext uri="{FF2B5EF4-FFF2-40B4-BE49-F238E27FC236}">
                <a16:creationId xmlns:a16="http://schemas.microsoft.com/office/drawing/2014/main" id="{9FC9E961-81E3-C5F0-845B-86B7E349D62D}"/>
              </a:ext>
            </a:extLst>
          </p:cNvPr>
          <p:cNvSpPr txBox="1"/>
          <p:nvPr/>
        </p:nvSpPr>
        <p:spPr>
          <a:xfrm>
            <a:off x="1143000" y="5305611"/>
            <a:ext cx="99060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800"/>
              </a:lnSpc>
              <a:spcAft>
                <a:spcPts val="100"/>
              </a:spcAft>
            </a:pPr>
            <a:r>
              <a:rPr lang="en-US" sz="1400" b="1" dirty="0">
                <a:solidFill>
                  <a:srgbClr val="2E3640"/>
                </a:solidFill>
                <a:latin typeface="Montserrat"/>
              </a:rPr>
              <a:t>Distinguish the sample slope from the true slope</a:t>
            </a: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7A8694"/>
                </a:solidFill>
                <a:latin typeface="Montserrat"/>
              </a:rPr>
              <a:t>b₁ is our estimate from data; β₁ is the unknown population parameter</a:t>
            </a:r>
          </a:p>
        </p:txBody>
      </p:sp>
      <p:sp>
        <p:nvSpPr>
          <p:cNvPr id="406" name="LO Circle 4">
            <a:extLst>
              <a:ext uri="{FF2B5EF4-FFF2-40B4-BE49-F238E27FC236}">
                <a16:creationId xmlns:a16="http://schemas.microsoft.com/office/drawing/2014/main" id="{5C840047-C084-814C-F39C-5BEABE14A4FA}"/>
              </a:ext>
            </a:extLst>
          </p:cNvPr>
          <p:cNvSpPr/>
          <p:nvPr/>
        </p:nvSpPr>
        <p:spPr>
          <a:xfrm>
            <a:off x="584200" y="3251201"/>
            <a:ext cx="406400" cy="406400"/>
          </a:xfrm>
          <a:prstGeom prst="ellipse">
            <a:avLst/>
          </a:prstGeom>
          <a:solidFill>
            <a:srgbClr val="2E6B75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407" name="LO Text 4">
            <a:extLst>
              <a:ext uri="{FF2B5EF4-FFF2-40B4-BE49-F238E27FC236}">
                <a16:creationId xmlns:a16="http://schemas.microsoft.com/office/drawing/2014/main" id="{6FDB7603-43F5-CD25-68CC-7AEC704FC6AB}"/>
              </a:ext>
            </a:extLst>
          </p:cNvPr>
          <p:cNvSpPr txBox="1"/>
          <p:nvPr/>
        </p:nvSpPr>
        <p:spPr>
          <a:xfrm>
            <a:off x="1143000" y="3225801"/>
            <a:ext cx="99060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800"/>
              </a:lnSpc>
              <a:spcAft>
                <a:spcPts val="100"/>
              </a:spcAft>
            </a:pPr>
            <a:r>
              <a:rPr lang="en-US" sz="1400" b="1" dirty="0">
                <a:solidFill>
                  <a:srgbClr val="2E3640"/>
                </a:solidFill>
                <a:latin typeface="Montserrat"/>
              </a:rPr>
              <a:t>Construct and interpret a confidence interval for the slope</a:t>
            </a: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7A8694"/>
                </a:solidFill>
                <a:latin typeface="Montserrat"/>
              </a:rPr>
              <a:t>Combine the estimate, SE, and t-multiplier to build an interval that gives a plausible range for β₁</a:t>
            </a:r>
          </a:p>
        </p:txBody>
      </p:sp>
      <p:sp>
        <p:nvSpPr>
          <p:cNvPr id="408" name="LO Circle 5">
            <a:extLst>
              <a:ext uri="{FF2B5EF4-FFF2-40B4-BE49-F238E27FC236}">
                <a16:creationId xmlns:a16="http://schemas.microsoft.com/office/drawing/2014/main" id="{918B0774-0ADB-3CEA-675F-8D6340A1DE76}"/>
              </a:ext>
            </a:extLst>
          </p:cNvPr>
          <p:cNvSpPr/>
          <p:nvPr/>
        </p:nvSpPr>
        <p:spPr>
          <a:xfrm>
            <a:off x="584200" y="4302311"/>
            <a:ext cx="406400" cy="406400"/>
          </a:xfrm>
          <a:prstGeom prst="ellipse">
            <a:avLst/>
          </a:prstGeom>
          <a:solidFill>
            <a:srgbClr val="2E6B75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409" name="LO Text 5">
            <a:extLst>
              <a:ext uri="{FF2B5EF4-FFF2-40B4-BE49-F238E27FC236}">
                <a16:creationId xmlns:a16="http://schemas.microsoft.com/office/drawing/2014/main" id="{20239F98-5B76-B766-9F3A-900AAA867B06}"/>
              </a:ext>
            </a:extLst>
          </p:cNvPr>
          <p:cNvSpPr txBox="1"/>
          <p:nvPr/>
        </p:nvSpPr>
        <p:spPr>
          <a:xfrm>
            <a:off x="1143000" y="4276911"/>
            <a:ext cx="99060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800"/>
              </a:lnSpc>
              <a:spcAft>
                <a:spcPts val="100"/>
              </a:spcAft>
            </a:pPr>
            <a:r>
              <a:rPr lang="en-US" sz="1400" b="1" dirty="0">
                <a:solidFill>
                  <a:srgbClr val="2E3640"/>
                </a:solidFill>
                <a:latin typeface="Montserrat"/>
              </a:rPr>
              <a:t>Use the CI to test for a significant effect</a:t>
            </a: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7A8694"/>
                </a:solidFill>
                <a:latin typeface="Montserrat"/>
              </a:rPr>
              <a:t>If zero falls outside the CI, the relationship is statistically significant</a:t>
            </a:r>
          </a:p>
        </p:txBody>
      </p:sp>
    </p:spTree>
    <p:extLst>
      <p:ext uri="{BB962C8B-B14F-4D97-AF65-F5344CB8AC3E}">
        <p14:creationId xmlns:p14="http://schemas.microsoft.com/office/powerpoint/2010/main" val="268526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103B5-C806-AB9B-ED57-F6A72EA79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Title 1">
            <a:extLst>
              <a:ext uri="{FF2B5EF4-FFF2-40B4-BE49-F238E27FC236}">
                <a16:creationId xmlns:a16="http://schemas.microsoft.com/office/drawing/2014/main" id="{21627381-0055-6779-5877-96C78C1155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1300" y="127000"/>
            <a:ext cx="10515600" cy="699587"/>
          </a:xfrm>
        </p:spPr>
        <p:txBody>
          <a:bodyPr anchor="ctr" anchorCtr="0">
            <a:noAutofit/>
          </a:bodyPr>
          <a:lstStyle/>
          <a:p>
            <a:r>
              <a:rPr lang="en-US" altLang="en-US" dirty="0"/>
              <a:t>Three Factors that Drive Slope Variability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Q1">
                <a:extLst>
                  <a:ext uri="{FF2B5EF4-FFF2-40B4-BE49-F238E27FC236}">
                    <a16:creationId xmlns:a16="http://schemas.microsoft.com/office/drawing/2014/main" id="{B42DFF2B-21AF-0355-EDB1-3DAC3D85A4EE}"/>
                  </a:ext>
                </a:extLst>
              </p:cNvPr>
              <p:cNvSpPr/>
              <p:nvPr/>
            </p:nvSpPr>
            <p:spPr>
              <a:xfrm>
                <a:off x="238124" y="1060000"/>
                <a:ext cx="9831162" cy="49931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72000" tIns="36000" rIns="72000" bIns="36000" anchor="t"/>
              <a:lstStyle/>
              <a:p>
                <a:pPr>
                  <a:spcAft>
                    <a:spcPts val="600"/>
                  </a:spcAft>
                  <a:buNone/>
                </a:pPr>
                <a:r>
                  <a:rPr lang="en-US" dirty="0">
                    <a:solidFill>
                      <a:srgbClr val="2E3640"/>
                    </a:solidFill>
                    <a:latin typeface="Open Sans"/>
                  </a:rPr>
                  <a:t>We can estimate slope variability (the standard error) using this formula: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2E364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b>
                        <m:sSubPr>
                          <m:ctrlPr>
                            <a:rPr lang="en-US" b="1" i="1">
                              <a:solidFill>
                                <a:srgbClr val="2E36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2E3640"/>
                              </a:solidFill>
                              <a:latin typeface="Cambria Math" panose="02040503050406030204" pitchFamily="18" charset="0"/>
                            </a:rPr>
                            <m:t>𝐄</m:t>
                          </m:r>
                        </m:e>
                        <m:sub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2E36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2E3640"/>
                                  </a:solidFill>
                                  <a:latin typeface="Cambria Math" panose="02040503050406030204" pitchFamily="18" charset="0"/>
                                </a:rPr>
                                <m:t>𝛃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2E3640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  <m:r>
                        <a:rPr lang="en-US" b="1" i="1">
                          <a:solidFill>
                            <a:srgbClr val="2E364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>
                              <a:solidFill>
                                <a:srgbClr val="2E364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1" i="1">
                                  <a:solidFill>
                                    <a:srgbClr val="2E36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solidFill>
                                    <a:srgbClr val="2E3640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b>
                              <m:r>
                                <a:rPr lang="en-US" b="1" i="1">
                                  <a:solidFill>
                                    <a:srgbClr val="2E3640"/>
                                  </a:solidFill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1" i="1">
                                  <a:solidFill>
                                    <a:srgbClr val="2E36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ctrlPr>
                                    <a:rPr lang="en-US" b="1" i="1">
                                      <a:solidFill>
                                        <a:srgbClr val="2E364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b="1" i="1">
                                      <a:solidFill>
                                        <a:srgbClr val="2E364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US" b="1" i="1">
                                      <a:solidFill>
                                        <a:srgbClr val="2E3640"/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b="1" i="1">
                                      <a:solidFill>
                                        <a:srgbClr val="2E364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US" b="1" i="1">
                                      <a:solidFill>
                                        <a:srgbClr val="2E3640"/>
                                      </a:solidFill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solidFill>
                                            <a:srgbClr val="2E364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1" i="1">
                                              <a:solidFill>
                                                <a:srgbClr val="2E364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1" i="1">
                                                  <a:solidFill>
                                                    <a:srgbClr val="2E364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1" i="1">
                                                  <a:solidFill>
                                                    <a:srgbClr val="2E364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1" i="1">
                                                  <a:solidFill>
                                                    <a:srgbClr val="2E364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𝒊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1" i="1">
                                              <a:solidFill>
                                                <a:srgbClr val="2E364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b="1" i="1">
                                                  <a:solidFill>
                                                    <a:srgbClr val="2E364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b="1" i="1">
                                                  <a:solidFill>
                                                    <a:srgbClr val="2E364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1" i="1">
                                          <a:solidFill>
                                            <a:srgbClr val="2E364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  <m:r>
                        <a:rPr lang="en-US" b="1" i="1">
                          <a:solidFill>
                            <a:srgbClr val="2E364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1" i="1">
                          <a:solidFill>
                            <a:srgbClr val="2E3640"/>
                          </a:solidFill>
                          <a:latin typeface="Cambria Math" panose="02040503050406030204" pitchFamily="18" charset="0"/>
                        </a:rPr>
                        <m:t>where</m:t>
                      </m:r>
                      <m:r>
                        <a:rPr lang="en-US" b="1" i="1" smtClean="0">
                          <a:solidFill>
                            <a:srgbClr val="2E364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1" i="1" smtClean="0">
                              <a:solidFill>
                                <a:srgbClr val="2E364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solidFill>
                                <a:srgbClr val="2E3640"/>
                              </a:solidFill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  <m:sub>
                          <m:r>
                            <a:rPr lang="en-US" b="1" i="1">
                              <a:solidFill>
                                <a:srgbClr val="2E3640"/>
                              </a:solidFill>
                              <a:latin typeface="Cambria Math" panose="02040503050406030204" pitchFamily="18" charset="0"/>
                            </a:rPr>
                            <m:t>𝒆</m:t>
                          </m:r>
                        </m:sub>
                      </m:sSub>
                      <m:r>
                        <a:rPr lang="en-US" b="1" i="1">
                          <a:solidFill>
                            <a:srgbClr val="2E364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1" i="1">
                              <a:solidFill>
                                <a:srgbClr val="2E364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b="1" i="1">
                                  <a:solidFill>
                                    <a:srgbClr val="2E364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b="1" i="1">
                                      <a:solidFill>
                                        <a:srgbClr val="2E364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solidFill>
                                            <a:srgbClr val="2E364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1" i="1">
                                              <a:solidFill>
                                                <a:srgbClr val="2E364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1" i="1">
                                                  <a:solidFill>
                                                    <a:srgbClr val="2E364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1" i="1">
                                                  <a:solidFill>
                                                    <a:srgbClr val="2E364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1" i="1">
                                                  <a:solidFill>
                                                    <a:srgbClr val="2E364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𝒊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1" i="1">
                                              <a:solidFill>
                                                <a:srgbClr val="2E364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̂"/>
                                              <m:ctrlPr>
                                                <a:rPr lang="en-US" b="1" i="1">
                                                  <a:solidFill>
                                                    <a:srgbClr val="2E364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b="1" i="1">
                                                      <a:solidFill>
                                                        <a:srgbClr val="2E364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b="1" i="1">
                                                      <a:solidFill>
                                                        <a:srgbClr val="2E364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𝒚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b="1" i="1">
                                                      <a:solidFill>
                                                        <a:srgbClr val="2E3640"/>
                                                      </a:solidFill>
                                                      <a:latin typeface="Cambria Math" panose="02040503050406030204" pitchFamily="18" charset="0"/>
                                                    </a:rPr>
                                                    <m:t>𝒊</m:t>
                                                  </m:r>
                                                </m:sub>
                                              </m:sSub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1" i="1">
                                          <a:solidFill>
                                            <a:srgbClr val="2E364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en-US" b="1" i="1">
                                  <a:solidFill>
                                    <a:srgbClr val="2E364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  <m:r>
                                <a:rPr lang="en-US" b="1" i="1">
                                  <a:solidFill>
                                    <a:srgbClr val="2E364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solidFill>
                                    <a:srgbClr val="2E364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b="1" dirty="0">
                  <a:solidFill>
                    <a:srgbClr val="2E3640"/>
                  </a:solidFill>
                  <a:latin typeface="Open Sans"/>
                </a:endParaRPr>
              </a:p>
              <a:p>
                <a:pPr>
                  <a:spcBef>
                    <a:spcPts val="800"/>
                  </a:spcBef>
                  <a:spcAft>
                    <a:spcPts val="400"/>
                  </a:spcAft>
                  <a:buNone/>
                </a:pPr>
                <a:endParaRPr lang="en-US" b="1" dirty="0">
                  <a:solidFill>
                    <a:srgbClr val="2E6B75"/>
                  </a:solidFill>
                  <a:latin typeface="Open Sans"/>
                </a:endParaRPr>
              </a:p>
              <a:p>
                <a:pPr>
                  <a:spcBef>
                    <a:spcPts val="800"/>
                  </a:spcBef>
                  <a:spcAft>
                    <a:spcPts val="400"/>
                  </a:spcAft>
                  <a:buNone/>
                </a:pPr>
                <a:r>
                  <a:rPr lang="en-US" b="1" dirty="0">
                    <a:solidFill>
                      <a:srgbClr val="2E6B75"/>
                    </a:solidFill>
                    <a:latin typeface="Open Sans"/>
                  </a:rPr>
                  <a:t>Three main factors determine the magnitude</a:t>
                </a:r>
              </a:p>
              <a:p>
                <a:pPr marL="342900" indent="-342900">
                  <a:spcBef>
                    <a:spcPts val="200"/>
                  </a:spcBef>
                  <a:spcAft>
                    <a:spcPts val="200"/>
                  </a:spcAft>
                  <a:buFont typeface="Arial"/>
                  <a:buChar char="►"/>
                </a:pPr>
                <a:r>
                  <a:rPr lang="en-US" dirty="0">
                    <a:solidFill>
                      <a:srgbClr val="2E3640"/>
                    </a:solidFill>
                    <a:latin typeface="Open Sans"/>
                  </a:rPr>
                  <a:t>Sample size (n)</a:t>
                </a:r>
              </a:p>
              <a:p>
                <a:pPr marL="342900" indent="-342900">
                  <a:spcBef>
                    <a:spcPts val="200"/>
                  </a:spcBef>
                  <a:spcAft>
                    <a:spcPts val="200"/>
                  </a:spcAft>
                  <a:buFont typeface="Arial"/>
                  <a:buChar char="►"/>
                </a:pPr>
                <a:r>
                  <a:rPr lang="en-US" dirty="0">
                    <a:solidFill>
                      <a:srgbClr val="2E3640"/>
                    </a:solidFill>
                    <a:latin typeface="Open Sans"/>
                  </a:rPr>
                  <a:t>How spread out the x values are</a:t>
                </a:r>
              </a:p>
              <a:p>
                <a:pPr marL="342900" indent="-342900">
                  <a:spcBef>
                    <a:spcPts val="200"/>
                  </a:spcBef>
                  <a:spcAft>
                    <a:spcPts val="200"/>
                  </a:spcAft>
                  <a:buFont typeface="Arial"/>
                  <a:buChar char="►"/>
                </a:pPr>
                <a:r>
                  <a:rPr lang="en-US" dirty="0">
                    <a:solidFill>
                      <a:srgbClr val="2E3640"/>
                    </a:solidFill>
                    <a:latin typeface="Open Sans"/>
                  </a:rPr>
                  <a:t>How tightly points cluster around the line (residual scatter)</a:t>
                </a:r>
              </a:p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dirty="0">
                  <a:solidFill>
                    <a:srgbClr val="2E3640"/>
                  </a:solidFill>
                  <a:latin typeface="Open Sans"/>
                </a:endParaRPr>
              </a:p>
              <a:p>
                <a:pPr>
                  <a:spcBef>
                    <a:spcPts val="800"/>
                  </a:spcBef>
                  <a:buNone/>
                </a:pPr>
                <a:r>
                  <a:rPr lang="en-US" sz="1600" dirty="0">
                    <a:solidFill>
                      <a:srgbClr val="2E6B75"/>
                    </a:solidFill>
                    <a:latin typeface="Open Sans"/>
                  </a:rPr>
                  <a:t>Simulation:  </a:t>
                </a:r>
                <a:r>
                  <a:rPr lang="en-US" sz="1600" u="sng" dirty="0">
                    <a:solidFill>
                      <a:srgbClr val="2E6B75"/>
                    </a:solidFill>
                    <a:latin typeface="Open Sans"/>
                  </a:rPr>
                  <a:t>https://the-graph-courses.github.io/misc_public/stats_demos/slope_se_factors.html</a:t>
                </a:r>
              </a:p>
            </p:txBody>
          </p:sp>
        </mc:Choice>
        <mc:Fallback xmlns="">
          <p:sp>
            <p:nvSpPr>
              <p:cNvPr id="3" name="Q1">
                <a:extLst>
                  <a:ext uri="{FF2B5EF4-FFF2-40B4-BE49-F238E27FC236}">
                    <a16:creationId xmlns:a16="http://schemas.microsoft.com/office/drawing/2014/main" id="{B42DFF2B-21AF-0355-EDB1-3DAC3D85A4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124" y="1060000"/>
                <a:ext cx="9831162" cy="4993189"/>
              </a:xfrm>
              <a:prstGeom prst="rect">
                <a:avLst/>
              </a:prstGeom>
              <a:blipFill>
                <a:blip r:embed="rId2"/>
                <a:stretch>
                  <a:fillRect l="-774" t="-7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5937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/>
          <p:cNvSpPr>
            <a:spLocks noGrp="1"/>
          </p:cNvSpPr>
          <p:nvPr>
            <p:ph type="title"/>
          </p:nvPr>
        </p:nvSpPr>
        <p:spPr>
          <a:xfrm>
            <a:off x="241300" y="127000"/>
            <a:ext cx="10515600" cy="698500"/>
          </a:xfrm>
        </p:spPr>
        <p:txBody>
          <a:bodyPr anchor="ctr" anchorCtr="0"/>
          <a:lstStyle/>
          <a:p>
            <a:r>
              <a:rPr lang="en-US" altLang="en-US" sz="2400" b="1" dirty="0">
                <a:latin typeface="Montserrat"/>
              </a:rPr>
              <a:t>Practice: Applying This to New Studies</a:t>
            </a:r>
          </a:p>
        </p:txBody>
      </p:sp>
      <p:sp>
        <p:nvSpPr>
          <p:cNvPr id="100" name="Q1"/>
          <p:cNvSpPr/>
          <p:nvPr/>
        </p:nvSpPr>
        <p:spPr>
          <a:xfrm>
            <a:off x="457200" y="977900"/>
            <a:ext cx="5588000" cy="825500"/>
          </a:xfrm>
          <a:prstGeom prst="roundRect">
            <a:avLst/>
          </a:prstGeom>
          <a:solidFill>
            <a:srgbClr val="2E6B75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r>
              <a:rPr lang="en-US" sz="1600" b="1" dirty="0">
                <a:solidFill>
                  <a:srgbClr val="FFFFFF"/>
                </a:solidFill>
                <a:latin typeface="Open Sans"/>
              </a:rPr>
              <a:t>A professor investigates hours studied vs. exam score with 12 students. To get a more precise slope estimate, she should:</a:t>
            </a:r>
          </a:p>
        </p:txBody>
      </p:sp>
      <p:sp>
        <p:nvSpPr>
          <p:cNvPr id="110" name="Q1OptA"/>
          <p:cNvSpPr/>
          <p:nvPr/>
        </p:nvSpPr>
        <p:spPr>
          <a:xfrm>
            <a:off x="660400" y="1879600"/>
            <a:ext cx="5384800" cy="330200"/>
          </a:xfrm>
          <a:prstGeom prst="roundRect">
            <a:avLst>
              <a:gd name="adj" fmla="val 15000"/>
            </a:avLst>
          </a:prstGeom>
          <a:solidFill>
            <a:srgbClr val="F0F4F8"/>
          </a:solidFill>
          <a:ln w="6350">
            <a:solidFill>
              <a:srgbClr val="CCCCCC"/>
            </a:solidFill>
          </a:ln>
        </p:spPr>
        <p:txBody>
          <a:bodyPr wrap="square" lIns="72000" tIns="18000" rIns="36000" bIns="18000" anchor="ctr"/>
          <a:lstStyle/>
          <a:p>
            <a:r>
              <a:rPr lang="en-US" sz="1500" dirty="0">
                <a:solidFill>
                  <a:srgbClr val="2E3640"/>
                </a:solidFill>
                <a:latin typeface="Open Sans"/>
              </a:rPr>
              <a:t>A)  Use a non-variant standard error formula</a:t>
            </a:r>
          </a:p>
        </p:txBody>
      </p:sp>
      <p:sp>
        <p:nvSpPr>
          <p:cNvPr id="112" name="Q1OptC"/>
          <p:cNvSpPr/>
          <p:nvPr/>
        </p:nvSpPr>
        <p:spPr>
          <a:xfrm>
            <a:off x="660400" y="2288309"/>
            <a:ext cx="5384800" cy="330200"/>
          </a:xfrm>
          <a:prstGeom prst="roundRect">
            <a:avLst>
              <a:gd name="adj" fmla="val 15000"/>
            </a:avLst>
          </a:prstGeom>
          <a:solidFill>
            <a:srgbClr val="F0F4F8"/>
          </a:solidFill>
          <a:ln w="6350">
            <a:solidFill>
              <a:srgbClr val="CCCCCC"/>
            </a:solidFill>
          </a:ln>
        </p:spPr>
        <p:txBody>
          <a:bodyPr wrap="square" lIns="72000" tIns="18000" rIns="36000" bIns="18000" anchor="ctr"/>
          <a:lstStyle/>
          <a:p>
            <a:r>
              <a:rPr lang="en-US" sz="1500" dirty="0">
                <a:solidFill>
                  <a:srgbClr val="2E3640"/>
                </a:solidFill>
                <a:latin typeface="Open Sans"/>
              </a:rPr>
              <a:t>B)  Recruit more students into the study</a:t>
            </a:r>
          </a:p>
        </p:txBody>
      </p:sp>
      <p:sp>
        <p:nvSpPr>
          <p:cNvPr id="120" name="Q1Ans"/>
          <p:cNvSpPr/>
          <p:nvPr/>
        </p:nvSpPr>
        <p:spPr>
          <a:xfrm>
            <a:off x="457200" y="2806700"/>
            <a:ext cx="5588000" cy="2209800"/>
          </a:xfrm>
          <a:prstGeom prst="roundRect">
            <a:avLst>
              <a:gd name="adj" fmla="val 10397"/>
            </a:avLst>
          </a:prstGeom>
          <a:solidFill>
            <a:srgbClr val="EAF4F4"/>
          </a:solidFill>
          <a:ln w="12700">
            <a:solidFill>
              <a:srgbClr val="2E6B75"/>
            </a:solidFill>
          </a:ln>
        </p:spPr>
        <p:txBody>
          <a:bodyPr wrap="square" lIns="72000" tIns="54000" rIns="72000" bIns="54000" anchor="t"/>
          <a:lstStyle/>
          <a:p>
            <a:pPr>
              <a:spcAft>
                <a:spcPts val="400"/>
              </a:spcAft>
            </a:pPr>
            <a:r>
              <a:rPr lang="en-US" sz="1500" b="1" dirty="0">
                <a:solidFill>
                  <a:srgbClr val="2E6B75"/>
                </a:solidFill>
                <a:latin typeface="Open Sans"/>
              </a:rPr>
              <a:t>Answer: B</a:t>
            </a:r>
          </a:p>
          <a:p>
            <a:pPr>
              <a:spcAft>
                <a:spcPts val="300"/>
              </a:spcAft>
            </a:pPr>
            <a:r>
              <a:rPr lang="en-US" sz="1400" dirty="0">
                <a:solidFill>
                  <a:srgbClr val="2E3640"/>
                </a:solidFill>
                <a:latin typeface="Open Sans"/>
              </a:rPr>
              <a:t>More students = larger n = bigger denominator = </a:t>
            </a:r>
            <a:r>
              <a:rPr lang="en-US" sz="1400" b="1" dirty="0">
                <a:solidFill>
                  <a:srgbClr val="2E6B75"/>
                </a:solidFill>
                <a:latin typeface="Open Sans"/>
              </a:rPr>
              <a:t>smaller SE</a:t>
            </a:r>
            <a:r>
              <a:rPr lang="en-US" sz="1400" dirty="0">
                <a:solidFill>
                  <a:srgbClr val="2E3640"/>
                </a:solidFill>
                <a:latin typeface="Open Sans"/>
              </a:rPr>
              <a:t>. </a:t>
            </a:r>
          </a:p>
          <a:p>
            <a:pPr>
              <a:spcAft>
                <a:spcPts val="300"/>
              </a:spcAft>
            </a:pPr>
            <a:endParaRPr lang="en-US" sz="1400" dirty="0">
              <a:solidFill>
                <a:srgbClr val="2E3640"/>
              </a:solidFill>
              <a:latin typeface="Open Sans"/>
            </a:endParaRPr>
          </a:p>
          <a:p>
            <a:pPr>
              <a:spcAft>
                <a:spcPts val="300"/>
              </a:spcAft>
            </a:pPr>
            <a:r>
              <a:rPr lang="en-US" sz="1400" dirty="0">
                <a:solidFill>
                  <a:srgbClr val="2E3640"/>
                </a:solidFill>
                <a:latin typeface="Open Sans"/>
              </a:rPr>
              <a:t>This is the single most actionable thing a researcher can do: collect more data.</a:t>
            </a:r>
          </a:p>
        </p:txBody>
      </p:sp>
      <p:cxnSp>
        <p:nvCxnSpPr>
          <p:cNvPr id="130" name="Divider"/>
          <p:cNvCxnSpPr/>
          <p:nvPr/>
        </p:nvCxnSpPr>
        <p:spPr>
          <a:xfrm>
            <a:off x="6121400" y="1168400"/>
            <a:ext cx="0" cy="4953000"/>
          </a:xfrm>
          <a:prstGeom prst="line">
            <a:avLst/>
          </a:prstGeom>
          <a:ln w="9525">
            <a:solidFill>
              <a:srgbClr val="CCCCCC"/>
            </a:solidFill>
            <a:prstDash val="dash"/>
          </a:ln>
        </p:spPr>
      </p:cxnSp>
      <p:sp>
        <p:nvSpPr>
          <p:cNvPr id="200" name="Q2"/>
          <p:cNvSpPr/>
          <p:nvPr/>
        </p:nvSpPr>
        <p:spPr>
          <a:xfrm>
            <a:off x="6223000" y="977900"/>
            <a:ext cx="5588000" cy="825500"/>
          </a:xfrm>
          <a:prstGeom prst="roundRect">
            <a:avLst/>
          </a:prstGeom>
          <a:solidFill>
            <a:srgbClr val="2E6B75"/>
          </a:solidFill>
          <a:ln>
            <a:noFill/>
          </a:ln>
        </p:spPr>
        <p:txBody>
          <a:bodyPr wrap="square" lIns="72000" tIns="36000" rIns="72000" bIns="36000" anchor="ctr"/>
          <a:lstStyle/>
          <a:p>
            <a:r>
              <a:rPr lang="en-US" sz="1600" b="1" dirty="0">
                <a:solidFill>
                  <a:srgbClr val="FFFFFF"/>
                </a:solidFill>
                <a:latin typeface="Open Sans"/>
              </a:rPr>
              <a:t>A nutritionist studies daily sugar (g) vs. blood pressure. Which sample is more likely to give a more precise slope estimate?</a:t>
            </a:r>
          </a:p>
        </p:txBody>
      </p:sp>
      <p:sp>
        <p:nvSpPr>
          <p:cNvPr id="210" name="Q2OptA"/>
          <p:cNvSpPr/>
          <p:nvPr/>
        </p:nvSpPr>
        <p:spPr>
          <a:xfrm>
            <a:off x="6426200" y="1879600"/>
            <a:ext cx="5384800" cy="330200"/>
          </a:xfrm>
          <a:prstGeom prst="roundRect">
            <a:avLst>
              <a:gd name="adj" fmla="val 15000"/>
            </a:avLst>
          </a:prstGeom>
          <a:solidFill>
            <a:srgbClr val="F0F4F8"/>
          </a:solidFill>
          <a:ln w="6350">
            <a:solidFill>
              <a:srgbClr val="CCCCCC"/>
            </a:solidFill>
          </a:ln>
        </p:spPr>
        <p:txBody>
          <a:bodyPr wrap="square" lIns="72000" tIns="18000" rIns="36000" bIns="18000" anchor="ctr"/>
          <a:lstStyle/>
          <a:p>
            <a:r>
              <a:rPr lang="en-US" sz="1500" dirty="0">
                <a:solidFill>
                  <a:srgbClr val="2E3640"/>
                </a:solidFill>
                <a:latin typeface="Open Sans"/>
              </a:rPr>
              <a:t>A)  20 people ranging from 10 g to 120 g of sugar/day</a:t>
            </a:r>
          </a:p>
        </p:txBody>
      </p:sp>
      <p:sp>
        <p:nvSpPr>
          <p:cNvPr id="211" name="Q2OptB"/>
          <p:cNvSpPr/>
          <p:nvPr/>
        </p:nvSpPr>
        <p:spPr>
          <a:xfrm>
            <a:off x="6426200" y="2260600"/>
            <a:ext cx="5384800" cy="330200"/>
          </a:xfrm>
          <a:prstGeom prst="roundRect">
            <a:avLst>
              <a:gd name="adj" fmla="val 15000"/>
            </a:avLst>
          </a:prstGeom>
          <a:solidFill>
            <a:srgbClr val="F0F4F8"/>
          </a:solidFill>
          <a:ln w="6350">
            <a:solidFill>
              <a:srgbClr val="CCCCCC"/>
            </a:solidFill>
          </a:ln>
        </p:spPr>
        <p:txBody>
          <a:bodyPr wrap="square" lIns="72000" tIns="18000" rIns="36000" bIns="18000" anchor="ctr"/>
          <a:lstStyle/>
          <a:p>
            <a:r>
              <a:rPr lang="en-US" sz="1500" dirty="0">
                <a:solidFill>
                  <a:srgbClr val="2E3640"/>
                </a:solidFill>
                <a:latin typeface="Open Sans"/>
              </a:rPr>
              <a:t>B)  20 people who all eat 45–55 g of sugar/day</a:t>
            </a:r>
          </a:p>
        </p:txBody>
      </p:sp>
      <p:sp>
        <p:nvSpPr>
          <p:cNvPr id="220" name="Q2Ans"/>
          <p:cNvSpPr/>
          <p:nvPr/>
        </p:nvSpPr>
        <p:spPr>
          <a:xfrm>
            <a:off x="6324600" y="2806700"/>
            <a:ext cx="5588000" cy="2209800"/>
          </a:xfrm>
          <a:prstGeom prst="roundRect">
            <a:avLst>
              <a:gd name="adj" fmla="val 7890"/>
            </a:avLst>
          </a:prstGeom>
          <a:solidFill>
            <a:srgbClr val="EAF4F4"/>
          </a:solidFill>
          <a:ln w="12700">
            <a:solidFill>
              <a:schemeClr val="accent1"/>
            </a:solidFill>
          </a:ln>
        </p:spPr>
        <p:txBody>
          <a:bodyPr wrap="square" lIns="72000" tIns="54000" rIns="72000" bIns="54000" anchor="t"/>
          <a:lstStyle/>
          <a:p>
            <a:pPr>
              <a:spcAft>
                <a:spcPts val="400"/>
              </a:spcAft>
            </a:pPr>
            <a:r>
              <a:rPr lang="en-US" sz="1500" b="1" dirty="0">
                <a:solidFill>
                  <a:srgbClr val="2E6B75"/>
                </a:solidFill>
                <a:latin typeface="Open Sans"/>
              </a:rPr>
              <a:t>Answer: A</a:t>
            </a:r>
          </a:p>
          <a:p>
            <a:pPr>
              <a:spcAft>
                <a:spcPts val="300"/>
              </a:spcAft>
            </a:pPr>
            <a:r>
              <a:rPr lang="en-US" sz="1400" dirty="0">
                <a:solidFill>
                  <a:srgbClr val="2E3640"/>
                </a:solidFill>
                <a:latin typeface="Open Sans"/>
              </a:rPr>
              <a:t>Same n, but sample A has a </a:t>
            </a:r>
            <a:r>
              <a:rPr lang="en-US" sz="1400" b="1" dirty="0">
                <a:solidFill>
                  <a:srgbClr val="2E6B75"/>
                </a:solidFill>
                <a:latin typeface="Open Sans"/>
              </a:rPr>
              <a:t>much wider spread of x</a:t>
            </a:r>
            <a:r>
              <a:rPr lang="en-US" sz="1400" dirty="0">
                <a:solidFill>
                  <a:srgbClr val="2E3640"/>
                </a:solidFill>
                <a:latin typeface="Open Sans"/>
              </a:rPr>
              <a:t>. </a:t>
            </a:r>
          </a:p>
          <a:p>
            <a:pPr>
              <a:spcAft>
                <a:spcPts val="300"/>
              </a:spcAft>
            </a:pPr>
            <a:endParaRPr lang="en-US" sz="1400" dirty="0">
              <a:solidFill>
                <a:srgbClr val="2E3640"/>
              </a:solidFill>
              <a:latin typeface="Open Sans"/>
            </a:endParaRPr>
          </a:p>
          <a:p>
            <a:pPr>
              <a:spcAft>
                <a:spcPts val="300"/>
              </a:spcAft>
            </a:pPr>
            <a:r>
              <a:rPr lang="en-US" sz="1400" dirty="0">
                <a:solidFill>
                  <a:srgbClr val="2E3640"/>
                </a:solidFill>
                <a:latin typeface="Open Sans"/>
              </a:rPr>
              <a:t>That makes ∑(xᵢ − x̄)² much larger → smaller SE. The line is anchored across a wide range, so it can't wobble much.</a:t>
            </a:r>
          </a:p>
          <a:p>
            <a:pPr>
              <a:spcAft>
                <a:spcPts val="300"/>
              </a:spcAft>
            </a:pPr>
            <a:endParaRPr lang="en-US" sz="1400" dirty="0">
              <a:solidFill>
                <a:srgbClr val="2E3640"/>
              </a:solidFill>
              <a:latin typeface="Open Sans"/>
            </a:endParaRPr>
          </a:p>
          <a:p>
            <a:r>
              <a:rPr lang="en-US" sz="1400" i="1" dirty="0">
                <a:solidFill>
                  <a:srgbClr val="666666"/>
                </a:solidFill>
                <a:latin typeface="Open Sans"/>
              </a:rPr>
              <a:t>Lesson: when designing a study, sample across a wide range of your x variable!</a:t>
            </a:r>
          </a:p>
        </p:txBody>
      </p:sp>
    </p:spTree>
    <p:extLst>
      <p:ext uri="{BB962C8B-B14F-4D97-AF65-F5344CB8AC3E}">
        <p14:creationId xmlns:p14="http://schemas.microsoft.com/office/powerpoint/2010/main" val="4136773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110" grpId="0" animBg="1"/>
      <p:bldP spid="112" grpId="0" animBg="1"/>
      <p:bldP spid="120" grpId="0" animBg="1"/>
      <p:bldP spid="200" grpId="0" animBg="1"/>
      <p:bldP spid="210" grpId="0" animBg="1"/>
      <p:bldP spid="211" grpId="0" animBg="1"/>
      <p:bldP spid="2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57BE6-59D5-B336-0F62-E71E746D2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Box 14">
            <a:extLst>
              <a:ext uri="{FF2B5EF4-FFF2-40B4-BE49-F238E27FC236}">
                <a16:creationId xmlns:a16="http://schemas.microsoft.com/office/drawing/2014/main" id="{A0ED15D3-E650-A81A-4F1B-909FB71C76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300" y="245417"/>
            <a:ext cx="10515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Open Sans" panose="020B0606030504020204" pitchFamily="34" charset="0"/>
              </a:defRPr>
            </a:lvl9pPr>
          </a:lstStyle>
          <a:p>
            <a:r>
              <a:rPr lang="en-US" altLang="en-US" sz="2400" b="1" dirty="0">
                <a:solidFill>
                  <a:srgbClr val="2E6B75"/>
                </a:solidFill>
                <a:latin typeface="Montserrat"/>
              </a:rPr>
              <a:t>Learning Objectives | Standard Error and Confidence Intervals</a:t>
            </a:r>
          </a:p>
        </p:txBody>
      </p:sp>
      <p:sp>
        <p:nvSpPr>
          <p:cNvPr id="400" name="LO Circle 1">
            <a:extLst>
              <a:ext uri="{FF2B5EF4-FFF2-40B4-BE49-F238E27FC236}">
                <a16:creationId xmlns:a16="http://schemas.microsoft.com/office/drawing/2014/main" id="{EC77EE08-E260-C0C2-02F2-03C6C0211EB5}"/>
              </a:ext>
            </a:extLst>
          </p:cNvPr>
          <p:cNvSpPr/>
          <p:nvPr/>
        </p:nvSpPr>
        <p:spPr>
          <a:xfrm>
            <a:off x="609600" y="1092200"/>
            <a:ext cx="406400" cy="406400"/>
          </a:xfrm>
          <a:prstGeom prst="ellipse">
            <a:avLst/>
          </a:prstGeom>
          <a:solidFill>
            <a:srgbClr val="2E6B75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401" name="LO Text 1">
            <a:extLst>
              <a:ext uri="{FF2B5EF4-FFF2-40B4-BE49-F238E27FC236}">
                <a16:creationId xmlns:a16="http://schemas.microsoft.com/office/drawing/2014/main" id="{B3BC7DA4-5364-5261-FAEA-A00216404203}"/>
              </a:ext>
            </a:extLst>
          </p:cNvPr>
          <p:cNvSpPr txBox="1"/>
          <p:nvPr/>
        </p:nvSpPr>
        <p:spPr>
          <a:xfrm>
            <a:off x="1168400" y="1066800"/>
            <a:ext cx="99060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800"/>
              </a:lnSpc>
              <a:spcAft>
                <a:spcPts val="100"/>
              </a:spcAft>
            </a:pPr>
            <a:r>
              <a:rPr lang="en-US" sz="1400" b="1" dirty="0">
                <a:solidFill>
                  <a:srgbClr val="2E3640"/>
                </a:solidFill>
                <a:latin typeface="Montserrat"/>
              </a:rPr>
              <a:t>Define the standard error of the slope </a:t>
            </a:r>
            <a:r>
              <a:rPr lang="en-US" sz="2400" b="1" dirty="0">
                <a:solidFill>
                  <a:srgbClr val="2E3640"/>
                </a:solidFill>
                <a:latin typeface="Montserrat"/>
              </a:rPr>
              <a:t>✅</a:t>
            </a:r>
            <a:endParaRPr lang="en-US" sz="1400" b="1" dirty="0">
              <a:solidFill>
                <a:srgbClr val="2E3640"/>
              </a:solidFill>
              <a:latin typeface="Montserrat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7A8694"/>
                </a:solidFill>
                <a:latin typeface="Montserrat"/>
              </a:rPr>
              <a:t>SE(b₁) quantifies how much the slope typically varies from sample to sample</a:t>
            </a:r>
          </a:p>
        </p:txBody>
      </p:sp>
      <p:sp>
        <p:nvSpPr>
          <p:cNvPr id="402" name="LO Circle 2">
            <a:extLst>
              <a:ext uri="{FF2B5EF4-FFF2-40B4-BE49-F238E27FC236}">
                <a16:creationId xmlns:a16="http://schemas.microsoft.com/office/drawing/2014/main" id="{1C1B5798-14AF-31FD-B6CB-217164E91C62}"/>
              </a:ext>
            </a:extLst>
          </p:cNvPr>
          <p:cNvSpPr/>
          <p:nvPr/>
        </p:nvSpPr>
        <p:spPr>
          <a:xfrm>
            <a:off x="609600" y="2197100"/>
            <a:ext cx="406400" cy="406400"/>
          </a:xfrm>
          <a:prstGeom prst="ellipse">
            <a:avLst/>
          </a:prstGeom>
          <a:solidFill>
            <a:srgbClr val="2E6B75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/>
            <a:r>
              <a:rPr lang="en-US" sz="1500" b="1" dirty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403" name="LO Text 2">
            <a:extLst>
              <a:ext uri="{FF2B5EF4-FFF2-40B4-BE49-F238E27FC236}">
                <a16:creationId xmlns:a16="http://schemas.microsoft.com/office/drawing/2014/main" id="{695DE458-0C70-BD1A-74C9-CBFC5976C4A4}"/>
              </a:ext>
            </a:extLst>
          </p:cNvPr>
          <p:cNvSpPr txBox="1"/>
          <p:nvPr/>
        </p:nvSpPr>
        <p:spPr>
          <a:xfrm>
            <a:off x="1168400" y="2171700"/>
            <a:ext cx="99060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lnSpc>
                <a:spcPts val="1800"/>
              </a:lnSpc>
              <a:spcAft>
                <a:spcPts val="100"/>
              </a:spcAft>
            </a:pPr>
            <a:r>
              <a:rPr lang="en-US" sz="1400" b="1" dirty="0">
                <a:solidFill>
                  <a:srgbClr val="2E3640"/>
                </a:solidFill>
                <a:latin typeface="Montserrat"/>
              </a:rPr>
              <a:t>Identify the three ingredients that control SE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E3640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✅</a:t>
            </a:r>
            <a:endParaRPr lang="en-US" sz="1400" b="1" dirty="0">
              <a:solidFill>
                <a:srgbClr val="2E3640"/>
              </a:solidFill>
              <a:latin typeface="Montserrat"/>
            </a:endParaRPr>
          </a:p>
          <a:p>
            <a:pPr>
              <a:lnSpc>
                <a:spcPts val="1600"/>
              </a:lnSpc>
            </a:pPr>
            <a:r>
              <a:rPr lang="en-US" sz="1400" dirty="0">
                <a:solidFill>
                  <a:srgbClr val="7A8694"/>
                </a:solidFill>
                <a:latin typeface="Montserrat"/>
              </a:rPr>
              <a:t>Residual spread (s), sample size (n), and x-spread (Sxx) all affect precision</a:t>
            </a:r>
          </a:p>
        </p:txBody>
      </p:sp>
    </p:spTree>
    <p:extLst>
      <p:ext uri="{BB962C8B-B14F-4D97-AF65-F5344CB8AC3E}">
        <p14:creationId xmlns:p14="http://schemas.microsoft.com/office/powerpoint/2010/main" val="3179869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cademic Teal">
      <a:dk1>
        <a:srgbClr val="2E3640"/>
      </a:dk1>
      <a:lt1>
        <a:srgbClr val="FFFFFF"/>
      </a:lt1>
      <a:dk2>
        <a:srgbClr val="2E6B75"/>
      </a:dk2>
      <a:lt2>
        <a:srgbClr val="EAF4F4"/>
      </a:lt2>
      <a:accent1>
        <a:srgbClr val="2E6B75"/>
      </a:accent1>
      <a:accent2>
        <a:srgbClr val="F8D377"/>
      </a:accent2>
      <a:accent3>
        <a:srgbClr val="EAF4F4"/>
      </a:accent3>
      <a:accent4>
        <a:srgbClr val="3A8A96"/>
      </a:accent4>
      <a:accent5>
        <a:srgbClr val="F5C451"/>
      </a:accent5>
      <a:accent6>
        <a:srgbClr val="1D4D55"/>
      </a:accent6>
      <a:hlink>
        <a:srgbClr val="467886"/>
      </a:hlink>
      <a:folHlink>
        <a:srgbClr val="96607D"/>
      </a:folHlink>
    </a:clrScheme>
    <a:fontScheme name="Academic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Academic Teal">
      <a:dk1>
        <a:srgbClr val="2E3640"/>
      </a:dk1>
      <a:lt1>
        <a:srgbClr val="FFFFFF"/>
      </a:lt1>
      <a:dk2>
        <a:srgbClr val="2E6B75"/>
      </a:dk2>
      <a:lt2>
        <a:srgbClr val="EAF4F4"/>
      </a:lt2>
      <a:accent1>
        <a:srgbClr val="2E6B75"/>
      </a:accent1>
      <a:accent2>
        <a:srgbClr val="F8D377"/>
      </a:accent2>
      <a:accent3>
        <a:srgbClr val="EAF4F4"/>
      </a:accent3>
      <a:accent4>
        <a:srgbClr val="3A8A96"/>
      </a:accent4>
      <a:accent5>
        <a:srgbClr val="F5C451"/>
      </a:accent5>
      <a:accent6>
        <a:srgbClr val="1D4D55"/>
      </a:accent6>
      <a:hlink>
        <a:srgbClr val="467886"/>
      </a:hlink>
      <a:folHlink>
        <a:srgbClr val="96607D"/>
      </a:folHlink>
    </a:clrScheme>
    <a:fontScheme name="Academic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0F220BE-BDA3-6942-9F56-18FAB3264D7F}">
  <we:reference id="wa200010001" version="1.0.0.0" store="en-US" storeType="OMEX"/>
  <we:alternateReferences>
    <we:reference id="wa200010001" version="1.0.0.0" store="en-US" storeType="OMEX"/>
  </we:alternateReferences>
  <we:properties>
    <we:property name="Office.AutoShowTaskpaneWithDocument" value="true"/>
    <we:property name="claude.fileId" value="&quot;3720bc81-a245-429a-9deb-2e4fe2c4cef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17864</TotalTime>
  <Words>1360</Words>
  <Application>Microsoft Macintosh PowerPoint</Application>
  <PresentationFormat>Widescreen</PresentationFormat>
  <Paragraphs>200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Cambria Math</vt:lpstr>
      <vt:lpstr>Montserrat</vt:lpstr>
      <vt:lpstr>Open Sans</vt:lpstr>
      <vt:lpstr>Office Theme</vt:lpstr>
      <vt:lpstr>Office Theme</vt:lpstr>
      <vt:lpstr>PowerPoint Presentation</vt:lpstr>
      <vt:lpstr>Our Data and the Best-Fit Line</vt:lpstr>
      <vt:lpstr>How Much Would the Slope Change?</vt:lpstr>
      <vt:lpstr>Estimating Slope Variability (SE) from a Single Sample</vt:lpstr>
      <vt:lpstr>Intuition Pumps: Is that SE big or small?</vt:lpstr>
      <vt:lpstr>Practice: Sample vs. Population</vt:lpstr>
      <vt:lpstr>Practice: Sample vs. Population</vt:lpstr>
      <vt:lpstr>PowerPoint Presentation</vt:lpstr>
      <vt:lpstr>Three Factors that Drive Slope Variability</vt:lpstr>
      <vt:lpstr>Practice: Applying This to New Studies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Kenechukwu Nwosu</dc:creator>
  <cp:lastModifiedBy>Kenechukwu Nwosu</cp:lastModifiedBy>
  <cp:revision>418</cp:revision>
  <dcterms:created xsi:type="dcterms:W3CDTF">2026-03-04T23:12:46Z</dcterms:created>
  <dcterms:modified xsi:type="dcterms:W3CDTF">2026-05-14T13:14:59Z</dcterms:modified>
</cp:coreProperties>
</file>