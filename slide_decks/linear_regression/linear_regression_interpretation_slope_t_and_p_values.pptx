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Lst>
  <p:notesMasterIdLst>
    <p:notesMasterId r:id="rId20"/>
  </p:notesMasterIdLst>
  <p:sldIdLst>
    <p:sldId id="762" r:id="rId3"/>
    <p:sldId id="703" r:id="rId4"/>
    <p:sldId id="705" r:id="rId5"/>
    <p:sldId id="755" r:id="rId6"/>
    <p:sldId id="731" r:id="rId7"/>
    <p:sldId id="761" r:id="rId8"/>
    <p:sldId id="743" r:id="rId9"/>
    <p:sldId id="760" r:id="rId10"/>
    <p:sldId id="745" r:id="rId11"/>
    <p:sldId id="748" r:id="rId12"/>
    <p:sldId id="709" r:id="rId13"/>
    <p:sldId id="711" r:id="rId14"/>
    <p:sldId id="757" r:id="rId15"/>
    <p:sldId id="776" r:id="rId16"/>
    <p:sldId id="747" r:id="rId17"/>
    <p:sldId id="716" r:id="rId18"/>
    <p:sldId id="758" r:id="rId1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1pPr>
    <a:lvl2pPr marL="4572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2pPr>
    <a:lvl3pPr marL="9144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3pPr>
    <a:lvl4pPr marL="13716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4pPr>
    <a:lvl5pPr marL="18288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5pPr>
    <a:lvl6pPr marL="2286000" algn="l" defTabSz="914400" rtl="0" eaLnBrk="1" latinLnBrk="0" hangingPunct="1">
      <a:defRPr kern="1200">
        <a:solidFill>
          <a:schemeClr val="tx1"/>
        </a:solidFill>
        <a:latin typeface="Open Sans" panose="020B0606030504020204" pitchFamily="34" charset="0"/>
        <a:ea typeface="+mn-ea"/>
        <a:cs typeface="+mn-cs"/>
      </a:defRPr>
    </a:lvl6pPr>
    <a:lvl7pPr marL="2743200" algn="l" defTabSz="914400" rtl="0" eaLnBrk="1" latinLnBrk="0" hangingPunct="1">
      <a:defRPr kern="1200">
        <a:solidFill>
          <a:schemeClr val="tx1"/>
        </a:solidFill>
        <a:latin typeface="Open Sans" panose="020B0606030504020204" pitchFamily="34" charset="0"/>
        <a:ea typeface="+mn-ea"/>
        <a:cs typeface="+mn-cs"/>
      </a:defRPr>
    </a:lvl7pPr>
    <a:lvl8pPr marL="3200400" algn="l" defTabSz="914400" rtl="0" eaLnBrk="1" latinLnBrk="0" hangingPunct="1">
      <a:defRPr kern="1200">
        <a:solidFill>
          <a:schemeClr val="tx1"/>
        </a:solidFill>
        <a:latin typeface="Open Sans" panose="020B0606030504020204" pitchFamily="34" charset="0"/>
        <a:ea typeface="+mn-ea"/>
        <a:cs typeface="+mn-cs"/>
      </a:defRPr>
    </a:lvl8pPr>
    <a:lvl9pPr marL="3657600" algn="l" defTabSz="914400" rtl="0" eaLnBrk="1" latinLnBrk="0" hangingPunct="1">
      <a:defRPr kern="1200">
        <a:solidFill>
          <a:schemeClr val="tx1"/>
        </a:solidFill>
        <a:latin typeface="Open Sans" panose="020B060603050402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6CB0"/>
    <a:srgbClr val="CDE7EB"/>
    <a:srgbClr val="F1F4FF"/>
    <a:srgbClr val="D5952A"/>
    <a:srgbClr val="E0AF89"/>
    <a:srgbClr val="F6FFF6"/>
    <a:srgbClr val="4698C9"/>
    <a:srgbClr val="489BCC"/>
    <a:srgbClr val="FFF8E8"/>
    <a:srgbClr val="2C8B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89"/>
    <p:restoredTop sz="94795"/>
  </p:normalViewPr>
  <p:slideViewPr>
    <p:cSldViewPr snapToGrid="0">
      <p:cViewPr varScale="1">
        <p:scale>
          <a:sx n="109" d="100"/>
          <a:sy n="109" d="100"/>
        </p:scale>
        <p:origin x="208"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35251F-F7EB-C247-A649-A1B8A95EA917}" type="datetimeFigureOut">
              <a:rPr lang="en-US" smtClean="0"/>
              <a:t>5/16/26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902261-1C33-9047-9202-2A1CD1296B7D}" type="slidenum">
              <a:rPr lang="en-US" smtClean="0"/>
              <a:t>‹#›</a:t>
            </a:fld>
            <a:endParaRPr lang="en-US"/>
          </a:p>
        </p:txBody>
      </p:sp>
    </p:spTree>
    <p:extLst>
      <p:ext uri="{BB962C8B-B14F-4D97-AF65-F5344CB8AC3E}">
        <p14:creationId xmlns:p14="http://schemas.microsoft.com/office/powerpoint/2010/main" val="1003510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902261-1C33-9047-9202-2A1CD1296B7D}" type="slidenum">
              <a:rPr lang="en-US" smtClean="0"/>
              <a:t>2</a:t>
            </a:fld>
            <a:endParaRPr lang="en-US"/>
          </a:p>
        </p:txBody>
      </p:sp>
    </p:spTree>
    <p:extLst>
      <p:ext uri="{BB962C8B-B14F-4D97-AF65-F5344CB8AC3E}">
        <p14:creationId xmlns:p14="http://schemas.microsoft.com/office/powerpoint/2010/main" val="3275104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F6806-D3C5-BE85-F764-8769080ED8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4D4130-1633-4FEB-AD3F-73C50DA039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45A4BF-D1F9-03FF-FD84-FC82A272D9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04B7EC-C563-54B8-386A-6D9EAB67FBEC}"/>
              </a:ext>
            </a:extLst>
          </p:cNvPr>
          <p:cNvSpPr>
            <a:spLocks noGrp="1"/>
          </p:cNvSpPr>
          <p:nvPr>
            <p:ph type="sldNum" sz="quarter" idx="5"/>
          </p:nvPr>
        </p:nvSpPr>
        <p:spPr/>
        <p:txBody>
          <a:bodyPr/>
          <a:lstStyle/>
          <a:p>
            <a:fld id="{4D902261-1C33-9047-9202-2A1CD1296B7D}" type="slidenum">
              <a:rPr lang="en-US" smtClean="0"/>
              <a:t>5</a:t>
            </a:fld>
            <a:endParaRPr lang="en-US"/>
          </a:p>
        </p:txBody>
      </p:sp>
    </p:spTree>
    <p:extLst>
      <p:ext uri="{BB962C8B-B14F-4D97-AF65-F5344CB8AC3E}">
        <p14:creationId xmlns:p14="http://schemas.microsoft.com/office/powerpoint/2010/main" val="82425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7FDB0-0588-AD49-CBE4-8086B35E8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64F6D7-B975-5FD1-EE87-3EE971084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539794-5774-339A-E731-66EE14B873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4A1988-208A-F690-B0F6-9C820C8DE37A}"/>
              </a:ext>
            </a:extLst>
          </p:cNvPr>
          <p:cNvSpPr>
            <a:spLocks noGrp="1"/>
          </p:cNvSpPr>
          <p:nvPr>
            <p:ph type="sldNum" sz="quarter" idx="5"/>
          </p:nvPr>
        </p:nvSpPr>
        <p:spPr/>
        <p:txBody>
          <a:bodyPr/>
          <a:lstStyle/>
          <a:p>
            <a:fld id="{4D902261-1C33-9047-9202-2A1CD1296B7D}" type="slidenum">
              <a:rPr lang="en-US" smtClean="0"/>
              <a:t>6</a:t>
            </a:fld>
            <a:endParaRPr lang="en-US"/>
          </a:p>
        </p:txBody>
      </p:sp>
    </p:spTree>
    <p:extLst>
      <p:ext uri="{BB962C8B-B14F-4D97-AF65-F5344CB8AC3E}">
        <p14:creationId xmlns:p14="http://schemas.microsoft.com/office/powerpoint/2010/main" val="1273874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3F0AD-6927-0FEE-52F9-094F60A88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4C5CA1-0D01-FB8C-30A6-C9336A1DAE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C51F95-0922-4179-3737-6DC0AB95D1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82AFD7-8783-CF9D-EA78-AD6BE37ACA4A}"/>
              </a:ext>
            </a:extLst>
          </p:cNvPr>
          <p:cNvSpPr>
            <a:spLocks noGrp="1"/>
          </p:cNvSpPr>
          <p:nvPr>
            <p:ph type="sldNum" sz="quarter" idx="5"/>
          </p:nvPr>
        </p:nvSpPr>
        <p:spPr/>
        <p:txBody>
          <a:bodyPr/>
          <a:lstStyle/>
          <a:p>
            <a:fld id="{4D902261-1C33-9047-9202-2A1CD1296B7D}" type="slidenum">
              <a:rPr lang="en-US" smtClean="0"/>
              <a:t>7</a:t>
            </a:fld>
            <a:endParaRPr lang="en-US"/>
          </a:p>
        </p:txBody>
      </p:sp>
    </p:spTree>
    <p:extLst>
      <p:ext uri="{BB962C8B-B14F-4D97-AF65-F5344CB8AC3E}">
        <p14:creationId xmlns:p14="http://schemas.microsoft.com/office/powerpoint/2010/main" val="1172705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9E703-6AED-D159-A01A-C2D775299E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030D26-12C3-04E3-A6AE-540794BA03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FBC26D-B832-E1C0-1590-F9C582A666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2C0B34-6D3C-DA53-BBF9-160D3921FF13}"/>
              </a:ext>
            </a:extLst>
          </p:cNvPr>
          <p:cNvSpPr>
            <a:spLocks noGrp="1"/>
          </p:cNvSpPr>
          <p:nvPr>
            <p:ph type="sldNum" sz="quarter" idx="5"/>
          </p:nvPr>
        </p:nvSpPr>
        <p:spPr/>
        <p:txBody>
          <a:bodyPr/>
          <a:lstStyle/>
          <a:p>
            <a:fld id="{4D902261-1C33-9047-9202-2A1CD1296B7D}" type="slidenum">
              <a:rPr lang="en-US" smtClean="0"/>
              <a:t>8</a:t>
            </a:fld>
            <a:endParaRPr lang="en-US"/>
          </a:p>
        </p:txBody>
      </p:sp>
    </p:spTree>
    <p:extLst>
      <p:ext uri="{BB962C8B-B14F-4D97-AF65-F5344CB8AC3E}">
        <p14:creationId xmlns:p14="http://schemas.microsoft.com/office/powerpoint/2010/main" val="2076129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D91F8-13F2-337F-0BBF-1968E5B753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EE868-DB88-A12B-E471-03B29B8017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E60EDD-B013-4E75-63C9-2C4AE475A2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F6725D-ACFA-CBDB-0699-23E3A2664BCE}"/>
              </a:ext>
            </a:extLst>
          </p:cNvPr>
          <p:cNvSpPr>
            <a:spLocks noGrp="1"/>
          </p:cNvSpPr>
          <p:nvPr>
            <p:ph type="sldNum" sz="quarter" idx="5"/>
          </p:nvPr>
        </p:nvSpPr>
        <p:spPr/>
        <p:txBody>
          <a:bodyPr/>
          <a:lstStyle/>
          <a:p>
            <a:fld id="{4D902261-1C33-9047-9202-2A1CD1296B7D}" type="slidenum">
              <a:rPr lang="en-US" smtClean="0"/>
              <a:t>9</a:t>
            </a:fld>
            <a:endParaRPr lang="en-US"/>
          </a:p>
        </p:txBody>
      </p:sp>
    </p:spTree>
    <p:extLst>
      <p:ext uri="{BB962C8B-B14F-4D97-AF65-F5344CB8AC3E}">
        <p14:creationId xmlns:p14="http://schemas.microsoft.com/office/powerpoint/2010/main" val="15015386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22274-93BB-A6F4-3081-32C6E51B0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020862-BC67-4525-833E-D8C7A278E2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20EAFE-A976-AFEF-4F1D-A6EF7DD6A3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4CCF3F-EB98-C767-F97F-AA32877EF9D1}"/>
              </a:ext>
            </a:extLst>
          </p:cNvPr>
          <p:cNvSpPr>
            <a:spLocks noGrp="1"/>
          </p:cNvSpPr>
          <p:nvPr>
            <p:ph type="sldNum" sz="quarter" idx="5"/>
          </p:nvPr>
        </p:nvSpPr>
        <p:spPr/>
        <p:txBody>
          <a:bodyPr/>
          <a:lstStyle/>
          <a:p>
            <a:fld id="{4D902261-1C33-9047-9202-2A1CD1296B7D}" type="slidenum">
              <a:rPr lang="en-US" smtClean="0"/>
              <a:t>14</a:t>
            </a:fld>
            <a:endParaRPr lang="en-US"/>
          </a:p>
        </p:txBody>
      </p:sp>
    </p:spTree>
    <p:extLst>
      <p:ext uri="{BB962C8B-B14F-4D97-AF65-F5344CB8AC3E}">
        <p14:creationId xmlns:p14="http://schemas.microsoft.com/office/powerpoint/2010/main" val="2896083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66F416D-EA27-EB75-1A84-62FC6A21BB08}"/>
              </a:ext>
            </a:extLst>
          </p:cNvPr>
          <p:cNvSpPr>
            <a:spLocks noGrp="1"/>
          </p:cNvSpPr>
          <p:nvPr>
            <p:ph type="dt" sz="half" idx="10"/>
          </p:nvPr>
        </p:nvSpPr>
        <p:spPr/>
        <p:txBody>
          <a:bodyPr/>
          <a:lstStyle>
            <a:lvl1pPr>
              <a:defRPr/>
            </a:lvl1pPr>
          </a:lstStyle>
          <a:p>
            <a:pPr>
              <a:defRPr/>
            </a:pPr>
            <a:fld id="{8072185F-9BEC-A34F-AF2B-6669FE487175}" type="datetimeFigureOut">
              <a:rPr lang="en-US"/>
              <a:pPr>
                <a:defRPr/>
              </a:pPr>
              <a:t>5/16/26</a:t>
            </a:fld>
            <a:endParaRPr lang="en-US"/>
          </a:p>
        </p:txBody>
      </p:sp>
      <p:sp>
        <p:nvSpPr>
          <p:cNvPr id="5" name="Footer Placeholder 4">
            <a:extLst>
              <a:ext uri="{FF2B5EF4-FFF2-40B4-BE49-F238E27FC236}">
                <a16:creationId xmlns:a16="http://schemas.microsoft.com/office/drawing/2014/main" id="{473DCFE0-00CC-17E9-4240-9E4B81EBD18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A6785D9-A698-6E64-0523-0981FAF34DCA}"/>
              </a:ext>
            </a:extLst>
          </p:cNvPr>
          <p:cNvSpPr>
            <a:spLocks noGrp="1"/>
          </p:cNvSpPr>
          <p:nvPr>
            <p:ph type="sldNum" sz="quarter" idx="12"/>
          </p:nvPr>
        </p:nvSpPr>
        <p:spPr/>
        <p:txBody>
          <a:bodyPr/>
          <a:lstStyle>
            <a:lvl1pPr>
              <a:defRPr/>
            </a:lvl1pPr>
          </a:lstStyle>
          <a:p>
            <a:pPr>
              <a:defRPr/>
            </a:pPr>
            <a:fld id="{57E9DAEE-CEDC-7047-B537-2C59D33963FA}" type="slidenum">
              <a:rPr lang="en-US"/>
              <a:pPr>
                <a:defRPr/>
              </a:pPr>
              <a:t>‹#›</a:t>
            </a:fld>
            <a:endParaRPr lang="en-US"/>
          </a:p>
        </p:txBody>
      </p:sp>
    </p:spTree>
    <p:extLst>
      <p:ext uri="{BB962C8B-B14F-4D97-AF65-F5344CB8AC3E}">
        <p14:creationId xmlns:p14="http://schemas.microsoft.com/office/powerpoint/2010/main" val="284886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B0731DC-DC9B-DE8D-8BD7-B5E190D6F453}"/>
              </a:ext>
            </a:extLst>
          </p:cNvPr>
          <p:cNvSpPr>
            <a:spLocks noGrp="1"/>
          </p:cNvSpPr>
          <p:nvPr>
            <p:ph type="dt" sz="half" idx="10"/>
          </p:nvPr>
        </p:nvSpPr>
        <p:spPr/>
        <p:txBody>
          <a:bodyPr/>
          <a:lstStyle>
            <a:lvl1pPr>
              <a:defRPr/>
            </a:lvl1pPr>
          </a:lstStyle>
          <a:p>
            <a:pPr>
              <a:defRPr/>
            </a:pPr>
            <a:fld id="{CF0D85DB-ACDB-F342-8778-050936A6C0DA}" type="datetimeFigureOut">
              <a:rPr lang="en-US"/>
              <a:pPr>
                <a:defRPr/>
              </a:pPr>
              <a:t>5/16/26</a:t>
            </a:fld>
            <a:endParaRPr lang="en-US"/>
          </a:p>
        </p:txBody>
      </p:sp>
      <p:sp>
        <p:nvSpPr>
          <p:cNvPr id="5" name="Footer Placeholder 4">
            <a:extLst>
              <a:ext uri="{FF2B5EF4-FFF2-40B4-BE49-F238E27FC236}">
                <a16:creationId xmlns:a16="http://schemas.microsoft.com/office/drawing/2014/main" id="{F6E5739A-5894-BA89-9B3E-6D8D89B1D35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AA814E3-73C3-2FA9-DC2A-9C2A822262EF}"/>
              </a:ext>
            </a:extLst>
          </p:cNvPr>
          <p:cNvSpPr>
            <a:spLocks noGrp="1"/>
          </p:cNvSpPr>
          <p:nvPr>
            <p:ph type="sldNum" sz="quarter" idx="12"/>
          </p:nvPr>
        </p:nvSpPr>
        <p:spPr/>
        <p:txBody>
          <a:bodyPr/>
          <a:lstStyle>
            <a:lvl1pPr>
              <a:defRPr/>
            </a:lvl1pPr>
          </a:lstStyle>
          <a:p>
            <a:pPr>
              <a:defRPr/>
            </a:pPr>
            <a:fld id="{2F0F61A6-4CCF-1C48-81EC-84F4E5F87FD2}" type="slidenum">
              <a:rPr lang="en-US"/>
              <a:pPr>
                <a:defRPr/>
              </a:pPr>
              <a:t>‹#›</a:t>
            </a:fld>
            <a:endParaRPr lang="en-US"/>
          </a:p>
        </p:txBody>
      </p:sp>
    </p:spTree>
    <p:extLst>
      <p:ext uri="{BB962C8B-B14F-4D97-AF65-F5344CB8AC3E}">
        <p14:creationId xmlns:p14="http://schemas.microsoft.com/office/powerpoint/2010/main" val="90946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79CECBC-D88B-A4B8-7803-7C3758D4E007}"/>
              </a:ext>
            </a:extLst>
          </p:cNvPr>
          <p:cNvSpPr>
            <a:spLocks noGrp="1"/>
          </p:cNvSpPr>
          <p:nvPr>
            <p:ph type="dt" sz="half" idx="10"/>
          </p:nvPr>
        </p:nvSpPr>
        <p:spPr/>
        <p:txBody>
          <a:bodyPr/>
          <a:lstStyle>
            <a:lvl1pPr>
              <a:defRPr/>
            </a:lvl1pPr>
          </a:lstStyle>
          <a:p>
            <a:pPr>
              <a:defRPr/>
            </a:pPr>
            <a:fld id="{772A9AC7-90A6-084B-B505-E329BE10E829}" type="datetimeFigureOut">
              <a:rPr lang="en-US"/>
              <a:pPr>
                <a:defRPr/>
              </a:pPr>
              <a:t>5/16/26</a:t>
            </a:fld>
            <a:endParaRPr lang="en-US"/>
          </a:p>
        </p:txBody>
      </p:sp>
      <p:sp>
        <p:nvSpPr>
          <p:cNvPr id="5" name="Footer Placeholder 4">
            <a:extLst>
              <a:ext uri="{FF2B5EF4-FFF2-40B4-BE49-F238E27FC236}">
                <a16:creationId xmlns:a16="http://schemas.microsoft.com/office/drawing/2014/main" id="{3692E4A9-0BD1-5E3B-DE4C-803B67AD54C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5DE2687-9D53-801B-CCAC-C41F7435EE09}"/>
              </a:ext>
            </a:extLst>
          </p:cNvPr>
          <p:cNvSpPr>
            <a:spLocks noGrp="1"/>
          </p:cNvSpPr>
          <p:nvPr>
            <p:ph type="sldNum" sz="quarter" idx="12"/>
          </p:nvPr>
        </p:nvSpPr>
        <p:spPr/>
        <p:txBody>
          <a:bodyPr/>
          <a:lstStyle>
            <a:lvl1pPr>
              <a:defRPr/>
            </a:lvl1pPr>
          </a:lstStyle>
          <a:p>
            <a:pPr>
              <a:defRPr/>
            </a:pPr>
            <a:fld id="{BF9C9793-7BBD-D943-BF38-F03B08E54FC3}" type="slidenum">
              <a:rPr lang="en-US"/>
              <a:pPr>
                <a:defRPr/>
              </a:pPr>
              <a:t>‹#›</a:t>
            </a:fld>
            <a:endParaRPr lang="en-US"/>
          </a:p>
        </p:txBody>
      </p:sp>
    </p:spTree>
    <p:extLst>
      <p:ext uri="{BB962C8B-B14F-4D97-AF65-F5344CB8AC3E}">
        <p14:creationId xmlns:p14="http://schemas.microsoft.com/office/powerpoint/2010/main" val="2223015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a:extLst>
              <a:ext uri="{FF2B5EF4-FFF2-40B4-BE49-F238E27FC236}">
                <a16:creationId xmlns:a16="http://schemas.microsoft.com/office/drawing/2014/main" id="{9496DE14-28B4-55CD-0E59-1B359F0387D7}"/>
              </a:ext>
            </a:extLst>
          </p:cNvPr>
          <p:cNvSpPr>
            <a:spLocks noGrp="1"/>
          </p:cNvSpPr>
          <p:nvPr>
            <p:ph type="dt" sz="half" idx="10"/>
          </p:nvPr>
        </p:nvSpPr>
        <p:spPr/>
        <p:txBody>
          <a:bodyPr/>
          <a:lstStyle>
            <a:lvl1pPr>
              <a:defRPr/>
            </a:lvl1pPr>
          </a:lstStyle>
          <a:p>
            <a:pPr>
              <a:defRPr/>
            </a:pPr>
            <a:fld id="{73B89276-9F7E-F947-9A13-792B95FEFF0E}" type="datetimeFigureOut">
              <a:rPr lang="en-US"/>
              <a:pPr>
                <a:defRPr/>
              </a:pPr>
              <a:t>5/16/26</a:t>
            </a:fld>
            <a:endParaRPr lang="en-US"/>
          </a:p>
        </p:txBody>
      </p:sp>
      <p:sp>
        <p:nvSpPr>
          <p:cNvPr id="6" name="Footer Placeholder 4">
            <a:extLst>
              <a:ext uri="{FF2B5EF4-FFF2-40B4-BE49-F238E27FC236}">
                <a16:creationId xmlns:a16="http://schemas.microsoft.com/office/drawing/2014/main" id="{D612C61B-FE6B-F0F4-0ADB-39F34A1CF93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765E95C-4274-EA0B-A963-4C92444C51BF}"/>
              </a:ext>
            </a:extLst>
          </p:cNvPr>
          <p:cNvSpPr>
            <a:spLocks noGrp="1"/>
          </p:cNvSpPr>
          <p:nvPr>
            <p:ph type="sldNum" sz="quarter" idx="12"/>
          </p:nvPr>
        </p:nvSpPr>
        <p:spPr/>
        <p:txBody>
          <a:bodyPr/>
          <a:lstStyle>
            <a:lvl1pPr>
              <a:defRPr/>
            </a:lvl1pPr>
          </a:lstStyle>
          <a:p>
            <a:pPr>
              <a:defRPr/>
            </a:pPr>
            <a:fld id="{79F672CA-1F3C-2D49-BD61-18CA98FF9649}" type="slidenum">
              <a:rPr lang="en-US"/>
              <a:pPr>
                <a:defRPr/>
              </a:pPr>
              <a:t>‹#›</a:t>
            </a:fld>
            <a:endParaRPr lang="en-US"/>
          </a:p>
        </p:txBody>
      </p:sp>
    </p:spTree>
    <p:extLst>
      <p:ext uri="{BB962C8B-B14F-4D97-AF65-F5344CB8AC3E}">
        <p14:creationId xmlns:p14="http://schemas.microsoft.com/office/powerpoint/2010/main" val="3247411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0" y="10477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a:extLst>
              <a:ext uri="{FF2B5EF4-FFF2-40B4-BE49-F238E27FC236}">
                <a16:creationId xmlns:a16="http://schemas.microsoft.com/office/drawing/2014/main" id="{92FBBF54-EDDB-2C0B-2F59-986D98B0DCE3}"/>
              </a:ext>
            </a:extLst>
          </p:cNvPr>
          <p:cNvSpPr>
            <a:spLocks noGrp="1"/>
          </p:cNvSpPr>
          <p:nvPr>
            <p:ph type="dt" sz="half" idx="10"/>
          </p:nvPr>
        </p:nvSpPr>
        <p:spPr/>
        <p:txBody>
          <a:bodyPr/>
          <a:lstStyle>
            <a:lvl1pPr>
              <a:defRPr/>
            </a:lvl1pPr>
          </a:lstStyle>
          <a:p>
            <a:pPr>
              <a:defRPr/>
            </a:pPr>
            <a:fld id="{4E41DA9F-3695-2A44-8A09-2AB8451D4B6A}" type="datetimeFigureOut">
              <a:rPr lang="en-US"/>
              <a:pPr>
                <a:defRPr/>
              </a:pPr>
              <a:t>5/16/26</a:t>
            </a:fld>
            <a:endParaRPr lang="en-US"/>
          </a:p>
        </p:txBody>
      </p:sp>
      <p:sp>
        <p:nvSpPr>
          <p:cNvPr id="8" name="Footer Placeholder 4">
            <a:extLst>
              <a:ext uri="{FF2B5EF4-FFF2-40B4-BE49-F238E27FC236}">
                <a16:creationId xmlns:a16="http://schemas.microsoft.com/office/drawing/2014/main" id="{6A20169A-5EB1-5F93-A6AE-25CBD0B2294B}"/>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D65D4528-7C37-4AF6-2144-173F69770E0E}"/>
              </a:ext>
            </a:extLst>
          </p:cNvPr>
          <p:cNvSpPr>
            <a:spLocks noGrp="1"/>
          </p:cNvSpPr>
          <p:nvPr>
            <p:ph type="sldNum" sz="quarter" idx="12"/>
          </p:nvPr>
        </p:nvSpPr>
        <p:spPr/>
        <p:txBody>
          <a:bodyPr/>
          <a:lstStyle>
            <a:lvl1pPr>
              <a:defRPr/>
            </a:lvl1pPr>
          </a:lstStyle>
          <a:p>
            <a:pPr>
              <a:defRPr/>
            </a:pPr>
            <a:fld id="{1A84180E-A06E-8541-8933-BF1FA1450831}" type="slidenum">
              <a:rPr lang="en-US"/>
              <a:pPr>
                <a:defRPr/>
              </a:pPr>
              <a:t>‹#›</a:t>
            </a:fld>
            <a:endParaRPr lang="en-US"/>
          </a:p>
        </p:txBody>
      </p:sp>
    </p:spTree>
    <p:extLst>
      <p:ext uri="{BB962C8B-B14F-4D97-AF65-F5344CB8AC3E}">
        <p14:creationId xmlns:p14="http://schemas.microsoft.com/office/powerpoint/2010/main" val="3446043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38125" y="279400"/>
            <a:ext cx="10515600" cy="699587"/>
          </a:xfrm>
        </p:spPr>
        <p:txBody>
          <a:bodyPr>
            <a:normAutofit/>
          </a:bodyPr>
          <a:lstStyle>
            <a:lvl1pPr>
              <a:defRPr sz="2400" b="1"/>
            </a:lvl1pPr>
          </a:lstStyle>
          <a:p>
            <a:r>
              <a:rPr lang="en-GB" dirty="0"/>
              <a:t>Click to edit Master title style</a:t>
            </a:r>
            <a:endParaRPr lang="en-US" dirty="0"/>
          </a:p>
        </p:txBody>
      </p:sp>
      <p:sp>
        <p:nvSpPr>
          <p:cNvPr id="3" name="Date Placeholder 3">
            <a:extLst>
              <a:ext uri="{FF2B5EF4-FFF2-40B4-BE49-F238E27FC236}">
                <a16:creationId xmlns:a16="http://schemas.microsoft.com/office/drawing/2014/main" id="{A66F0596-8687-E3CF-7B68-EBFB308A5A7D}"/>
              </a:ext>
            </a:extLst>
          </p:cNvPr>
          <p:cNvSpPr>
            <a:spLocks noGrp="1"/>
          </p:cNvSpPr>
          <p:nvPr>
            <p:ph type="dt" sz="half" idx="10"/>
          </p:nvPr>
        </p:nvSpPr>
        <p:spPr/>
        <p:txBody>
          <a:bodyPr/>
          <a:lstStyle>
            <a:lvl1pPr>
              <a:defRPr/>
            </a:lvl1pPr>
          </a:lstStyle>
          <a:p>
            <a:pPr>
              <a:defRPr/>
            </a:pPr>
            <a:fld id="{8B0EA3B5-8EB2-F744-9D41-DF515E8AC934}" type="datetimeFigureOut">
              <a:rPr lang="en-US"/>
              <a:pPr>
                <a:defRPr/>
              </a:pPr>
              <a:t>5/16/26</a:t>
            </a:fld>
            <a:endParaRPr lang="en-US"/>
          </a:p>
        </p:txBody>
      </p:sp>
      <p:sp>
        <p:nvSpPr>
          <p:cNvPr id="4" name="Footer Placeholder 4">
            <a:extLst>
              <a:ext uri="{FF2B5EF4-FFF2-40B4-BE49-F238E27FC236}">
                <a16:creationId xmlns:a16="http://schemas.microsoft.com/office/drawing/2014/main" id="{AA8A7B61-5549-7CCA-3552-BA10353D765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B75DA0FA-517F-030E-0EAF-DD4CAE39A39E}"/>
              </a:ext>
            </a:extLst>
          </p:cNvPr>
          <p:cNvSpPr>
            <a:spLocks noGrp="1"/>
          </p:cNvSpPr>
          <p:nvPr>
            <p:ph type="sldNum" sz="quarter" idx="12"/>
          </p:nvPr>
        </p:nvSpPr>
        <p:spPr/>
        <p:txBody>
          <a:bodyPr/>
          <a:lstStyle>
            <a:lvl1pPr>
              <a:defRPr/>
            </a:lvl1pPr>
          </a:lstStyle>
          <a:p>
            <a:pPr>
              <a:defRPr/>
            </a:pPr>
            <a:fld id="{0362139D-A04C-F347-8C84-63E0B0D41BD4}" type="slidenum">
              <a:rPr lang="en-US"/>
              <a:pPr>
                <a:defRPr/>
              </a:pPr>
              <a:t>‹#›</a:t>
            </a:fld>
            <a:endParaRPr lang="en-US"/>
          </a:p>
        </p:txBody>
      </p:sp>
    </p:spTree>
    <p:extLst>
      <p:ext uri="{BB962C8B-B14F-4D97-AF65-F5344CB8AC3E}">
        <p14:creationId xmlns:p14="http://schemas.microsoft.com/office/powerpoint/2010/main" val="4093686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1D1340F9-8AFF-7D3B-9A66-3630B6802321}"/>
              </a:ext>
            </a:extLst>
          </p:cNvPr>
          <p:cNvSpPr>
            <a:spLocks noGrp="1"/>
          </p:cNvSpPr>
          <p:nvPr>
            <p:ph type="dt" sz="half" idx="10"/>
          </p:nvPr>
        </p:nvSpPr>
        <p:spPr/>
        <p:txBody>
          <a:bodyPr/>
          <a:lstStyle>
            <a:lvl1pPr>
              <a:defRPr/>
            </a:lvl1pPr>
          </a:lstStyle>
          <a:p>
            <a:pPr>
              <a:defRPr/>
            </a:pPr>
            <a:fld id="{15F48225-4655-B147-AF98-F64D0ED938F9}" type="datetimeFigureOut">
              <a:rPr lang="en-US"/>
              <a:pPr>
                <a:defRPr/>
              </a:pPr>
              <a:t>5/16/26</a:t>
            </a:fld>
            <a:endParaRPr lang="en-US"/>
          </a:p>
        </p:txBody>
      </p:sp>
      <p:sp>
        <p:nvSpPr>
          <p:cNvPr id="3" name="Footer Placeholder 4">
            <a:extLst>
              <a:ext uri="{FF2B5EF4-FFF2-40B4-BE49-F238E27FC236}">
                <a16:creationId xmlns:a16="http://schemas.microsoft.com/office/drawing/2014/main" id="{6BBF5AFC-4D64-C09E-EE39-925044A47D52}"/>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B41416BE-1B7A-F93F-47A7-7EFC544119C6}"/>
              </a:ext>
            </a:extLst>
          </p:cNvPr>
          <p:cNvSpPr>
            <a:spLocks noGrp="1"/>
          </p:cNvSpPr>
          <p:nvPr>
            <p:ph type="sldNum" sz="quarter" idx="12"/>
          </p:nvPr>
        </p:nvSpPr>
        <p:spPr/>
        <p:txBody>
          <a:bodyPr/>
          <a:lstStyle>
            <a:lvl1pPr>
              <a:defRPr/>
            </a:lvl1pPr>
          </a:lstStyle>
          <a:p>
            <a:pPr>
              <a:defRPr/>
            </a:pPr>
            <a:fld id="{66061991-08C9-9840-AABC-72BAC8CE538D}" type="slidenum">
              <a:rPr lang="en-US"/>
              <a:pPr>
                <a:defRPr/>
              </a:pPr>
              <a:t>‹#›</a:t>
            </a:fld>
            <a:endParaRPr lang="en-US"/>
          </a:p>
        </p:txBody>
      </p:sp>
    </p:spTree>
    <p:extLst>
      <p:ext uri="{BB962C8B-B14F-4D97-AF65-F5344CB8AC3E}">
        <p14:creationId xmlns:p14="http://schemas.microsoft.com/office/powerpoint/2010/main" val="4190026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3">
            <a:extLst>
              <a:ext uri="{FF2B5EF4-FFF2-40B4-BE49-F238E27FC236}">
                <a16:creationId xmlns:a16="http://schemas.microsoft.com/office/drawing/2014/main" id="{672DCD49-8F8A-C8A9-50CA-F7FC1D75EC0D}"/>
              </a:ext>
            </a:extLst>
          </p:cNvPr>
          <p:cNvSpPr>
            <a:spLocks noGrp="1"/>
          </p:cNvSpPr>
          <p:nvPr>
            <p:ph type="dt" sz="half" idx="10"/>
          </p:nvPr>
        </p:nvSpPr>
        <p:spPr/>
        <p:txBody>
          <a:bodyPr/>
          <a:lstStyle>
            <a:lvl1pPr>
              <a:defRPr/>
            </a:lvl1pPr>
          </a:lstStyle>
          <a:p>
            <a:pPr>
              <a:defRPr/>
            </a:pPr>
            <a:fld id="{37588F7E-5EBB-7B40-B841-B9B4D90D3D57}" type="datetimeFigureOut">
              <a:rPr lang="en-US"/>
              <a:pPr>
                <a:defRPr/>
              </a:pPr>
              <a:t>5/16/26</a:t>
            </a:fld>
            <a:endParaRPr lang="en-US"/>
          </a:p>
        </p:txBody>
      </p:sp>
      <p:sp>
        <p:nvSpPr>
          <p:cNvPr id="6" name="Footer Placeholder 4">
            <a:extLst>
              <a:ext uri="{FF2B5EF4-FFF2-40B4-BE49-F238E27FC236}">
                <a16:creationId xmlns:a16="http://schemas.microsoft.com/office/drawing/2014/main" id="{612EEAAF-A44A-EDCF-3D90-0CA42E6E3FA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3809F78-9F87-109E-8A5B-95E56F58D6AD}"/>
              </a:ext>
            </a:extLst>
          </p:cNvPr>
          <p:cNvSpPr>
            <a:spLocks noGrp="1"/>
          </p:cNvSpPr>
          <p:nvPr>
            <p:ph type="sldNum" sz="quarter" idx="12"/>
          </p:nvPr>
        </p:nvSpPr>
        <p:spPr/>
        <p:txBody>
          <a:bodyPr/>
          <a:lstStyle>
            <a:lvl1pPr>
              <a:defRPr/>
            </a:lvl1pPr>
          </a:lstStyle>
          <a:p>
            <a:pPr>
              <a:defRPr/>
            </a:pPr>
            <a:fld id="{E70B3F76-9E2F-EE41-A455-F7FC7FF38C8E}" type="slidenum">
              <a:rPr lang="en-US"/>
              <a:pPr>
                <a:defRPr/>
              </a:pPr>
              <a:t>‹#›</a:t>
            </a:fld>
            <a:endParaRPr lang="en-US"/>
          </a:p>
        </p:txBody>
      </p:sp>
    </p:spTree>
    <p:extLst>
      <p:ext uri="{BB962C8B-B14F-4D97-AF65-F5344CB8AC3E}">
        <p14:creationId xmlns:p14="http://schemas.microsoft.com/office/powerpoint/2010/main" val="794066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3">
            <a:extLst>
              <a:ext uri="{FF2B5EF4-FFF2-40B4-BE49-F238E27FC236}">
                <a16:creationId xmlns:a16="http://schemas.microsoft.com/office/drawing/2014/main" id="{92D1080B-289F-42F6-EA74-49D670F607E9}"/>
              </a:ext>
            </a:extLst>
          </p:cNvPr>
          <p:cNvSpPr>
            <a:spLocks noGrp="1"/>
          </p:cNvSpPr>
          <p:nvPr>
            <p:ph type="dt" sz="half" idx="10"/>
          </p:nvPr>
        </p:nvSpPr>
        <p:spPr/>
        <p:txBody>
          <a:bodyPr/>
          <a:lstStyle>
            <a:lvl1pPr>
              <a:defRPr/>
            </a:lvl1pPr>
          </a:lstStyle>
          <a:p>
            <a:pPr>
              <a:defRPr/>
            </a:pPr>
            <a:fld id="{826C4A26-FF98-9F42-959C-383CB611B028}" type="datetimeFigureOut">
              <a:rPr lang="en-US"/>
              <a:pPr>
                <a:defRPr/>
              </a:pPr>
              <a:t>5/16/26</a:t>
            </a:fld>
            <a:endParaRPr lang="en-US"/>
          </a:p>
        </p:txBody>
      </p:sp>
      <p:sp>
        <p:nvSpPr>
          <p:cNvPr id="6" name="Footer Placeholder 4">
            <a:extLst>
              <a:ext uri="{FF2B5EF4-FFF2-40B4-BE49-F238E27FC236}">
                <a16:creationId xmlns:a16="http://schemas.microsoft.com/office/drawing/2014/main" id="{1D9EFB68-B8A7-E345-6FA6-1A1098A994F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FD95BFE-7A07-3FC2-CE29-0573B3D931DD}"/>
              </a:ext>
            </a:extLst>
          </p:cNvPr>
          <p:cNvSpPr>
            <a:spLocks noGrp="1"/>
          </p:cNvSpPr>
          <p:nvPr>
            <p:ph type="sldNum" sz="quarter" idx="12"/>
          </p:nvPr>
        </p:nvSpPr>
        <p:spPr/>
        <p:txBody>
          <a:bodyPr/>
          <a:lstStyle>
            <a:lvl1pPr>
              <a:defRPr/>
            </a:lvl1pPr>
          </a:lstStyle>
          <a:p>
            <a:pPr>
              <a:defRPr/>
            </a:pPr>
            <a:fld id="{C42E94FF-211D-5B44-AB51-BB6D2E6C0566}" type="slidenum">
              <a:rPr lang="en-US"/>
              <a:pPr>
                <a:defRPr/>
              </a:pPr>
              <a:t>‹#›</a:t>
            </a:fld>
            <a:endParaRPr lang="en-US"/>
          </a:p>
        </p:txBody>
      </p:sp>
    </p:spTree>
    <p:extLst>
      <p:ext uri="{BB962C8B-B14F-4D97-AF65-F5344CB8AC3E}">
        <p14:creationId xmlns:p14="http://schemas.microsoft.com/office/powerpoint/2010/main" val="1650411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D33D00C-737A-4398-C682-C36B6253C75A}"/>
              </a:ext>
            </a:extLst>
          </p:cNvPr>
          <p:cNvSpPr>
            <a:spLocks noGrp="1"/>
          </p:cNvSpPr>
          <p:nvPr>
            <p:ph type="dt" sz="half" idx="10"/>
          </p:nvPr>
        </p:nvSpPr>
        <p:spPr/>
        <p:txBody>
          <a:bodyPr/>
          <a:lstStyle>
            <a:lvl1pPr>
              <a:defRPr/>
            </a:lvl1pPr>
          </a:lstStyle>
          <a:p>
            <a:pPr>
              <a:defRPr/>
            </a:pPr>
            <a:fld id="{33C2FFAA-6770-5649-9140-B2070A3E0683}" type="datetimeFigureOut">
              <a:rPr lang="en-US"/>
              <a:pPr>
                <a:defRPr/>
              </a:pPr>
              <a:t>5/16/26</a:t>
            </a:fld>
            <a:endParaRPr lang="en-US"/>
          </a:p>
        </p:txBody>
      </p:sp>
      <p:sp>
        <p:nvSpPr>
          <p:cNvPr id="5" name="Footer Placeholder 4">
            <a:extLst>
              <a:ext uri="{FF2B5EF4-FFF2-40B4-BE49-F238E27FC236}">
                <a16:creationId xmlns:a16="http://schemas.microsoft.com/office/drawing/2014/main" id="{4D1B1956-6FF0-1AAC-FF00-915ADB864FD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2DCBED4-FCB8-D810-DDE9-C56264EE47B5}"/>
              </a:ext>
            </a:extLst>
          </p:cNvPr>
          <p:cNvSpPr>
            <a:spLocks noGrp="1"/>
          </p:cNvSpPr>
          <p:nvPr>
            <p:ph type="sldNum" sz="quarter" idx="12"/>
          </p:nvPr>
        </p:nvSpPr>
        <p:spPr/>
        <p:txBody>
          <a:bodyPr/>
          <a:lstStyle>
            <a:lvl1pPr>
              <a:defRPr/>
            </a:lvl1pPr>
          </a:lstStyle>
          <a:p>
            <a:pPr>
              <a:defRPr/>
            </a:pPr>
            <a:fld id="{E5D5D737-EE59-5946-A4D1-F0002A6AC427}" type="slidenum">
              <a:rPr lang="en-US"/>
              <a:pPr>
                <a:defRPr/>
              </a:pPr>
              <a:t>‹#›</a:t>
            </a:fld>
            <a:endParaRPr lang="en-US"/>
          </a:p>
        </p:txBody>
      </p:sp>
    </p:spTree>
    <p:extLst>
      <p:ext uri="{BB962C8B-B14F-4D97-AF65-F5344CB8AC3E}">
        <p14:creationId xmlns:p14="http://schemas.microsoft.com/office/powerpoint/2010/main" val="3648138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1C0892E-5168-CBE2-E397-2A719C6E00B7}"/>
              </a:ext>
            </a:extLst>
          </p:cNvPr>
          <p:cNvSpPr>
            <a:spLocks noGrp="1"/>
          </p:cNvSpPr>
          <p:nvPr>
            <p:ph type="dt" sz="half" idx="10"/>
          </p:nvPr>
        </p:nvSpPr>
        <p:spPr/>
        <p:txBody>
          <a:bodyPr/>
          <a:lstStyle>
            <a:lvl1pPr>
              <a:defRPr/>
            </a:lvl1pPr>
          </a:lstStyle>
          <a:p>
            <a:pPr>
              <a:defRPr/>
            </a:pPr>
            <a:fld id="{32D0E83E-54A3-FC45-A9C1-992A5B6A3004}" type="datetimeFigureOut">
              <a:rPr lang="en-US"/>
              <a:pPr>
                <a:defRPr/>
              </a:pPr>
              <a:t>5/16/26</a:t>
            </a:fld>
            <a:endParaRPr lang="en-US"/>
          </a:p>
        </p:txBody>
      </p:sp>
      <p:sp>
        <p:nvSpPr>
          <p:cNvPr id="5" name="Footer Placeholder 4">
            <a:extLst>
              <a:ext uri="{FF2B5EF4-FFF2-40B4-BE49-F238E27FC236}">
                <a16:creationId xmlns:a16="http://schemas.microsoft.com/office/drawing/2014/main" id="{32B165E0-4FD2-CEEB-2AD2-716AA10D869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5BD7FD2-5936-91F6-6101-0EE3616CD0E3}"/>
              </a:ext>
            </a:extLst>
          </p:cNvPr>
          <p:cNvSpPr>
            <a:spLocks noGrp="1"/>
          </p:cNvSpPr>
          <p:nvPr>
            <p:ph type="sldNum" sz="quarter" idx="12"/>
          </p:nvPr>
        </p:nvSpPr>
        <p:spPr/>
        <p:txBody>
          <a:bodyPr/>
          <a:lstStyle>
            <a:lvl1pPr>
              <a:defRPr/>
            </a:lvl1pPr>
          </a:lstStyle>
          <a:p>
            <a:pPr>
              <a:defRPr/>
            </a:pPr>
            <a:fld id="{26F95CD9-0897-6E40-9BB4-9F4F707DCA5C}" type="slidenum">
              <a:rPr lang="en-US"/>
              <a:pPr>
                <a:defRPr/>
              </a:pPr>
              <a:t>‹#›</a:t>
            </a:fld>
            <a:endParaRPr lang="en-US"/>
          </a:p>
        </p:txBody>
      </p:sp>
    </p:spTree>
    <p:extLst>
      <p:ext uri="{BB962C8B-B14F-4D97-AF65-F5344CB8AC3E}">
        <p14:creationId xmlns:p14="http://schemas.microsoft.com/office/powerpoint/2010/main" val="3998476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66F416D-EA27-EB75-1A84-62FC6A21BB08}"/>
              </a:ext>
            </a:extLst>
          </p:cNvPr>
          <p:cNvSpPr>
            <a:spLocks noGrp="1"/>
          </p:cNvSpPr>
          <p:nvPr>
            <p:ph type="dt" sz="half" idx="10"/>
          </p:nvPr>
        </p:nvSpPr>
        <p:spPr/>
        <p:txBody>
          <a:bodyPr/>
          <a:lstStyle>
            <a:lvl1pPr>
              <a:defRPr/>
            </a:lvl1pPr>
          </a:lstStyle>
          <a:p>
            <a:pPr>
              <a:defRPr/>
            </a:pPr>
            <a:fld id="{8072185F-9BEC-A34F-AF2B-6669FE487175}" type="datetimeFigureOut">
              <a:rPr lang="en-US"/>
              <a:pPr>
                <a:defRPr/>
              </a:pPr>
              <a:t>5/16/26</a:t>
            </a:fld>
            <a:endParaRPr lang="en-US"/>
          </a:p>
        </p:txBody>
      </p:sp>
      <p:sp>
        <p:nvSpPr>
          <p:cNvPr id="5" name="Footer Placeholder 4">
            <a:extLst>
              <a:ext uri="{FF2B5EF4-FFF2-40B4-BE49-F238E27FC236}">
                <a16:creationId xmlns:a16="http://schemas.microsoft.com/office/drawing/2014/main" id="{473DCFE0-00CC-17E9-4240-9E4B81EBD18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A6785D9-A698-6E64-0523-0981FAF34DCA}"/>
              </a:ext>
            </a:extLst>
          </p:cNvPr>
          <p:cNvSpPr>
            <a:spLocks noGrp="1"/>
          </p:cNvSpPr>
          <p:nvPr>
            <p:ph type="sldNum" sz="quarter" idx="12"/>
          </p:nvPr>
        </p:nvSpPr>
        <p:spPr/>
        <p:txBody>
          <a:bodyPr/>
          <a:lstStyle>
            <a:lvl1pPr>
              <a:defRPr/>
            </a:lvl1pPr>
          </a:lstStyle>
          <a:p>
            <a:pPr>
              <a:defRPr/>
            </a:pPr>
            <a:fld id="{57E9DAEE-CEDC-7047-B537-2C59D33963FA}" type="slidenum">
              <a:rPr lang="en-US"/>
              <a:pPr>
                <a:defRPr/>
              </a:pPr>
              <a:t>‹#›</a:t>
            </a:fld>
            <a:endParaRPr lang="en-US"/>
          </a:p>
        </p:txBody>
      </p:sp>
    </p:spTree>
    <p:extLst>
      <p:ext uri="{BB962C8B-B14F-4D97-AF65-F5344CB8AC3E}">
        <p14:creationId xmlns:p14="http://schemas.microsoft.com/office/powerpoint/2010/main" val="2848865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B0731DC-DC9B-DE8D-8BD7-B5E190D6F453}"/>
              </a:ext>
            </a:extLst>
          </p:cNvPr>
          <p:cNvSpPr>
            <a:spLocks noGrp="1"/>
          </p:cNvSpPr>
          <p:nvPr>
            <p:ph type="dt" sz="half" idx="10"/>
          </p:nvPr>
        </p:nvSpPr>
        <p:spPr/>
        <p:txBody>
          <a:bodyPr/>
          <a:lstStyle>
            <a:lvl1pPr>
              <a:defRPr/>
            </a:lvl1pPr>
          </a:lstStyle>
          <a:p>
            <a:pPr>
              <a:defRPr/>
            </a:pPr>
            <a:fld id="{CF0D85DB-ACDB-F342-8778-050936A6C0DA}" type="datetimeFigureOut">
              <a:rPr lang="en-US"/>
              <a:pPr>
                <a:defRPr/>
              </a:pPr>
              <a:t>5/16/26</a:t>
            </a:fld>
            <a:endParaRPr lang="en-US"/>
          </a:p>
        </p:txBody>
      </p:sp>
      <p:sp>
        <p:nvSpPr>
          <p:cNvPr id="5" name="Footer Placeholder 4">
            <a:extLst>
              <a:ext uri="{FF2B5EF4-FFF2-40B4-BE49-F238E27FC236}">
                <a16:creationId xmlns:a16="http://schemas.microsoft.com/office/drawing/2014/main" id="{F6E5739A-5894-BA89-9B3E-6D8D89B1D35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AA814E3-73C3-2FA9-DC2A-9C2A822262EF}"/>
              </a:ext>
            </a:extLst>
          </p:cNvPr>
          <p:cNvSpPr>
            <a:spLocks noGrp="1"/>
          </p:cNvSpPr>
          <p:nvPr>
            <p:ph type="sldNum" sz="quarter" idx="12"/>
          </p:nvPr>
        </p:nvSpPr>
        <p:spPr/>
        <p:txBody>
          <a:bodyPr/>
          <a:lstStyle>
            <a:lvl1pPr>
              <a:defRPr/>
            </a:lvl1pPr>
          </a:lstStyle>
          <a:p>
            <a:pPr>
              <a:defRPr/>
            </a:pPr>
            <a:fld id="{2F0F61A6-4CCF-1C48-81EC-84F4E5F87FD2}" type="slidenum">
              <a:rPr lang="en-US"/>
              <a:pPr>
                <a:defRPr/>
              </a:pPr>
              <a:t>‹#›</a:t>
            </a:fld>
            <a:endParaRPr lang="en-US"/>
          </a:p>
        </p:txBody>
      </p:sp>
    </p:spTree>
    <p:extLst>
      <p:ext uri="{BB962C8B-B14F-4D97-AF65-F5344CB8AC3E}">
        <p14:creationId xmlns:p14="http://schemas.microsoft.com/office/powerpoint/2010/main" val="909461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79CECBC-D88B-A4B8-7803-7C3758D4E007}"/>
              </a:ext>
            </a:extLst>
          </p:cNvPr>
          <p:cNvSpPr>
            <a:spLocks noGrp="1"/>
          </p:cNvSpPr>
          <p:nvPr>
            <p:ph type="dt" sz="half" idx="10"/>
          </p:nvPr>
        </p:nvSpPr>
        <p:spPr/>
        <p:txBody>
          <a:bodyPr/>
          <a:lstStyle>
            <a:lvl1pPr>
              <a:defRPr/>
            </a:lvl1pPr>
          </a:lstStyle>
          <a:p>
            <a:pPr>
              <a:defRPr/>
            </a:pPr>
            <a:fld id="{772A9AC7-90A6-084B-B505-E329BE10E829}" type="datetimeFigureOut">
              <a:rPr lang="en-US"/>
              <a:pPr>
                <a:defRPr/>
              </a:pPr>
              <a:t>5/16/26</a:t>
            </a:fld>
            <a:endParaRPr lang="en-US"/>
          </a:p>
        </p:txBody>
      </p:sp>
      <p:sp>
        <p:nvSpPr>
          <p:cNvPr id="5" name="Footer Placeholder 4">
            <a:extLst>
              <a:ext uri="{FF2B5EF4-FFF2-40B4-BE49-F238E27FC236}">
                <a16:creationId xmlns:a16="http://schemas.microsoft.com/office/drawing/2014/main" id="{3692E4A9-0BD1-5E3B-DE4C-803B67AD54C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5DE2687-9D53-801B-CCAC-C41F7435EE09}"/>
              </a:ext>
            </a:extLst>
          </p:cNvPr>
          <p:cNvSpPr>
            <a:spLocks noGrp="1"/>
          </p:cNvSpPr>
          <p:nvPr>
            <p:ph type="sldNum" sz="quarter" idx="12"/>
          </p:nvPr>
        </p:nvSpPr>
        <p:spPr/>
        <p:txBody>
          <a:bodyPr/>
          <a:lstStyle>
            <a:lvl1pPr>
              <a:defRPr/>
            </a:lvl1pPr>
          </a:lstStyle>
          <a:p>
            <a:pPr>
              <a:defRPr/>
            </a:pPr>
            <a:fld id="{BF9C9793-7BBD-D943-BF38-F03B08E54FC3}" type="slidenum">
              <a:rPr lang="en-US"/>
              <a:pPr>
                <a:defRPr/>
              </a:pPr>
              <a:t>‹#›</a:t>
            </a:fld>
            <a:endParaRPr lang="en-US"/>
          </a:p>
        </p:txBody>
      </p:sp>
    </p:spTree>
    <p:extLst>
      <p:ext uri="{BB962C8B-B14F-4D97-AF65-F5344CB8AC3E}">
        <p14:creationId xmlns:p14="http://schemas.microsoft.com/office/powerpoint/2010/main" val="22230154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a:extLst>
              <a:ext uri="{FF2B5EF4-FFF2-40B4-BE49-F238E27FC236}">
                <a16:creationId xmlns:a16="http://schemas.microsoft.com/office/drawing/2014/main" id="{9496DE14-28B4-55CD-0E59-1B359F0387D7}"/>
              </a:ext>
            </a:extLst>
          </p:cNvPr>
          <p:cNvSpPr>
            <a:spLocks noGrp="1"/>
          </p:cNvSpPr>
          <p:nvPr>
            <p:ph type="dt" sz="half" idx="10"/>
          </p:nvPr>
        </p:nvSpPr>
        <p:spPr/>
        <p:txBody>
          <a:bodyPr/>
          <a:lstStyle>
            <a:lvl1pPr>
              <a:defRPr/>
            </a:lvl1pPr>
          </a:lstStyle>
          <a:p>
            <a:pPr>
              <a:defRPr/>
            </a:pPr>
            <a:fld id="{73B89276-9F7E-F947-9A13-792B95FEFF0E}" type="datetimeFigureOut">
              <a:rPr lang="en-US"/>
              <a:pPr>
                <a:defRPr/>
              </a:pPr>
              <a:t>5/16/26</a:t>
            </a:fld>
            <a:endParaRPr lang="en-US"/>
          </a:p>
        </p:txBody>
      </p:sp>
      <p:sp>
        <p:nvSpPr>
          <p:cNvPr id="6" name="Footer Placeholder 4">
            <a:extLst>
              <a:ext uri="{FF2B5EF4-FFF2-40B4-BE49-F238E27FC236}">
                <a16:creationId xmlns:a16="http://schemas.microsoft.com/office/drawing/2014/main" id="{D612C61B-FE6B-F0F4-0ADB-39F34A1CF93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765E95C-4274-EA0B-A963-4C92444C51BF}"/>
              </a:ext>
            </a:extLst>
          </p:cNvPr>
          <p:cNvSpPr>
            <a:spLocks noGrp="1"/>
          </p:cNvSpPr>
          <p:nvPr>
            <p:ph type="sldNum" sz="quarter" idx="12"/>
          </p:nvPr>
        </p:nvSpPr>
        <p:spPr/>
        <p:txBody>
          <a:bodyPr/>
          <a:lstStyle>
            <a:lvl1pPr>
              <a:defRPr/>
            </a:lvl1pPr>
          </a:lstStyle>
          <a:p>
            <a:pPr>
              <a:defRPr/>
            </a:pPr>
            <a:fld id="{79F672CA-1F3C-2D49-BD61-18CA98FF9649}" type="slidenum">
              <a:rPr lang="en-US"/>
              <a:pPr>
                <a:defRPr/>
              </a:pPr>
              <a:t>‹#›</a:t>
            </a:fld>
            <a:endParaRPr lang="en-US"/>
          </a:p>
        </p:txBody>
      </p:sp>
    </p:spTree>
    <p:extLst>
      <p:ext uri="{BB962C8B-B14F-4D97-AF65-F5344CB8AC3E}">
        <p14:creationId xmlns:p14="http://schemas.microsoft.com/office/powerpoint/2010/main" val="32474113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0" y="10477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a:extLst>
              <a:ext uri="{FF2B5EF4-FFF2-40B4-BE49-F238E27FC236}">
                <a16:creationId xmlns:a16="http://schemas.microsoft.com/office/drawing/2014/main" id="{92FBBF54-EDDB-2C0B-2F59-986D98B0DCE3}"/>
              </a:ext>
            </a:extLst>
          </p:cNvPr>
          <p:cNvSpPr>
            <a:spLocks noGrp="1"/>
          </p:cNvSpPr>
          <p:nvPr>
            <p:ph type="dt" sz="half" idx="10"/>
          </p:nvPr>
        </p:nvSpPr>
        <p:spPr/>
        <p:txBody>
          <a:bodyPr/>
          <a:lstStyle>
            <a:lvl1pPr>
              <a:defRPr/>
            </a:lvl1pPr>
          </a:lstStyle>
          <a:p>
            <a:pPr>
              <a:defRPr/>
            </a:pPr>
            <a:fld id="{4E41DA9F-3695-2A44-8A09-2AB8451D4B6A}" type="datetimeFigureOut">
              <a:rPr lang="en-US"/>
              <a:pPr>
                <a:defRPr/>
              </a:pPr>
              <a:t>5/16/26</a:t>
            </a:fld>
            <a:endParaRPr lang="en-US"/>
          </a:p>
        </p:txBody>
      </p:sp>
      <p:sp>
        <p:nvSpPr>
          <p:cNvPr id="8" name="Footer Placeholder 4">
            <a:extLst>
              <a:ext uri="{FF2B5EF4-FFF2-40B4-BE49-F238E27FC236}">
                <a16:creationId xmlns:a16="http://schemas.microsoft.com/office/drawing/2014/main" id="{6A20169A-5EB1-5F93-A6AE-25CBD0B2294B}"/>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D65D4528-7C37-4AF6-2144-173F69770E0E}"/>
              </a:ext>
            </a:extLst>
          </p:cNvPr>
          <p:cNvSpPr>
            <a:spLocks noGrp="1"/>
          </p:cNvSpPr>
          <p:nvPr>
            <p:ph type="sldNum" sz="quarter" idx="12"/>
          </p:nvPr>
        </p:nvSpPr>
        <p:spPr/>
        <p:txBody>
          <a:bodyPr/>
          <a:lstStyle>
            <a:lvl1pPr>
              <a:defRPr/>
            </a:lvl1pPr>
          </a:lstStyle>
          <a:p>
            <a:pPr>
              <a:defRPr/>
            </a:pPr>
            <a:fld id="{1A84180E-A06E-8541-8933-BF1FA1450831}" type="slidenum">
              <a:rPr lang="en-US"/>
              <a:pPr>
                <a:defRPr/>
              </a:pPr>
              <a:t>‹#›</a:t>
            </a:fld>
            <a:endParaRPr lang="en-US"/>
          </a:p>
        </p:txBody>
      </p:sp>
    </p:spTree>
    <p:extLst>
      <p:ext uri="{BB962C8B-B14F-4D97-AF65-F5344CB8AC3E}">
        <p14:creationId xmlns:p14="http://schemas.microsoft.com/office/powerpoint/2010/main" val="34460434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38125" y="279400"/>
            <a:ext cx="10515600" cy="699587"/>
          </a:xfrm>
        </p:spPr>
        <p:txBody>
          <a:bodyPr>
            <a:normAutofit/>
          </a:bodyPr>
          <a:lstStyle>
            <a:lvl1pPr>
              <a:defRPr sz="2400" b="1"/>
            </a:lvl1pPr>
          </a:lstStyle>
          <a:p>
            <a:r>
              <a:rPr lang="en-GB" dirty="0"/>
              <a:t>Click to edit Master title style</a:t>
            </a:r>
            <a:endParaRPr lang="en-US" dirty="0"/>
          </a:p>
        </p:txBody>
      </p:sp>
      <p:sp>
        <p:nvSpPr>
          <p:cNvPr id="3" name="Date Placeholder 3">
            <a:extLst>
              <a:ext uri="{FF2B5EF4-FFF2-40B4-BE49-F238E27FC236}">
                <a16:creationId xmlns:a16="http://schemas.microsoft.com/office/drawing/2014/main" id="{A66F0596-8687-E3CF-7B68-EBFB308A5A7D}"/>
              </a:ext>
            </a:extLst>
          </p:cNvPr>
          <p:cNvSpPr>
            <a:spLocks noGrp="1"/>
          </p:cNvSpPr>
          <p:nvPr>
            <p:ph type="dt" sz="half" idx="10"/>
          </p:nvPr>
        </p:nvSpPr>
        <p:spPr/>
        <p:txBody>
          <a:bodyPr/>
          <a:lstStyle>
            <a:lvl1pPr>
              <a:defRPr/>
            </a:lvl1pPr>
          </a:lstStyle>
          <a:p>
            <a:pPr>
              <a:defRPr/>
            </a:pPr>
            <a:fld id="{8B0EA3B5-8EB2-F744-9D41-DF515E8AC934}" type="datetimeFigureOut">
              <a:rPr lang="en-US"/>
              <a:pPr>
                <a:defRPr/>
              </a:pPr>
              <a:t>5/16/26</a:t>
            </a:fld>
            <a:endParaRPr lang="en-US"/>
          </a:p>
        </p:txBody>
      </p:sp>
      <p:sp>
        <p:nvSpPr>
          <p:cNvPr id="4" name="Footer Placeholder 4">
            <a:extLst>
              <a:ext uri="{FF2B5EF4-FFF2-40B4-BE49-F238E27FC236}">
                <a16:creationId xmlns:a16="http://schemas.microsoft.com/office/drawing/2014/main" id="{AA8A7B61-5549-7CCA-3552-BA10353D765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B75DA0FA-517F-030E-0EAF-DD4CAE39A39E}"/>
              </a:ext>
            </a:extLst>
          </p:cNvPr>
          <p:cNvSpPr>
            <a:spLocks noGrp="1"/>
          </p:cNvSpPr>
          <p:nvPr>
            <p:ph type="sldNum" sz="quarter" idx="12"/>
          </p:nvPr>
        </p:nvSpPr>
        <p:spPr/>
        <p:txBody>
          <a:bodyPr/>
          <a:lstStyle>
            <a:lvl1pPr>
              <a:defRPr/>
            </a:lvl1pPr>
          </a:lstStyle>
          <a:p>
            <a:pPr>
              <a:defRPr/>
            </a:pPr>
            <a:fld id="{0362139D-A04C-F347-8C84-63E0B0D41BD4}" type="slidenum">
              <a:rPr lang="en-US"/>
              <a:pPr>
                <a:defRPr/>
              </a:pPr>
              <a:t>‹#›</a:t>
            </a:fld>
            <a:endParaRPr lang="en-US"/>
          </a:p>
        </p:txBody>
      </p:sp>
    </p:spTree>
    <p:extLst>
      <p:ext uri="{BB962C8B-B14F-4D97-AF65-F5344CB8AC3E}">
        <p14:creationId xmlns:p14="http://schemas.microsoft.com/office/powerpoint/2010/main" val="40936860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136525"/>
            <a:ext cx="10515600" cy="699587"/>
          </a:xfrm>
        </p:spPr>
        <p:txBody>
          <a:bodyPr>
            <a:normAutofit/>
          </a:bodyPr>
          <a:lstStyle>
            <a:lvl1pPr>
              <a:defRPr sz="3600"/>
            </a:lvl1pPr>
          </a:lstStyle>
          <a:p>
            <a:r>
              <a:rPr lang="en-GB" dirty="0"/>
              <a:t>Click to edit Master title style</a:t>
            </a:r>
            <a:endParaRPr lang="en-US" dirty="0"/>
          </a:p>
        </p:txBody>
      </p:sp>
      <p:sp>
        <p:nvSpPr>
          <p:cNvPr id="3" name="Date Placeholder 3">
            <a:extLst>
              <a:ext uri="{FF2B5EF4-FFF2-40B4-BE49-F238E27FC236}">
                <a16:creationId xmlns:a16="http://schemas.microsoft.com/office/drawing/2014/main" id="{A66F0596-8687-E3CF-7B68-EBFB308A5A7D}"/>
              </a:ext>
            </a:extLst>
          </p:cNvPr>
          <p:cNvSpPr>
            <a:spLocks noGrp="1"/>
          </p:cNvSpPr>
          <p:nvPr>
            <p:ph type="dt" sz="half" idx="10"/>
          </p:nvPr>
        </p:nvSpPr>
        <p:spPr/>
        <p:txBody>
          <a:bodyPr/>
          <a:lstStyle>
            <a:lvl1pPr>
              <a:defRPr/>
            </a:lvl1pPr>
          </a:lstStyle>
          <a:p>
            <a:pPr>
              <a:defRPr/>
            </a:pPr>
            <a:fld id="{8B0EA3B5-8EB2-F744-9D41-DF515E8AC934}" type="datetimeFigureOut">
              <a:rPr lang="en-US"/>
              <a:pPr>
                <a:defRPr/>
              </a:pPr>
              <a:t>5/16/26</a:t>
            </a:fld>
            <a:endParaRPr lang="en-US"/>
          </a:p>
        </p:txBody>
      </p:sp>
      <p:sp>
        <p:nvSpPr>
          <p:cNvPr id="4" name="Footer Placeholder 4">
            <a:extLst>
              <a:ext uri="{FF2B5EF4-FFF2-40B4-BE49-F238E27FC236}">
                <a16:creationId xmlns:a16="http://schemas.microsoft.com/office/drawing/2014/main" id="{AA8A7B61-5549-7CCA-3552-BA10353D765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B75DA0FA-517F-030E-0EAF-DD4CAE39A39E}"/>
              </a:ext>
            </a:extLst>
          </p:cNvPr>
          <p:cNvSpPr>
            <a:spLocks noGrp="1"/>
          </p:cNvSpPr>
          <p:nvPr>
            <p:ph type="sldNum" sz="quarter" idx="12"/>
          </p:nvPr>
        </p:nvSpPr>
        <p:spPr/>
        <p:txBody>
          <a:bodyPr/>
          <a:lstStyle>
            <a:lvl1pPr>
              <a:defRPr/>
            </a:lvl1pPr>
          </a:lstStyle>
          <a:p>
            <a:pPr>
              <a:defRPr/>
            </a:pPr>
            <a:fld id="{0362139D-A04C-F347-8C84-63E0B0D41BD4}" type="slidenum">
              <a:rPr lang="en-US"/>
              <a:pPr>
                <a:defRPr/>
              </a:pPr>
              <a:t>‹#›</a:t>
            </a:fld>
            <a:endParaRPr lang="en-US"/>
          </a:p>
        </p:txBody>
      </p:sp>
    </p:spTree>
    <p:extLst>
      <p:ext uri="{BB962C8B-B14F-4D97-AF65-F5344CB8AC3E}">
        <p14:creationId xmlns:p14="http://schemas.microsoft.com/office/powerpoint/2010/main" val="40936860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1D1340F9-8AFF-7D3B-9A66-3630B6802321}"/>
              </a:ext>
            </a:extLst>
          </p:cNvPr>
          <p:cNvSpPr>
            <a:spLocks noGrp="1"/>
          </p:cNvSpPr>
          <p:nvPr>
            <p:ph type="dt" sz="half" idx="10"/>
          </p:nvPr>
        </p:nvSpPr>
        <p:spPr/>
        <p:txBody>
          <a:bodyPr/>
          <a:lstStyle>
            <a:lvl1pPr>
              <a:defRPr/>
            </a:lvl1pPr>
          </a:lstStyle>
          <a:p>
            <a:pPr>
              <a:defRPr/>
            </a:pPr>
            <a:fld id="{15F48225-4655-B147-AF98-F64D0ED938F9}" type="datetimeFigureOut">
              <a:rPr lang="en-US"/>
              <a:pPr>
                <a:defRPr/>
              </a:pPr>
              <a:t>5/16/26</a:t>
            </a:fld>
            <a:endParaRPr lang="en-US"/>
          </a:p>
        </p:txBody>
      </p:sp>
      <p:sp>
        <p:nvSpPr>
          <p:cNvPr id="3" name="Footer Placeholder 4">
            <a:extLst>
              <a:ext uri="{FF2B5EF4-FFF2-40B4-BE49-F238E27FC236}">
                <a16:creationId xmlns:a16="http://schemas.microsoft.com/office/drawing/2014/main" id="{6BBF5AFC-4D64-C09E-EE39-925044A47D52}"/>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B41416BE-1B7A-F93F-47A7-7EFC544119C6}"/>
              </a:ext>
            </a:extLst>
          </p:cNvPr>
          <p:cNvSpPr>
            <a:spLocks noGrp="1"/>
          </p:cNvSpPr>
          <p:nvPr>
            <p:ph type="sldNum" sz="quarter" idx="12"/>
          </p:nvPr>
        </p:nvSpPr>
        <p:spPr/>
        <p:txBody>
          <a:bodyPr/>
          <a:lstStyle>
            <a:lvl1pPr>
              <a:defRPr/>
            </a:lvl1pPr>
          </a:lstStyle>
          <a:p>
            <a:pPr>
              <a:defRPr/>
            </a:pPr>
            <a:fld id="{66061991-08C9-9840-AABC-72BAC8CE538D}" type="slidenum">
              <a:rPr lang="en-US"/>
              <a:pPr>
                <a:defRPr/>
              </a:pPr>
              <a:t>‹#›</a:t>
            </a:fld>
            <a:endParaRPr lang="en-US"/>
          </a:p>
        </p:txBody>
      </p:sp>
    </p:spTree>
    <p:extLst>
      <p:ext uri="{BB962C8B-B14F-4D97-AF65-F5344CB8AC3E}">
        <p14:creationId xmlns:p14="http://schemas.microsoft.com/office/powerpoint/2010/main" val="41900269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3">
            <a:extLst>
              <a:ext uri="{FF2B5EF4-FFF2-40B4-BE49-F238E27FC236}">
                <a16:creationId xmlns:a16="http://schemas.microsoft.com/office/drawing/2014/main" id="{672DCD49-8F8A-C8A9-50CA-F7FC1D75EC0D}"/>
              </a:ext>
            </a:extLst>
          </p:cNvPr>
          <p:cNvSpPr>
            <a:spLocks noGrp="1"/>
          </p:cNvSpPr>
          <p:nvPr>
            <p:ph type="dt" sz="half" idx="10"/>
          </p:nvPr>
        </p:nvSpPr>
        <p:spPr/>
        <p:txBody>
          <a:bodyPr/>
          <a:lstStyle>
            <a:lvl1pPr>
              <a:defRPr/>
            </a:lvl1pPr>
          </a:lstStyle>
          <a:p>
            <a:pPr>
              <a:defRPr/>
            </a:pPr>
            <a:fld id="{37588F7E-5EBB-7B40-B841-B9B4D90D3D57}" type="datetimeFigureOut">
              <a:rPr lang="en-US"/>
              <a:pPr>
                <a:defRPr/>
              </a:pPr>
              <a:t>5/16/26</a:t>
            </a:fld>
            <a:endParaRPr lang="en-US"/>
          </a:p>
        </p:txBody>
      </p:sp>
      <p:sp>
        <p:nvSpPr>
          <p:cNvPr id="6" name="Footer Placeholder 4">
            <a:extLst>
              <a:ext uri="{FF2B5EF4-FFF2-40B4-BE49-F238E27FC236}">
                <a16:creationId xmlns:a16="http://schemas.microsoft.com/office/drawing/2014/main" id="{612EEAAF-A44A-EDCF-3D90-0CA42E6E3FA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3809F78-9F87-109E-8A5B-95E56F58D6AD}"/>
              </a:ext>
            </a:extLst>
          </p:cNvPr>
          <p:cNvSpPr>
            <a:spLocks noGrp="1"/>
          </p:cNvSpPr>
          <p:nvPr>
            <p:ph type="sldNum" sz="quarter" idx="12"/>
          </p:nvPr>
        </p:nvSpPr>
        <p:spPr/>
        <p:txBody>
          <a:bodyPr/>
          <a:lstStyle>
            <a:lvl1pPr>
              <a:defRPr/>
            </a:lvl1pPr>
          </a:lstStyle>
          <a:p>
            <a:pPr>
              <a:defRPr/>
            </a:pPr>
            <a:fld id="{E70B3F76-9E2F-EE41-A455-F7FC7FF38C8E}" type="slidenum">
              <a:rPr lang="en-US"/>
              <a:pPr>
                <a:defRPr/>
              </a:pPr>
              <a:t>‹#›</a:t>
            </a:fld>
            <a:endParaRPr lang="en-US"/>
          </a:p>
        </p:txBody>
      </p:sp>
    </p:spTree>
    <p:extLst>
      <p:ext uri="{BB962C8B-B14F-4D97-AF65-F5344CB8AC3E}">
        <p14:creationId xmlns:p14="http://schemas.microsoft.com/office/powerpoint/2010/main" val="7940667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3">
            <a:extLst>
              <a:ext uri="{FF2B5EF4-FFF2-40B4-BE49-F238E27FC236}">
                <a16:creationId xmlns:a16="http://schemas.microsoft.com/office/drawing/2014/main" id="{92D1080B-289F-42F6-EA74-49D670F607E9}"/>
              </a:ext>
            </a:extLst>
          </p:cNvPr>
          <p:cNvSpPr>
            <a:spLocks noGrp="1"/>
          </p:cNvSpPr>
          <p:nvPr>
            <p:ph type="dt" sz="half" idx="10"/>
          </p:nvPr>
        </p:nvSpPr>
        <p:spPr/>
        <p:txBody>
          <a:bodyPr/>
          <a:lstStyle>
            <a:lvl1pPr>
              <a:defRPr/>
            </a:lvl1pPr>
          </a:lstStyle>
          <a:p>
            <a:pPr>
              <a:defRPr/>
            </a:pPr>
            <a:fld id="{826C4A26-FF98-9F42-959C-383CB611B028}" type="datetimeFigureOut">
              <a:rPr lang="en-US"/>
              <a:pPr>
                <a:defRPr/>
              </a:pPr>
              <a:t>5/16/26</a:t>
            </a:fld>
            <a:endParaRPr lang="en-US"/>
          </a:p>
        </p:txBody>
      </p:sp>
      <p:sp>
        <p:nvSpPr>
          <p:cNvPr id="6" name="Footer Placeholder 4">
            <a:extLst>
              <a:ext uri="{FF2B5EF4-FFF2-40B4-BE49-F238E27FC236}">
                <a16:creationId xmlns:a16="http://schemas.microsoft.com/office/drawing/2014/main" id="{1D9EFB68-B8A7-E345-6FA6-1A1098A994F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FD95BFE-7A07-3FC2-CE29-0573B3D931DD}"/>
              </a:ext>
            </a:extLst>
          </p:cNvPr>
          <p:cNvSpPr>
            <a:spLocks noGrp="1"/>
          </p:cNvSpPr>
          <p:nvPr>
            <p:ph type="sldNum" sz="quarter" idx="12"/>
          </p:nvPr>
        </p:nvSpPr>
        <p:spPr/>
        <p:txBody>
          <a:bodyPr/>
          <a:lstStyle>
            <a:lvl1pPr>
              <a:defRPr/>
            </a:lvl1pPr>
          </a:lstStyle>
          <a:p>
            <a:pPr>
              <a:defRPr/>
            </a:pPr>
            <a:fld id="{C42E94FF-211D-5B44-AB51-BB6D2E6C0566}" type="slidenum">
              <a:rPr lang="en-US"/>
              <a:pPr>
                <a:defRPr/>
              </a:pPr>
              <a:t>‹#›</a:t>
            </a:fld>
            <a:endParaRPr lang="en-US"/>
          </a:p>
        </p:txBody>
      </p:sp>
    </p:spTree>
    <p:extLst>
      <p:ext uri="{BB962C8B-B14F-4D97-AF65-F5344CB8AC3E}">
        <p14:creationId xmlns:p14="http://schemas.microsoft.com/office/powerpoint/2010/main" val="16504111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D33D00C-737A-4398-C682-C36B6253C75A}"/>
              </a:ext>
            </a:extLst>
          </p:cNvPr>
          <p:cNvSpPr>
            <a:spLocks noGrp="1"/>
          </p:cNvSpPr>
          <p:nvPr>
            <p:ph type="dt" sz="half" idx="10"/>
          </p:nvPr>
        </p:nvSpPr>
        <p:spPr/>
        <p:txBody>
          <a:bodyPr/>
          <a:lstStyle>
            <a:lvl1pPr>
              <a:defRPr/>
            </a:lvl1pPr>
          </a:lstStyle>
          <a:p>
            <a:pPr>
              <a:defRPr/>
            </a:pPr>
            <a:fld id="{33C2FFAA-6770-5649-9140-B2070A3E0683}" type="datetimeFigureOut">
              <a:rPr lang="en-US"/>
              <a:pPr>
                <a:defRPr/>
              </a:pPr>
              <a:t>5/16/26</a:t>
            </a:fld>
            <a:endParaRPr lang="en-US"/>
          </a:p>
        </p:txBody>
      </p:sp>
      <p:sp>
        <p:nvSpPr>
          <p:cNvPr id="5" name="Footer Placeholder 4">
            <a:extLst>
              <a:ext uri="{FF2B5EF4-FFF2-40B4-BE49-F238E27FC236}">
                <a16:creationId xmlns:a16="http://schemas.microsoft.com/office/drawing/2014/main" id="{4D1B1956-6FF0-1AAC-FF00-915ADB864FD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2DCBED4-FCB8-D810-DDE9-C56264EE47B5}"/>
              </a:ext>
            </a:extLst>
          </p:cNvPr>
          <p:cNvSpPr>
            <a:spLocks noGrp="1"/>
          </p:cNvSpPr>
          <p:nvPr>
            <p:ph type="sldNum" sz="quarter" idx="12"/>
          </p:nvPr>
        </p:nvSpPr>
        <p:spPr/>
        <p:txBody>
          <a:bodyPr/>
          <a:lstStyle>
            <a:lvl1pPr>
              <a:defRPr/>
            </a:lvl1pPr>
          </a:lstStyle>
          <a:p>
            <a:pPr>
              <a:defRPr/>
            </a:pPr>
            <a:fld id="{E5D5D737-EE59-5946-A4D1-F0002A6AC427}" type="slidenum">
              <a:rPr lang="en-US"/>
              <a:pPr>
                <a:defRPr/>
              </a:pPr>
              <a:t>‹#›</a:t>
            </a:fld>
            <a:endParaRPr lang="en-US"/>
          </a:p>
        </p:txBody>
      </p:sp>
    </p:spTree>
    <p:extLst>
      <p:ext uri="{BB962C8B-B14F-4D97-AF65-F5344CB8AC3E}">
        <p14:creationId xmlns:p14="http://schemas.microsoft.com/office/powerpoint/2010/main" val="36481385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1C0892E-5168-CBE2-E397-2A719C6E00B7}"/>
              </a:ext>
            </a:extLst>
          </p:cNvPr>
          <p:cNvSpPr>
            <a:spLocks noGrp="1"/>
          </p:cNvSpPr>
          <p:nvPr>
            <p:ph type="dt" sz="half" idx="10"/>
          </p:nvPr>
        </p:nvSpPr>
        <p:spPr/>
        <p:txBody>
          <a:bodyPr/>
          <a:lstStyle>
            <a:lvl1pPr>
              <a:defRPr/>
            </a:lvl1pPr>
          </a:lstStyle>
          <a:p>
            <a:pPr>
              <a:defRPr/>
            </a:pPr>
            <a:fld id="{32D0E83E-54A3-FC45-A9C1-992A5B6A3004}" type="datetimeFigureOut">
              <a:rPr lang="en-US"/>
              <a:pPr>
                <a:defRPr/>
              </a:pPr>
              <a:t>5/16/26</a:t>
            </a:fld>
            <a:endParaRPr lang="en-US"/>
          </a:p>
        </p:txBody>
      </p:sp>
      <p:sp>
        <p:nvSpPr>
          <p:cNvPr id="5" name="Footer Placeholder 4">
            <a:extLst>
              <a:ext uri="{FF2B5EF4-FFF2-40B4-BE49-F238E27FC236}">
                <a16:creationId xmlns:a16="http://schemas.microsoft.com/office/drawing/2014/main" id="{32B165E0-4FD2-CEEB-2AD2-716AA10D869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5BD7FD2-5936-91F6-6101-0EE3616CD0E3}"/>
              </a:ext>
            </a:extLst>
          </p:cNvPr>
          <p:cNvSpPr>
            <a:spLocks noGrp="1"/>
          </p:cNvSpPr>
          <p:nvPr>
            <p:ph type="sldNum" sz="quarter" idx="12"/>
          </p:nvPr>
        </p:nvSpPr>
        <p:spPr/>
        <p:txBody>
          <a:bodyPr/>
          <a:lstStyle>
            <a:lvl1pPr>
              <a:defRPr/>
            </a:lvl1pPr>
          </a:lstStyle>
          <a:p>
            <a:pPr>
              <a:defRPr/>
            </a:pPr>
            <a:fld id="{26F95CD9-0897-6E40-9BB4-9F4F707DCA5C}" type="slidenum">
              <a:rPr lang="en-US"/>
              <a:pPr>
                <a:defRPr/>
              </a:pPr>
              <a:t>‹#›</a:t>
            </a:fld>
            <a:endParaRPr lang="en-US"/>
          </a:p>
        </p:txBody>
      </p:sp>
    </p:spTree>
    <p:extLst>
      <p:ext uri="{BB962C8B-B14F-4D97-AF65-F5344CB8AC3E}">
        <p14:creationId xmlns:p14="http://schemas.microsoft.com/office/powerpoint/2010/main" val="3998476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6D7AC141-0404-B33E-A5AE-BB5A2858A98F}"/>
              </a:ext>
            </a:extLst>
          </p:cNvPr>
          <p:cNvSpPr>
            <a:spLocks noGrp="1" noChangeArrowheads="1"/>
          </p:cNvSpPr>
          <p:nvPr>
            <p:ph type="title"/>
          </p:nvPr>
        </p:nvSpPr>
        <p:spPr bwMode="auto">
          <a:xfrm>
            <a:off x="0" y="-44449"/>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endParaRPr lang="en-US" altLang="en-US" dirty="0"/>
          </a:p>
        </p:txBody>
      </p:sp>
      <p:sp>
        <p:nvSpPr>
          <p:cNvPr id="1027" name="Text Placeholder 2">
            <a:extLst>
              <a:ext uri="{FF2B5EF4-FFF2-40B4-BE49-F238E27FC236}">
                <a16:creationId xmlns:a16="http://schemas.microsoft.com/office/drawing/2014/main" id="{598F9549-4836-01BC-E8AA-0B577C8BCAB8}"/>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4" name="Date Placeholder 3">
            <a:extLst>
              <a:ext uri="{FF2B5EF4-FFF2-40B4-BE49-F238E27FC236}">
                <a16:creationId xmlns:a16="http://schemas.microsoft.com/office/drawing/2014/main" id="{71AB5968-90D6-C721-1D9A-72BF44ECAC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82000"/>
                  </a:schemeClr>
                </a:solidFill>
                <a:latin typeface="+mn-lt"/>
              </a:defRPr>
            </a:lvl1pPr>
          </a:lstStyle>
          <a:p>
            <a:pPr>
              <a:defRPr/>
            </a:pPr>
            <a:fld id="{04BAFFA7-C29B-5E43-BA99-0E224199AC81}" type="datetimeFigureOut">
              <a:rPr lang="en-US"/>
              <a:pPr>
                <a:defRPr/>
              </a:pPr>
              <a:t>5/16/26</a:t>
            </a:fld>
            <a:endParaRPr lang="en-US"/>
          </a:p>
        </p:txBody>
      </p:sp>
      <p:sp>
        <p:nvSpPr>
          <p:cNvPr id="5" name="Footer Placeholder 4">
            <a:extLst>
              <a:ext uri="{FF2B5EF4-FFF2-40B4-BE49-F238E27FC236}">
                <a16:creationId xmlns:a16="http://schemas.microsoft.com/office/drawing/2014/main" id="{889AC8CB-7E4F-E7E2-5E23-A048277639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82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12CE814F-6D12-BC18-9C46-08F7BBE2F1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82000"/>
                  </a:schemeClr>
                </a:solidFill>
                <a:latin typeface="+mn-lt"/>
              </a:defRPr>
            </a:lvl1pPr>
          </a:lstStyle>
          <a:p>
            <a:pPr>
              <a:defRPr/>
            </a:pPr>
            <a:fld id="{DE6890FD-EFBE-1F4E-952F-28195696B73A}" type="slidenum">
              <a:rPr lang="en-US"/>
              <a:pPr>
                <a:defRPr/>
              </a:pPr>
              <a:t>‹#›</a:t>
            </a:fld>
            <a:endParaRPr lang="en-US"/>
          </a:p>
        </p:txBody>
      </p:sp>
      <p:sp>
        <p:nvSpPr>
          <p:cNvPr id="1031" name="TopBar">
            <a:extLst>
              <a:ext uri="{FF2B5EF4-FFF2-40B4-BE49-F238E27FC236}">
                <a16:creationId xmlns:a16="http://schemas.microsoft.com/office/drawing/2014/main" id="{AB5504C7-D7BC-EFA6-7415-C5898E887B0D}"/>
              </a:ext>
            </a:extLst>
          </p:cNvPr>
          <p:cNvSpPr>
            <a:spLocks noChangeArrowheads="1"/>
          </p:cNvSpPr>
          <p:nvPr/>
        </p:nvSpPr>
        <p:spPr bwMode="auto">
          <a:xfrm>
            <a:off x="0" y="0"/>
            <a:ext cx="12192000" cy="136525"/>
          </a:xfrm>
          <a:prstGeom prst="rect">
            <a:avLst/>
          </a:prstGeom>
          <a:solidFill>
            <a:srgbClr val="F8D3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pPr eaLnBrk="1" hangingPunct="1"/>
            <a:endParaRPr lang="en-US" altLang="en-US"/>
          </a:p>
        </p:txBody>
      </p:sp>
      <p:sp>
        <p:nvSpPr>
          <p:cNvPr id="1032" name="BottomBar">
            <a:extLst>
              <a:ext uri="{FF2B5EF4-FFF2-40B4-BE49-F238E27FC236}">
                <a16:creationId xmlns:a16="http://schemas.microsoft.com/office/drawing/2014/main" id="{27003A8C-AC43-824E-F89B-80D853F69496}"/>
              </a:ext>
            </a:extLst>
          </p:cNvPr>
          <p:cNvSpPr>
            <a:spLocks noChangeArrowheads="1"/>
          </p:cNvSpPr>
          <p:nvPr/>
        </p:nvSpPr>
        <p:spPr bwMode="auto">
          <a:xfrm>
            <a:off x="0" y="6721474"/>
            <a:ext cx="12192000" cy="136525"/>
          </a:xfrm>
          <a:prstGeom prst="rect">
            <a:avLst/>
          </a:prstGeom>
          <a:solidFill>
            <a:srgbClr val="2E6B7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pPr eaLnBrk="1" hangingPunct="1"/>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fontAlgn="base">
        <a:lnSpc>
          <a:spcPct val="90000"/>
        </a:lnSpc>
        <a:spcBef>
          <a:spcPct val="0"/>
        </a:spcBef>
        <a:spcAft>
          <a:spcPct val="0"/>
        </a:spcAft>
        <a:defRPr sz="4400" kern="1200">
          <a:solidFill>
            <a:srgbClr val="2E6B75"/>
          </a:solidFill>
          <a:latin typeface="+mj-lt"/>
          <a:ea typeface="+mj-ea"/>
          <a:cs typeface="+mj-cs"/>
        </a:defRPr>
      </a:lvl1pPr>
      <a:lvl2pPr algn="l" rtl="0" fontAlgn="base">
        <a:lnSpc>
          <a:spcPct val="90000"/>
        </a:lnSpc>
        <a:spcBef>
          <a:spcPct val="0"/>
        </a:spcBef>
        <a:spcAft>
          <a:spcPct val="0"/>
        </a:spcAft>
        <a:defRPr sz="4400">
          <a:solidFill>
            <a:srgbClr val="2E6B75"/>
          </a:solidFill>
          <a:latin typeface="Montserrat" pitchFamily="2" charset="77"/>
        </a:defRPr>
      </a:lvl2pPr>
      <a:lvl3pPr algn="l" rtl="0" fontAlgn="base">
        <a:lnSpc>
          <a:spcPct val="90000"/>
        </a:lnSpc>
        <a:spcBef>
          <a:spcPct val="0"/>
        </a:spcBef>
        <a:spcAft>
          <a:spcPct val="0"/>
        </a:spcAft>
        <a:defRPr sz="4400">
          <a:solidFill>
            <a:srgbClr val="2E6B75"/>
          </a:solidFill>
          <a:latin typeface="Montserrat" pitchFamily="2" charset="77"/>
        </a:defRPr>
      </a:lvl3pPr>
      <a:lvl4pPr algn="l" rtl="0" fontAlgn="base">
        <a:lnSpc>
          <a:spcPct val="90000"/>
        </a:lnSpc>
        <a:spcBef>
          <a:spcPct val="0"/>
        </a:spcBef>
        <a:spcAft>
          <a:spcPct val="0"/>
        </a:spcAft>
        <a:defRPr sz="4400">
          <a:solidFill>
            <a:srgbClr val="2E6B75"/>
          </a:solidFill>
          <a:latin typeface="Montserrat" pitchFamily="2" charset="77"/>
        </a:defRPr>
      </a:lvl4pPr>
      <a:lvl5pPr algn="l" rtl="0" fontAlgn="base">
        <a:lnSpc>
          <a:spcPct val="90000"/>
        </a:lnSpc>
        <a:spcBef>
          <a:spcPct val="0"/>
        </a:spcBef>
        <a:spcAft>
          <a:spcPct val="0"/>
        </a:spcAft>
        <a:defRPr sz="4400">
          <a:solidFill>
            <a:srgbClr val="2E6B75"/>
          </a:solidFill>
          <a:latin typeface="Montserrat" pitchFamily="2" charset="77"/>
        </a:defRPr>
      </a:lvl5pPr>
      <a:lvl6pPr marL="457200" algn="l" rtl="0" fontAlgn="base">
        <a:lnSpc>
          <a:spcPct val="90000"/>
        </a:lnSpc>
        <a:spcBef>
          <a:spcPct val="0"/>
        </a:spcBef>
        <a:spcAft>
          <a:spcPct val="0"/>
        </a:spcAft>
        <a:defRPr sz="4400">
          <a:solidFill>
            <a:srgbClr val="2E6B75"/>
          </a:solidFill>
          <a:latin typeface="Montserrat" pitchFamily="2" charset="77"/>
        </a:defRPr>
      </a:lvl6pPr>
      <a:lvl7pPr marL="914400" algn="l" rtl="0" fontAlgn="base">
        <a:lnSpc>
          <a:spcPct val="90000"/>
        </a:lnSpc>
        <a:spcBef>
          <a:spcPct val="0"/>
        </a:spcBef>
        <a:spcAft>
          <a:spcPct val="0"/>
        </a:spcAft>
        <a:defRPr sz="4400">
          <a:solidFill>
            <a:srgbClr val="2E6B75"/>
          </a:solidFill>
          <a:latin typeface="Montserrat" pitchFamily="2" charset="77"/>
        </a:defRPr>
      </a:lvl7pPr>
      <a:lvl8pPr marL="1371600" algn="l" rtl="0" fontAlgn="base">
        <a:lnSpc>
          <a:spcPct val="90000"/>
        </a:lnSpc>
        <a:spcBef>
          <a:spcPct val="0"/>
        </a:spcBef>
        <a:spcAft>
          <a:spcPct val="0"/>
        </a:spcAft>
        <a:defRPr sz="4400">
          <a:solidFill>
            <a:srgbClr val="2E6B75"/>
          </a:solidFill>
          <a:latin typeface="Montserrat" pitchFamily="2" charset="77"/>
        </a:defRPr>
      </a:lvl8pPr>
      <a:lvl9pPr marL="1828800" algn="l" rtl="0" fontAlgn="base">
        <a:lnSpc>
          <a:spcPct val="90000"/>
        </a:lnSpc>
        <a:spcBef>
          <a:spcPct val="0"/>
        </a:spcBef>
        <a:spcAft>
          <a:spcPct val="0"/>
        </a:spcAft>
        <a:defRPr sz="4400">
          <a:solidFill>
            <a:srgbClr val="2E6B75"/>
          </a:solidFill>
          <a:latin typeface="Montserrat" pitchFamily="2" charset="77"/>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rgbClr val="2E3640"/>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6D7AC141-0404-B33E-A5AE-BB5A2858A98F}"/>
              </a:ext>
            </a:extLst>
          </p:cNvPr>
          <p:cNvSpPr>
            <a:spLocks noGrp="1" noChangeArrowheads="1"/>
          </p:cNvSpPr>
          <p:nvPr>
            <p:ph type="title"/>
          </p:nvPr>
        </p:nvSpPr>
        <p:spPr bwMode="auto">
          <a:xfrm>
            <a:off x="-66575" y="68262"/>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endParaRPr lang="en-US" altLang="en-US"/>
          </a:p>
        </p:txBody>
      </p:sp>
      <p:sp>
        <p:nvSpPr>
          <p:cNvPr id="1027" name="Text Placeholder 2">
            <a:extLst>
              <a:ext uri="{FF2B5EF4-FFF2-40B4-BE49-F238E27FC236}">
                <a16:creationId xmlns:a16="http://schemas.microsoft.com/office/drawing/2014/main" id="{598F9549-4836-01BC-E8AA-0B577C8BCAB8}"/>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4" name="Date Placeholder 3">
            <a:extLst>
              <a:ext uri="{FF2B5EF4-FFF2-40B4-BE49-F238E27FC236}">
                <a16:creationId xmlns:a16="http://schemas.microsoft.com/office/drawing/2014/main" id="{71AB5968-90D6-C721-1D9A-72BF44ECAC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82000"/>
                  </a:schemeClr>
                </a:solidFill>
                <a:latin typeface="+mn-lt"/>
              </a:defRPr>
            </a:lvl1pPr>
          </a:lstStyle>
          <a:p>
            <a:pPr>
              <a:defRPr/>
            </a:pPr>
            <a:fld id="{04BAFFA7-C29B-5E43-BA99-0E224199AC81}" type="datetimeFigureOut">
              <a:rPr lang="en-US"/>
              <a:pPr>
                <a:defRPr/>
              </a:pPr>
              <a:t>5/16/26</a:t>
            </a:fld>
            <a:endParaRPr lang="en-US"/>
          </a:p>
        </p:txBody>
      </p:sp>
      <p:sp>
        <p:nvSpPr>
          <p:cNvPr id="5" name="Footer Placeholder 4">
            <a:extLst>
              <a:ext uri="{FF2B5EF4-FFF2-40B4-BE49-F238E27FC236}">
                <a16:creationId xmlns:a16="http://schemas.microsoft.com/office/drawing/2014/main" id="{889AC8CB-7E4F-E7E2-5E23-A048277639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82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12CE814F-6D12-BC18-9C46-08F7BBE2F1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82000"/>
                  </a:schemeClr>
                </a:solidFill>
                <a:latin typeface="+mn-lt"/>
              </a:defRPr>
            </a:lvl1pPr>
          </a:lstStyle>
          <a:p>
            <a:pPr>
              <a:defRPr/>
            </a:pPr>
            <a:fld id="{DE6890FD-EFBE-1F4E-952F-28195696B73A}" type="slidenum">
              <a:rPr lang="en-US"/>
              <a:pPr>
                <a:defRPr/>
              </a:pPr>
              <a:t>‹#›</a:t>
            </a:fld>
            <a:endParaRPr lang="en-US"/>
          </a:p>
        </p:txBody>
      </p:sp>
      <p:sp>
        <p:nvSpPr>
          <p:cNvPr id="1031" name="TopBar">
            <a:extLst>
              <a:ext uri="{FF2B5EF4-FFF2-40B4-BE49-F238E27FC236}">
                <a16:creationId xmlns:a16="http://schemas.microsoft.com/office/drawing/2014/main" id="{AB5504C7-D7BC-EFA6-7415-C5898E887B0D}"/>
              </a:ext>
            </a:extLst>
          </p:cNvPr>
          <p:cNvSpPr>
            <a:spLocks noChangeArrowheads="1"/>
          </p:cNvSpPr>
          <p:nvPr/>
        </p:nvSpPr>
        <p:spPr bwMode="auto">
          <a:xfrm>
            <a:off x="0" y="0"/>
            <a:ext cx="12192000" cy="136525"/>
          </a:xfrm>
          <a:prstGeom prst="rect">
            <a:avLst/>
          </a:prstGeom>
          <a:solidFill>
            <a:srgbClr val="F8D3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pPr eaLnBrk="1" hangingPunct="1"/>
            <a:endParaRPr lang="en-US" altLang="en-US"/>
          </a:p>
        </p:txBody>
      </p:sp>
      <p:sp>
        <p:nvSpPr>
          <p:cNvPr id="1032" name="BottomBar">
            <a:extLst>
              <a:ext uri="{FF2B5EF4-FFF2-40B4-BE49-F238E27FC236}">
                <a16:creationId xmlns:a16="http://schemas.microsoft.com/office/drawing/2014/main" id="{27003A8C-AC43-824E-F89B-80D853F69496}"/>
              </a:ext>
            </a:extLst>
          </p:cNvPr>
          <p:cNvSpPr>
            <a:spLocks noChangeArrowheads="1"/>
          </p:cNvSpPr>
          <p:nvPr/>
        </p:nvSpPr>
        <p:spPr bwMode="auto">
          <a:xfrm>
            <a:off x="0" y="6721474"/>
            <a:ext cx="12192000" cy="136526"/>
          </a:xfrm>
          <a:prstGeom prst="rect">
            <a:avLst/>
          </a:prstGeom>
          <a:solidFill>
            <a:srgbClr val="2E6B7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pPr eaLnBrk="1" hangingPunct="1"/>
            <a:endParaRPr lang="en-US"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84" r:id="rId6"/>
    <p:sldLayoutId id="2147483678" r:id="rId7"/>
    <p:sldLayoutId id="2147483679" r:id="rId8"/>
    <p:sldLayoutId id="2147483680" r:id="rId9"/>
    <p:sldLayoutId id="2147483681" r:id="rId10"/>
    <p:sldLayoutId id="2147483682" r:id="rId11"/>
    <p:sldLayoutId id="2147483683" r:id="rId12"/>
  </p:sldLayoutIdLst>
  <p:txStyles>
    <p:titleStyle>
      <a:lvl1pPr algn="l" rtl="0" fontAlgn="base">
        <a:lnSpc>
          <a:spcPct val="90000"/>
        </a:lnSpc>
        <a:spcBef>
          <a:spcPct val="0"/>
        </a:spcBef>
        <a:spcAft>
          <a:spcPct val="0"/>
        </a:spcAft>
        <a:defRPr sz="4400" kern="1200">
          <a:solidFill>
            <a:srgbClr val="2E6B75"/>
          </a:solidFill>
          <a:latin typeface="+mj-lt"/>
          <a:ea typeface="+mj-ea"/>
          <a:cs typeface="+mj-cs"/>
        </a:defRPr>
      </a:lvl1pPr>
      <a:lvl2pPr algn="l" rtl="0" fontAlgn="base">
        <a:lnSpc>
          <a:spcPct val="90000"/>
        </a:lnSpc>
        <a:spcBef>
          <a:spcPct val="0"/>
        </a:spcBef>
        <a:spcAft>
          <a:spcPct val="0"/>
        </a:spcAft>
        <a:defRPr sz="4400">
          <a:solidFill>
            <a:srgbClr val="2E6B75"/>
          </a:solidFill>
          <a:latin typeface="Montserrat" pitchFamily="2" charset="77"/>
        </a:defRPr>
      </a:lvl2pPr>
      <a:lvl3pPr algn="l" rtl="0" fontAlgn="base">
        <a:lnSpc>
          <a:spcPct val="90000"/>
        </a:lnSpc>
        <a:spcBef>
          <a:spcPct val="0"/>
        </a:spcBef>
        <a:spcAft>
          <a:spcPct val="0"/>
        </a:spcAft>
        <a:defRPr sz="4400">
          <a:solidFill>
            <a:srgbClr val="2E6B75"/>
          </a:solidFill>
          <a:latin typeface="Montserrat" pitchFamily="2" charset="77"/>
        </a:defRPr>
      </a:lvl3pPr>
      <a:lvl4pPr algn="l" rtl="0" fontAlgn="base">
        <a:lnSpc>
          <a:spcPct val="90000"/>
        </a:lnSpc>
        <a:spcBef>
          <a:spcPct val="0"/>
        </a:spcBef>
        <a:spcAft>
          <a:spcPct val="0"/>
        </a:spcAft>
        <a:defRPr sz="4400">
          <a:solidFill>
            <a:srgbClr val="2E6B75"/>
          </a:solidFill>
          <a:latin typeface="Montserrat" pitchFamily="2" charset="77"/>
        </a:defRPr>
      </a:lvl4pPr>
      <a:lvl5pPr algn="l" rtl="0" fontAlgn="base">
        <a:lnSpc>
          <a:spcPct val="90000"/>
        </a:lnSpc>
        <a:spcBef>
          <a:spcPct val="0"/>
        </a:spcBef>
        <a:spcAft>
          <a:spcPct val="0"/>
        </a:spcAft>
        <a:defRPr sz="4400">
          <a:solidFill>
            <a:srgbClr val="2E6B75"/>
          </a:solidFill>
          <a:latin typeface="Montserrat" pitchFamily="2" charset="77"/>
        </a:defRPr>
      </a:lvl5pPr>
      <a:lvl6pPr marL="457200" algn="l" rtl="0" fontAlgn="base">
        <a:lnSpc>
          <a:spcPct val="90000"/>
        </a:lnSpc>
        <a:spcBef>
          <a:spcPct val="0"/>
        </a:spcBef>
        <a:spcAft>
          <a:spcPct val="0"/>
        </a:spcAft>
        <a:defRPr sz="4400">
          <a:solidFill>
            <a:srgbClr val="2E6B75"/>
          </a:solidFill>
          <a:latin typeface="Montserrat" pitchFamily="2" charset="77"/>
        </a:defRPr>
      </a:lvl6pPr>
      <a:lvl7pPr marL="914400" algn="l" rtl="0" fontAlgn="base">
        <a:lnSpc>
          <a:spcPct val="90000"/>
        </a:lnSpc>
        <a:spcBef>
          <a:spcPct val="0"/>
        </a:spcBef>
        <a:spcAft>
          <a:spcPct val="0"/>
        </a:spcAft>
        <a:defRPr sz="4400">
          <a:solidFill>
            <a:srgbClr val="2E6B75"/>
          </a:solidFill>
          <a:latin typeface="Montserrat" pitchFamily="2" charset="77"/>
        </a:defRPr>
      </a:lvl7pPr>
      <a:lvl8pPr marL="1371600" algn="l" rtl="0" fontAlgn="base">
        <a:lnSpc>
          <a:spcPct val="90000"/>
        </a:lnSpc>
        <a:spcBef>
          <a:spcPct val="0"/>
        </a:spcBef>
        <a:spcAft>
          <a:spcPct val="0"/>
        </a:spcAft>
        <a:defRPr sz="4400">
          <a:solidFill>
            <a:srgbClr val="2E6B75"/>
          </a:solidFill>
          <a:latin typeface="Montserrat" pitchFamily="2" charset="77"/>
        </a:defRPr>
      </a:lvl8pPr>
      <a:lvl9pPr marL="1828800" algn="l" rtl="0" fontAlgn="base">
        <a:lnSpc>
          <a:spcPct val="90000"/>
        </a:lnSpc>
        <a:spcBef>
          <a:spcPct val="0"/>
        </a:spcBef>
        <a:spcAft>
          <a:spcPct val="0"/>
        </a:spcAft>
        <a:defRPr sz="4400">
          <a:solidFill>
            <a:srgbClr val="2E6B75"/>
          </a:solidFill>
          <a:latin typeface="Montserrat" pitchFamily="2" charset="77"/>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rgbClr val="2E3640"/>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jp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BE2CB-7176-F6E0-8FE9-585831E7444A}"/>
            </a:ext>
          </a:extLst>
        </p:cNvPr>
        <p:cNvGrpSpPr/>
        <p:nvPr/>
      </p:nvGrpSpPr>
      <p:grpSpPr>
        <a:xfrm>
          <a:off x="0" y="0"/>
          <a:ext cx="0" cy="0"/>
          <a:chOff x="0" y="0"/>
          <a:chExt cx="0" cy="0"/>
        </a:xfrm>
      </p:grpSpPr>
      <p:sp>
        <p:nvSpPr>
          <p:cNvPr id="3073" name="TextBox 14">
            <a:extLst>
              <a:ext uri="{FF2B5EF4-FFF2-40B4-BE49-F238E27FC236}">
                <a16:creationId xmlns:a16="http://schemas.microsoft.com/office/drawing/2014/main" id="{CAE9AE63-58B8-A5D3-A470-B940A82A1479}"/>
              </a:ext>
            </a:extLst>
          </p:cNvPr>
          <p:cNvSpPr txBox="1">
            <a:spLocks noChangeArrowheads="1"/>
          </p:cNvSpPr>
          <p:nvPr/>
        </p:nvSpPr>
        <p:spPr bwMode="auto">
          <a:xfrm>
            <a:off x="241300" y="245417"/>
            <a:ext cx="10515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r>
              <a:rPr lang="en-US" altLang="en-US" sz="2400" b="1" dirty="0">
                <a:solidFill>
                  <a:srgbClr val="2E6B75"/>
                </a:solidFill>
                <a:latin typeface="Montserrat"/>
              </a:rPr>
              <a:t>Learning Objectives | t Values and p Values</a:t>
            </a:r>
          </a:p>
        </p:txBody>
      </p:sp>
      <p:sp>
        <p:nvSpPr>
          <p:cNvPr id="2" name="LO Circle 1">
            <a:extLst>
              <a:ext uri="{FF2B5EF4-FFF2-40B4-BE49-F238E27FC236}">
                <a16:creationId xmlns:a16="http://schemas.microsoft.com/office/drawing/2014/main" id="{F4705455-60E1-04DA-E37B-B87DDF3BCB30}"/>
              </a:ext>
            </a:extLst>
          </p:cNvPr>
          <p:cNvSpPr/>
          <p:nvPr/>
        </p:nvSpPr>
        <p:spPr>
          <a:xfrm>
            <a:off x="609600" y="1092200"/>
            <a:ext cx="406400" cy="406400"/>
          </a:xfrm>
          <a:prstGeom prst="ellipse">
            <a:avLst/>
          </a:prstGeom>
          <a:solidFill>
            <a:srgbClr val="2E6B75"/>
          </a:solidFill>
          <a:ln>
            <a:noFill/>
          </a:ln>
        </p:spPr>
        <p:txBody>
          <a:bodyPr wrap="none" lIns="0" tIns="0" rIns="0" bIns="0" anchor="ctr" anchorCtr="1"/>
          <a:lstStyle/>
          <a:p>
            <a:pPr algn="ctr"/>
            <a:r>
              <a:rPr lang="en-US" sz="1500" b="1" dirty="0">
                <a:solidFill>
                  <a:srgbClr val="FFFFFF"/>
                </a:solidFill>
                <a:latin typeface="Montserrat"/>
              </a:rPr>
              <a:t>1</a:t>
            </a:r>
          </a:p>
        </p:txBody>
      </p:sp>
      <p:sp>
        <p:nvSpPr>
          <p:cNvPr id="3" name="LO Text 1">
            <a:extLst>
              <a:ext uri="{FF2B5EF4-FFF2-40B4-BE49-F238E27FC236}">
                <a16:creationId xmlns:a16="http://schemas.microsoft.com/office/drawing/2014/main" id="{B478EBC5-B932-C21E-99D3-7AEA38296347}"/>
              </a:ext>
            </a:extLst>
          </p:cNvPr>
          <p:cNvSpPr txBox="1"/>
          <p:nvPr/>
        </p:nvSpPr>
        <p:spPr>
          <a:xfrm>
            <a:off x="1168400" y="1066800"/>
            <a:ext cx="9906000" cy="889000"/>
          </a:xfrm>
          <a:prstGeom prst="rect">
            <a:avLst/>
          </a:prstGeom>
          <a:noFill/>
          <a:ln>
            <a:noFill/>
          </a:ln>
        </p:spPr>
        <p:txBody>
          <a:bodyPr wrap="square" lIns="91440" tIns="45720" rIns="91440" bIns="45720" anchor="t"/>
          <a:lstStyle/>
          <a:p>
            <a:pPr>
              <a:lnSpc>
                <a:spcPts val="1800"/>
              </a:lnSpc>
              <a:spcAft>
                <a:spcPts val="100"/>
              </a:spcAft>
            </a:pPr>
            <a:r>
              <a:rPr lang="en-US" sz="1400" b="1" dirty="0">
                <a:solidFill>
                  <a:srgbClr val="2E3640"/>
                </a:solidFill>
                <a:latin typeface="Montserrat"/>
              </a:rPr>
              <a:t>Compute the t-statistic for a regression slope </a:t>
            </a:r>
          </a:p>
          <a:p>
            <a:pPr>
              <a:lnSpc>
                <a:spcPts val="1600"/>
              </a:lnSpc>
            </a:pPr>
            <a:r>
              <a:rPr lang="en-US" sz="1400" dirty="0">
                <a:solidFill>
                  <a:srgbClr val="7A8694"/>
                </a:solidFill>
                <a:latin typeface="Montserrat"/>
              </a:rPr>
              <a:t>Divide the estimated slope by its standard error to measure how many SEs away from zero the estimate sits</a:t>
            </a:r>
          </a:p>
        </p:txBody>
      </p:sp>
      <p:sp>
        <p:nvSpPr>
          <p:cNvPr id="4" name="LO Circle 2">
            <a:extLst>
              <a:ext uri="{FF2B5EF4-FFF2-40B4-BE49-F238E27FC236}">
                <a16:creationId xmlns:a16="http://schemas.microsoft.com/office/drawing/2014/main" id="{BB2CF95D-068E-02CF-E998-9A1E56EC3E8B}"/>
              </a:ext>
            </a:extLst>
          </p:cNvPr>
          <p:cNvSpPr/>
          <p:nvPr/>
        </p:nvSpPr>
        <p:spPr>
          <a:xfrm>
            <a:off x="609600" y="2197100"/>
            <a:ext cx="406400" cy="406400"/>
          </a:xfrm>
          <a:prstGeom prst="ellipse">
            <a:avLst/>
          </a:prstGeom>
          <a:solidFill>
            <a:srgbClr val="2E6B75"/>
          </a:solidFill>
          <a:ln>
            <a:noFill/>
          </a:ln>
        </p:spPr>
        <p:txBody>
          <a:bodyPr wrap="none" lIns="0" tIns="0" rIns="0" bIns="0" anchor="ctr" anchorCtr="1"/>
          <a:lstStyle/>
          <a:p>
            <a:pPr algn="ctr"/>
            <a:r>
              <a:rPr lang="en-US" sz="1500" b="1" dirty="0">
                <a:solidFill>
                  <a:srgbClr val="FFFFFF"/>
                </a:solidFill>
                <a:latin typeface="Montserrat"/>
              </a:rPr>
              <a:t>2</a:t>
            </a:r>
          </a:p>
        </p:txBody>
      </p:sp>
      <p:sp>
        <p:nvSpPr>
          <p:cNvPr id="5" name="LO Text 2">
            <a:extLst>
              <a:ext uri="{FF2B5EF4-FFF2-40B4-BE49-F238E27FC236}">
                <a16:creationId xmlns:a16="http://schemas.microsoft.com/office/drawing/2014/main" id="{A54E41B0-C31B-8676-6E4D-3D35C15E3D49}"/>
              </a:ext>
            </a:extLst>
          </p:cNvPr>
          <p:cNvSpPr txBox="1"/>
          <p:nvPr/>
        </p:nvSpPr>
        <p:spPr>
          <a:xfrm>
            <a:off x="1168400" y="2171700"/>
            <a:ext cx="9906000" cy="889000"/>
          </a:xfrm>
          <a:prstGeom prst="rect">
            <a:avLst/>
          </a:prstGeom>
          <a:noFill/>
          <a:ln>
            <a:noFill/>
          </a:ln>
        </p:spPr>
        <p:txBody>
          <a:bodyPr wrap="square" lIns="91440" tIns="45720" rIns="91440" bIns="45720" anchor="t"/>
          <a:lstStyle/>
          <a:p>
            <a:pPr>
              <a:lnSpc>
                <a:spcPts val="1800"/>
              </a:lnSpc>
              <a:spcAft>
                <a:spcPts val="100"/>
              </a:spcAft>
            </a:pPr>
            <a:r>
              <a:rPr lang="en-US" sz="1400" b="1" dirty="0">
                <a:solidFill>
                  <a:srgbClr val="2E3640"/>
                </a:solidFill>
                <a:latin typeface="Montserrat"/>
              </a:rPr>
              <a:t>Define the null hypothesis, explain how a t-value is used to calculate a p-value, and describe what the p-value represents.</a:t>
            </a:r>
          </a:p>
          <a:p>
            <a:pPr>
              <a:lnSpc>
                <a:spcPts val="1600"/>
              </a:lnSpc>
            </a:pPr>
            <a:r>
              <a:rPr lang="en-US" sz="1400" dirty="0">
                <a:solidFill>
                  <a:srgbClr val="7A8694"/>
                </a:solidFill>
                <a:latin typeface="Montserrat"/>
              </a:rPr>
              <a:t>H₀: β₁ = 0 says x has no linear effect; the p-value is the probability of seeing a test statistic this extreme if H₀ is true</a:t>
            </a:r>
          </a:p>
        </p:txBody>
      </p:sp>
      <p:sp>
        <p:nvSpPr>
          <p:cNvPr id="6" name="LO Circle 4">
            <a:extLst>
              <a:ext uri="{FF2B5EF4-FFF2-40B4-BE49-F238E27FC236}">
                <a16:creationId xmlns:a16="http://schemas.microsoft.com/office/drawing/2014/main" id="{052BF9E6-1A16-BC3F-100F-4A637ED9946A}"/>
              </a:ext>
            </a:extLst>
          </p:cNvPr>
          <p:cNvSpPr/>
          <p:nvPr/>
        </p:nvSpPr>
        <p:spPr>
          <a:xfrm>
            <a:off x="609600" y="3378201"/>
            <a:ext cx="406400" cy="406400"/>
          </a:xfrm>
          <a:prstGeom prst="ellipse">
            <a:avLst/>
          </a:prstGeom>
          <a:solidFill>
            <a:srgbClr val="2E6B75"/>
          </a:solidFill>
          <a:ln>
            <a:noFill/>
          </a:ln>
        </p:spPr>
        <p:txBody>
          <a:bodyPr wrap="none" lIns="0" tIns="0" rIns="0" bIns="0" anchor="ctr" anchorCtr="1"/>
          <a:lstStyle/>
          <a:p>
            <a:pPr algn="ctr"/>
            <a:r>
              <a:rPr lang="en-US" sz="1500" b="1" dirty="0">
                <a:solidFill>
                  <a:srgbClr val="FFFFFF"/>
                </a:solidFill>
                <a:latin typeface="Montserrat"/>
              </a:rPr>
              <a:t>3</a:t>
            </a:r>
          </a:p>
        </p:txBody>
      </p:sp>
      <p:sp>
        <p:nvSpPr>
          <p:cNvPr id="7" name="LO Text 4">
            <a:extLst>
              <a:ext uri="{FF2B5EF4-FFF2-40B4-BE49-F238E27FC236}">
                <a16:creationId xmlns:a16="http://schemas.microsoft.com/office/drawing/2014/main" id="{F807BCCC-A78D-EA87-ACCA-602805C0C412}"/>
              </a:ext>
            </a:extLst>
          </p:cNvPr>
          <p:cNvSpPr txBox="1"/>
          <p:nvPr/>
        </p:nvSpPr>
        <p:spPr>
          <a:xfrm>
            <a:off x="1168400" y="3352801"/>
            <a:ext cx="9906000" cy="889000"/>
          </a:xfrm>
          <a:prstGeom prst="rect">
            <a:avLst/>
          </a:prstGeom>
          <a:noFill/>
          <a:ln>
            <a:noFill/>
          </a:ln>
        </p:spPr>
        <p:txBody>
          <a:bodyPr wrap="square" lIns="91440" tIns="45720" rIns="91440" bIns="45720" anchor="t"/>
          <a:lstStyle/>
          <a:p>
            <a:pPr>
              <a:lnSpc>
                <a:spcPts val="1800"/>
              </a:lnSpc>
              <a:spcAft>
                <a:spcPts val="100"/>
              </a:spcAft>
            </a:pPr>
            <a:r>
              <a:rPr lang="en-US" sz="1400" b="1" dirty="0">
                <a:solidFill>
                  <a:srgbClr val="2E3640"/>
                </a:solidFill>
                <a:latin typeface="Montserrat"/>
              </a:rPr>
              <a:t>Connect the CI and p-value as two views of the same test</a:t>
            </a:r>
          </a:p>
          <a:p>
            <a:pPr>
              <a:lnSpc>
                <a:spcPts val="1600"/>
              </a:lnSpc>
            </a:pPr>
            <a:r>
              <a:rPr lang="en-US" sz="1400" dirty="0">
                <a:solidFill>
                  <a:srgbClr val="7A8694"/>
                </a:solidFill>
                <a:latin typeface="Montserrat"/>
              </a:rPr>
              <a:t>The CI excludes zero exactly when the p-value falls below the significance level — both tools give the same verdict</a:t>
            </a:r>
          </a:p>
        </p:txBody>
      </p:sp>
    </p:spTree>
    <p:extLst>
      <p:ext uri="{BB962C8B-B14F-4D97-AF65-F5344CB8AC3E}">
        <p14:creationId xmlns:p14="http://schemas.microsoft.com/office/powerpoint/2010/main" val="4189836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5AF6D-55F7-5734-5BA1-15D7AD6B3758}"/>
            </a:ext>
          </a:extLst>
        </p:cNvPr>
        <p:cNvGrpSpPr/>
        <p:nvPr/>
      </p:nvGrpSpPr>
      <p:grpSpPr>
        <a:xfrm>
          <a:off x="0" y="0"/>
          <a:ext cx="0" cy="0"/>
          <a:chOff x="0" y="0"/>
          <a:chExt cx="0" cy="0"/>
        </a:xfrm>
      </p:grpSpPr>
      <p:sp>
        <p:nvSpPr>
          <p:cNvPr id="3205" name="Rounded Rectangle 3204">
            <a:extLst>
              <a:ext uri="{FF2B5EF4-FFF2-40B4-BE49-F238E27FC236}">
                <a16:creationId xmlns:a16="http://schemas.microsoft.com/office/drawing/2014/main" id="{B8CC5EDD-49CA-9F1C-EA62-B02CE7C7CBA1}"/>
              </a:ext>
            </a:extLst>
          </p:cNvPr>
          <p:cNvSpPr/>
          <p:nvPr/>
        </p:nvSpPr>
        <p:spPr>
          <a:xfrm>
            <a:off x="126165" y="240420"/>
            <a:ext cx="5755636" cy="3627142"/>
          </a:xfrm>
          <a:prstGeom prst="roundRect">
            <a:avLst>
              <a:gd name="adj" fmla="val 5520"/>
            </a:avLst>
          </a:prstGeom>
          <a:solidFill>
            <a:srgbClr val="F0F4F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endParaRPr lang="en-US" dirty="0"/>
          </a:p>
        </p:txBody>
      </p:sp>
      <p:sp>
        <p:nvSpPr>
          <p:cNvPr id="3073" name="TextBox 14">
            <a:extLst>
              <a:ext uri="{FF2B5EF4-FFF2-40B4-BE49-F238E27FC236}">
                <a16:creationId xmlns:a16="http://schemas.microsoft.com/office/drawing/2014/main" id="{7E2B0A16-1AA6-11BA-BFC2-2C10E8FC4DF5}"/>
              </a:ext>
            </a:extLst>
          </p:cNvPr>
          <p:cNvSpPr txBox="1">
            <a:spLocks noChangeArrowheads="1"/>
          </p:cNvSpPr>
          <p:nvPr/>
        </p:nvSpPr>
        <p:spPr bwMode="auto">
          <a:xfrm>
            <a:off x="182456" y="233727"/>
            <a:ext cx="127577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r>
              <a:rPr lang="en-US" altLang="en-US" sz="2000" b="1" dirty="0">
                <a:solidFill>
                  <a:srgbClr val="2E6B75"/>
                </a:solidFill>
                <a:latin typeface="Montserrat"/>
              </a:rPr>
              <a:t>Recap</a:t>
            </a:r>
          </a:p>
        </p:txBody>
      </p:sp>
      <p:grpSp>
        <p:nvGrpSpPr>
          <p:cNvPr id="3127" name="Group 3126">
            <a:extLst>
              <a:ext uri="{FF2B5EF4-FFF2-40B4-BE49-F238E27FC236}">
                <a16:creationId xmlns:a16="http://schemas.microsoft.com/office/drawing/2014/main" id="{0F5CB250-5AF9-704A-C738-FC0409F6DE06}"/>
              </a:ext>
            </a:extLst>
          </p:cNvPr>
          <p:cNvGrpSpPr/>
          <p:nvPr/>
        </p:nvGrpSpPr>
        <p:grpSpPr>
          <a:xfrm>
            <a:off x="2148157" y="630407"/>
            <a:ext cx="3601338" cy="2327586"/>
            <a:chOff x="129089" y="683107"/>
            <a:chExt cx="4648630" cy="2327586"/>
          </a:xfrm>
        </p:grpSpPr>
        <p:sp>
          <p:nvSpPr>
            <p:cNvPr id="3178" name="Rounded Rectangle 3177">
              <a:extLst>
                <a:ext uri="{FF2B5EF4-FFF2-40B4-BE49-F238E27FC236}">
                  <a16:creationId xmlns:a16="http://schemas.microsoft.com/office/drawing/2014/main" id="{B86E1E85-1CC2-154D-B7DF-E63D6D0CF021}"/>
                </a:ext>
              </a:extLst>
            </p:cNvPr>
            <p:cNvSpPr/>
            <p:nvPr/>
          </p:nvSpPr>
          <p:spPr>
            <a:xfrm>
              <a:off x="129089" y="683107"/>
              <a:ext cx="4648630" cy="2313635"/>
            </a:xfrm>
            <a:prstGeom prst="roundRect">
              <a:avLst>
                <a:gd name="adj" fmla="val 5520"/>
              </a:avLst>
            </a:prstGeom>
            <a:solidFill>
              <a:srgbClr val="F0F4F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endParaRPr lang="en-US" dirty="0"/>
            </a:p>
          </p:txBody>
        </p:sp>
        <p:sp>
          <p:nvSpPr>
            <p:cNvPr id="3115" name="TextBox 3114">
              <a:extLst>
                <a:ext uri="{FF2B5EF4-FFF2-40B4-BE49-F238E27FC236}">
                  <a16:creationId xmlns:a16="http://schemas.microsoft.com/office/drawing/2014/main" id="{B5C8B257-4894-73F5-200E-565A2DC4EF9D}"/>
                </a:ext>
              </a:extLst>
            </p:cNvPr>
            <p:cNvSpPr txBox="1"/>
            <p:nvPr/>
          </p:nvSpPr>
          <p:spPr>
            <a:xfrm>
              <a:off x="182456" y="763924"/>
              <a:ext cx="4396800" cy="2246769"/>
            </a:xfrm>
            <a:prstGeom prst="rect">
              <a:avLst/>
            </a:prstGeom>
            <a:noFill/>
          </p:spPr>
          <p:txBody>
            <a:bodyPr wrap="square">
              <a:spAutoFit/>
            </a:bodyPr>
            <a:lstStyle/>
            <a:p>
              <a:r>
                <a:rPr lang="en-US" sz="1000" dirty="0">
                  <a:solidFill>
                    <a:srgbClr val="7B3FA0"/>
                  </a:solidFill>
                  <a:latin typeface="Consolas"/>
                  <a:cs typeface="Consolas"/>
                </a:rPr>
                <a:t>pacman::p_load</a:t>
              </a:r>
              <a:r>
                <a:rPr lang="en-US" sz="1000" dirty="0">
                  <a:solidFill>
                    <a:srgbClr val="2E3640"/>
                  </a:solidFill>
                  <a:latin typeface="Consolas"/>
                  <a:cs typeface="Consolas"/>
                </a:rPr>
                <a:t>(tidyverse, </a:t>
              </a:r>
              <a:r>
                <a:rPr lang="en-US" sz="1000" dirty="0" err="1">
                  <a:solidFill>
                    <a:srgbClr val="2E3640"/>
                  </a:solidFill>
                  <a:latin typeface="Consolas"/>
                  <a:cs typeface="Consolas"/>
                </a:rPr>
                <a:t>openintro</a:t>
              </a:r>
              <a:r>
                <a:rPr lang="en-US" sz="1000" dirty="0">
                  <a:solidFill>
                    <a:srgbClr val="2E3640"/>
                  </a:solidFill>
                  <a:latin typeface="Consolas"/>
                  <a:cs typeface="Consolas"/>
                </a:rPr>
                <a:t>)</a:t>
              </a:r>
            </a:p>
            <a:p>
              <a:r>
                <a:rPr lang="en-US" sz="1000" dirty="0">
                  <a:solidFill>
                    <a:srgbClr val="2C8B2C"/>
                  </a:solidFill>
                  <a:latin typeface="Consolas"/>
                  <a:cs typeface="Consolas"/>
                </a:rPr>
                <a:t># Prep data</a:t>
              </a:r>
            </a:p>
            <a:p>
              <a:r>
                <a:rPr lang="en-US" sz="1000" dirty="0">
                  <a:solidFill>
                    <a:srgbClr val="2E3640"/>
                  </a:solidFill>
                  <a:latin typeface="Consolas"/>
                  <a:cs typeface="Consolas"/>
                </a:rPr>
                <a:t>preemie_data </a:t>
              </a:r>
              <a:r>
                <a:rPr lang="en-US" sz="1000" dirty="0">
                  <a:solidFill>
                    <a:srgbClr val="2B6CB0"/>
                  </a:solidFill>
                  <a:latin typeface="Consolas"/>
                  <a:cs typeface="Consolas"/>
                </a:rPr>
                <a:t>&lt;-</a:t>
              </a:r>
              <a:r>
                <a:rPr lang="en-US" sz="1000" dirty="0">
                  <a:solidFill>
                    <a:srgbClr val="2E3640"/>
                  </a:solidFill>
                  <a:latin typeface="Consolas"/>
                  <a:cs typeface="Consolas"/>
                </a:rPr>
                <a:t> </a:t>
              </a:r>
              <a:r>
                <a:rPr lang="en-US" sz="1000" dirty="0" err="1">
                  <a:solidFill>
                    <a:srgbClr val="2E3640"/>
                  </a:solidFill>
                  <a:latin typeface="Consolas"/>
                  <a:cs typeface="Consolas"/>
                </a:rPr>
                <a:t>openintro</a:t>
              </a:r>
              <a:r>
                <a:rPr lang="en-US" sz="1000" dirty="0">
                  <a:solidFill>
                    <a:srgbClr val="2E3640"/>
                  </a:solidFill>
                  <a:latin typeface="Consolas"/>
                  <a:cs typeface="Consolas"/>
                </a:rPr>
                <a:t>::births14 </a:t>
              </a:r>
              <a:r>
                <a:rPr lang="en-US" sz="1000" dirty="0">
                  <a:solidFill>
                    <a:srgbClr val="2B6CB0"/>
                  </a:solidFill>
                  <a:latin typeface="Consolas"/>
                  <a:cs typeface="Consolas"/>
                </a:rPr>
                <a:t>%&gt;%</a:t>
              </a:r>
            </a:p>
            <a:p>
              <a:r>
                <a:rPr lang="en-US" sz="1000" dirty="0">
                  <a:solidFill>
                    <a:srgbClr val="2E3640"/>
                  </a:solidFill>
                  <a:latin typeface="Consolas"/>
                  <a:cs typeface="Consolas"/>
                </a:rPr>
                <a:t>  </a:t>
              </a:r>
              <a:r>
                <a:rPr lang="en-US" sz="1000" dirty="0">
                  <a:solidFill>
                    <a:srgbClr val="7B3FA0"/>
                  </a:solidFill>
                  <a:latin typeface="Consolas"/>
                  <a:cs typeface="Consolas"/>
                </a:rPr>
                <a:t>filter</a:t>
              </a:r>
              <a:r>
                <a:rPr lang="en-US" sz="1000" dirty="0">
                  <a:solidFill>
                    <a:srgbClr val="2E3640"/>
                  </a:solidFill>
                  <a:latin typeface="Consolas"/>
                  <a:cs typeface="Consolas"/>
                </a:rPr>
                <a:t>(premie == </a:t>
              </a:r>
              <a:r>
                <a:rPr lang="en-US" sz="1000" dirty="0">
                  <a:solidFill>
                    <a:srgbClr val="C05020"/>
                  </a:solidFill>
                  <a:latin typeface="Consolas"/>
                  <a:cs typeface="Consolas"/>
                </a:rPr>
                <a:t>"premie"</a:t>
              </a:r>
              <a:r>
                <a:rPr lang="en-US" sz="1000" dirty="0">
                  <a:solidFill>
                    <a:srgbClr val="2E3640"/>
                  </a:solidFill>
                  <a:latin typeface="Consolas"/>
                  <a:cs typeface="Consolas"/>
                </a:rPr>
                <a:t>) </a:t>
              </a:r>
              <a:r>
                <a:rPr lang="en-US" sz="1000" dirty="0">
                  <a:solidFill>
                    <a:srgbClr val="2B6CB0"/>
                  </a:solidFill>
                  <a:latin typeface="Consolas"/>
                  <a:cs typeface="Consolas"/>
                </a:rPr>
                <a:t>%&gt;%</a:t>
              </a:r>
            </a:p>
            <a:p>
              <a:r>
                <a:rPr lang="en-US" sz="1000" dirty="0">
                  <a:solidFill>
                    <a:srgbClr val="2E3640"/>
                  </a:solidFill>
                  <a:latin typeface="Consolas"/>
                  <a:cs typeface="Consolas"/>
                </a:rPr>
                <a:t>  </a:t>
              </a:r>
              <a:r>
                <a:rPr lang="en-US" sz="1000" dirty="0">
                  <a:solidFill>
                    <a:srgbClr val="7B3FA0"/>
                  </a:solidFill>
                  <a:latin typeface="Consolas"/>
                  <a:cs typeface="Consolas"/>
                </a:rPr>
                <a:t>mutate</a:t>
              </a:r>
              <a:r>
                <a:rPr lang="en-US" sz="1000" dirty="0">
                  <a:solidFill>
                    <a:srgbClr val="2E3640"/>
                  </a:solidFill>
                  <a:latin typeface="Consolas"/>
                  <a:cs typeface="Consolas"/>
                </a:rPr>
                <a:t>(weight_kg = weight * 0.453592) </a:t>
              </a:r>
              <a:r>
                <a:rPr lang="en-US" sz="1000" dirty="0">
                  <a:solidFill>
                    <a:srgbClr val="2B6CB0"/>
                  </a:solidFill>
                  <a:latin typeface="Consolas"/>
                  <a:cs typeface="Consolas"/>
                </a:rPr>
                <a:t>%&gt;%</a:t>
              </a:r>
            </a:p>
            <a:p>
              <a:r>
                <a:rPr lang="en-US" sz="1000" dirty="0">
                  <a:solidFill>
                    <a:srgbClr val="2E3640"/>
                  </a:solidFill>
                  <a:latin typeface="Consolas"/>
                  <a:cs typeface="Consolas"/>
                </a:rPr>
                <a:t>  </a:t>
              </a:r>
              <a:r>
                <a:rPr lang="en-US" sz="1000" dirty="0">
                  <a:solidFill>
                    <a:srgbClr val="7B3FA0"/>
                  </a:solidFill>
                  <a:latin typeface="Consolas"/>
                  <a:cs typeface="Consolas"/>
                </a:rPr>
                <a:t>slice_tail</a:t>
              </a:r>
              <a:r>
                <a:rPr lang="en-US" sz="1000" dirty="0">
                  <a:solidFill>
                    <a:srgbClr val="2E3640"/>
                  </a:solidFill>
                  <a:latin typeface="Consolas"/>
                  <a:cs typeface="Consolas"/>
                </a:rPr>
                <a:t>(n = 8)</a:t>
              </a:r>
            </a:p>
            <a:p>
              <a:endParaRPr lang="en-US" sz="1000" dirty="0">
                <a:solidFill>
                  <a:srgbClr val="2E3640"/>
                </a:solidFill>
                <a:latin typeface="Consolas"/>
                <a:cs typeface="Consolas"/>
              </a:endParaRPr>
            </a:p>
            <a:p>
              <a:r>
                <a:rPr lang="en-US" sz="1000" dirty="0">
                  <a:solidFill>
                    <a:srgbClr val="2C8B2C"/>
                  </a:solidFill>
                  <a:latin typeface="Consolas"/>
                  <a:cs typeface="Consolas"/>
                </a:rPr>
                <a:t># Fit model</a:t>
              </a:r>
            </a:p>
            <a:p>
              <a:r>
                <a:rPr lang="en-US" sz="1000" dirty="0">
                  <a:solidFill>
                    <a:srgbClr val="2E3640"/>
                  </a:solidFill>
                  <a:latin typeface="Consolas"/>
                  <a:cs typeface="Consolas"/>
                </a:rPr>
                <a:t>model </a:t>
              </a:r>
              <a:r>
                <a:rPr lang="en-US" sz="1000" dirty="0">
                  <a:solidFill>
                    <a:srgbClr val="2B6CB0"/>
                  </a:solidFill>
                  <a:latin typeface="Consolas"/>
                  <a:cs typeface="Consolas"/>
                </a:rPr>
                <a:t>&lt;-</a:t>
              </a:r>
              <a:r>
                <a:rPr lang="en-US" sz="1000" dirty="0">
                  <a:solidFill>
                    <a:srgbClr val="2E3640"/>
                  </a:solidFill>
                  <a:latin typeface="Consolas"/>
                  <a:cs typeface="Consolas"/>
                </a:rPr>
                <a:t> </a:t>
              </a:r>
              <a:r>
                <a:rPr lang="en-US" sz="1000" dirty="0">
                  <a:solidFill>
                    <a:srgbClr val="7B3FA0"/>
                  </a:solidFill>
                  <a:latin typeface="Consolas"/>
                  <a:cs typeface="Consolas"/>
                </a:rPr>
                <a:t>lm</a:t>
              </a:r>
              <a:r>
                <a:rPr lang="en-US" sz="1000" dirty="0">
                  <a:solidFill>
                    <a:srgbClr val="2E3640"/>
                  </a:solidFill>
                  <a:latin typeface="Consolas"/>
                  <a:cs typeface="Consolas"/>
                </a:rPr>
                <a:t>(weight_kg ~ weeks, data = preemie_data)</a:t>
              </a:r>
            </a:p>
            <a:p>
              <a:endParaRPr lang="en-US" sz="1000" dirty="0">
                <a:solidFill>
                  <a:srgbClr val="2E3640"/>
                </a:solidFill>
                <a:latin typeface="Consolas"/>
                <a:cs typeface="Consolas"/>
              </a:endParaRPr>
            </a:p>
            <a:p>
              <a:r>
                <a:rPr lang="en-US" sz="1000" dirty="0">
                  <a:solidFill>
                    <a:srgbClr val="2C8B2C"/>
                  </a:solidFill>
                  <a:latin typeface="Consolas"/>
                  <a:cs typeface="Consolas"/>
                </a:rPr>
                <a:t># View results</a:t>
              </a:r>
            </a:p>
            <a:p>
              <a:r>
                <a:rPr lang="en-US" sz="1000" dirty="0">
                  <a:solidFill>
                    <a:srgbClr val="7B3FA0"/>
                  </a:solidFill>
                  <a:latin typeface="Consolas"/>
                  <a:cs typeface="Consolas"/>
                </a:rPr>
                <a:t>summary</a:t>
              </a:r>
              <a:r>
                <a:rPr lang="en-US" sz="1000" dirty="0">
                  <a:solidFill>
                    <a:srgbClr val="2E3640"/>
                  </a:solidFill>
                  <a:latin typeface="Consolas"/>
                  <a:cs typeface="Consolas"/>
                </a:rPr>
                <a:t>(model)</a:t>
              </a:r>
            </a:p>
            <a:p>
              <a:r>
                <a:rPr lang="en-US" sz="1000" dirty="0">
                  <a:solidFill>
                    <a:srgbClr val="7B3FA0"/>
                  </a:solidFill>
                  <a:latin typeface="Consolas"/>
                  <a:cs typeface="Consolas"/>
                </a:rPr>
                <a:t>confint</a:t>
              </a:r>
              <a:r>
                <a:rPr lang="en-US" sz="1000" dirty="0">
                  <a:solidFill>
                    <a:srgbClr val="2E3640"/>
                  </a:solidFill>
                  <a:latin typeface="Consolas"/>
                  <a:cs typeface="Consolas"/>
                </a:rPr>
                <a:t>(model)</a:t>
              </a:r>
            </a:p>
          </p:txBody>
        </p:sp>
      </p:grpSp>
      <p:pic>
        <p:nvPicPr>
          <p:cNvPr id="3121" name="Picture 3120">
            <a:extLst>
              <a:ext uri="{FF2B5EF4-FFF2-40B4-BE49-F238E27FC236}">
                <a16:creationId xmlns:a16="http://schemas.microsoft.com/office/drawing/2014/main" id="{BCFD393F-5EC8-1355-A874-075C164E267A}"/>
              </a:ext>
            </a:extLst>
          </p:cNvPr>
          <p:cNvPicPr>
            <a:picLocks noChangeAspect="1"/>
          </p:cNvPicPr>
          <p:nvPr/>
        </p:nvPicPr>
        <p:blipFill>
          <a:blip r:embed="rId3"/>
          <a:stretch>
            <a:fillRect/>
          </a:stretch>
        </p:blipFill>
        <p:spPr>
          <a:xfrm>
            <a:off x="3621902" y="3098444"/>
            <a:ext cx="2086994" cy="558304"/>
          </a:xfrm>
          <a:prstGeom prst="rect">
            <a:avLst/>
          </a:prstGeom>
          <a:ln w="19050" cap="sq">
            <a:solidFill>
              <a:srgbClr val="000000"/>
            </a:solidFill>
            <a:prstDash val="solid"/>
            <a:miter lim="800000"/>
          </a:ln>
          <a:effectLst>
            <a:outerShdw blurRad="50800" dist="38100" dir="2700000" algn="tl" rotWithShape="0">
              <a:srgbClr val="000000">
                <a:alpha val="43000"/>
              </a:srgbClr>
            </a:outerShdw>
          </a:effectLst>
        </p:spPr>
      </p:pic>
      <p:grpSp>
        <p:nvGrpSpPr>
          <p:cNvPr id="3133" name="Group 3132">
            <a:extLst>
              <a:ext uri="{FF2B5EF4-FFF2-40B4-BE49-F238E27FC236}">
                <a16:creationId xmlns:a16="http://schemas.microsoft.com/office/drawing/2014/main" id="{89850F27-FAE6-DFCF-18F1-FF8FBAD09E12}"/>
              </a:ext>
            </a:extLst>
          </p:cNvPr>
          <p:cNvGrpSpPr/>
          <p:nvPr/>
        </p:nvGrpSpPr>
        <p:grpSpPr>
          <a:xfrm>
            <a:off x="6553799" y="5556109"/>
            <a:ext cx="5154273" cy="372937"/>
            <a:chOff x="6553799" y="5556109"/>
            <a:chExt cx="5154273" cy="372937"/>
          </a:xfrm>
        </p:grpSpPr>
        <p:sp>
          <p:nvSpPr>
            <p:cNvPr id="6" name="NL6">
              <a:extLst>
                <a:ext uri="{FF2B5EF4-FFF2-40B4-BE49-F238E27FC236}">
                  <a16:creationId xmlns:a16="http://schemas.microsoft.com/office/drawing/2014/main" id="{C05E0FAA-0B4F-3952-C93D-7EB1389E8995}"/>
                </a:ext>
              </a:extLst>
            </p:cNvPr>
            <p:cNvSpPr/>
            <p:nvPr/>
          </p:nvSpPr>
          <p:spPr>
            <a:xfrm>
              <a:off x="6755305" y="5626035"/>
              <a:ext cx="4755374" cy="0"/>
            </a:xfrm>
            <a:prstGeom prst="line">
              <a:avLst/>
            </a:prstGeom>
            <a:ln w="15875">
              <a:solidFill>
                <a:srgbClr val="2E3640"/>
              </a:solidFill>
            </a:ln>
          </p:spPr>
          <p:txBody>
            <a:bodyPr/>
            <a:lstStyle/>
            <a:p>
              <a:endParaRPr lang="en-US" sz="2000"/>
            </a:p>
          </p:txBody>
        </p:sp>
        <p:sp>
          <p:nvSpPr>
            <p:cNvPr id="7" name="NL6Tk0">
              <a:extLst>
                <a:ext uri="{FF2B5EF4-FFF2-40B4-BE49-F238E27FC236}">
                  <a16:creationId xmlns:a16="http://schemas.microsoft.com/office/drawing/2014/main" id="{72C18581-C459-83AD-CA0F-9B857669F05C}"/>
                </a:ext>
              </a:extLst>
            </p:cNvPr>
            <p:cNvSpPr/>
            <p:nvPr/>
          </p:nvSpPr>
          <p:spPr>
            <a:xfrm>
              <a:off x="6751192" y="5556109"/>
              <a:ext cx="0" cy="139852"/>
            </a:xfrm>
            <a:prstGeom prst="line">
              <a:avLst/>
            </a:prstGeom>
            <a:ln w="12700">
              <a:solidFill>
                <a:srgbClr val="2E3640"/>
              </a:solidFill>
            </a:ln>
          </p:spPr>
          <p:txBody>
            <a:bodyPr/>
            <a:lstStyle/>
            <a:p>
              <a:endParaRPr lang="en-US" sz="2000"/>
            </a:p>
          </p:txBody>
        </p:sp>
        <p:sp>
          <p:nvSpPr>
            <p:cNvPr id="8" name="NL6TL0">
              <a:extLst>
                <a:ext uri="{FF2B5EF4-FFF2-40B4-BE49-F238E27FC236}">
                  <a16:creationId xmlns:a16="http://schemas.microsoft.com/office/drawing/2014/main" id="{31538CED-BFAE-488B-8EA1-BC5192AFD682}"/>
                </a:ext>
              </a:extLst>
            </p:cNvPr>
            <p:cNvSpPr/>
            <p:nvPr/>
          </p:nvSpPr>
          <p:spPr>
            <a:xfrm>
              <a:off x="6553799"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0.0</a:t>
              </a:r>
            </a:p>
          </p:txBody>
        </p:sp>
        <p:sp>
          <p:nvSpPr>
            <p:cNvPr id="9" name="NL6Tk0.1">
              <a:extLst>
                <a:ext uri="{FF2B5EF4-FFF2-40B4-BE49-F238E27FC236}">
                  <a16:creationId xmlns:a16="http://schemas.microsoft.com/office/drawing/2014/main" id="{6B858515-A368-EA42-6AB4-FBDF5509D850}"/>
                </a:ext>
              </a:extLst>
            </p:cNvPr>
            <p:cNvSpPr/>
            <p:nvPr/>
          </p:nvSpPr>
          <p:spPr>
            <a:xfrm>
              <a:off x="7349727" y="5591072"/>
              <a:ext cx="0" cy="69925"/>
            </a:xfrm>
            <a:prstGeom prst="line">
              <a:avLst/>
            </a:prstGeom>
            <a:ln w="12700">
              <a:solidFill>
                <a:srgbClr val="2E3640"/>
              </a:solidFill>
            </a:ln>
          </p:spPr>
          <p:txBody>
            <a:bodyPr/>
            <a:lstStyle/>
            <a:p>
              <a:endParaRPr lang="en-US" sz="2000"/>
            </a:p>
          </p:txBody>
        </p:sp>
        <p:sp>
          <p:nvSpPr>
            <p:cNvPr id="10" name="NL6Tk0.2">
              <a:extLst>
                <a:ext uri="{FF2B5EF4-FFF2-40B4-BE49-F238E27FC236}">
                  <a16:creationId xmlns:a16="http://schemas.microsoft.com/office/drawing/2014/main" id="{D31F26A8-CADC-7932-CF37-E2333F44BF42}"/>
                </a:ext>
              </a:extLst>
            </p:cNvPr>
            <p:cNvSpPr/>
            <p:nvPr/>
          </p:nvSpPr>
          <p:spPr>
            <a:xfrm>
              <a:off x="7944149" y="5556109"/>
              <a:ext cx="0" cy="139852"/>
            </a:xfrm>
            <a:prstGeom prst="line">
              <a:avLst/>
            </a:prstGeom>
            <a:ln w="12700">
              <a:solidFill>
                <a:srgbClr val="2E3640"/>
              </a:solidFill>
            </a:ln>
          </p:spPr>
          <p:txBody>
            <a:bodyPr/>
            <a:lstStyle/>
            <a:p>
              <a:endParaRPr lang="en-US" sz="2000"/>
            </a:p>
          </p:txBody>
        </p:sp>
        <p:sp>
          <p:nvSpPr>
            <p:cNvPr id="11" name="NL6TL0.2">
              <a:extLst>
                <a:ext uri="{FF2B5EF4-FFF2-40B4-BE49-F238E27FC236}">
                  <a16:creationId xmlns:a16="http://schemas.microsoft.com/office/drawing/2014/main" id="{558D55A8-A1C0-F548-64E4-53A6F055CDA9}"/>
                </a:ext>
              </a:extLst>
            </p:cNvPr>
            <p:cNvSpPr/>
            <p:nvPr/>
          </p:nvSpPr>
          <p:spPr>
            <a:xfrm>
              <a:off x="7746756"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0.2</a:t>
              </a:r>
            </a:p>
          </p:txBody>
        </p:sp>
        <p:sp>
          <p:nvSpPr>
            <p:cNvPr id="12" name="NL6Tk0.3">
              <a:extLst>
                <a:ext uri="{FF2B5EF4-FFF2-40B4-BE49-F238E27FC236}">
                  <a16:creationId xmlns:a16="http://schemas.microsoft.com/office/drawing/2014/main" id="{5DA92452-FEF7-B960-CEE8-0A6EB8968FCF}"/>
                </a:ext>
              </a:extLst>
            </p:cNvPr>
            <p:cNvSpPr/>
            <p:nvPr/>
          </p:nvSpPr>
          <p:spPr>
            <a:xfrm>
              <a:off x="8538570" y="5591072"/>
              <a:ext cx="0" cy="69925"/>
            </a:xfrm>
            <a:prstGeom prst="line">
              <a:avLst/>
            </a:prstGeom>
            <a:ln w="12700">
              <a:solidFill>
                <a:srgbClr val="2E3640"/>
              </a:solidFill>
            </a:ln>
          </p:spPr>
          <p:txBody>
            <a:bodyPr/>
            <a:lstStyle/>
            <a:p>
              <a:endParaRPr lang="en-US" sz="2000"/>
            </a:p>
          </p:txBody>
        </p:sp>
        <p:sp>
          <p:nvSpPr>
            <p:cNvPr id="13" name="NL6Tk0.4">
              <a:extLst>
                <a:ext uri="{FF2B5EF4-FFF2-40B4-BE49-F238E27FC236}">
                  <a16:creationId xmlns:a16="http://schemas.microsoft.com/office/drawing/2014/main" id="{3289F5DD-9C80-FBAD-9735-0DC1F47BBF09}"/>
                </a:ext>
              </a:extLst>
            </p:cNvPr>
            <p:cNvSpPr/>
            <p:nvPr/>
          </p:nvSpPr>
          <p:spPr>
            <a:xfrm>
              <a:off x="9132993" y="5556109"/>
              <a:ext cx="0" cy="139852"/>
            </a:xfrm>
            <a:prstGeom prst="line">
              <a:avLst/>
            </a:prstGeom>
            <a:ln w="12700">
              <a:solidFill>
                <a:srgbClr val="2E3640"/>
              </a:solidFill>
            </a:ln>
          </p:spPr>
          <p:txBody>
            <a:bodyPr/>
            <a:lstStyle/>
            <a:p>
              <a:endParaRPr lang="en-US" sz="2000"/>
            </a:p>
          </p:txBody>
        </p:sp>
        <p:sp>
          <p:nvSpPr>
            <p:cNvPr id="14" name="NL6TL0.4">
              <a:extLst>
                <a:ext uri="{FF2B5EF4-FFF2-40B4-BE49-F238E27FC236}">
                  <a16:creationId xmlns:a16="http://schemas.microsoft.com/office/drawing/2014/main" id="{B230FCB7-594E-2CC4-956C-47DB8669E643}"/>
                </a:ext>
              </a:extLst>
            </p:cNvPr>
            <p:cNvSpPr/>
            <p:nvPr/>
          </p:nvSpPr>
          <p:spPr>
            <a:xfrm>
              <a:off x="8935599"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0.4</a:t>
              </a:r>
            </a:p>
          </p:txBody>
        </p:sp>
        <p:sp>
          <p:nvSpPr>
            <p:cNvPr id="15" name="NL6Tk0.5">
              <a:extLst>
                <a:ext uri="{FF2B5EF4-FFF2-40B4-BE49-F238E27FC236}">
                  <a16:creationId xmlns:a16="http://schemas.microsoft.com/office/drawing/2014/main" id="{EE3A9676-B3FC-8892-E243-B6A8A7629AA5}"/>
                </a:ext>
              </a:extLst>
            </p:cNvPr>
            <p:cNvSpPr/>
            <p:nvPr/>
          </p:nvSpPr>
          <p:spPr>
            <a:xfrm>
              <a:off x="9727414" y="5591072"/>
              <a:ext cx="0" cy="69925"/>
            </a:xfrm>
            <a:prstGeom prst="line">
              <a:avLst/>
            </a:prstGeom>
            <a:ln w="12700">
              <a:solidFill>
                <a:srgbClr val="2E3640"/>
              </a:solidFill>
            </a:ln>
          </p:spPr>
          <p:txBody>
            <a:bodyPr/>
            <a:lstStyle/>
            <a:p>
              <a:endParaRPr lang="en-US" sz="2000"/>
            </a:p>
          </p:txBody>
        </p:sp>
        <p:sp>
          <p:nvSpPr>
            <p:cNvPr id="16" name="NL6Tk0.6">
              <a:extLst>
                <a:ext uri="{FF2B5EF4-FFF2-40B4-BE49-F238E27FC236}">
                  <a16:creationId xmlns:a16="http://schemas.microsoft.com/office/drawing/2014/main" id="{72B15ADC-4483-DDD2-1230-06091E82433B}"/>
                </a:ext>
              </a:extLst>
            </p:cNvPr>
            <p:cNvSpPr/>
            <p:nvPr/>
          </p:nvSpPr>
          <p:spPr>
            <a:xfrm>
              <a:off x="10321835" y="5556109"/>
              <a:ext cx="0" cy="139852"/>
            </a:xfrm>
            <a:prstGeom prst="line">
              <a:avLst/>
            </a:prstGeom>
            <a:ln w="12700">
              <a:solidFill>
                <a:srgbClr val="2E3640"/>
              </a:solidFill>
            </a:ln>
          </p:spPr>
          <p:txBody>
            <a:bodyPr/>
            <a:lstStyle/>
            <a:p>
              <a:endParaRPr lang="en-US" sz="2000"/>
            </a:p>
          </p:txBody>
        </p:sp>
        <p:sp>
          <p:nvSpPr>
            <p:cNvPr id="17" name="NL6TL0.6">
              <a:extLst>
                <a:ext uri="{FF2B5EF4-FFF2-40B4-BE49-F238E27FC236}">
                  <a16:creationId xmlns:a16="http://schemas.microsoft.com/office/drawing/2014/main" id="{D98C719B-2D1C-1B31-692D-3D0270C1CDE6}"/>
                </a:ext>
              </a:extLst>
            </p:cNvPr>
            <p:cNvSpPr/>
            <p:nvPr/>
          </p:nvSpPr>
          <p:spPr>
            <a:xfrm>
              <a:off x="10124443"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0.6</a:t>
              </a:r>
            </a:p>
          </p:txBody>
        </p:sp>
        <p:sp>
          <p:nvSpPr>
            <p:cNvPr id="18" name="NL6Tk0.7">
              <a:extLst>
                <a:ext uri="{FF2B5EF4-FFF2-40B4-BE49-F238E27FC236}">
                  <a16:creationId xmlns:a16="http://schemas.microsoft.com/office/drawing/2014/main" id="{9D2CBE62-26A0-B142-A8D1-7DEDAB54080F}"/>
                </a:ext>
              </a:extLst>
            </p:cNvPr>
            <p:cNvSpPr/>
            <p:nvPr/>
          </p:nvSpPr>
          <p:spPr>
            <a:xfrm>
              <a:off x="10916257" y="5591072"/>
              <a:ext cx="0" cy="69925"/>
            </a:xfrm>
            <a:prstGeom prst="line">
              <a:avLst/>
            </a:prstGeom>
            <a:ln w="12700">
              <a:solidFill>
                <a:srgbClr val="2E3640"/>
              </a:solidFill>
            </a:ln>
          </p:spPr>
          <p:txBody>
            <a:bodyPr/>
            <a:lstStyle/>
            <a:p>
              <a:endParaRPr lang="en-US" sz="2000"/>
            </a:p>
          </p:txBody>
        </p:sp>
        <p:sp>
          <p:nvSpPr>
            <p:cNvPr id="19" name="NL6Tk0.8">
              <a:extLst>
                <a:ext uri="{FF2B5EF4-FFF2-40B4-BE49-F238E27FC236}">
                  <a16:creationId xmlns:a16="http://schemas.microsoft.com/office/drawing/2014/main" id="{EDFC4B3D-4B6E-9A38-AB64-B4B0CEDE5256}"/>
                </a:ext>
              </a:extLst>
            </p:cNvPr>
            <p:cNvSpPr/>
            <p:nvPr/>
          </p:nvSpPr>
          <p:spPr>
            <a:xfrm>
              <a:off x="11510679" y="5556109"/>
              <a:ext cx="0" cy="139852"/>
            </a:xfrm>
            <a:prstGeom prst="line">
              <a:avLst/>
            </a:prstGeom>
            <a:ln w="12700">
              <a:solidFill>
                <a:srgbClr val="2E3640"/>
              </a:solidFill>
            </a:ln>
          </p:spPr>
          <p:txBody>
            <a:bodyPr/>
            <a:lstStyle/>
            <a:p>
              <a:endParaRPr lang="en-US" sz="2000"/>
            </a:p>
          </p:txBody>
        </p:sp>
        <p:sp>
          <p:nvSpPr>
            <p:cNvPr id="20" name="NL6TL0.8">
              <a:extLst>
                <a:ext uri="{FF2B5EF4-FFF2-40B4-BE49-F238E27FC236}">
                  <a16:creationId xmlns:a16="http://schemas.microsoft.com/office/drawing/2014/main" id="{5EC58FFD-D643-563D-E1BB-AC56390FB2F0}"/>
                </a:ext>
              </a:extLst>
            </p:cNvPr>
            <p:cNvSpPr/>
            <p:nvPr/>
          </p:nvSpPr>
          <p:spPr>
            <a:xfrm>
              <a:off x="11313286"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0.8</a:t>
              </a:r>
            </a:p>
          </p:txBody>
        </p:sp>
      </p:grpSp>
      <p:grpSp>
        <p:nvGrpSpPr>
          <p:cNvPr id="3174" name="Group 3173">
            <a:extLst>
              <a:ext uri="{FF2B5EF4-FFF2-40B4-BE49-F238E27FC236}">
                <a16:creationId xmlns:a16="http://schemas.microsoft.com/office/drawing/2014/main" id="{C600730A-EC9C-5259-DA02-6A8C8286F2DB}"/>
              </a:ext>
            </a:extLst>
          </p:cNvPr>
          <p:cNvGrpSpPr/>
          <p:nvPr/>
        </p:nvGrpSpPr>
        <p:grpSpPr>
          <a:xfrm>
            <a:off x="6758096" y="5252549"/>
            <a:ext cx="2261173" cy="152651"/>
            <a:chOff x="7182260" y="4223241"/>
            <a:chExt cx="2008328" cy="313966"/>
          </a:xfrm>
        </p:grpSpPr>
        <p:sp>
          <p:nvSpPr>
            <p:cNvPr id="3146" name="CIBar7">
              <a:extLst>
                <a:ext uri="{FF2B5EF4-FFF2-40B4-BE49-F238E27FC236}">
                  <a16:creationId xmlns:a16="http://schemas.microsoft.com/office/drawing/2014/main" id="{AAD2D81D-F80F-5163-64E6-CD7FC7A25A75}"/>
                </a:ext>
              </a:extLst>
            </p:cNvPr>
            <p:cNvSpPr/>
            <p:nvPr/>
          </p:nvSpPr>
          <p:spPr>
            <a:xfrm>
              <a:off x="8437132" y="4261261"/>
              <a:ext cx="618774" cy="226982"/>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147" name="CILW7">
              <a:extLst>
                <a:ext uri="{FF2B5EF4-FFF2-40B4-BE49-F238E27FC236}">
                  <a16:creationId xmlns:a16="http://schemas.microsoft.com/office/drawing/2014/main" id="{1490F375-ED0C-470C-BD05-6A2123D57023}"/>
                </a:ext>
              </a:extLst>
            </p:cNvPr>
            <p:cNvSpPr/>
            <p:nvPr/>
          </p:nvSpPr>
          <p:spPr>
            <a:xfrm>
              <a:off x="8431235" y="4223241"/>
              <a:ext cx="0" cy="304800"/>
            </a:xfrm>
            <a:prstGeom prst="line">
              <a:avLst/>
            </a:prstGeom>
            <a:ln w="15875">
              <a:solidFill>
                <a:srgbClr val="2B6CB0"/>
              </a:solidFill>
            </a:ln>
          </p:spPr>
          <p:txBody>
            <a:bodyPr anchor="ctr"/>
            <a:lstStyle/>
            <a:p>
              <a:endParaRPr lang="en-US" sz="2000"/>
            </a:p>
          </p:txBody>
        </p:sp>
        <p:sp>
          <p:nvSpPr>
            <p:cNvPr id="3148" name="CILW7">
              <a:extLst>
                <a:ext uri="{FF2B5EF4-FFF2-40B4-BE49-F238E27FC236}">
                  <a16:creationId xmlns:a16="http://schemas.microsoft.com/office/drawing/2014/main" id="{DEB263EB-F350-C61C-F07A-4BDD6AC1B5EF}"/>
                </a:ext>
              </a:extLst>
            </p:cNvPr>
            <p:cNvSpPr/>
            <p:nvPr/>
          </p:nvSpPr>
          <p:spPr>
            <a:xfrm>
              <a:off x="9057186" y="4223241"/>
              <a:ext cx="0" cy="304800"/>
            </a:xfrm>
            <a:prstGeom prst="line">
              <a:avLst/>
            </a:prstGeom>
            <a:ln w="15875">
              <a:solidFill>
                <a:srgbClr val="2B6CB0"/>
              </a:solidFill>
            </a:ln>
          </p:spPr>
          <p:txBody>
            <a:bodyPr anchor="ctr"/>
            <a:lstStyle/>
            <a:p>
              <a:endParaRPr lang="en-US" sz="2000"/>
            </a:p>
          </p:txBody>
        </p:sp>
        <p:sp>
          <p:nvSpPr>
            <p:cNvPr id="3149" name="CIBar7">
              <a:extLst>
                <a:ext uri="{FF2B5EF4-FFF2-40B4-BE49-F238E27FC236}">
                  <a16:creationId xmlns:a16="http://schemas.microsoft.com/office/drawing/2014/main" id="{055A2E92-AFA6-CA52-4649-AF851435576F}"/>
                </a:ext>
              </a:extLst>
            </p:cNvPr>
            <p:cNvSpPr/>
            <p:nvPr/>
          </p:nvSpPr>
          <p:spPr>
            <a:xfrm>
              <a:off x="9063082" y="4267722"/>
              <a:ext cx="127506" cy="220919"/>
            </a:xfrm>
            <a:prstGeom prst="rect">
              <a:avLst/>
            </a:prstGeom>
            <a:solidFill>
              <a:srgbClr val="B8D4E8">
                <a:alpha val="34902"/>
              </a:srgbClr>
            </a:solidFill>
            <a:ln>
              <a:noFill/>
            </a:ln>
          </p:spPr>
          <p:txBody>
            <a:bodyPr lIns="0" rIns="0" anchor="ctr"/>
            <a:lstStyle/>
            <a:p>
              <a:pPr algn="ctr"/>
              <a:endParaRPr lang="en-US" sz="900" dirty="0"/>
            </a:p>
          </p:txBody>
        </p:sp>
        <p:sp>
          <p:nvSpPr>
            <p:cNvPr id="3150" name="CILW7">
              <a:extLst>
                <a:ext uri="{FF2B5EF4-FFF2-40B4-BE49-F238E27FC236}">
                  <a16:creationId xmlns:a16="http://schemas.microsoft.com/office/drawing/2014/main" id="{28D4A1CB-7F3C-11C7-4ADA-F6FA9D8B6B53}"/>
                </a:ext>
              </a:extLst>
            </p:cNvPr>
            <p:cNvSpPr/>
            <p:nvPr/>
          </p:nvSpPr>
          <p:spPr>
            <a:xfrm>
              <a:off x="9057185" y="4229702"/>
              <a:ext cx="0" cy="304800"/>
            </a:xfrm>
            <a:prstGeom prst="line">
              <a:avLst/>
            </a:prstGeom>
            <a:ln w="15875">
              <a:solidFill>
                <a:srgbClr val="2B6CB0"/>
              </a:solidFill>
            </a:ln>
          </p:spPr>
          <p:txBody>
            <a:bodyPr anchor="ctr"/>
            <a:lstStyle/>
            <a:p>
              <a:endParaRPr lang="en-US" sz="2000"/>
            </a:p>
          </p:txBody>
        </p:sp>
        <p:grpSp>
          <p:nvGrpSpPr>
            <p:cNvPr id="3154" name="Group 3153">
              <a:extLst>
                <a:ext uri="{FF2B5EF4-FFF2-40B4-BE49-F238E27FC236}">
                  <a16:creationId xmlns:a16="http://schemas.microsoft.com/office/drawing/2014/main" id="{C891B0D1-0A0F-E88C-0EF2-B8FFA683A5B6}"/>
                </a:ext>
              </a:extLst>
            </p:cNvPr>
            <p:cNvGrpSpPr/>
            <p:nvPr/>
          </p:nvGrpSpPr>
          <p:grpSpPr>
            <a:xfrm>
              <a:off x="7182260" y="4225946"/>
              <a:ext cx="1251897" cy="311261"/>
              <a:chOff x="9852940" y="4192417"/>
              <a:chExt cx="1216344" cy="311261"/>
            </a:xfrm>
          </p:grpSpPr>
          <p:sp>
            <p:nvSpPr>
              <p:cNvPr id="3156" name="CILW7">
                <a:extLst>
                  <a:ext uri="{FF2B5EF4-FFF2-40B4-BE49-F238E27FC236}">
                    <a16:creationId xmlns:a16="http://schemas.microsoft.com/office/drawing/2014/main" id="{248FA05B-3353-E931-7CA2-E66BD5C36131}"/>
                  </a:ext>
                </a:extLst>
              </p:cNvPr>
              <p:cNvSpPr/>
              <p:nvPr/>
            </p:nvSpPr>
            <p:spPr>
              <a:xfrm>
                <a:off x="9852941" y="4192417"/>
                <a:ext cx="0" cy="304800"/>
              </a:xfrm>
              <a:prstGeom prst="line">
                <a:avLst/>
              </a:prstGeom>
              <a:ln w="15875">
                <a:solidFill>
                  <a:srgbClr val="2B6CB0"/>
                </a:solidFill>
              </a:ln>
            </p:spPr>
            <p:txBody>
              <a:bodyPr anchor="ctr"/>
              <a:lstStyle/>
              <a:p>
                <a:endParaRPr lang="en-US" sz="2000"/>
              </a:p>
            </p:txBody>
          </p:sp>
          <p:sp>
            <p:nvSpPr>
              <p:cNvPr id="3157" name="CIBar7">
                <a:extLst>
                  <a:ext uri="{FF2B5EF4-FFF2-40B4-BE49-F238E27FC236}">
                    <a16:creationId xmlns:a16="http://schemas.microsoft.com/office/drawing/2014/main" id="{C4D2F5AF-3619-0095-8801-4354AE521A0F}"/>
                  </a:ext>
                </a:extLst>
              </p:cNvPr>
              <p:cNvSpPr/>
              <p:nvPr/>
            </p:nvSpPr>
            <p:spPr>
              <a:xfrm>
                <a:off x="9858670" y="4236898"/>
                <a:ext cx="601200" cy="226982"/>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158" name="CILW7">
                <a:extLst>
                  <a:ext uri="{FF2B5EF4-FFF2-40B4-BE49-F238E27FC236}">
                    <a16:creationId xmlns:a16="http://schemas.microsoft.com/office/drawing/2014/main" id="{077B9BAD-D487-DB21-E0B4-42D24FC00667}"/>
                  </a:ext>
                </a:extLst>
              </p:cNvPr>
              <p:cNvSpPr/>
              <p:nvPr/>
            </p:nvSpPr>
            <p:spPr>
              <a:xfrm>
                <a:off x="9852940" y="4198878"/>
                <a:ext cx="0" cy="304800"/>
              </a:xfrm>
              <a:prstGeom prst="line">
                <a:avLst/>
              </a:prstGeom>
              <a:ln w="15875">
                <a:solidFill>
                  <a:srgbClr val="2B6CB0"/>
                </a:solidFill>
              </a:ln>
            </p:spPr>
            <p:txBody>
              <a:bodyPr anchor="ctr"/>
              <a:lstStyle/>
              <a:p>
                <a:endParaRPr lang="en-US" sz="2000"/>
              </a:p>
            </p:txBody>
          </p:sp>
          <p:sp>
            <p:nvSpPr>
              <p:cNvPr id="3159" name="CILW7">
                <a:extLst>
                  <a:ext uri="{FF2B5EF4-FFF2-40B4-BE49-F238E27FC236}">
                    <a16:creationId xmlns:a16="http://schemas.microsoft.com/office/drawing/2014/main" id="{577A5271-D805-9816-024C-23F78730CA76}"/>
                  </a:ext>
                </a:extLst>
              </p:cNvPr>
              <p:cNvSpPr/>
              <p:nvPr/>
            </p:nvSpPr>
            <p:spPr>
              <a:xfrm>
                <a:off x="10461113" y="4198878"/>
                <a:ext cx="0" cy="304800"/>
              </a:xfrm>
              <a:prstGeom prst="line">
                <a:avLst/>
              </a:prstGeom>
              <a:ln w="15875">
                <a:solidFill>
                  <a:srgbClr val="2B6CB0"/>
                </a:solidFill>
              </a:ln>
            </p:spPr>
            <p:txBody>
              <a:bodyPr anchor="ctr"/>
              <a:lstStyle/>
              <a:p>
                <a:endParaRPr lang="en-US" sz="2000"/>
              </a:p>
            </p:txBody>
          </p:sp>
          <p:sp>
            <p:nvSpPr>
              <p:cNvPr id="3160" name="CIBar7">
                <a:extLst>
                  <a:ext uri="{FF2B5EF4-FFF2-40B4-BE49-F238E27FC236}">
                    <a16:creationId xmlns:a16="http://schemas.microsoft.com/office/drawing/2014/main" id="{F8E6D2DF-AE16-C13C-3D2B-B96DC2E94B1B}"/>
                  </a:ext>
                </a:extLst>
              </p:cNvPr>
              <p:cNvSpPr/>
              <p:nvPr/>
            </p:nvSpPr>
            <p:spPr>
              <a:xfrm>
                <a:off x="10466841" y="4233142"/>
                <a:ext cx="601200" cy="226982"/>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161" name="CILW7">
                <a:extLst>
                  <a:ext uri="{FF2B5EF4-FFF2-40B4-BE49-F238E27FC236}">
                    <a16:creationId xmlns:a16="http://schemas.microsoft.com/office/drawing/2014/main" id="{91D7A159-B7BD-852C-58B1-69A054D2B0C5}"/>
                  </a:ext>
                </a:extLst>
              </p:cNvPr>
              <p:cNvSpPr/>
              <p:nvPr/>
            </p:nvSpPr>
            <p:spPr>
              <a:xfrm>
                <a:off x="10461111" y="4195122"/>
                <a:ext cx="0" cy="304800"/>
              </a:xfrm>
              <a:prstGeom prst="line">
                <a:avLst/>
              </a:prstGeom>
              <a:ln w="15875">
                <a:solidFill>
                  <a:srgbClr val="2B6CB0"/>
                </a:solidFill>
              </a:ln>
            </p:spPr>
            <p:txBody>
              <a:bodyPr anchor="ctr"/>
              <a:lstStyle/>
              <a:p>
                <a:endParaRPr lang="en-US" sz="2000"/>
              </a:p>
            </p:txBody>
          </p:sp>
          <p:sp>
            <p:nvSpPr>
              <p:cNvPr id="3162" name="CILW7">
                <a:extLst>
                  <a:ext uri="{FF2B5EF4-FFF2-40B4-BE49-F238E27FC236}">
                    <a16:creationId xmlns:a16="http://schemas.microsoft.com/office/drawing/2014/main" id="{73A81AE5-7308-6816-74AF-0A152DA991FE}"/>
                  </a:ext>
                </a:extLst>
              </p:cNvPr>
              <p:cNvSpPr/>
              <p:nvPr/>
            </p:nvSpPr>
            <p:spPr>
              <a:xfrm>
                <a:off x="11069284" y="4195122"/>
                <a:ext cx="0" cy="304800"/>
              </a:xfrm>
              <a:prstGeom prst="line">
                <a:avLst/>
              </a:prstGeom>
              <a:ln w="15875">
                <a:solidFill>
                  <a:srgbClr val="2B6CB0"/>
                </a:solidFill>
              </a:ln>
            </p:spPr>
            <p:txBody>
              <a:bodyPr anchor="ctr"/>
              <a:lstStyle/>
              <a:p>
                <a:endParaRPr lang="en-US" sz="2000"/>
              </a:p>
            </p:txBody>
          </p:sp>
        </p:grpSp>
      </p:grpSp>
      <p:sp>
        <p:nvSpPr>
          <p:cNvPr id="22" name="TextBox 14">
            <a:extLst>
              <a:ext uri="{FF2B5EF4-FFF2-40B4-BE49-F238E27FC236}">
                <a16:creationId xmlns:a16="http://schemas.microsoft.com/office/drawing/2014/main" id="{196CC91D-EC9E-A424-53C3-E24038B237FE}"/>
              </a:ext>
            </a:extLst>
          </p:cNvPr>
          <p:cNvSpPr txBox="1">
            <a:spLocks noChangeArrowheads="1"/>
          </p:cNvSpPr>
          <p:nvPr/>
        </p:nvSpPr>
        <p:spPr bwMode="auto">
          <a:xfrm>
            <a:off x="6300766" y="186986"/>
            <a:ext cx="43092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r>
              <a:rPr lang="en-US" altLang="en-US" sz="2000" b="1" dirty="0">
                <a:solidFill>
                  <a:srgbClr val="2E6B75"/>
                </a:solidFill>
                <a:latin typeface="Montserrat"/>
              </a:rPr>
              <a:t>Computing the t statistic</a:t>
            </a:r>
          </a:p>
        </p:txBody>
      </p:sp>
      <p:grpSp>
        <p:nvGrpSpPr>
          <p:cNvPr id="23" name="Group 22">
            <a:extLst>
              <a:ext uri="{FF2B5EF4-FFF2-40B4-BE49-F238E27FC236}">
                <a16:creationId xmlns:a16="http://schemas.microsoft.com/office/drawing/2014/main" id="{B3369EDA-D8D5-9E0B-75CF-9F5E9B673926}"/>
              </a:ext>
            </a:extLst>
          </p:cNvPr>
          <p:cNvGrpSpPr/>
          <p:nvPr/>
        </p:nvGrpSpPr>
        <p:grpSpPr>
          <a:xfrm>
            <a:off x="3102370" y="4019786"/>
            <a:ext cx="2668585" cy="2502496"/>
            <a:chOff x="8866010" y="530716"/>
            <a:chExt cx="2045343" cy="1853023"/>
          </a:xfrm>
        </p:grpSpPr>
        <p:grpSp>
          <p:nvGrpSpPr>
            <p:cNvPr id="24" name="Group 23">
              <a:extLst>
                <a:ext uri="{FF2B5EF4-FFF2-40B4-BE49-F238E27FC236}">
                  <a16:creationId xmlns:a16="http://schemas.microsoft.com/office/drawing/2014/main" id="{CC8B0A07-618C-691A-5E1A-C6D21F04AF5B}"/>
                </a:ext>
              </a:extLst>
            </p:cNvPr>
            <p:cNvGrpSpPr/>
            <p:nvPr/>
          </p:nvGrpSpPr>
          <p:grpSpPr>
            <a:xfrm>
              <a:off x="8866010" y="781694"/>
              <a:ext cx="2045343" cy="1602045"/>
              <a:chOff x="323673" y="1270000"/>
              <a:chExt cx="6026327" cy="4521102"/>
            </a:xfrm>
          </p:grpSpPr>
          <p:sp>
            <p:nvSpPr>
              <p:cNvPr id="32" name="PlotBg2">
                <a:extLst>
                  <a:ext uri="{FF2B5EF4-FFF2-40B4-BE49-F238E27FC236}">
                    <a16:creationId xmlns:a16="http://schemas.microsoft.com/office/drawing/2014/main" id="{649A2BA2-9F6A-9D09-24F5-A3A55B07FCAB}"/>
                  </a:ext>
                </a:extLst>
              </p:cNvPr>
              <p:cNvSpPr/>
              <p:nvPr/>
            </p:nvSpPr>
            <p:spPr>
              <a:xfrm>
                <a:off x="1270000" y="1270000"/>
                <a:ext cx="5080000" cy="3810001"/>
              </a:xfrm>
              <a:prstGeom prst="rect">
                <a:avLst/>
              </a:prstGeom>
              <a:solidFill>
                <a:srgbClr val="FAFAFA"/>
              </a:solidFill>
              <a:ln w="12700">
                <a:solidFill>
                  <a:srgbClr val="CCCCCC"/>
                </a:solidFill>
              </a:ln>
            </p:spPr>
            <p:txBody>
              <a:bodyPr/>
              <a:lstStyle/>
              <a:p>
                <a:endParaRPr lang="en-US" sz="1200"/>
              </a:p>
            </p:txBody>
          </p:sp>
          <p:sp>
            <p:nvSpPr>
              <p:cNvPr id="33" name="XLabel2">
                <a:extLst>
                  <a:ext uri="{FF2B5EF4-FFF2-40B4-BE49-F238E27FC236}">
                    <a16:creationId xmlns:a16="http://schemas.microsoft.com/office/drawing/2014/main" id="{E6FBCCC9-4C4E-154A-F6E7-7D4865A3E742}"/>
                  </a:ext>
                </a:extLst>
              </p:cNvPr>
              <p:cNvSpPr/>
              <p:nvPr/>
            </p:nvSpPr>
            <p:spPr>
              <a:xfrm>
                <a:off x="2508038" y="5410103"/>
                <a:ext cx="2540000" cy="380999"/>
              </a:xfrm>
              <a:prstGeom prst="rect">
                <a:avLst/>
              </a:prstGeom>
              <a:noFill/>
              <a:ln>
                <a:noFill/>
              </a:ln>
            </p:spPr>
            <p:txBody>
              <a:bodyPr wrap="none" anchor="ctr"/>
              <a:lstStyle/>
              <a:p>
                <a:pPr algn="ctr"/>
                <a:r>
                  <a:rPr lang="en-US" sz="1100" dirty="0">
                    <a:solidFill>
                      <a:srgbClr val="2E3640"/>
                    </a:solidFill>
                    <a:latin typeface="Open Sans"/>
                  </a:rPr>
                  <a:t>Gestational Weeks</a:t>
                </a:r>
              </a:p>
            </p:txBody>
          </p:sp>
          <p:sp>
            <p:nvSpPr>
              <p:cNvPr id="34" name="YLabel2">
                <a:extLst>
                  <a:ext uri="{FF2B5EF4-FFF2-40B4-BE49-F238E27FC236}">
                    <a16:creationId xmlns:a16="http://schemas.microsoft.com/office/drawing/2014/main" id="{774C3296-322D-3B38-36EF-A69AD34215E8}"/>
                  </a:ext>
                </a:extLst>
              </p:cNvPr>
              <p:cNvSpPr/>
              <p:nvPr/>
            </p:nvSpPr>
            <p:spPr>
              <a:xfrm rot="16200000">
                <a:off x="-755828" y="2691645"/>
                <a:ext cx="2540001" cy="381000"/>
              </a:xfrm>
              <a:prstGeom prst="rect">
                <a:avLst/>
              </a:prstGeom>
              <a:noFill/>
              <a:ln>
                <a:noFill/>
              </a:ln>
            </p:spPr>
            <p:txBody>
              <a:bodyPr wrap="none" anchor="ctr"/>
              <a:lstStyle/>
              <a:p>
                <a:pPr algn="ctr"/>
                <a:r>
                  <a:rPr lang="en-US" sz="1100" dirty="0">
                    <a:solidFill>
                      <a:srgbClr val="2E3640"/>
                    </a:solidFill>
                    <a:latin typeface="Open Sans"/>
                  </a:rPr>
                  <a:t>Birth Weight (kg)</a:t>
                </a:r>
              </a:p>
            </p:txBody>
          </p:sp>
          <p:sp>
            <p:nvSpPr>
              <p:cNvPr id="35" name="XT32">
                <a:extLst>
                  <a:ext uri="{FF2B5EF4-FFF2-40B4-BE49-F238E27FC236}">
                    <a16:creationId xmlns:a16="http://schemas.microsoft.com/office/drawing/2014/main" id="{5ED6B581-247D-A6A5-7217-8535A4D8C1F2}"/>
                  </a:ext>
                </a:extLst>
              </p:cNvPr>
              <p:cNvSpPr/>
              <p:nvPr/>
            </p:nvSpPr>
            <p:spPr>
              <a:xfrm>
                <a:off x="1862667" y="5105400"/>
                <a:ext cx="508000" cy="228600"/>
              </a:xfrm>
              <a:prstGeom prst="rect">
                <a:avLst/>
              </a:prstGeom>
              <a:noFill/>
              <a:ln>
                <a:noFill/>
              </a:ln>
            </p:spPr>
            <p:txBody>
              <a:bodyPr wrap="none" anchor="ctr"/>
              <a:lstStyle/>
              <a:p>
                <a:pPr algn="ctr"/>
                <a:r>
                  <a:rPr lang="en-US" sz="1000" dirty="0">
                    <a:solidFill>
                      <a:srgbClr val="666666"/>
                    </a:solidFill>
                    <a:latin typeface="Open Sans"/>
                  </a:rPr>
                  <a:t>32</a:t>
                </a:r>
              </a:p>
            </p:txBody>
          </p:sp>
          <p:sp>
            <p:nvSpPr>
              <p:cNvPr id="36" name="XT33">
                <a:extLst>
                  <a:ext uri="{FF2B5EF4-FFF2-40B4-BE49-F238E27FC236}">
                    <a16:creationId xmlns:a16="http://schemas.microsoft.com/office/drawing/2014/main" id="{CEF66BD1-664D-8A54-E0B9-B90F58CFD2A9}"/>
                  </a:ext>
                </a:extLst>
              </p:cNvPr>
              <p:cNvSpPr/>
              <p:nvPr/>
            </p:nvSpPr>
            <p:spPr>
              <a:xfrm>
                <a:off x="2709333" y="5105400"/>
                <a:ext cx="508000" cy="228600"/>
              </a:xfrm>
              <a:prstGeom prst="rect">
                <a:avLst/>
              </a:prstGeom>
              <a:noFill/>
              <a:ln>
                <a:noFill/>
              </a:ln>
            </p:spPr>
            <p:txBody>
              <a:bodyPr wrap="none" anchor="ctr"/>
              <a:lstStyle/>
              <a:p>
                <a:pPr algn="ctr"/>
                <a:r>
                  <a:rPr lang="en-US" sz="1000" dirty="0">
                    <a:solidFill>
                      <a:srgbClr val="666666"/>
                    </a:solidFill>
                    <a:latin typeface="Open Sans"/>
                  </a:rPr>
                  <a:t>33</a:t>
                </a:r>
              </a:p>
            </p:txBody>
          </p:sp>
          <p:sp>
            <p:nvSpPr>
              <p:cNvPr id="37" name="XT34">
                <a:extLst>
                  <a:ext uri="{FF2B5EF4-FFF2-40B4-BE49-F238E27FC236}">
                    <a16:creationId xmlns:a16="http://schemas.microsoft.com/office/drawing/2014/main" id="{74E978E6-3FF7-3805-0126-AF750EB089CE}"/>
                  </a:ext>
                </a:extLst>
              </p:cNvPr>
              <p:cNvSpPr/>
              <p:nvPr/>
            </p:nvSpPr>
            <p:spPr>
              <a:xfrm>
                <a:off x="3556000" y="5105400"/>
                <a:ext cx="508000" cy="228600"/>
              </a:xfrm>
              <a:prstGeom prst="rect">
                <a:avLst/>
              </a:prstGeom>
              <a:noFill/>
              <a:ln>
                <a:noFill/>
              </a:ln>
            </p:spPr>
            <p:txBody>
              <a:bodyPr wrap="none" anchor="ctr"/>
              <a:lstStyle/>
              <a:p>
                <a:pPr algn="ctr"/>
                <a:r>
                  <a:rPr lang="en-US" sz="1000" dirty="0">
                    <a:solidFill>
                      <a:srgbClr val="666666"/>
                    </a:solidFill>
                    <a:latin typeface="Open Sans"/>
                  </a:rPr>
                  <a:t>34</a:t>
                </a:r>
              </a:p>
            </p:txBody>
          </p:sp>
          <p:sp>
            <p:nvSpPr>
              <p:cNvPr id="39" name="XT35">
                <a:extLst>
                  <a:ext uri="{FF2B5EF4-FFF2-40B4-BE49-F238E27FC236}">
                    <a16:creationId xmlns:a16="http://schemas.microsoft.com/office/drawing/2014/main" id="{8527B176-7467-53DF-942A-F750083AF787}"/>
                  </a:ext>
                </a:extLst>
              </p:cNvPr>
              <p:cNvSpPr/>
              <p:nvPr/>
            </p:nvSpPr>
            <p:spPr>
              <a:xfrm>
                <a:off x="4402667" y="5105400"/>
                <a:ext cx="508000" cy="228600"/>
              </a:xfrm>
              <a:prstGeom prst="rect">
                <a:avLst/>
              </a:prstGeom>
              <a:noFill/>
              <a:ln>
                <a:noFill/>
              </a:ln>
            </p:spPr>
            <p:txBody>
              <a:bodyPr wrap="none" anchor="ctr"/>
              <a:lstStyle/>
              <a:p>
                <a:pPr algn="ctr"/>
                <a:r>
                  <a:rPr lang="en-US" sz="1000" dirty="0">
                    <a:solidFill>
                      <a:srgbClr val="666666"/>
                    </a:solidFill>
                    <a:latin typeface="Open Sans"/>
                  </a:rPr>
                  <a:t>35</a:t>
                </a:r>
              </a:p>
            </p:txBody>
          </p:sp>
          <p:sp>
            <p:nvSpPr>
              <p:cNvPr id="40" name="XT36">
                <a:extLst>
                  <a:ext uri="{FF2B5EF4-FFF2-40B4-BE49-F238E27FC236}">
                    <a16:creationId xmlns:a16="http://schemas.microsoft.com/office/drawing/2014/main" id="{3AD38AA9-0315-9249-54A7-512D58BDEE14}"/>
                  </a:ext>
                </a:extLst>
              </p:cNvPr>
              <p:cNvSpPr/>
              <p:nvPr/>
            </p:nvSpPr>
            <p:spPr>
              <a:xfrm>
                <a:off x="5249333" y="5105400"/>
                <a:ext cx="508000" cy="228600"/>
              </a:xfrm>
              <a:prstGeom prst="rect">
                <a:avLst/>
              </a:prstGeom>
              <a:noFill/>
              <a:ln>
                <a:noFill/>
              </a:ln>
            </p:spPr>
            <p:txBody>
              <a:bodyPr wrap="none" anchor="ctr"/>
              <a:lstStyle/>
              <a:p>
                <a:pPr algn="ctr"/>
                <a:r>
                  <a:rPr lang="en-US" sz="1000" dirty="0">
                    <a:solidFill>
                      <a:srgbClr val="666666"/>
                    </a:solidFill>
                    <a:latin typeface="Open Sans"/>
                  </a:rPr>
                  <a:t>36</a:t>
                </a:r>
              </a:p>
            </p:txBody>
          </p:sp>
          <p:sp>
            <p:nvSpPr>
              <p:cNvPr id="3137" name="YT1">
                <a:extLst>
                  <a:ext uri="{FF2B5EF4-FFF2-40B4-BE49-F238E27FC236}">
                    <a16:creationId xmlns:a16="http://schemas.microsoft.com/office/drawing/2014/main" id="{6A742737-37B3-ADCB-0CCB-18ED3FD80140}"/>
                  </a:ext>
                </a:extLst>
              </p:cNvPr>
              <p:cNvSpPr/>
              <p:nvPr/>
            </p:nvSpPr>
            <p:spPr>
              <a:xfrm>
                <a:off x="889000" y="4476750"/>
                <a:ext cx="355600" cy="254000"/>
              </a:xfrm>
              <a:prstGeom prst="rect">
                <a:avLst/>
              </a:prstGeom>
              <a:noFill/>
              <a:ln>
                <a:noFill/>
              </a:ln>
            </p:spPr>
            <p:txBody>
              <a:bodyPr wrap="none" anchor="ctr"/>
              <a:lstStyle/>
              <a:p>
                <a:pPr algn="r"/>
                <a:r>
                  <a:rPr lang="en-US" sz="1000" dirty="0">
                    <a:solidFill>
                      <a:srgbClr val="666666"/>
                    </a:solidFill>
                    <a:latin typeface="Open Sans"/>
                  </a:rPr>
                  <a:t>1</a:t>
                </a:r>
              </a:p>
            </p:txBody>
          </p:sp>
          <p:sp>
            <p:nvSpPr>
              <p:cNvPr id="3145" name="YT2">
                <a:extLst>
                  <a:ext uri="{FF2B5EF4-FFF2-40B4-BE49-F238E27FC236}">
                    <a16:creationId xmlns:a16="http://schemas.microsoft.com/office/drawing/2014/main" id="{91712383-9E07-89F0-24DD-769553665E8B}"/>
                  </a:ext>
                </a:extLst>
              </p:cNvPr>
              <p:cNvSpPr/>
              <p:nvPr/>
            </p:nvSpPr>
            <p:spPr>
              <a:xfrm>
                <a:off x="889000" y="3524250"/>
                <a:ext cx="355600" cy="254000"/>
              </a:xfrm>
              <a:prstGeom prst="rect">
                <a:avLst/>
              </a:prstGeom>
              <a:noFill/>
              <a:ln>
                <a:noFill/>
              </a:ln>
            </p:spPr>
            <p:txBody>
              <a:bodyPr wrap="none" anchor="ctr"/>
              <a:lstStyle/>
              <a:p>
                <a:pPr algn="r"/>
                <a:r>
                  <a:rPr lang="en-US" sz="1000" dirty="0">
                    <a:solidFill>
                      <a:srgbClr val="666666"/>
                    </a:solidFill>
                    <a:latin typeface="Open Sans"/>
                  </a:rPr>
                  <a:t>2</a:t>
                </a:r>
              </a:p>
            </p:txBody>
          </p:sp>
          <p:sp>
            <p:nvSpPr>
              <p:cNvPr id="3151" name="YT3">
                <a:extLst>
                  <a:ext uri="{FF2B5EF4-FFF2-40B4-BE49-F238E27FC236}">
                    <a16:creationId xmlns:a16="http://schemas.microsoft.com/office/drawing/2014/main" id="{863200F6-F12B-1DD6-8510-08E33CFCB9AC}"/>
                  </a:ext>
                </a:extLst>
              </p:cNvPr>
              <p:cNvSpPr/>
              <p:nvPr/>
            </p:nvSpPr>
            <p:spPr>
              <a:xfrm>
                <a:off x="889000" y="2571750"/>
                <a:ext cx="355600" cy="254000"/>
              </a:xfrm>
              <a:prstGeom prst="rect">
                <a:avLst/>
              </a:prstGeom>
              <a:noFill/>
              <a:ln>
                <a:noFill/>
              </a:ln>
            </p:spPr>
            <p:txBody>
              <a:bodyPr wrap="none" anchor="ctr"/>
              <a:lstStyle/>
              <a:p>
                <a:pPr algn="r"/>
                <a:r>
                  <a:rPr lang="en-US" sz="1000" dirty="0">
                    <a:solidFill>
                      <a:srgbClr val="666666"/>
                    </a:solidFill>
                    <a:latin typeface="Open Sans"/>
                  </a:rPr>
                  <a:t>3</a:t>
                </a:r>
              </a:p>
            </p:txBody>
          </p:sp>
          <p:sp>
            <p:nvSpPr>
              <p:cNvPr id="3152" name="YT4">
                <a:extLst>
                  <a:ext uri="{FF2B5EF4-FFF2-40B4-BE49-F238E27FC236}">
                    <a16:creationId xmlns:a16="http://schemas.microsoft.com/office/drawing/2014/main" id="{9ECB0F92-2BD2-5FE6-431E-596F2E6D8586}"/>
                  </a:ext>
                </a:extLst>
              </p:cNvPr>
              <p:cNvSpPr/>
              <p:nvPr/>
            </p:nvSpPr>
            <p:spPr>
              <a:xfrm>
                <a:off x="889000" y="1619250"/>
                <a:ext cx="355600" cy="254000"/>
              </a:xfrm>
              <a:prstGeom prst="rect">
                <a:avLst/>
              </a:prstGeom>
              <a:noFill/>
              <a:ln>
                <a:noFill/>
              </a:ln>
            </p:spPr>
            <p:txBody>
              <a:bodyPr wrap="none" anchor="ctr"/>
              <a:lstStyle/>
              <a:p>
                <a:pPr algn="r"/>
                <a:r>
                  <a:rPr lang="en-US" sz="1000" dirty="0">
                    <a:solidFill>
                      <a:srgbClr val="666666"/>
                    </a:solidFill>
                    <a:latin typeface="Open Sans"/>
                  </a:rPr>
                  <a:t>4</a:t>
                </a:r>
              </a:p>
            </p:txBody>
          </p:sp>
          <p:cxnSp>
            <p:nvCxnSpPr>
              <p:cNvPr id="3153" name="G1">
                <a:extLst>
                  <a:ext uri="{FF2B5EF4-FFF2-40B4-BE49-F238E27FC236}">
                    <a16:creationId xmlns:a16="http://schemas.microsoft.com/office/drawing/2014/main" id="{85DFAD03-664B-68A9-461D-87CE078A2C5D}"/>
                  </a:ext>
                </a:extLst>
              </p:cNvPr>
              <p:cNvCxnSpPr/>
              <p:nvPr/>
            </p:nvCxnSpPr>
            <p:spPr>
              <a:xfrm>
                <a:off x="1270000" y="4603750"/>
                <a:ext cx="5080000" cy="0"/>
              </a:xfrm>
              <a:prstGeom prst="line">
                <a:avLst/>
              </a:prstGeom>
              <a:ln w="6350">
                <a:solidFill>
                  <a:srgbClr val="E0E0E0"/>
                </a:solidFill>
                <a:prstDash val="dash"/>
              </a:ln>
            </p:spPr>
          </p:cxnSp>
          <p:cxnSp>
            <p:nvCxnSpPr>
              <p:cNvPr id="3155" name="G2">
                <a:extLst>
                  <a:ext uri="{FF2B5EF4-FFF2-40B4-BE49-F238E27FC236}">
                    <a16:creationId xmlns:a16="http://schemas.microsoft.com/office/drawing/2014/main" id="{47E08D71-F3A6-67E4-4D30-BCDA08E540AF}"/>
                  </a:ext>
                </a:extLst>
              </p:cNvPr>
              <p:cNvCxnSpPr/>
              <p:nvPr/>
            </p:nvCxnSpPr>
            <p:spPr>
              <a:xfrm>
                <a:off x="1270000" y="3651250"/>
                <a:ext cx="5080000" cy="0"/>
              </a:xfrm>
              <a:prstGeom prst="line">
                <a:avLst/>
              </a:prstGeom>
              <a:ln w="6350">
                <a:solidFill>
                  <a:srgbClr val="E0E0E0"/>
                </a:solidFill>
                <a:prstDash val="dash"/>
              </a:ln>
            </p:spPr>
          </p:cxnSp>
          <p:cxnSp>
            <p:nvCxnSpPr>
              <p:cNvPr id="3163" name="G3">
                <a:extLst>
                  <a:ext uri="{FF2B5EF4-FFF2-40B4-BE49-F238E27FC236}">
                    <a16:creationId xmlns:a16="http://schemas.microsoft.com/office/drawing/2014/main" id="{F213F7BD-1BA7-7BBC-D5A1-1975D6812077}"/>
                  </a:ext>
                </a:extLst>
              </p:cNvPr>
              <p:cNvCxnSpPr/>
              <p:nvPr/>
            </p:nvCxnSpPr>
            <p:spPr>
              <a:xfrm>
                <a:off x="1270000" y="2698750"/>
                <a:ext cx="5080000" cy="0"/>
              </a:xfrm>
              <a:prstGeom prst="line">
                <a:avLst/>
              </a:prstGeom>
              <a:ln w="6350">
                <a:solidFill>
                  <a:srgbClr val="E0E0E0"/>
                </a:solidFill>
                <a:prstDash val="dash"/>
              </a:ln>
            </p:spPr>
          </p:cxnSp>
          <p:cxnSp>
            <p:nvCxnSpPr>
              <p:cNvPr id="3164" name="G4">
                <a:extLst>
                  <a:ext uri="{FF2B5EF4-FFF2-40B4-BE49-F238E27FC236}">
                    <a16:creationId xmlns:a16="http://schemas.microsoft.com/office/drawing/2014/main" id="{E051099A-420B-ABD0-2138-0622AF4226E7}"/>
                  </a:ext>
                </a:extLst>
              </p:cNvPr>
              <p:cNvCxnSpPr/>
              <p:nvPr/>
            </p:nvCxnSpPr>
            <p:spPr>
              <a:xfrm>
                <a:off x="1270000" y="1746250"/>
                <a:ext cx="5080000" cy="0"/>
              </a:xfrm>
              <a:prstGeom prst="line">
                <a:avLst/>
              </a:prstGeom>
              <a:ln w="6350">
                <a:solidFill>
                  <a:srgbClr val="E0E0E0"/>
                </a:solidFill>
                <a:prstDash val="dash"/>
              </a:ln>
            </p:spPr>
          </p:cxnSp>
          <p:sp>
            <p:nvSpPr>
              <p:cNvPr id="3165" name="SpreadFan">
                <a:extLst>
                  <a:ext uri="{FF2B5EF4-FFF2-40B4-BE49-F238E27FC236}">
                    <a16:creationId xmlns:a16="http://schemas.microsoft.com/office/drawing/2014/main" id="{A81AD98D-C9F6-A6DB-2441-0266CAF1B570}"/>
                  </a:ext>
                </a:extLst>
              </p:cNvPr>
              <p:cNvSpPr/>
              <p:nvPr/>
            </p:nvSpPr>
            <p:spPr>
              <a:xfrm>
                <a:off x="1693332" y="1796256"/>
                <a:ext cx="4233335" cy="3124200"/>
              </a:xfrm>
              <a:custGeom>
                <a:avLst/>
                <a:gdLst/>
                <a:ahLst/>
                <a:cxnLst/>
                <a:rect l="0" t="0" r="4233334" b="3124200"/>
                <a:pathLst>
                  <a:path w="4233334" h="3124200">
                    <a:moveTo>
                      <a:pt x="0" y="1766888"/>
                    </a:moveTo>
                    <a:lnTo>
                      <a:pt x="211667" y="1710690"/>
                    </a:lnTo>
                    <a:lnTo>
                      <a:pt x="423334" y="1654493"/>
                    </a:lnTo>
                    <a:lnTo>
                      <a:pt x="635000" y="1598295"/>
                    </a:lnTo>
                    <a:lnTo>
                      <a:pt x="846667" y="1542098"/>
                    </a:lnTo>
                    <a:lnTo>
                      <a:pt x="1058334" y="1485900"/>
                    </a:lnTo>
                    <a:lnTo>
                      <a:pt x="1270000" y="1429703"/>
                    </a:lnTo>
                    <a:lnTo>
                      <a:pt x="1481667" y="1373505"/>
                    </a:lnTo>
                    <a:lnTo>
                      <a:pt x="1693334" y="1317308"/>
                    </a:lnTo>
                    <a:lnTo>
                      <a:pt x="1905000" y="1261110"/>
                    </a:lnTo>
                    <a:lnTo>
                      <a:pt x="2116667" y="1204913"/>
                    </a:lnTo>
                    <a:lnTo>
                      <a:pt x="2328334" y="1148715"/>
                    </a:lnTo>
                    <a:lnTo>
                      <a:pt x="2540000" y="1021080"/>
                    </a:lnTo>
                    <a:lnTo>
                      <a:pt x="2751667" y="893445"/>
                    </a:lnTo>
                    <a:lnTo>
                      <a:pt x="2963334" y="765810"/>
                    </a:lnTo>
                    <a:lnTo>
                      <a:pt x="3175000" y="638175"/>
                    </a:lnTo>
                    <a:lnTo>
                      <a:pt x="3386667" y="510540"/>
                    </a:lnTo>
                    <a:lnTo>
                      <a:pt x="3598334" y="382905"/>
                    </a:lnTo>
                    <a:lnTo>
                      <a:pt x="3810000" y="255270"/>
                    </a:lnTo>
                    <a:lnTo>
                      <a:pt x="4021667" y="127635"/>
                    </a:lnTo>
                    <a:lnTo>
                      <a:pt x="4233334" y="0"/>
                    </a:lnTo>
                    <a:lnTo>
                      <a:pt x="4233334" y="1214438"/>
                    </a:lnTo>
                    <a:lnTo>
                      <a:pt x="4021667" y="1270635"/>
                    </a:lnTo>
                    <a:lnTo>
                      <a:pt x="3810000" y="1326833"/>
                    </a:lnTo>
                    <a:lnTo>
                      <a:pt x="3598334" y="1383030"/>
                    </a:lnTo>
                    <a:lnTo>
                      <a:pt x="3386667" y="1439228"/>
                    </a:lnTo>
                    <a:lnTo>
                      <a:pt x="3175000" y="1495425"/>
                    </a:lnTo>
                    <a:lnTo>
                      <a:pt x="2963334" y="1551623"/>
                    </a:lnTo>
                    <a:lnTo>
                      <a:pt x="2751667" y="1607820"/>
                    </a:lnTo>
                    <a:lnTo>
                      <a:pt x="2540000" y="1664018"/>
                    </a:lnTo>
                    <a:lnTo>
                      <a:pt x="2328334" y="1720215"/>
                    </a:lnTo>
                    <a:lnTo>
                      <a:pt x="2116667" y="1847850"/>
                    </a:lnTo>
                    <a:lnTo>
                      <a:pt x="1905000" y="1975485"/>
                    </a:lnTo>
                    <a:lnTo>
                      <a:pt x="1693334" y="2103120"/>
                    </a:lnTo>
                    <a:lnTo>
                      <a:pt x="1481667" y="2230755"/>
                    </a:lnTo>
                    <a:lnTo>
                      <a:pt x="1270000" y="2358390"/>
                    </a:lnTo>
                    <a:lnTo>
                      <a:pt x="1058334" y="2486025"/>
                    </a:lnTo>
                    <a:lnTo>
                      <a:pt x="846667" y="2613660"/>
                    </a:lnTo>
                    <a:lnTo>
                      <a:pt x="635000" y="2741295"/>
                    </a:lnTo>
                    <a:lnTo>
                      <a:pt x="423334" y="2868930"/>
                    </a:lnTo>
                    <a:lnTo>
                      <a:pt x="211667" y="2996565"/>
                    </a:lnTo>
                    <a:lnTo>
                      <a:pt x="0" y="3124200"/>
                    </a:lnTo>
                    <a:close/>
                  </a:path>
                </a:pathLst>
              </a:custGeom>
              <a:solidFill>
                <a:srgbClr val="489BCC">
                  <a:alpha val="36078"/>
                </a:srgbClr>
              </a:solidFill>
              <a:ln>
                <a:noFill/>
              </a:ln>
            </p:spPr>
            <p:txBody>
              <a:bodyPr/>
              <a:lstStyle/>
              <a:p>
                <a:endParaRPr lang="en-US" sz="1200" dirty="0"/>
              </a:p>
            </p:txBody>
          </p:sp>
          <p:cxnSp>
            <p:nvCxnSpPr>
              <p:cNvPr id="3166" name="AltLine0">
                <a:extLst>
                  <a:ext uri="{FF2B5EF4-FFF2-40B4-BE49-F238E27FC236}">
                    <a16:creationId xmlns:a16="http://schemas.microsoft.com/office/drawing/2014/main" id="{A994DB66-9334-3807-8344-B23A63F95C6B}"/>
                  </a:ext>
                </a:extLst>
              </p:cNvPr>
              <p:cNvCxnSpPr/>
              <p:nvPr/>
            </p:nvCxnSpPr>
            <p:spPr>
              <a:xfrm flipV="1">
                <a:off x="1693333" y="2684939"/>
                <a:ext cx="4233334" cy="1190625"/>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167" name="AltLine1">
                <a:extLst>
                  <a:ext uri="{FF2B5EF4-FFF2-40B4-BE49-F238E27FC236}">
                    <a16:creationId xmlns:a16="http://schemas.microsoft.com/office/drawing/2014/main" id="{D8949C04-540B-2C18-404C-41FCC15C09D8}"/>
                  </a:ext>
                </a:extLst>
              </p:cNvPr>
              <p:cNvCxnSpPr/>
              <p:nvPr/>
            </p:nvCxnSpPr>
            <p:spPr>
              <a:xfrm flipV="1">
                <a:off x="1693333" y="2577783"/>
                <a:ext cx="4233334" cy="1428750"/>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168" name="AltLine2">
                <a:extLst>
                  <a:ext uri="{FF2B5EF4-FFF2-40B4-BE49-F238E27FC236}">
                    <a16:creationId xmlns:a16="http://schemas.microsoft.com/office/drawing/2014/main" id="{0FD99AAC-7733-70DC-F0D3-815D452DE75C}"/>
                  </a:ext>
                </a:extLst>
              </p:cNvPr>
              <p:cNvCxnSpPr/>
              <p:nvPr/>
            </p:nvCxnSpPr>
            <p:spPr>
              <a:xfrm flipV="1">
                <a:off x="1693333" y="2256314"/>
                <a:ext cx="4233334" cy="2143125"/>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171" name="AltLine3">
                <a:extLst>
                  <a:ext uri="{FF2B5EF4-FFF2-40B4-BE49-F238E27FC236}">
                    <a16:creationId xmlns:a16="http://schemas.microsoft.com/office/drawing/2014/main" id="{B6A33C0C-E4C8-953E-8EA7-839068A05376}"/>
                  </a:ext>
                </a:extLst>
              </p:cNvPr>
              <p:cNvCxnSpPr/>
              <p:nvPr/>
            </p:nvCxnSpPr>
            <p:spPr>
              <a:xfrm flipV="1">
                <a:off x="1693332" y="2149158"/>
                <a:ext cx="4233335" cy="2381249"/>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172" name="RegLine2">
                <a:extLst>
                  <a:ext uri="{FF2B5EF4-FFF2-40B4-BE49-F238E27FC236}">
                    <a16:creationId xmlns:a16="http://schemas.microsoft.com/office/drawing/2014/main" id="{CE37B44D-EE33-72FB-90D5-7C3CD774F896}"/>
                  </a:ext>
                </a:extLst>
              </p:cNvPr>
              <p:cNvCxnSpPr/>
              <p:nvPr/>
            </p:nvCxnSpPr>
            <p:spPr>
              <a:xfrm flipV="1">
                <a:off x="1439333" y="2293176"/>
                <a:ext cx="4741334" cy="2058923"/>
              </a:xfrm>
              <a:prstGeom prst="line">
                <a:avLst/>
              </a:prstGeom>
              <a:ln w="28575" cap="rnd">
                <a:solidFill>
                  <a:srgbClr val="D94535"/>
                </a:solidFill>
              </a:ln>
            </p:spPr>
          </p:cxnSp>
          <p:sp>
            <p:nvSpPr>
              <p:cNvPr id="3173" name="D0">
                <a:extLst>
                  <a:ext uri="{FF2B5EF4-FFF2-40B4-BE49-F238E27FC236}">
                    <a16:creationId xmlns:a16="http://schemas.microsoft.com/office/drawing/2014/main" id="{FE1AA479-A44B-A08B-BBF2-295F69AEDB96}"/>
                  </a:ext>
                </a:extLst>
              </p:cNvPr>
              <p:cNvSpPr/>
              <p:nvPr/>
            </p:nvSpPr>
            <p:spPr>
              <a:xfrm>
                <a:off x="2040467" y="3908425"/>
                <a:ext cx="152400" cy="152400"/>
              </a:xfrm>
              <a:prstGeom prst="ellipse">
                <a:avLst/>
              </a:prstGeom>
              <a:solidFill>
                <a:srgbClr val="2E6B75"/>
              </a:solidFill>
              <a:ln w="12700">
                <a:solidFill>
                  <a:srgbClr val="FFFFFF"/>
                </a:solidFill>
              </a:ln>
            </p:spPr>
            <p:txBody>
              <a:bodyPr/>
              <a:lstStyle/>
              <a:p>
                <a:endParaRPr lang="en-US" sz="1200"/>
              </a:p>
            </p:txBody>
          </p:sp>
          <p:sp>
            <p:nvSpPr>
              <p:cNvPr id="3175" name="D1">
                <a:extLst>
                  <a:ext uri="{FF2B5EF4-FFF2-40B4-BE49-F238E27FC236}">
                    <a16:creationId xmlns:a16="http://schemas.microsoft.com/office/drawing/2014/main" id="{3D2588A2-514E-E552-DDE7-EE0C88F2D2EA}"/>
                  </a:ext>
                </a:extLst>
              </p:cNvPr>
              <p:cNvSpPr/>
              <p:nvPr/>
            </p:nvSpPr>
            <p:spPr>
              <a:xfrm>
                <a:off x="5427133" y="2936875"/>
                <a:ext cx="152400" cy="152400"/>
              </a:xfrm>
              <a:prstGeom prst="ellipse">
                <a:avLst/>
              </a:prstGeom>
              <a:solidFill>
                <a:srgbClr val="2E6B75"/>
              </a:solidFill>
              <a:ln w="12700">
                <a:solidFill>
                  <a:srgbClr val="FFFFFF"/>
                </a:solidFill>
              </a:ln>
            </p:spPr>
            <p:txBody>
              <a:bodyPr/>
              <a:lstStyle/>
              <a:p>
                <a:endParaRPr lang="en-US" sz="1200"/>
              </a:p>
            </p:txBody>
          </p:sp>
          <p:sp>
            <p:nvSpPr>
              <p:cNvPr id="3177" name="D2">
                <a:extLst>
                  <a:ext uri="{FF2B5EF4-FFF2-40B4-BE49-F238E27FC236}">
                    <a16:creationId xmlns:a16="http://schemas.microsoft.com/office/drawing/2014/main" id="{FEF9C84E-A780-D83A-EDA8-852B4EB14BFE}"/>
                  </a:ext>
                </a:extLst>
              </p:cNvPr>
              <p:cNvSpPr/>
              <p:nvPr/>
            </p:nvSpPr>
            <p:spPr>
              <a:xfrm>
                <a:off x="2887133" y="3403600"/>
                <a:ext cx="152400" cy="152400"/>
              </a:xfrm>
              <a:prstGeom prst="ellipse">
                <a:avLst/>
              </a:prstGeom>
              <a:solidFill>
                <a:srgbClr val="2E6B75"/>
              </a:solidFill>
              <a:ln w="12700">
                <a:solidFill>
                  <a:srgbClr val="FFFFFF"/>
                </a:solidFill>
              </a:ln>
            </p:spPr>
            <p:txBody>
              <a:bodyPr/>
              <a:lstStyle/>
              <a:p>
                <a:endParaRPr lang="en-US" sz="1200"/>
              </a:p>
            </p:txBody>
          </p:sp>
          <p:sp>
            <p:nvSpPr>
              <p:cNvPr id="3180" name="D3">
                <a:extLst>
                  <a:ext uri="{FF2B5EF4-FFF2-40B4-BE49-F238E27FC236}">
                    <a16:creationId xmlns:a16="http://schemas.microsoft.com/office/drawing/2014/main" id="{C2081D4C-C93C-3FF8-FE4C-E330CF8A1B48}"/>
                  </a:ext>
                </a:extLst>
              </p:cNvPr>
              <p:cNvSpPr/>
              <p:nvPr/>
            </p:nvSpPr>
            <p:spPr>
              <a:xfrm>
                <a:off x="5427133" y="1831975"/>
                <a:ext cx="152400" cy="152400"/>
              </a:xfrm>
              <a:prstGeom prst="ellipse">
                <a:avLst/>
              </a:prstGeom>
              <a:solidFill>
                <a:srgbClr val="2E6B75"/>
              </a:solidFill>
              <a:ln w="12700">
                <a:solidFill>
                  <a:srgbClr val="FFFFFF"/>
                </a:solidFill>
              </a:ln>
            </p:spPr>
            <p:txBody>
              <a:bodyPr/>
              <a:lstStyle/>
              <a:p>
                <a:endParaRPr lang="en-US" sz="1200"/>
              </a:p>
            </p:txBody>
          </p:sp>
          <p:sp>
            <p:nvSpPr>
              <p:cNvPr id="3181" name="D4">
                <a:extLst>
                  <a:ext uri="{FF2B5EF4-FFF2-40B4-BE49-F238E27FC236}">
                    <a16:creationId xmlns:a16="http://schemas.microsoft.com/office/drawing/2014/main" id="{E4FD8B0D-0D03-10F7-F64C-2E19E306A48C}"/>
                  </a:ext>
                </a:extLst>
              </p:cNvPr>
              <p:cNvSpPr/>
              <p:nvPr/>
            </p:nvSpPr>
            <p:spPr>
              <a:xfrm>
                <a:off x="4580467" y="3070225"/>
                <a:ext cx="152400" cy="152400"/>
              </a:xfrm>
              <a:prstGeom prst="ellipse">
                <a:avLst/>
              </a:prstGeom>
              <a:solidFill>
                <a:srgbClr val="2E6B75"/>
              </a:solidFill>
              <a:ln w="12700">
                <a:solidFill>
                  <a:srgbClr val="FFFFFF"/>
                </a:solidFill>
              </a:ln>
            </p:spPr>
            <p:txBody>
              <a:bodyPr/>
              <a:lstStyle/>
              <a:p>
                <a:endParaRPr lang="en-US" sz="1200"/>
              </a:p>
            </p:txBody>
          </p:sp>
          <p:sp>
            <p:nvSpPr>
              <p:cNvPr id="3183" name="D5">
                <a:extLst>
                  <a:ext uri="{FF2B5EF4-FFF2-40B4-BE49-F238E27FC236}">
                    <a16:creationId xmlns:a16="http://schemas.microsoft.com/office/drawing/2014/main" id="{A34F1FF9-2799-C84F-17B2-579B0EAE2D7E}"/>
                  </a:ext>
                </a:extLst>
              </p:cNvPr>
              <p:cNvSpPr/>
              <p:nvPr/>
            </p:nvSpPr>
            <p:spPr>
              <a:xfrm>
                <a:off x="5427133" y="2965450"/>
                <a:ext cx="152400" cy="152400"/>
              </a:xfrm>
              <a:prstGeom prst="ellipse">
                <a:avLst/>
              </a:prstGeom>
              <a:solidFill>
                <a:srgbClr val="2E6B75"/>
              </a:solidFill>
              <a:ln w="12700">
                <a:solidFill>
                  <a:srgbClr val="FFFFFF"/>
                </a:solidFill>
              </a:ln>
            </p:spPr>
            <p:txBody>
              <a:bodyPr/>
              <a:lstStyle/>
              <a:p>
                <a:endParaRPr lang="en-US" sz="1200"/>
              </a:p>
            </p:txBody>
          </p:sp>
          <p:sp>
            <p:nvSpPr>
              <p:cNvPr id="3184" name="D6">
                <a:extLst>
                  <a:ext uri="{FF2B5EF4-FFF2-40B4-BE49-F238E27FC236}">
                    <a16:creationId xmlns:a16="http://schemas.microsoft.com/office/drawing/2014/main" id="{7D2512CF-D80A-A17B-3419-86A029CA0169}"/>
                  </a:ext>
                </a:extLst>
              </p:cNvPr>
              <p:cNvSpPr/>
              <p:nvPr/>
            </p:nvSpPr>
            <p:spPr>
              <a:xfrm>
                <a:off x="2040467" y="4470400"/>
                <a:ext cx="152400" cy="152400"/>
              </a:xfrm>
              <a:prstGeom prst="ellipse">
                <a:avLst/>
              </a:prstGeom>
              <a:solidFill>
                <a:srgbClr val="2E6B75"/>
              </a:solidFill>
              <a:ln w="12700">
                <a:solidFill>
                  <a:srgbClr val="FFFFFF"/>
                </a:solidFill>
              </a:ln>
            </p:spPr>
            <p:txBody>
              <a:bodyPr/>
              <a:lstStyle/>
              <a:p>
                <a:endParaRPr lang="en-US" sz="1200"/>
              </a:p>
            </p:txBody>
          </p:sp>
          <p:sp>
            <p:nvSpPr>
              <p:cNvPr id="3185" name="D7">
                <a:extLst>
                  <a:ext uri="{FF2B5EF4-FFF2-40B4-BE49-F238E27FC236}">
                    <a16:creationId xmlns:a16="http://schemas.microsoft.com/office/drawing/2014/main" id="{820D1C82-DBA7-1C5F-B4B6-DC4397C6AF27}"/>
                  </a:ext>
                </a:extLst>
              </p:cNvPr>
              <p:cNvSpPr/>
              <p:nvPr/>
            </p:nvSpPr>
            <p:spPr>
              <a:xfrm>
                <a:off x="3733800" y="2565400"/>
                <a:ext cx="152400" cy="152400"/>
              </a:xfrm>
              <a:prstGeom prst="ellipse">
                <a:avLst/>
              </a:prstGeom>
              <a:solidFill>
                <a:srgbClr val="2E6B75"/>
              </a:solidFill>
              <a:ln w="12700">
                <a:solidFill>
                  <a:srgbClr val="FFFFFF"/>
                </a:solidFill>
              </a:ln>
            </p:spPr>
            <p:txBody>
              <a:bodyPr/>
              <a:lstStyle/>
              <a:p>
                <a:endParaRPr lang="en-US" sz="1200"/>
              </a:p>
            </p:txBody>
          </p:sp>
        </p:grpSp>
        <p:sp>
          <p:nvSpPr>
            <p:cNvPr id="31" name="Rounded Rectangle 30">
              <a:extLst>
                <a:ext uri="{FF2B5EF4-FFF2-40B4-BE49-F238E27FC236}">
                  <a16:creationId xmlns:a16="http://schemas.microsoft.com/office/drawing/2014/main" id="{A50443D1-BD00-5534-3652-E2A6098F5765}"/>
                </a:ext>
              </a:extLst>
            </p:cNvPr>
            <p:cNvSpPr/>
            <p:nvPr/>
          </p:nvSpPr>
          <p:spPr>
            <a:xfrm>
              <a:off x="9210961" y="530716"/>
              <a:ext cx="1193800" cy="235527"/>
            </a:xfrm>
            <a:prstGeom prst="roundRect">
              <a:avLst/>
            </a:prstGeom>
            <a:solidFill>
              <a:schemeClr val="tx1">
                <a:lumMod val="60000"/>
                <a:lumOff val="40000"/>
              </a:scheme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b="1" dirty="0">
                  <a:solidFill>
                    <a:srgbClr val="FFFFFF"/>
                  </a:solidFill>
                  <a:latin typeface="Montserrat"/>
                </a:rPr>
                <a:t>MODEL FIT</a:t>
              </a:r>
            </a:p>
          </p:txBody>
        </p:sp>
      </p:grpSp>
      <p:sp>
        <p:nvSpPr>
          <p:cNvPr id="3193" name="Rounded Rectangle 3192">
            <a:extLst>
              <a:ext uri="{FF2B5EF4-FFF2-40B4-BE49-F238E27FC236}">
                <a16:creationId xmlns:a16="http://schemas.microsoft.com/office/drawing/2014/main" id="{45265C79-6BC3-6F36-3E80-84D20B5CF7C5}"/>
              </a:ext>
            </a:extLst>
          </p:cNvPr>
          <p:cNvSpPr/>
          <p:nvPr/>
        </p:nvSpPr>
        <p:spPr>
          <a:xfrm>
            <a:off x="6274829" y="589505"/>
            <a:ext cx="5488880" cy="752467"/>
          </a:xfrm>
          <a:prstGeom prst="roundRect">
            <a:avLst/>
          </a:prstGeom>
          <a:solidFill>
            <a:srgbClr val="EAF4F4"/>
          </a:solidFill>
          <a:ln w="19050" cap="flat" cmpd="sng" algn="ctr">
            <a:solidFill>
              <a:srgbClr val="2E6B7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rmAutofit/>
          </a:bodyPr>
          <a:lstStyle/>
          <a:p>
            <a:pPr algn="ctr">
              <a:spcAft>
                <a:spcPts val="200"/>
              </a:spcAft>
            </a:pPr>
            <a:r>
              <a:rPr lang="en-US" sz="1200" dirty="0">
                <a:solidFill>
                  <a:srgbClr val="2E3640"/>
                </a:solidFill>
                <a:latin typeface="Open Sans"/>
              </a:rPr>
              <a:t>The t-statistic is a </a:t>
            </a:r>
            <a:r>
              <a:rPr lang="en-US" sz="1200" b="1" dirty="0">
                <a:solidFill>
                  <a:srgbClr val="2E6B75"/>
                </a:solidFill>
                <a:latin typeface="Open Sans"/>
              </a:rPr>
              <a:t>signal-to-noise ratio</a:t>
            </a:r>
            <a:r>
              <a:rPr lang="en-US" sz="1200" dirty="0">
                <a:solidFill>
                  <a:srgbClr val="2E3640"/>
                </a:solidFill>
                <a:latin typeface="Open Sans"/>
              </a:rPr>
              <a:t>. It asks: how big is the slope compared to the uncertainty around it?</a:t>
            </a:r>
          </a:p>
          <a:p>
            <a:pPr algn="ctr">
              <a:spcAft>
                <a:spcPts val="200"/>
              </a:spcAft>
            </a:pPr>
            <a:r>
              <a:rPr lang="en-US" sz="1200" dirty="0">
                <a:solidFill>
                  <a:srgbClr val="2E3640"/>
                </a:solidFill>
                <a:latin typeface="Open Sans"/>
              </a:rPr>
              <a:t>Computed as </a:t>
            </a:r>
            <a:r>
              <a:rPr lang="en-US" sz="1200" b="1" dirty="0">
                <a:solidFill>
                  <a:srgbClr val="2E3640"/>
                </a:solidFill>
                <a:latin typeface="Open Sans"/>
              </a:rPr>
              <a:t>b₁/SE</a:t>
            </a:r>
          </a:p>
        </p:txBody>
      </p:sp>
      <p:grpSp>
        <p:nvGrpSpPr>
          <p:cNvPr id="3206" name="Group 3205">
            <a:extLst>
              <a:ext uri="{FF2B5EF4-FFF2-40B4-BE49-F238E27FC236}">
                <a16:creationId xmlns:a16="http://schemas.microsoft.com/office/drawing/2014/main" id="{A15FEBA7-D9C6-CDC4-0752-212764A1D43F}"/>
              </a:ext>
            </a:extLst>
          </p:cNvPr>
          <p:cNvGrpSpPr/>
          <p:nvPr/>
        </p:nvGrpSpPr>
        <p:grpSpPr>
          <a:xfrm>
            <a:off x="6274829" y="1401995"/>
            <a:ext cx="1726839" cy="1414615"/>
            <a:chOff x="6274829" y="1401995"/>
            <a:chExt cx="1726839" cy="1414615"/>
          </a:xfrm>
        </p:grpSpPr>
        <p:sp>
          <p:nvSpPr>
            <p:cNvPr id="3194" name="Rounded Rectangle 3193">
              <a:extLst>
                <a:ext uri="{FF2B5EF4-FFF2-40B4-BE49-F238E27FC236}">
                  <a16:creationId xmlns:a16="http://schemas.microsoft.com/office/drawing/2014/main" id="{24164490-A282-0280-550A-8B7ADEAABFB5}"/>
                </a:ext>
              </a:extLst>
            </p:cNvPr>
            <p:cNvSpPr/>
            <p:nvPr/>
          </p:nvSpPr>
          <p:spPr>
            <a:xfrm>
              <a:off x="6274829" y="1508295"/>
              <a:ext cx="1726839" cy="1308315"/>
            </a:xfrm>
            <a:prstGeom prst="roundRect">
              <a:avLst/>
            </a:prstGeom>
            <a:solidFill>
              <a:srgbClr val="FFF5F5"/>
            </a:solidFill>
            <a:ln w="12700" cap="flat" cmpd="sng" algn="ctr">
              <a:solidFill>
                <a:srgbClr val="D9453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rmAutofit/>
            </a:bodyPr>
            <a:lstStyle/>
            <a:p>
              <a:pPr algn="ctr">
                <a:spcAft>
                  <a:spcPts val="300"/>
                </a:spcAft>
              </a:pPr>
              <a:r>
                <a:rPr lang="en-US" sz="1600" b="1" dirty="0">
                  <a:solidFill>
                    <a:srgbClr val="D94535"/>
                  </a:solidFill>
                  <a:latin typeface="Open Sans"/>
                </a:rPr>
                <a:t>b₁</a:t>
              </a:r>
            </a:p>
            <a:p>
              <a:pPr algn="ctr">
                <a:spcAft>
                  <a:spcPts val="200"/>
                </a:spcAft>
              </a:pPr>
              <a:r>
                <a:rPr lang="en-US" sz="1050" b="1" dirty="0">
                  <a:solidFill>
                    <a:srgbClr val="D94535"/>
                  </a:solidFill>
                  <a:latin typeface="Open Sans"/>
                </a:rPr>
                <a:t>= 0.386</a:t>
              </a:r>
            </a:p>
            <a:p>
              <a:pPr algn="ctr"/>
              <a:r>
                <a:rPr lang="en-US" sz="1050" dirty="0">
                  <a:solidFill>
                    <a:srgbClr val="2E3640"/>
                  </a:solidFill>
                  <a:latin typeface="Open Sans"/>
                </a:rPr>
                <a:t>The estimated slope</a:t>
              </a:r>
            </a:p>
          </p:txBody>
        </p:sp>
        <p:sp>
          <p:nvSpPr>
            <p:cNvPr id="3195" name="Rounded Rectangle 3194">
              <a:extLst>
                <a:ext uri="{FF2B5EF4-FFF2-40B4-BE49-F238E27FC236}">
                  <a16:creationId xmlns:a16="http://schemas.microsoft.com/office/drawing/2014/main" id="{4DA6D5D2-213A-7CFD-3574-17FDCDD1FFA1}"/>
                </a:ext>
              </a:extLst>
            </p:cNvPr>
            <p:cNvSpPr/>
            <p:nvPr/>
          </p:nvSpPr>
          <p:spPr>
            <a:xfrm>
              <a:off x="6274829" y="1401995"/>
              <a:ext cx="616728" cy="179893"/>
            </a:xfrm>
            <a:prstGeom prst="roundRect">
              <a:avLst/>
            </a:prstGeom>
            <a:solidFill>
              <a:srgbClr val="D9453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900" b="1">
                  <a:solidFill>
                    <a:srgbClr val="FFFFFF"/>
                  </a:solidFill>
                  <a:latin typeface="Montserrat"/>
                </a:rPr>
                <a:t>SIGNAL</a:t>
              </a:r>
            </a:p>
          </p:txBody>
        </p:sp>
      </p:grpSp>
      <p:grpSp>
        <p:nvGrpSpPr>
          <p:cNvPr id="3207" name="Group 3206">
            <a:extLst>
              <a:ext uri="{FF2B5EF4-FFF2-40B4-BE49-F238E27FC236}">
                <a16:creationId xmlns:a16="http://schemas.microsoft.com/office/drawing/2014/main" id="{B2B11AC0-8E1E-FAA9-E603-72DA9F67BBCB}"/>
              </a:ext>
            </a:extLst>
          </p:cNvPr>
          <p:cNvGrpSpPr/>
          <p:nvPr/>
        </p:nvGrpSpPr>
        <p:grpSpPr>
          <a:xfrm>
            <a:off x="8149682" y="1401995"/>
            <a:ext cx="1726839" cy="1414615"/>
            <a:chOff x="8149682" y="1401995"/>
            <a:chExt cx="1726839" cy="1414615"/>
          </a:xfrm>
        </p:grpSpPr>
        <p:sp>
          <p:nvSpPr>
            <p:cNvPr id="3196" name="Rounded Rectangle 3195">
              <a:extLst>
                <a:ext uri="{FF2B5EF4-FFF2-40B4-BE49-F238E27FC236}">
                  <a16:creationId xmlns:a16="http://schemas.microsoft.com/office/drawing/2014/main" id="{3B0F8DC1-6291-CBFE-9C66-B5FAC84C2948}"/>
                </a:ext>
              </a:extLst>
            </p:cNvPr>
            <p:cNvSpPr/>
            <p:nvPr/>
          </p:nvSpPr>
          <p:spPr>
            <a:xfrm>
              <a:off x="8149682" y="1508295"/>
              <a:ext cx="1726839" cy="1308315"/>
            </a:xfrm>
            <a:prstGeom prst="roundRect">
              <a:avLst/>
            </a:prstGeom>
            <a:solidFill>
              <a:srgbClr val="F0F4FF"/>
            </a:solidFill>
            <a:ln w="12700" cap="flat" cmpd="sng" algn="ctr">
              <a:solidFill>
                <a:srgbClr val="2B6CB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rmAutofit/>
            </a:bodyPr>
            <a:lstStyle/>
            <a:p>
              <a:pPr algn="ctr">
                <a:spcAft>
                  <a:spcPts val="300"/>
                </a:spcAft>
              </a:pPr>
              <a:r>
                <a:rPr lang="en-US" sz="1600" b="1" dirty="0">
                  <a:solidFill>
                    <a:srgbClr val="2B6CB0"/>
                  </a:solidFill>
                  <a:latin typeface="Open Sans"/>
                </a:rPr>
                <a:t>SE</a:t>
              </a:r>
            </a:p>
            <a:p>
              <a:pPr algn="ctr">
                <a:spcAft>
                  <a:spcPts val="200"/>
                </a:spcAft>
              </a:pPr>
              <a:r>
                <a:rPr lang="en-US" sz="1050" b="1" dirty="0">
                  <a:solidFill>
                    <a:srgbClr val="2B6CB0"/>
                  </a:solidFill>
                  <a:latin typeface="Open Sans"/>
                </a:rPr>
                <a:t>= 0.118</a:t>
              </a:r>
            </a:p>
            <a:p>
              <a:pPr algn="ctr"/>
              <a:r>
                <a:rPr lang="en-US" sz="1050" dirty="0">
                  <a:solidFill>
                    <a:srgbClr val="2E3640"/>
                  </a:solidFill>
                  <a:latin typeface="Open Sans"/>
                </a:rPr>
                <a:t>The standard error</a:t>
              </a:r>
            </a:p>
            <a:p>
              <a:pPr algn="ctr"/>
              <a:r>
                <a:rPr lang="en-US" sz="1000" i="1" dirty="0">
                  <a:solidFill>
                    <a:srgbClr val="666666"/>
                  </a:solidFill>
                  <a:latin typeface="Open Sans"/>
                </a:rPr>
                <a:t>How much the slope would vary across samples</a:t>
              </a:r>
            </a:p>
          </p:txBody>
        </p:sp>
        <p:sp>
          <p:nvSpPr>
            <p:cNvPr id="3197" name="Rounded Rectangle 3196">
              <a:extLst>
                <a:ext uri="{FF2B5EF4-FFF2-40B4-BE49-F238E27FC236}">
                  <a16:creationId xmlns:a16="http://schemas.microsoft.com/office/drawing/2014/main" id="{3F96ED27-8287-3D23-498A-A8DDF481F6CD}"/>
                </a:ext>
              </a:extLst>
            </p:cNvPr>
            <p:cNvSpPr/>
            <p:nvPr/>
          </p:nvSpPr>
          <p:spPr>
            <a:xfrm>
              <a:off x="8149682" y="1401995"/>
              <a:ext cx="616728" cy="179893"/>
            </a:xfrm>
            <a:prstGeom prst="roundRect">
              <a:avLst/>
            </a:prstGeom>
            <a:solidFill>
              <a:srgbClr val="2B6CB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900" b="1">
                  <a:solidFill>
                    <a:srgbClr val="FFFFFF"/>
                  </a:solidFill>
                  <a:latin typeface="Montserrat"/>
                </a:rPr>
                <a:t>NOISE</a:t>
              </a:r>
            </a:p>
          </p:txBody>
        </p:sp>
      </p:grpSp>
      <p:grpSp>
        <p:nvGrpSpPr>
          <p:cNvPr id="3208" name="Group 3207">
            <a:extLst>
              <a:ext uri="{FF2B5EF4-FFF2-40B4-BE49-F238E27FC236}">
                <a16:creationId xmlns:a16="http://schemas.microsoft.com/office/drawing/2014/main" id="{0331087C-E1E6-D565-84CF-5DB3C1E0E128}"/>
              </a:ext>
            </a:extLst>
          </p:cNvPr>
          <p:cNvGrpSpPr/>
          <p:nvPr/>
        </p:nvGrpSpPr>
        <p:grpSpPr>
          <a:xfrm>
            <a:off x="10024536" y="1401995"/>
            <a:ext cx="1726839" cy="1414615"/>
            <a:chOff x="10024536" y="1401995"/>
            <a:chExt cx="1726839" cy="1414615"/>
          </a:xfrm>
        </p:grpSpPr>
        <p:sp>
          <p:nvSpPr>
            <p:cNvPr id="3198" name="Rounded Rectangle 3197">
              <a:extLst>
                <a:ext uri="{FF2B5EF4-FFF2-40B4-BE49-F238E27FC236}">
                  <a16:creationId xmlns:a16="http://schemas.microsoft.com/office/drawing/2014/main" id="{314B3813-CB7C-FCBC-689A-4A74EBE00946}"/>
                </a:ext>
              </a:extLst>
            </p:cNvPr>
            <p:cNvSpPr/>
            <p:nvPr/>
          </p:nvSpPr>
          <p:spPr>
            <a:xfrm>
              <a:off x="10024536" y="1508295"/>
              <a:ext cx="1726839" cy="1308315"/>
            </a:xfrm>
            <a:prstGeom prst="roundRect">
              <a:avLst/>
            </a:prstGeom>
            <a:solidFill>
              <a:srgbClr val="F5FFF5"/>
            </a:solidFill>
            <a:ln w="12700" cap="flat" cmpd="sng" algn="ctr">
              <a:solidFill>
                <a:srgbClr val="2D8B2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rmAutofit/>
            </a:bodyPr>
            <a:lstStyle/>
            <a:p>
              <a:pPr algn="ctr">
                <a:spcAft>
                  <a:spcPts val="300"/>
                </a:spcAft>
              </a:pPr>
              <a:r>
                <a:rPr lang="en-US" sz="1600" b="1" dirty="0">
                  <a:solidFill>
                    <a:srgbClr val="2D8B2D"/>
                  </a:solidFill>
                  <a:latin typeface="Open Sans"/>
                </a:rPr>
                <a:t>t = 3.26</a:t>
              </a:r>
            </a:p>
            <a:p>
              <a:pPr algn="ctr">
                <a:spcAft>
                  <a:spcPts val="200"/>
                </a:spcAft>
              </a:pPr>
              <a:r>
                <a:rPr lang="en-US" sz="1050" b="1" dirty="0">
                  <a:solidFill>
                    <a:srgbClr val="2D8B2D"/>
                  </a:solidFill>
                  <a:latin typeface="Open Sans"/>
                </a:rPr>
                <a:t>= 0.386 / 0.118</a:t>
              </a:r>
            </a:p>
            <a:p>
              <a:pPr algn="ctr"/>
              <a:r>
                <a:rPr lang="en-US" sz="1050" dirty="0">
                  <a:solidFill>
                    <a:srgbClr val="2E3640"/>
                  </a:solidFill>
                  <a:latin typeface="Open Sans"/>
                </a:rPr>
                <a:t>Signal ÷ Noise</a:t>
              </a:r>
            </a:p>
            <a:p>
              <a:pPr algn="ctr"/>
              <a:r>
                <a:rPr lang="en-US" sz="1000" i="1" dirty="0">
                  <a:solidFill>
                    <a:srgbClr val="666666"/>
                  </a:solidFill>
                  <a:latin typeface="Open Sans"/>
                </a:rPr>
                <a:t>How many SEs the slope is from zero</a:t>
              </a:r>
            </a:p>
          </p:txBody>
        </p:sp>
        <p:sp>
          <p:nvSpPr>
            <p:cNvPr id="3199" name="Rounded Rectangle 3198">
              <a:extLst>
                <a:ext uri="{FF2B5EF4-FFF2-40B4-BE49-F238E27FC236}">
                  <a16:creationId xmlns:a16="http://schemas.microsoft.com/office/drawing/2014/main" id="{DDE86260-5821-1B53-7BB8-F2C39B43E97A}"/>
                </a:ext>
              </a:extLst>
            </p:cNvPr>
            <p:cNvSpPr/>
            <p:nvPr/>
          </p:nvSpPr>
          <p:spPr>
            <a:xfrm>
              <a:off x="10024536" y="1401995"/>
              <a:ext cx="616728" cy="179893"/>
            </a:xfrm>
            <a:prstGeom prst="roundRect">
              <a:avLst/>
            </a:prstGeom>
            <a:solidFill>
              <a:srgbClr val="2D8B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900" b="1" dirty="0">
                  <a:solidFill>
                    <a:srgbClr val="FFFFFF"/>
                  </a:solidFill>
                  <a:latin typeface="Montserrat"/>
                </a:rPr>
                <a:t>RATIO</a:t>
              </a:r>
            </a:p>
          </p:txBody>
        </p:sp>
      </p:grpSp>
      <p:sp>
        <p:nvSpPr>
          <p:cNvPr id="3082" name="Rounded Rectangle 3081">
            <a:extLst>
              <a:ext uri="{FF2B5EF4-FFF2-40B4-BE49-F238E27FC236}">
                <a16:creationId xmlns:a16="http://schemas.microsoft.com/office/drawing/2014/main" id="{6E78084C-A23B-EE12-37EA-549C3E699C71}"/>
              </a:ext>
            </a:extLst>
          </p:cNvPr>
          <p:cNvSpPr/>
          <p:nvPr/>
        </p:nvSpPr>
        <p:spPr>
          <a:xfrm>
            <a:off x="6274829" y="2980151"/>
            <a:ext cx="5488880" cy="511986"/>
          </a:xfrm>
          <a:prstGeom prst="roundRect">
            <a:avLst/>
          </a:prstGeom>
          <a:solidFill>
            <a:srgbClr val="FFF8E7"/>
          </a:solidFill>
          <a:ln w="19050" cap="flat" cmpd="sng" algn="ctr">
            <a:solidFill>
              <a:srgbClr val="D4952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rmAutofit/>
          </a:bodyPr>
          <a:lstStyle/>
          <a:p>
            <a:pPr algn="ctr"/>
            <a:r>
              <a:rPr lang="en-US" sz="1100" b="1" dirty="0">
                <a:solidFill>
                  <a:srgbClr val="D4952B"/>
                </a:solidFill>
                <a:latin typeface="Open Sans"/>
              </a:rPr>
              <a:t>💡 </a:t>
            </a:r>
            <a:r>
              <a:rPr lang="en-US" sz="1100" dirty="0">
                <a:solidFill>
                  <a:srgbClr val="2E3640"/>
                </a:solidFill>
                <a:latin typeface="Open Sans"/>
              </a:rPr>
              <a:t>A big |t| means the slope is </a:t>
            </a:r>
            <a:r>
              <a:rPr lang="en-US" sz="1100" b="1" dirty="0">
                <a:solidFill>
                  <a:srgbClr val="2E6B75"/>
                </a:solidFill>
                <a:latin typeface="Open Sans"/>
              </a:rPr>
              <a:t>large relative to its uncertainty</a:t>
            </a:r>
            <a:r>
              <a:rPr lang="en-US" sz="1100" b="1" dirty="0">
                <a:solidFill>
                  <a:srgbClr val="2E3640"/>
                </a:solidFill>
                <a:latin typeface="Open Sans"/>
              </a:rPr>
              <a:t>:</a:t>
            </a:r>
            <a:r>
              <a:rPr lang="en-US" sz="1100" dirty="0">
                <a:solidFill>
                  <a:srgbClr val="2E3640"/>
                </a:solidFill>
                <a:latin typeface="Open Sans"/>
              </a:rPr>
              <a:t> strong evidence of a linear association.</a:t>
            </a:r>
          </a:p>
        </p:txBody>
      </p:sp>
      <p:grpSp>
        <p:nvGrpSpPr>
          <p:cNvPr id="3085" name="Group 3084">
            <a:extLst>
              <a:ext uri="{FF2B5EF4-FFF2-40B4-BE49-F238E27FC236}">
                <a16:creationId xmlns:a16="http://schemas.microsoft.com/office/drawing/2014/main" id="{2838E0CB-FA1B-56A6-0CFE-FE56F6674AA3}"/>
              </a:ext>
            </a:extLst>
          </p:cNvPr>
          <p:cNvGrpSpPr/>
          <p:nvPr/>
        </p:nvGrpSpPr>
        <p:grpSpPr>
          <a:xfrm>
            <a:off x="281492" y="3050167"/>
            <a:ext cx="3248922" cy="674836"/>
            <a:chOff x="1170927" y="731593"/>
            <a:chExt cx="5618493" cy="1055444"/>
          </a:xfrm>
        </p:grpSpPr>
        <p:pic>
          <p:nvPicPr>
            <p:cNvPr id="3086" name="Picture 3085" descr="A screenshot of a computer program&#10;&#10;AI-generated content may be incorrect.">
              <a:extLst>
                <a:ext uri="{FF2B5EF4-FFF2-40B4-BE49-F238E27FC236}">
                  <a16:creationId xmlns:a16="http://schemas.microsoft.com/office/drawing/2014/main" id="{C4802BB8-DBDB-37FB-79AE-7B9EF543AFEC}"/>
                </a:ext>
              </a:extLst>
            </p:cNvPr>
            <p:cNvPicPr>
              <a:picLocks noChangeAspect="1"/>
            </p:cNvPicPr>
            <p:nvPr/>
          </p:nvPicPr>
          <p:blipFill>
            <a:blip r:embed="rId4"/>
            <a:srcRect t="41659" r="19746" b="33576"/>
            <a:stretch>
              <a:fillRect/>
            </a:stretch>
          </p:blipFill>
          <p:spPr>
            <a:xfrm>
              <a:off x="1170927" y="731593"/>
              <a:ext cx="5618493" cy="1055444"/>
            </a:xfrm>
            <a:prstGeom prst="rect">
              <a:avLst/>
            </a:prstGeom>
            <a:ln w="19050" cap="sq">
              <a:solidFill>
                <a:srgbClr val="000000"/>
              </a:solidFill>
              <a:prstDash val="solid"/>
              <a:miter lim="800000"/>
            </a:ln>
            <a:effectLst>
              <a:outerShdw blurRad="50800" dist="38100" dir="2700000" algn="tl" rotWithShape="0">
                <a:srgbClr val="000000">
                  <a:alpha val="43000"/>
                </a:srgbClr>
              </a:outerShdw>
            </a:effectLst>
          </p:spPr>
        </p:pic>
        <p:pic>
          <p:nvPicPr>
            <p:cNvPr id="3087" name="Picture 3086">
              <a:extLst>
                <a:ext uri="{FF2B5EF4-FFF2-40B4-BE49-F238E27FC236}">
                  <a16:creationId xmlns:a16="http://schemas.microsoft.com/office/drawing/2014/main" id="{CE0BB1ED-BE50-4C80-8870-83634F13FFC0}"/>
                </a:ext>
              </a:extLst>
            </p:cNvPr>
            <p:cNvPicPr>
              <a:picLocks noChangeAspect="1"/>
            </p:cNvPicPr>
            <p:nvPr/>
          </p:nvPicPr>
          <p:blipFill>
            <a:blip r:embed="rId5"/>
            <a:srcRect r="73226" b="95733"/>
            <a:stretch>
              <a:fillRect/>
            </a:stretch>
          </p:blipFill>
          <p:spPr>
            <a:xfrm>
              <a:off x="1170927" y="780895"/>
              <a:ext cx="1728960" cy="212245"/>
            </a:xfrm>
            <a:prstGeom prst="rect">
              <a:avLst/>
            </a:prstGeom>
            <a:ln w="19050" cap="sq">
              <a:noFill/>
              <a:prstDash val="solid"/>
              <a:miter lim="800000"/>
            </a:ln>
            <a:effectLst/>
          </p:spPr>
        </p:pic>
      </p:grpSp>
      <p:graphicFrame>
        <p:nvGraphicFramePr>
          <p:cNvPr id="3095" name="Table 3094">
            <a:extLst>
              <a:ext uri="{FF2B5EF4-FFF2-40B4-BE49-F238E27FC236}">
                <a16:creationId xmlns:a16="http://schemas.microsoft.com/office/drawing/2014/main" id="{CAE3C09D-3E20-8F15-439C-C33D6D1C1C94}"/>
              </a:ext>
            </a:extLst>
          </p:cNvPr>
          <p:cNvGraphicFramePr>
            <a:graphicFrameLocks noGrp="1"/>
          </p:cNvGraphicFramePr>
          <p:nvPr>
            <p:extLst>
              <p:ext uri="{D42A27DB-BD31-4B8C-83A1-F6EECF244321}">
                <p14:modId xmlns:p14="http://schemas.microsoft.com/office/powerpoint/2010/main" val="2606629282"/>
              </p:ext>
            </p:extLst>
          </p:nvPr>
        </p:nvGraphicFramePr>
        <p:xfrm>
          <a:off x="281492" y="676304"/>
          <a:ext cx="1712914" cy="2057400"/>
        </p:xfrm>
        <a:graphic>
          <a:graphicData uri="http://schemas.openxmlformats.org/drawingml/2006/table">
            <a:tbl>
              <a:tblPr firstRow="1" bandRow="1">
                <a:tableStyleId>{5C22544A-7EE6-4342-B048-85BDC9FD1C3A}</a:tableStyleId>
              </a:tblPr>
              <a:tblGrid>
                <a:gridCol w="856457">
                  <a:extLst>
                    <a:ext uri="{9D8B030D-6E8A-4147-A177-3AD203B41FA5}">
                      <a16:colId xmlns:a16="http://schemas.microsoft.com/office/drawing/2014/main" val="20001"/>
                    </a:ext>
                  </a:extLst>
                </a:gridCol>
                <a:gridCol w="856457">
                  <a:extLst>
                    <a:ext uri="{9D8B030D-6E8A-4147-A177-3AD203B41FA5}">
                      <a16:colId xmlns:a16="http://schemas.microsoft.com/office/drawing/2014/main" val="20002"/>
                    </a:ext>
                  </a:extLst>
                </a:gridCol>
              </a:tblGrid>
              <a:tr h="193628">
                <a:tc>
                  <a:txBody>
                    <a:bodyPr/>
                    <a:lstStyle/>
                    <a:p>
                      <a:pPr algn="ctr"/>
                      <a:r>
                        <a:rPr lang="en-US" sz="900" b="1" dirty="0">
                          <a:solidFill>
                            <a:srgbClr val="FFFFFF"/>
                          </a:solidFill>
                        </a:rPr>
                        <a:t>Weeks</a:t>
                      </a:r>
                    </a:p>
                  </a:txBody>
                  <a:tcPr marL="45720" marR="45720" anchor="ctr">
                    <a:solidFill>
                      <a:srgbClr val="2E6B75"/>
                    </a:solidFill>
                  </a:tcPr>
                </a:tc>
                <a:tc>
                  <a:txBody>
                    <a:bodyPr/>
                    <a:lstStyle/>
                    <a:p>
                      <a:pPr algn="ctr"/>
                      <a:r>
                        <a:rPr lang="en-US" sz="900" b="1">
                          <a:solidFill>
                            <a:srgbClr val="FFFFFF"/>
                          </a:solidFill>
                        </a:rPr>
                        <a:t>Weight (kg)</a:t>
                      </a:r>
                    </a:p>
                  </a:txBody>
                  <a:tcPr marL="45720" marR="45720" anchor="ctr">
                    <a:solidFill>
                      <a:srgbClr val="2E6B75"/>
                    </a:solidFill>
                  </a:tcPr>
                </a:tc>
                <a:extLst>
                  <a:ext uri="{0D108BD9-81ED-4DB2-BD59-A6C34878D82A}">
                    <a16:rowId xmlns:a16="http://schemas.microsoft.com/office/drawing/2014/main" val="10000"/>
                  </a:ext>
                </a:extLst>
              </a:tr>
              <a:tr h="193628">
                <a:tc>
                  <a:txBody>
                    <a:bodyPr/>
                    <a:lstStyle/>
                    <a:p>
                      <a:pPr algn="ctr"/>
                      <a:r>
                        <a:rPr lang="en-US" sz="900" dirty="0"/>
                        <a:t>32</a:t>
                      </a:r>
                    </a:p>
                  </a:txBody>
                  <a:tcPr marL="45720" marR="45720" anchor="ctr"/>
                </a:tc>
                <a:tc>
                  <a:txBody>
                    <a:bodyPr/>
                    <a:lstStyle/>
                    <a:p>
                      <a:pPr algn="ctr"/>
                      <a:r>
                        <a:rPr lang="en-US" sz="900" dirty="0"/>
                        <a:t>1.65</a:t>
                      </a:r>
                    </a:p>
                  </a:txBody>
                  <a:tcPr marL="45720" marR="45720" anchor="ctr"/>
                </a:tc>
                <a:extLst>
                  <a:ext uri="{0D108BD9-81ED-4DB2-BD59-A6C34878D82A}">
                    <a16:rowId xmlns:a16="http://schemas.microsoft.com/office/drawing/2014/main" val="10001"/>
                  </a:ext>
                </a:extLst>
              </a:tr>
              <a:tr h="193628">
                <a:tc>
                  <a:txBody>
                    <a:bodyPr/>
                    <a:lstStyle/>
                    <a:p>
                      <a:pPr algn="ctr"/>
                      <a:r>
                        <a:rPr lang="en-US" sz="900" dirty="0"/>
                        <a:t>36</a:t>
                      </a:r>
                    </a:p>
                  </a:txBody>
                  <a:tcPr marL="45720" marR="45720" anchor="ctr">
                    <a:solidFill>
                      <a:srgbClr val="EAF4F4"/>
                    </a:solidFill>
                  </a:tcPr>
                </a:tc>
                <a:tc>
                  <a:txBody>
                    <a:bodyPr/>
                    <a:lstStyle/>
                    <a:p>
                      <a:pPr algn="ctr"/>
                      <a:r>
                        <a:rPr lang="en-US" sz="900"/>
                        <a:t>2.67</a:t>
                      </a:r>
                    </a:p>
                  </a:txBody>
                  <a:tcPr marL="45720" marR="45720" anchor="ctr">
                    <a:solidFill>
                      <a:srgbClr val="EAF4F4"/>
                    </a:solidFill>
                  </a:tcPr>
                </a:tc>
                <a:extLst>
                  <a:ext uri="{0D108BD9-81ED-4DB2-BD59-A6C34878D82A}">
                    <a16:rowId xmlns:a16="http://schemas.microsoft.com/office/drawing/2014/main" val="10002"/>
                  </a:ext>
                </a:extLst>
              </a:tr>
              <a:tr h="193628">
                <a:tc>
                  <a:txBody>
                    <a:bodyPr/>
                    <a:lstStyle/>
                    <a:p>
                      <a:pPr algn="ctr"/>
                      <a:r>
                        <a:rPr lang="en-US" sz="900"/>
                        <a:t>33</a:t>
                      </a:r>
                    </a:p>
                  </a:txBody>
                  <a:tcPr marL="45720" marR="45720" anchor="ctr"/>
                </a:tc>
                <a:tc>
                  <a:txBody>
                    <a:bodyPr/>
                    <a:lstStyle/>
                    <a:p>
                      <a:pPr algn="ctr"/>
                      <a:r>
                        <a:rPr lang="en-US" sz="900"/>
                        <a:t>2.18</a:t>
                      </a:r>
                    </a:p>
                  </a:txBody>
                  <a:tcPr marL="45720" marR="45720" anchor="ctr"/>
                </a:tc>
                <a:extLst>
                  <a:ext uri="{0D108BD9-81ED-4DB2-BD59-A6C34878D82A}">
                    <a16:rowId xmlns:a16="http://schemas.microsoft.com/office/drawing/2014/main" val="10003"/>
                  </a:ext>
                </a:extLst>
              </a:tr>
              <a:tr h="193628">
                <a:tc>
                  <a:txBody>
                    <a:bodyPr/>
                    <a:lstStyle/>
                    <a:p>
                      <a:pPr algn="ctr"/>
                      <a:r>
                        <a:rPr lang="en-US" sz="900"/>
                        <a:t>36</a:t>
                      </a:r>
                    </a:p>
                  </a:txBody>
                  <a:tcPr marL="45720" marR="45720" anchor="ctr">
                    <a:solidFill>
                      <a:srgbClr val="EAF4F4"/>
                    </a:solidFill>
                  </a:tcPr>
                </a:tc>
                <a:tc>
                  <a:txBody>
                    <a:bodyPr/>
                    <a:lstStyle/>
                    <a:p>
                      <a:pPr algn="ctr"/>
                      <a:r>
                        <a:rPr lang="en-US" sz="900"/>
                        <a:t>3.83</a:t>
                      </a:r>
                    </a:p>
                  </a:txBody>
                  <a:tcPr marL="45720" marR="45720" anchor="ctr">
                    <a:solidFill>
                      <a:srgbClr val="EAF4F4"/>
                    </a:solidFill>
                  </a:tcPr>
                </a:tc>
                <a:extLst>
                  <a:ext uri="{0D108BD9-81ED-4DB2-BD59-A6C34878D82A}">
                    <a16:rowId xmlns:a16="http://schemas.microsoft.com/office/drawing/2014/main" val="10004"/>
                  </a:ext>
                </a:extLst>
              </a:tr>
              <a:tr h="193628">
                <a:tc>
                  <a:txBody>
                    <a:bodyPr/>
                    <a:lstStyle/>
                    <a:p>
                      <a:pPr algn="ctr"/>
                      <a:r>
                        <a:rPr lang="en-US" sz="900"/>
                        <a:t>35</a:t>
                      </a:r>
                    </a:p>
                  </a:txBody>
                  <a:tcPr marL="45720" marR="45720" anchor="ctr"/>
                </a:tc>
                <a:tc>
                  <a:txBody>
                    <a:bodyPr/>
                    <a:lstStyle/>
                    <a:p>
                      <a:pPr algn="ctr"/>
                      <a:r>
                        <a:rPr lang="en-US" sz="900" dirty="0"/>
                        <a:t>2.53</a:t>
                      </a:r>
                    </a:p>
                  </a:txBody>
                  <a:tcPr marL="45720" marR="45720" anchor="ctr"/>
                </a:tc>
                <a:extLst>
                  <a:ext uri="{0D108BD9-81ED-4DB2-BD59-A6C34878D82A}">
                    <a16:rowId xmlns:a16="http://schemas.microsoft.com/office/drawing/2014/main" val="10005"/>
                  </a:ext>
                </a:extLst>
              </a:tr>
              <a:tr h="193628">
                <a:tc>
                  <a:txBody>
                    <a:bodyPr/>
                    <a:lstStyle/>
                    <a:p>
                      <a:pPr algn="ctr"/>
                      <a:r>
                        <a:rPr lang="en-US" sz="900"/>
                        <a:t>36</a:t>
                      </a:r>
                    </a:p>
                  </a:txBody>
                  <a:tcPr marL="45720" marR="45720" anchor="ctr">
                    <a:solidFill>
                      <a:srgbClr val="EAF4F4"/>
                    </a:solidFill>
                  </a:tcPr>
                </a:tc>
                <a:tc>
                  <a:txBody>
                    <a:bodyPr/>
                    <a:lstStyle/>
                    <a:p>
                      <a:pPr algn="ctr"/>
                      <a:r>
                        <a:rPr lang="en-US" sz="900" dirty="0"/>
                        <a:t>2.64</a:t>
                      </a:r>
                    </a:p>
                  </a:txBody>
                  <a:tcPr marL="45720" marR="45720" anchor="ctr">
                    <a:solidFill>
                      <a:srgbClr val="EAF4F4"/>
                    </a:solidFill>
                  </a:tcPr>
                </a:tc>
                <a:extLst>
                  <a:ext uri="{0D108BD9-81ED-4DB2-BD59-A6C34878D82A}">
                    <a16:rowId xmlns:a16="http://schemas.microsoft.com/office/drawing/2014/main" val="10006"/>
                  </a:ext>
                </a:extLst>
              </a:tr>
              <a:tr h="193628">
                <a:tc>
                  <a:txBody>
                    <a:bodyPr/>
                    <a:lstStyle/>
                    <a:p>
                      <a:pPr algn="ctr"/>
                      <a:r>
                        <a:rPr lang="en-US" sz="900"/>
                        <a:t>32</a:t>
                      </a:r>
                    </a:p>
                  </a:txBody>
                  <a:tcPr marL="45720" marR="45720" anchor="ctr"/>
                </a:tc>
                <a:tc>
                  <a:txBody>
                    <a:bodyPr/>
                    <a:lstStyle/>
                    <a:p>
                      <a:pPr algn="ctr"/>
                      <a:r>
                        <a:rPr lang="en-US" sz="900"/>
                        <a:t>1.06</a:t>
                      </a:r>
                    </a:p>
                  </a:txBody>
                  <a:tcPr marL="45720" marR="45720" anchor="ctr"/>
                </a:tc>
                <a:extLst>
                  <a:ext uri="{0D108BD9-81ED-4DB2-BD59-A6C34878D82A}">
                    <a16:rowId xmlns:a16="http://schemas.microsoft.com/office/drawing/2014/main" val="10007"/>
                  </a:ext>
                </a:extLst>
              </a:tr>
              <a:tr h="193628">
                <a:tc>
                  <a:txBody>
                    <a:bodyPr/>
                    <a:lstStyle/>
                    <a:p>
                      <a:pPr algn="ctr"/>
                      <a:r>
                        <a:rPr lang="en-US" sz="900" dirty="0"/>
                        <a:t>34</a:t>
                      </a:r>
                    </a:p>
                  </a:txBody>
                  <a:tcPr marL="45720" marR="45720" anchor="ctr">
                    <a:solidFill>
                      <a:srgbClr val="EAF4F4"/>
                    </a:solidFill>
                  </a:tcPr>
                </a:tc>
                <a:tc>
                  <a:txBody>
                    <a:bodyPr/>
                    <a:lstStyle/>
                    <a:p>
                      <a:pPr algn="ctr"/>
                      <a:r>
                        <a:rPr lang="en-US" sz="900" dirty="0"/>
                        <a:t>3.06</a:t>
                      </a:r>
                    </a:p>
                  </a:txBody>
                  <a:tcPr marL="45720" marR="45720" anchor="ctr">
                    <a:solidFill>
                      <a:srgbClr val="EAF4F4"/>
                    </a:solidFill>
                  </a:tcPr>
                </a:tc>
                <a:extLst>
                  <a:ext uri="{0D108BD9-81ED-4DB2-BD59-A6C34878D82A}">
                    <a16:rowId xmlns:a16="http://schemas.microsoft.com/office/drawing/2014/main" val="10008"/>
                  </a:ext>
                </a:extLst>
              </a:tr>
            </a:tbl>
          </a:graphicData>
        </a:graphic>
      </p:graphicFrame>
      <p:sp>
        <p:nvSpPr>
          <p:cNvPr id="3096" name="B1Dot6">
            <a:extLst>
              <a:ext uri="{FF2B5EF4-FFF2-40B4-BE49-F238E27FC236}">
                <a16:creationId xmlns:a16="http://schemas.microsoft.com/office/drawing/2014/main" id="{C863059D-1985-FB4C-2D43-41473FE11114}"/>
              </a:ext>
            </a:extLst>
          </p:cNvPr>
          <p:cNvSpPr/>
          <p:nvPr/>
        </p:nvSpPr>
        <p:spPr>
          <a:xfrm>
            <a:off x="8967399" y="5531704"/>
            <a:ext cx="143559" cy="163160"/>
          </a:xfrm>
          <a:prstGeom prst="ellipse">
            <a:avLst/>
          </a:prstGeom>
          <a:solidFill>
            <a:srgbClr val="FFFFFF"/>
          </a:solidFill>
          <a:ln w="19050">
            <a:solidFill>
              <a:srgbClr val="D94535"/>
            </a:solidFill>
          </a:ln>
        </p:spPr>
        <p:txBody>
          <a:bodyPr/>
          <a:lstStyle/>
          <a:p>
            <a:endParaRPr lang="en-US" sz="2000"/>
          </a:p>
        </p:txBody>
      </p:sp>
      <p:cxnSp>
        <p:nvCxnSpPr>
          <p:cNvPr id="3097" name="DotLine">
            <a:extLst>
              <a:ext uri="{FF2B5EF4-FFF2-40B4-BE49-F238E27FC236}">
                <a16:creationId xmlns:a16="http://schemas.microsoft.com/office/drawing/2014/main" id="{55B14783-A3D1-DBCE-37C8-A071FD747EE8}"/>
              </a:ext>
            </a:extLst>
          </p:cNvPr>
          <p:cNvCxnSpPr>
            <a:cxnSpLocks/>
            <a:stCxn id="3098" idx="2"/>
          </p:cNvCxnSpPr>
          <p:nvPr/>
        </p:nvCxnSpPr>
        <p:spPr>
          <a:xfrm flipH="1">
            <a:off x="9039179" y="4568965"/>
            <a:ext cx="1251" cy="947063"/>
          </a:xfrm>
          <a:prstGeom prst="line">
            <a:avLst/>
          </a:prstGeom>
          <a:ln w="19050">
            <a:solidFill>
              <a:srgbClr val="D94535"/>
            </a:solidFill>
            <a:prstDash val="dash"/>
          </a:ln>
        </p:spPr>
      </p:cxnSp>
      <p:sp>
        <p:nvSpPr>
          <p:cNvPr id="3098" name="BLabel">
            <a:extLst>
              <a:ext uri="{FF2B5EF4-FFF2-40B4-BE49-F238E27FC236}">
                <a16:creationId xmlns:a16="http://schemas.microsoft.com/office/drawing/2014/main" id="{154DEA58-46F8-FB86-71F5-DD28778BF8F0}"/>
              </a:ext>
            </a:extLst>
          </p:cNvPr>
          <p:cNvSpPr/>
          <p:nvPr/>
        </p:nvSpPr>
        <p:spPr>
          <a:xfrm>
            <a:off x="8516755" y="4383405"/>
            <a:ext cx="1047349" cy="185560"/>
          </a:xfrm>
          <a:prstGeom prst="roundRect">
            <a:avLst>
              <a:gd name="adj" fmla="val 16667"/>
            </a:avLst>
          </a:prstGeom>
          <a:solidFill>
            <a:srgbClr val="D94535"/>
          </a:solidFill>
          <a:ln>
            <a:noFill/>
          </a:ln>
        </p:spPr>
        <p:txBody>
          <a:bodyPr wrap="none" lIns="36000" tIns="0" rIns="36000" bIns="0" anchor="ctr"/>
          <a:lstStyle/>
          <a:p>
            <a:pPr algn="ctr"/>
            <a:r>
              <a:rPr lang="en-US" sz="1000" b="1" dirty="0">
                <a:solidFill>
                  <a:srgbClr val="FFFFFF"/>
                </a:solidFill>
                <a:latin typeface="Open Sans"/>
              </a:rPr>
              <a:t>b₁ = 0.386</a:t>
            </a:r>
          </a:p>
        </p:txBody>
      </p:sp>
      <p:sp>
        <p:nvSpPr>
          <p:cNvPr id="3099" name="TLabel">
            <a:extLst>
              <a:ext uri="{FF2B5EF4-FFF2-40B4-BE49-F238E27FC236}">
                <a16:creationId xmlns:a16="http://schemas.microsoft.com/office/drawing/2014/main" id="{F26F2306-EA5A-FFE4-9049-AC8B28340D67}"/>
              </a:ext>
            </a:extLst>
          </p:cNvPr>
          <p:cNvSpPr/>
          <p:nvPr/>
        </p:nvSpPr>
        <p:spPr>
          <a:xfrm>
            <a:off x="6744099" y="5018733"/>
            <a:ext cx="2285125" cy="237320"/>
          </a:xfrm>
          <a:prstGeom prst="homePlate">
            <a:avLst/>
          </a:prstGeom>
          <a:solidFill>
            <a:srgbClr val="FFFFFF"/>
          </a:solidFill>
          <a:ln w="12700">
            <a:solidFill>
              <a:srgbClr val="2C8B2C"/>
            </a:solidFill>
          </a:ln>
        </p:spPr>
        <p:txBody>
          <a:bodyPr wrap="none" lIns="36000" tIns="0" rIns="36000" bIns="0" anchor="ctr"/>
          <a:lstStyle/>
          <a:p>
            <a:pPr algn="ctr"/>
            <a:r>
              <a:rPr lang="en-US" sz="1000" b="1" dirty="0">
                <a:solidFill>
                  <a:srgbClr val="2C8B2C"/>
                </a:solidFill>
                <a:latin typeface="Open Sans"/>
              </a:rPr>
              <a:t>t = b</a:t>
            </a:r>
            <a:r>
              <a:rPr lang="en-US" sz="1000" b="1" baseline="-25000" dirty="0">
                <a:solidFill>
                  <a:srgbClr val="2C8B2C"/>
                </a:solidFill>
                <a:latin typeface="Open Sans"/>
              </a:rPr>
              <a:t>1</a:t>
            </a:r>
            <a:r>
              <a:rPr lang="en-US" sz="1000" b="1" dirty="0">
                <a:solidFill>
                  <a:srgbClr val="2C8B2C"/>
                </a:solidFill>
                <a:latin typeface="Open Sans"/>
              </a:rPr>
              <a:t> / SE = 0.386 / 0.118 = 3.26</a:t>
            </a:r>
          </a:p>
        </p:txBody>
      </p:sp>
      <p:sp>
        <p:nvSpPr>
          <p:cNvPr id="3100" name="CILVal7">
            <a:extLst>
              <a:ext uri="{FF2B5EF4-FFF2-40B4-BE49-F238E27FC236}">
                <a16:creationId xmlns:a16="http://schemas.microsoft.com/office/drawing/2014/main" id="{5182FA20-32BD-0DCF-E58A-6A5D9018A58C}"/>
              </a:ext>
            </a:extLst>
          </p:cNvPr>
          <p:cNvSpPr/>
          <p:nvPr/>
        </p:nvSpPr>
        <p:spPr>
          <a:xfrm>
            <a:off x="7326307" y="5959054"/>
            <a:ext cx="448620" cy="186468"/>
          </a:xfrm>
          <a:prstGeom prst="rect">
            <a:avLst/>
          </a:prstGeom>
          <a:noFill/>
          <a:ln>
            <a:noFill/>
          </a:ln>
        </p:spPr>
        <p:txBody>
          <a:bodyPr wrap="none" lIns="0" tIns="0" rIns="0" bIns="0" anchor="t"/>
          <a:lstStyle/>
          <a:p>
            <a:pPr algn="ctr"/>
            <a:r>
              <a:rPr lang="en-US" sz="1000" b="1" dirty="0">
                <a:solidFill>
                  <a:srgbClr val="2B6CB0"/>
                </a:solidFill>
                <a:latin typeface="Open Sans"/>
              </a:rPr>
              <a:t>0.096</a:t>
            </a:r>
          </a:p>
        </p:txBody>
      </p:sp>
      <p:sp>
        <p:nvSpPr>
          <p:cNvPr id="3101" name="CIRVal7">
            <a:extLst>
              <a:ext uri="{FF2B5EF4-FFF2-40B4-BE49-F238E27FC236}">
                <a16:creationId xmlns:a16="http://schemas.microsoft.com/office/drawing/2014/main" id="{5A1A4BDD-A2E5-55B6-7E8F-3B826A0AE794}"/>
              </a:ext>
            </a:extLst>
          </p:cNvPr>
          <p:cNvSpPr/>
          <p:nvPr/>
        </p:nvSpPr>
        <p:spPr>
          <a:xfrm>
            <a:off x="10314634" y="5971044"/>
            <a:ext cx="448620" cy="186468"/>
          </a:xfrm>
          <a:prstGeom prst="rect">
            <a:avLst/>
          </a:prstGeom>
          <a:noFill/>
          <a:ln>
            <a:noFill/>
          </a:ln>
        </p:spPr>
        <p:txBody>
          <a:bodyPr wrap="none" lIns="0" tIns="0" rIns="0" bIns="0" anchor="t"/>
          <a:lstStyle/>
          <a:p>
            <a:pPr algn="ctr"/>
            <a:r>
              <a:rPr lang="en-US" sz="1000" b="1" dirty="0">
                <a:solidFill>
                  <a:srgbClr val="2B6CB0"/>
                </a:solidFill>
                <a:latin typeface="Open Sans"/>
              </a:rPr>
              <a:t>0.676</a:t>
            </a:r>
          </a:p>
        </p:txBody>
      </p:sp>
      <p:sp>
        <p:nvSpPr>
          <p:cNvPr id="3102" name="CIBar7">
            <a:extLst>
              <a:ext uri="{FF2B5EF4-FFF2-40B4-BE49-F238E27FC236}">
                <a16:creationId xmlns:a16="http://schemas.microsoft.com/office/drawing/2014/main" id="{4629D35A-A399-902F-5AD3-9F322C8CEDAB}"/>
              </a:ext>
            </a:extLst>
          </p:cNvPr>
          <p:cNvSpPr/>
          <p:nvPr/>
        </p:nvSpPr>
        <p:spPr>
          <a:xfrm>
            <a:off x="7332951" y="6284168"/>
            <a:ext cx="3436947" cy="429809"/>
          </a:xfrm>
          <a:prstGeom prst="rect">
            <a:avLst/>
          </a:prstGeom>
          <a:solidFill>
            <a:srgbClr val="F1F4FF"/>
          </a:solidFill>
          <a:ln>
            <a:solidFill>
              <a:srgbClr val="0070C0"/>
            </a:solidFill>
          </a:ln>
        </p:spPr>
        <p:txBody>
          <a:bodyPr anchor="ctr"/>
          <a:lstStyle/>
          <a:p>
            <a:pPr algn="ctr"/>
            <a:r>
              <a:rPr lang="en-US" sz="1050" b="1" dirty="0">
                <a:solidFill>
                  <a:srgbClr val="2B6CB0"/>
                </a:solidFill>
                <a:latin typeface="Open Sans"/>
              </a:rPr>
              <a:t>True slope’s plausible region: ± 2.45 SE</a:t>
            </a:r>
          </a:p>
          <a:p>
            <a:pPr algn="ctr"/>
            <a:r>
              <a:rPr lang="en-US" sz="1050" b="1" dirty="0">
                <a:solidFill>
                  <a:srgbClr val="2B6CB0"/>
                </a:solidFill>
                <a:latin typeface="Open Sans"/>
              </a:rPr>
              <a:t>95% Confidence Interval</a:t>
            </a:r>
          </a:p>
        </p:txBody>
      </p:sp>
      <p:grpSp>
        <p:nvGrpSpPr>
          <p:cNvPr id="3103" name="Group 3102">
            <a:extLst>
              <a:ext uri="{FF2B5EF4-FFF2-40B4-BE49-F238E27FC236}">
                <a16:creationId xmlns:a16="http://schemas.microsoft.com/office/drawing/2014/main" id="{7598BE79-F828-E47D-5D35-352B93AA22DF}"/>
              </a:ext>
            </a:extLst>
          </p:cNvPr>
          <p:cNvGrpSpPr/>
          <p:nvPr/>
        </p:nvGrpSpPr>
        <p:grpSpPr>
          <a:xfrm>
            <a:off x="7342945" y="6153014"/>
            <a:ext cx="3436941" cy="139778"/>
            <a:chOff x="7674600" y="4901590"/>
            <a:chExt cx="3052621" cy="124385"/>
          </a:xfrm>
        </p:grpSpPr>
        <p:sp>
          <p:nvSpPr>
            <p:cNvPr id="3104" name="CIBar7">
              <a:extLst>
                <a:ext uri="{FF2B5EF4-FFF2-40B4-BE49-F238E27FC236}">
                  <a16:creationId xmlns:a16="http://schemas.microsoft.com/office/drawing/2014/main" id="{B55F77A4-247F-D34E-39AD-C90656B20267}"/>
                </a:ext>
              </a:extLst>
            </p:cNvPr>
            <p:cNvSpPr/>
            <p:nvPr/>
          </p:nvSpPr>
          <p:spPr>
            <a:xfrm>
              <a:off x="9202825" y="4916652"/>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105" name="CILW7">
              <a:extLst>
                <a:ext uri="{FF2B5EF4-FFF2-40B4-BE49-F238E27FC236}">
                  <a16:creationId xmlns:a16="http://schemas.microsoft.com/office/drawing/2014/main" id="{5E54A050-56F0-B43C-F518-77A0AA8A5187}"/>
                </a:ext>
              </a:extLst>
            </p:cNvPr>
            <p:cNvSpPr/>
            <p:nvPr/>
          </p:nvSpPr>
          <p:spPr>
            <a:xfrm>
              <a:off x="9196928" y="4901590"/>
              <a:ext cx="0" cy="120753"/>
            </a:xfrm>
            <a:prstGeom prst="line">
              <a:avLst/>
            </a:prstGeom>
            <a:ln w="15875">
              <a:solidFill>
                <a:srgbClr val="2B6CB0"/>
              </a:solidFill>
            </a:ln>
          </p:spPr>
          <p:txBody>
            <a:bodyPr anchor="ctr"/>
            <a:lstStyle/>
            <a:p>
              <a:endParaRPr lang="en-US" sz="2000"/>
            </a:p>
          </p:txBody>
        </p:sp>
        <p:sp>
          <p:nvSpPr>
            <p:cNvPr id="3106" name="CILW7">
              <a:extLst>
                <a:ext uri="{FF2B5EF4-FFF2-40B4-BE49-F238E27FC236}">
                  <a16:creationId xmlns:a16="http://schemas.microsoft.com/office/drawing/2014/main" id="{E41CD014-05C9-ECC9-0775-F55023DB2867}"/>
                </a:ext>
              </a:extLst>
            </p:cNvPr>
            <p:cNvSpPr/>
            <p:nvPr/>
          </p:nvSpPr>
          <p:spPr>
            <a:xfrm>
              <a:off x="9822879" y="4901590"/>
              <a:ext cx="0" cy="120753"/>
            </a:xfrm>
            <a:prstGeom prst="line">
              <a:avLst/>
            </a:prstGeom>
            <a:ln w="15875">
              <a:solidFill>
                <a:srgbClr val="2B6CB0"/>
              </a:solidFill>
            </a:ln>
          </p:spPr>
          <p:txBody>
            <a:bodyPr anchor="ctr"/>
            <a:lstStyle/>
            <a:p>
              <a:endParaRPr lang="en-US" sz="2000"/>
            </a:p>
          </p:txBody>
        </p:sp>
        <p:sp>
          <p:nvSpPr>
            <p:cNvPr id="3107" name="CIBar7">
              <a:extLst>
                <a:ext uri="{FF2B5EF4-FFF2-40B4-BE49-F238E27FC236}">
                  <a16:creationId xmlns:a16="http://schemas.microsoft.com/office/drawing/2014/main" id="{2BD680E0-3D88-C82C-89A9-27139B79C481}"/>
                </a:ext>
              </a:extLst>
            </p:cNvPr>
            <p:cNvSpPr/>
            <p:nvPr/>
          </p:nvSpPr>
          <p:spPr>
            <a:xfrm>
              <a:off x="9828775" y="4919212"/>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108" name="CILW7">
              <a:extLst>
                <a:ext uri="{FF2B5EF4-FFF2-40B4-BE49-F238E27FC236}">
                  <a16:creationId xmlns:a16="http://schemas.microsoft.com/office/drawing/2014/main" id="{3673924D-1219-FA95-723A-CA3B8D516A15}"/>
                </a:ext>
              </a:extLst>
            </p:cNvPr>
            <p:cNvSpPr/>
            <p:nvPr/>
          </p:nvSpPr>
          <p:spPr>
            <a:xfrm>
              <a:off x="9822878" y="4904150"/>
              <a:ext cx="0" cy="120753"/>
            </a:xfrm>
            <a:prstGeom prst="line">
              <a:avLst/>
            </a:prstGeom>
            <a:ln w="15875">
              <a:solidFill>
                <a:srgbClr val="2B6CB0"/>
              </a:solidFill>
            </a:ln>
          </p:spPr>
          <p:txBody>
            <a:bodyPr anchor="ctr"/>
            <a:lstStyle/>
            <a:p>
              <a:endParaRPr lang="en-US" sz="2000"/>
            </a:p>
          </p:txBody>
        </p:sp>
        <p:sp>
          <p:nvSpPr>
            <p:cNvPr id="3109" name="CILW7">
              <a:extLst>
                <a:ext uri="{FF2B5EF4-FFF2-40B4-BE49-F238E27FC236}">
                  <a16:creationId xmlns:a16="http://schemas.microsoft.com/office/drawing/2014/main" id="{5AAF8DD4-762A-DFC8-82B6-AC313949CC88}"/>
                </a:ext>
              </a:extLst>
            </p:cNvPr>
            <p:cNvSpPr/>
            <p:nvPr/>
          </p:nvSpPr>
          <p:spPr>
            <a:xfrm>
              <a:off x="10448828" y="4904150"/>
              <a:ext cx="0" cy="120753"/>
            </a:xfrm>
            <a:prstGeom prst="line">
              <a:avLst/>
            </a:prstGeom>
            <a:ln w="15875">
              <a:solidFill>
                <a:srgbClr val="2B6CB0"/>
              </a:solidFill>
            </a:ln>
          </p:spPr>
          <p:txBody>
            <a:bodyPr anchor="ctr"/>
            <a:lstStyle/>
            <a:p>
              <a:endParaRPr lang="en-US" sz="2000"/>
            </a:p>
          </p:txBody>
        </p:sp>
        <p:sp>
          <p:nvSpPr>
            <p:cNvPr id="3110" name="CIBar7">
              <a:extLst>
                <a:ext uri="{FF2B5EF4-FFF2-40B4-BE49-F238E27FC236}">
                  <a16:creationId xmlns:a16="http://schemas.microsoft.com/office/drawing/2014/main" id="{EF805FFF-F425-9EA9-ECAA-2AB147939BF8}"/>
                </a:ext>
              </a:extLst>
            </p:cNvPr>
            <p:cNvSpPr/>
            <p:nvPr/>
          </p:nvSpPr>
          <p:spPr>
            <a:xfrm>
              <a:off x="10454724" y="4917724"/>
              <a:ext cx="272497" cy="89924"/>
            </a:xfrm>
            <a:prstGeom prst="rect">
              <a:avLst/>
            </a:prstGeom>
            <a:solidFill>
              <a:srgbClr val="B8D4E8">
                <a:alpha val="34902"/>
              </a:srgbClr>
            </a:solidFill>
            <a:ln>
              <a:noFill/>
            </a:ln>
          </p:spPr>
          <p:txBody>
            <a:bodyPr lIns="0" rIns="0" anchor="ctr"/>
            <a:lstStyle/>
            <a:p>
              <a:pPr algn="ctr"/>
              <a:endParaRPr lang="en-US" sz="900" dirty="0"/>
            </a:p>
          </p:txBody>
        </p:sp>
        <p:sp>
          <p:nvSpPr>
            <p:cNvPr id="3111" name="CILW7">
              <a:extLst>
                <a:ext uri="{FF2B5EF4-FFF2-40B4-BE49-F238E27FC236}">
                  <a16:creationId xmlns:a16="http://schemas.microsoft.com/office/drawing/2014/main" id="{F77422BA-EDF5-E61C-738F-097ED410F105}"/>
                </a:ext>
              </a:extLst>
            </p:cNvPr>
            <p:cNvSpPr/>
            <p:nvPr/>
          </p:nvSpPr>
          <p:spPr>
            <a:xfrm>
              <a:off x="10448826" y="4902662"/>
              <a:ext cx="0" cy="120753"/>
            </a:xfrm>
            <a:prstGeom prst="line">
              <a:avLst/>
            </a:prstGeom>
            <a:ln w="15875">
              <a:solidFill>
                <a:srgbClr val="2B6CB0"/>
              </a:solidFill>
            </a:ln>
          </p:spPr>
          <p:txBody>
            <a:bodyPr anchor="ctr"/>
            <a:lstStyle/>
            <a:p>
              <a:endParaRPr lang="en-US" sz="2000"/>
            </a:p>
          </p:txBody>
        </p:sp>
        <p:sp>
          <p:nvSpPr>
            <p:cNvPr id="3112" name="CIBar7">
              <a:extLst>
                <a:ext uri="{FF2B5EF4-FFF2-40B4-BE49-F238E27FC236}">
                  <a16:creationId xmlns:a16="http://schemas.microsoft.com/office/drawing/2014/main" id="{A0A6764D-1626-59DB-D049-D469DA7C8AEF}"/>
                </a:ext>
              </a:extLst>
            </p:cNvPr>
            <p:cNvSpPr/>
            <p:nvPr/>
          </p:nvSpPr>
          <p:spPr>
            <a:xfrm>
              <a:off x="7674600" y="4917724"/>
              <a:ext cx="272102" cy="89924"/>
            </a:xfrm>
            <a:prstGeom prst="rect">
              <a:avLst/>
            </a:prstGeom>
            <a:solidFill>
              <a:srgbClr val="B8D4E8">
                <a:alpha val="34902"/>
              </a:srgbClr>
            </a:solidFill>
            <a:ln>
              <a:noFill/>
            </a:ln>
          </p:spPr>
          <p:txBody>
            <a:bodyPr lIns="0" rIns="0" anchor="ctr"/>
            <a:lstStyle/>
            <a:p>
              <a:pPr algn="ctr"/>
              <a:endParaRPr lang="en-US" sz="900" dirty="0"/>
            </a:p>
          </p:txBody>
        </p:sp>
        <p:sp>
          <p:nvSpPr>
            <p:cNvPr id="3113" name="CILW7">
              <a:extLst>
                <a:ext uri="{FF2B5EF4-FFF2-40B4-BE49-F238E27FC236}">
                  <a16:creationId xmlns:a16="http://schemas.microsoft.com/office/drawing/2014/main" id="{E4A4E9BB-2804-A0D0-EEDA-5A4CB477B564}"/>
                </a:ext>
              </a:extLst>
            </p:cNvPr>
            <p:cNvSpPr/>
            <p:nvPr/>
          </p:nvSpPr>
          <p:spPr>
            <a:xfrm>
              <a:off x="7947981" y="4902662"/>
              <a:ext cx="0" cy="120753"/>
            </a:xfrm>
            <a:prstGeom prst="line">
              <a:avLst/>
            </a:prstGeom>
            <a:ln w="15875">
              <a:solidFill>
                <a:srgbClr val="2B6CB0"/>
              </a:solidFill>
            </a:ln>
          </p:spPr>
          <p:txBody>
            <a:bodyPr anchor="ctr"/>
            <a:lstStyle/>
            <a:p>
              <a:endParaRPr lang="en-US" sz="2000"/>
            </a:p>
          </p:txBody>
        </p:sp>
        <p:sp>
          <p:nvSpPr>
            <p:cNvPr id="3114" name="CIBar7">
              <a:extLst>
                <a:ext uri="{FF2B5EF4-FFF2-40B4-BE49-F238E27FC236}">
                  <a16:creationId xmlns:a16="http://schemas.microsoft.com/office/drawing/2014/main" id="{FAC53EBA-7F60-88D5-1A7F-FDB5665E7493}"/>
                </a:ext>
              </a:extLst>
            </p:cNvPr>
            <p:cNvSpPr/>
            <p:nvPr/>
          </p:nvSpPr>
          <p:spPr>
            <a:xfrm>
              <a:off x="7953878" y="4920284"/>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116" name="CILW7">
              <a:extLst>
                <a:ext uri="{FF2B5EF4-FFF2-40B4-BE49-F238E27FC236}">
                  <a16:creationId xmlns:a16="http://schemas.microsoft.com/office/drawing/2014/main" id="{44F21A17-1D77-D6C6-AA59-1C73E3080642}"/>
                </a:ext>
              </a:extLst>
            </p:cNvPr>
            <p:cNvSpPr/>
            <p:nvPr/>
          </p:nvSpPr>
          <p:spPr>
            <a:xfrm>
              <a:off x="7947980" y="4905222"/>
              <a:ext cx="0" cy="120753"/>
            </a:xfrm>
            <a:prstGeom prst="line">
              <a:avLst/>
            </a:prstGeom>
            <a:ln w="15875">
              <a:solidFill>
                <a:srgbClr val="2B6CB0"/>
              </a:solidFill>
            </a:ln>
          </p:spPr>
          <p:txBody>
            <a:bodyPr anchor="ctr"/>
            <a:lstStyle/>
            <a:p>
              <a:endParaRPr lang="en-US" sz="2000"/>
            </a:p>
          </p:txBody>
        </p:sp>
        <p:sp>
          <p:nvSpPr>
            <p:cNvPr id="3118" name="CILW7">
              <a:extLst>
                <a:ext uri="{FF2B5EF4-FFF2-40B4-BE49-F238E27FC236}">
                  <a16:creationId xmlns:a16="http://schemas.microsoft.com/office/drawing/2014/main" id="{E06799AE-C117-BE13-1A95-36BDF5E576D7}"/>
                </a:ext>
              </a:extLst>
            </p:cNvPr>
            <p:cNvSpPr/>
            <p:nvPr/>
          </p:nvSpPr>
          <p:spPr>
            <a:xfrm>
              <a:off x="8573931" y="4905222"/>
              <a:ext cx="0" cy="120753"/>
            </a:xfrm>
            <a:prstGeom prst="line">
              <a:avLst/>
            </a:prstGeom>
            <a:ln w="15875">
              <a:solidFill>
                <a:srgbClr val="2B6CB0"/>
              </a:solidFill>
            </a:ln>
          </p:spPr>
          <p:txBody>
            <a:bodyPr anchor="ctr"/>
            <a:lstStyle/>
            <a:p>
              <a:endParaRPr lang="en-US" sz="2000"/>
            </a:p>
          </p:txBody>
        </p:sp>
        <p:sp>
          <p:nvSpPr>
            <p:cNvPr id="3120" name="CIBar7">
              <a:extLst>
                <a:ext uri="{FF2B5EF4-FFF2-40B4-BE49-F238E27FC236}">
                  <a16:creationId xmlns:a16="http://schemas.microsoft.com/office/drawing/2014/main" id="{DC7A7714-114F-7647-B0F7-BC3F3A993F08}"/>
                </a:ext>
              </a:extLst>
            </p:cNvPr>
            <p:cNvSpPr/>
            <p:nvPr/>
          </p:nvSpPr>
          <p:spPr>
            <a:xfrm>
              <a:off x="8579827" y="4918796"/>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122" name="CILW7">
              <a:extLst>
                <a:ext uri="{FF2B5EF4-FFF2-40B4-BE49-F238E27FC236}">
                  <a16:creationId xmlns:a16="http://schemas.microsoft.com/office/drawing/2014/main" id="{8A74DE7F-0F32-EE50-86BF-34F905BC049D}"/>
                </a:ext>
              </a:extLst>
            </p:cNvPr>
            <p:cNvSpPr/>
            <p:nvPr/>
          </p:nvSpPr>
          <p:spPr>
            <a:xfrm>
              <a:off x="8573929" y="4903734"/>
              <a:ext cx="0" cy="120753"/>
            </a:xfrm>
            <a:prstGeom prst="line">
              <a:avLst/>
            </a:prstGeom>
            <a:ln w="15875">
              <a:solidFill>
                <a:srgbClr val="2B6CB0"/>
              </a:solidFill>
            </a:ln>
          </p:spPr>
          <p:txBody>
            <a:bodyPr anchor="ctr"/>
            <a:lstStyle/>
            <a:p>
              <a:endParaRPr lang="en-US" sz="2000"/>
            </a:p>
          </p:txBody>
        </p:sp>
        <p:sp>
          <p:nvSpPr>
            <p:cNvPr id="3126" name="CILW7">
              <a:extLst>
                <a:ext uri="{FF2B5EF4-FFF2-40B4-BE49-F238E27FC236}">
                  <a16:creationId xmlns:a16="http://schemas.microsoft.com/office/drawing/2014/main" id="{763ED4EC-8CC5-E71A-9301-586888485204}"/>
                </a:ext>
              </a:extLst>
            </p:cNvPr>
            <p:cNvSpPr/>
            <p:nvPr/>
          </p:nvSpPr>
          <p:spPr>
            <a:xfrm>
              <a:off x="9199880" y="4903734"/>
              <a:ext cx="0" cy="120753"/>
            </a:xfrm>
            <a:prstGeom prst="line">
              <a:avLst/>
            </a:prstGeom>
            <a:ln w="15875">
              <a:solidFill>
                <a:srgbClr val="2B6CB0"/>
              </a:solidFill>
            </a:ln>
          </p:spPr>
          <p:txBody>
            <a:bodyPr anchor="ctr"/>
            <a:lstStyle/>
            <a:p>
              <a:endParaRPr lang="en-US" sz="2000"/>
            </a:p>
          </p:txBody>
        </p:sp>
      </p:grpSp>
      <p:grpSp>
        <p:nvGrpSpPr>
          <p:cNvPr id="3200" name="Group 3199">
            <a:extLst>
              <a:ext uri="{FF2B5EF4-FFF2-40B4-BE49-F238E27FC236}">
                <a16:creationId xmlns:a16="http://schemas.microsoft.com/office/drawing/2014/main" id="{32F4A8A4-928F-F46D-C120-94ACD1877340}"/>
              </a:ext>
            </a:extLst>
          </p:cNvPr>
          <p:cNvGrpSpPr/>
          <p:nvPr/>
        </p:nvGrpSpPr>
        <p:grpSpPr>
          <a:xfrm>
            <a:off x="7319661" y="5639970"/>
            <a:ext cx="3450237" cy="1157961"/>
            <a:chOff x="7319661" y="5639970"/>
            <a:chExt cx="3450237" cy="1157961"/>
          </a:xfrm>
        </p:grpSpPr>
        <p:sp>
          <p:nvSpPr>
            <p:cNvPr id="3134" name="CILW7">
              <a:extLst>
                <a:ext uri="{FF2B5EF4-FFF2-40B4-BE49-F238E27FC236}">
                  <a16:creationId xmlns:a16="http://schemas.microsoft.com/office/drawing/2014/main" id="{CAF3F301-57C8-37B7-3C62-1926427F94EE}"/>
                </a:ext>
              </a:extLst>
            </p:cNvPr>
            <p:cNvSpPr/>
            <p:nvPr/>
          </p:nvSpPr>
          <p:spPr>
            <a:xfrm>
              <a:off x="7319661" y="5652637"/>
              <a:ext cx="6646" cy="1145294"/>
            </a:xfrm>
            <a:prstGeom prst="line">
              <a:avLst/>
            </a:prstGeom>
            <a:ln w="15875">
              <a:solidFill>
                <a:srgbClr val="2B6CB0"/>
              </a:solidFill>
              <a:prstDash val="sysDash"/>
            </a:ln>
          </p:spPr>
          <p:txBody>
            <a:bodyPr/>
            <a:lstStyle/>
            <a:p>
              <a:endParaRPr lang="en-US" sz="2000"/>
            </a:p>
          </p:txBody>
        </p:sp>
        <p:sp>
          <p:nvSpPr>
            <p:cNvPr id="3135" name="CIRW7">
              <a:extLst>
                <a:ext uri="{FF2B5EF4-FFF2-40B4-BE49-F238E27FC236}">
                  <a16:creationId xmlns:a16="http://schemas.microsoft.com/office/drawing/2014/main" id="{C6C3CCF7-1046-82A9-E292-F3AA845C7D18}"/>
                </a:ext>
              </a:extLst>
            </p:cNvPr>
            <p:cNvSpPr/>
            <p:nvPr/>
          </p:nvSpPr>
          <p:spPr>
            <a:xfrm flipH="1">
              <a:off x="10763252" y="5639970"/>
              <a:ext cx="6646" cy="1145295"/>
            </a:xfrm>
            <a:prstGeom prst="line">
              <a:avLst/>
            </a:prstGeom>
            <a:ln w="15875">
              <a:solidFill>
                <a:srgbClr val="2B6CB0"/>
              </a:solidFill>
              <a:prstDash val="sysDash"/>
            </a:ln>
          </p:spPr>
          <p:txBody>
            <a:bodyPr/>
            <a:lstStyle/>
            <a:p>
              <a:endParaRPr lang="en-US" sz="2000"/>
            </a:p>
          </p:txBody>
        </p:sp>
      </p:grpSp>
      <p:sp>
        <p:nvSpPr>
          <p:cNvPr id="3202" name="Rounded Rectangle 3201">
            <a:extLst>
              <a:ext uri="{FF2B5EF4-FFF2-40B4-BE49-F238E27FC236}">
                <a16:creationId xmlns:a16="http://schemas.microsoft.com/office/drawing/2014/main" id="{5D908A36-3E62-9BA0-6903-9C79DCCCC2A3}"/>
              </a:ext>
            </a:extLst>
          </p:cNvPr>
          <p:cNvSpPr/>
          <p:nvPr/>
        </p:nvSpPr>
        <p:spPr>
          <a:xfrm>
            <a:off x="6349074" y="4016790"/>
            <a:ext cx="2851705" cy="318078"/>
          </a:xfrm>
          <a:prstGeom prst="roundRect">
            <a:avLst/>
          </a:prstGeom>
          <a:solidFill>
            <a:schemeClr val="tx1">
              <a:lumMod val="60000"/>
              <a:lumOff val="40000"/>
            </a:scheme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b="1" dirty="0">
                <a:solidFill>
                  <a:srgbClr val="FFFFFF"/>
                </a:solidFill>
                <a:latin typeface="Montserrat"/>
              </a:rPr>
              <a:t>MODEL FIT ON A NUMBER LINE </a:t>
            </a:r>
          </a:p>
        </p:txBody>
      </p:sp>
    </p:spTree>
    <p:extLst>
      <p:ext uri="{BB962C8B-B14F-4D97-AF65-F5344CB8AC3E}">
        <p14:creationId xmlns:p14="http://schemas.microsoft.com/office/powerpoint/2010/main" val="2717918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8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0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9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9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9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10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20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0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10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10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19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20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20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20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08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09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1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3" grpId="0" animBg="1"/>
      <p:bldP spid="3082" grpId="0" animBg="1"/>
      <p:bldP spid="3096" grpId="0" animBg="1"/>
      <p:bldP spid="3098" grpId="0" animBg="1"/>
      <p:bldP spid="3099" grpId="0" animBg="1"/>
      <p:bldP spid="3100" grpId="0"/>
      <p:bldP spid="3101" grpId="0"/>
      <p:bldP spid="3102" grpId="0" animBg="1"/>
      <p:bldP spid="320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A1C8F6CD-F70C-2943-8ACB-213FCAF3D3E2}"/>
              </a:ext>
            </a:extLst>
          </p:cNvPr>
          <p:cNvSpPr/>
          <p:nvPr/>
        </p:nvSpPr>
        <p:spPr>
          <a:xfrm>
            <a:off x="6197600" y="844952"/>
            <a:ext cx="5753100" cy="922116"/>
          </a:xfrm>
          <a:prstGeom prst="roundRect">
            <a:avLst/>
          </a:prstGeom>
          <a:solidFill>
            <a:srgbClr val="2E6B7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dirty="0">
                <a:solidFill>
                  <a:srgbClr val="FFFFFF"/>
                </a:solidFill>
              </a:rPr>
              <a:t>Two studies with similar sample sizes were performed and found a slope of -0.30. For study A: SE = 0.05; For Study B: SE = 0.25. Which has stronger evidence for an effect?</a:t>
            </a:r>
          </a:p>
        </p:txBody>
      </p:sp>
      <p:sp>
        <p:nvSpPr>
          <p:cNvPr id="10" name="Rounded Rectangle 9">
            <a:extLst>
              <a:ext uri="{FF2B5EF4-FFF2-40B4-BE49-F238E27FC236}">
                <a16:creationId xmlns:a16="http://schemas.microsoft.com/office/drawing/2014/main" id="{8505083C-3F8C-D84E-B55E-4E2A0BB9CE67}"/>
              </a:ext>
            </a:extLst>
          </p:cNvPr>
          <p:cNvSpPr/>
          <p:nvPr/>
        </p:nvSpPr>
        <p:spPr>
          <a:xfrm>
            <a:off x="6400800" y="1868668"/>
            <a:ext cx="5549900" cy="381000"/>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clip" horzOverflow="clip" vert="horz" wrap="square" lIns="91440" tIns="45720" rIns="91440" bIns="45720" numCol="1" spcCol="0" rtlCol="0" fromWordArt="0" anchor="ctr" anchorCtr="0" forceAA="0" compatLnSpc="1">
            <a:prstTxWarp prst="textNoShape">
              <a:avLst/>
            </a:prstTxWarp>
            <a:noAutofit/>
          </a:bodyPr>
          <a:lstStyle/>
          <a:p>
            <a:r>
              <a:rPr lang="en-US" sz="1400" dirty="0">
                <a:solidFill>
                  <a:srgbClr val="2E3640"/>
                </a:solidFill>
              </a:rPr>
              <a:t>A)  Study A</a:t>
            </a:r>
          </a:p>
        </p:txBody>
      </p:sp>
      <p:sp>
        <p:nvSpPr>
          <p:cNvPr id="11" name="Rounded Rectangle 10">
            <a:extLst>
              <a:ext uri="{FF2B5EF4-FFF2-40B4-BE49-F238E27FC236}">
                <a16:creationId xmlns:a16="http://schemas.microsoft.com/office/drawing/2014/main" id="{C4D57A42-C2B5-A945-9E98-6B9D9E9D1E6C}"/>
              </a:ext>
            </a:extLst>
          </p:cNvPr>
          <p:cNvSpPr/>
          <p:nvPr/>
        </p:nvSpPr>
        <p:spPr>
          <a:xfrm>
            <a:off x="6400800" y="2300468"/>
            <a:ext cx="5549900" cy="381000"/>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dirty="0">
                <a:solidFill>
                  <a:srgbClr val="2E3640"/>
                </a:solidFill>
              </a:rPr>
              <a:t>B)  Study B</a:t>
            </a:r>
          </a:p>
        </p:txBody>
      </p:sp>
      <p:sp>
        <p:nvSpPr>
          <p:cNvPr id="12" name="Rounded Rectangle 11">
            <a:extLst>
              <a:ext uri="{FF2B5EF4-FFF2-40B4-BE49-F238E27FC236}">
                <a16:creationId xmlns:a16="http://schemas.microsoft.com/office/drawing/2014/main" id="{1601A1AA-B7BD-A24D-9BB9-763553E7C474}"/>
              </a:ext>
            </a:extLst>
          </p:cNvPr>
          <p:cNvSpPr/>
          <p:nvPr/>
        </p:nvSpPr>
        <p:spPr>
          <a:xfrm>
            <a:off x="6400800" y="2732268"/>
            <a:ext cx="5549900" cy="381000"/>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dirty="0">
                <a:solidFill>
                  <a:srgbClr val="2E3640"/>
                </a:solidFill>
              </a:rPr>
              <a:t>C)  Equal because the slopes are the same</a:t>
            </a:r>
          </a:p>
        </p:txBody>
      </p:sp>
      <p:sp>
        <p:nvSpPr>
          <p:cNvPr id="13" name="Rounded Rectangle 12">
            <a:extLst>
              <a:ext uri="{FF2B5EF4-FFF2-40B4-BE49-F238E27FC236}">
                <a16:creationId xmlns:a16="http://schemas.microsoft.com/office/drawing/2014/main" id="{0F9D147B-69B3-2244-AC67-279CA7515486}"/>
              </a:ext>
            </a:extLst>
          </p:cNvPr>
          <p:cNvSpPr/>
          <p:nvPr/>
        </p:nvSpPr>
        <p:spPr>
          <a:xfrm>
            <a:off x="6197600" y="3164068"/>
            <a:ext cx="5753100" cy="1527691"/>
          </a:xfrm>
          <a:prstGeom prst="roundRect">
            <a:avLst/>
          </a:prstGeom>
          <a:solidFill>
            <a:srgbClr val="E8F4F5"/>
          </a:solidFill>
          <a:ln w="12700" cap="flat" cmpd="sng" algn="ctr">
            <a:solidFill>
              <a:srgbClr val="2E6B7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lgn="l"/>
            <a:r>
              <a:rPr lang="en-US" sz="1400" dirty="0">
                <a:solidFill>
                  <a:srgbClr val="2E3640"/>
                </a:solidFill>
              </a:rPr>
              <a:t>Answer: A
Study A: t = -0.30 / 0.05 = -6.0 </a:t>
            </a:r>
          </a:p>
          <a:p>
            <a:pPr algn="l"/>
            <a:r>
              <a:rPr lang="en-US" sz="1400" dirty="0">
                <a:solidFill>
                  <a:srgbClr val="2E3640"/>
                </a:solidFill>
              </a:rPr>
              <a:t>Study B: t = -0.30 / 0.25 = -1.2</a:t>
            </a:r>
          </a:p>
          <a:p>
            <a:pPr algn="l"/>
            <a:endParaRPr lang="en-US" sz="1400" dirty="0">
              <a:solidFill>
                <a:srgbClr val="2E3640"/>
              </a:solidFill>
            </a:endParaRPr>
          </a:p>
          <a:p>
            <a:r>
              <a:rPr lang="en-US" sz="1400" dirty="0">
                <a:solidFill>
                  <a:srgbClr val="2E3640"/>
                </a:solidFill>
              </a:rPr>
              <a:t>💡 A big |t| means the slope is large relative to its uncertainty: evidence of a linear association</a:t>
            </a:r>
          </a:p>
          <a:p>
            <a:pPr algn="l"/>
            <a:endParaRPr lang="en-US" sz="1400" dirty="0">
              <a:solidFill>
                <a:srgbClr val="2E3640"/>
              </a:solidFill>
            </a:endParaRPr>
          </a:p>
        </p:txBody>
      </p:sp>
      <p:sp>
        <p:nvSpPr>
          <p:cNvPr id="15" name="Rounded Rectangle 14">
            <a:extLst>
              <a:ext uri="{FF2B5EF4-FFF2-40B4-BE49-F238E27FC236}">
                <a16:creationId xmlns:a16="http://schemas.microsoft.com/office/drawing/2014/main" id="{7107D6BD-37A7-0CAA-A529-40FA3ECEDFA5}"/>
              </a:ext>
            </a:extLst>
          </p:cNvPr>
          <p:cNvSpPr/>
          <p:nvPr/>
        </p:nvSpPr>
        <p:spPr>
          <a:xfrm>
            <a:off x="406401" y="825500"/>
            <a:ext cx="5588000" cy="825500"/>
          </a:xfrm>
          <a:prstGeom prst="roundRect">
            <a:avLst/>
          </a:prstGeom>
          <a:solidFill>
            <a:srgbClr val="2E6B7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600" b="1" dirty="0">
                <a:solidFill>
                  <a:srgbClr val="FFFFFF"/>
                </a:solidFill>
                <a:latin typeface="Open Sans"/>
                <a:ea typeface="Open Sans"/>
                <a:cs typeface="Open Sans"/>
              </a:rPr>
              <a:t>A study of exercise vs. weight loss finds b₁ = 0.45 with SE = 0.15. Compute the t-statistic.</a:t>
            </a:r>
          </a:p>
        </p:txBody>
      </p:sp>
      <p:sp>
        <p:nvSpPr>
          <p:cNvPr id="16" name="Rounded Rectangle 15">
            <a:extLst>
              <a:ext uri="{FF2B5EF4-FFF2-40B4-BE49-F238E27FC236}">
                <a16:creationId xmlns:a16="http://schemas.microsoft.com/office/drawing/2014/main" id="{75A8B089-4957-C700-5EDF-727E89200F45}"/>
              </a:ext>
            </a:extLst>
          </p:cNvPr>
          <p:cNvSpPr/>
          <p:nvPr/>
        </p:nvSpPr>
        <p:spPr>
          <a:xfrm>
            <a:off x="609601" y="1727200"/>
            <a:ext cx="5384800" cy="330200"/>
          </a:xfrm>
          <a:prstGeom prst="roundRect">
            <a:avLst/>
          </a:prstGeom>
          <a:solidFill>
            <a:srgbClr val="F0F4F8"/>
          </a:solidFill>
          <a:ln w="6350" cap="flat" cmpd="sng" algn="ctr">
            <a:solidFill>
              <a:srgbClr val="CCCCC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500">
                <a:solidFill>
                  <a:srgbClr val="2E3640"/>
                </a:solidFill>
                <a:latin typeface="Open Sans"/>
                <a:ea typeface="Open Sans"/>
                <a:cs typeface="Open Sans"/>
              </a:rPr>
              <a:t>A)  t = 3.00</a:t>
            </a:r>
          </a:p>
        </p:txBody>
      </p:sp>
      <p:sp>
        <p:nvSpPr>
          <p:cNvPr id="17" name="Rounded Rectangle 16">
            <a:extLst>
              <a:ext uri="{FF2B5EF4-FFF2-40B4-BE49-F238E27FC236}">
                <a16:creationId xmlns:a16="http://schemas.microsoft.com/office/drawing/2014/main" id="{86040573-7101-CD5E-78E9-8EB85788DE78}"/>
              </a:ext>
            </a:extLst>
          </p:cNvPr>
          <p:cNvSpPr/>
          <p:nvPr/>
        </p:nvSpPr>
        <p:spPr>
          <a:xfrm>
            <a:off x="609601" y="2108200"/>
            <a:ext cx="5384800" cy="330200"/>
          </a:xfrm>
          <a:prstGeom prst="roundRect">
            <a:avLst/>
          </a:prstGeom>
          <a:solidFill>
            <a:srgbClr val="F0F4F8"/>
          </a:solidFill>
          <a:ln w="6350" cap="flat" cmpd="sng" algn="ctr">
            <a:solidFill>
              <a:srgbClr val="CCCCC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500">
                <a:solidFill>
                  <a:srgbClr val="2E3640"/>
                </a:solidFill>
                <a:latin typeface="Open Sans"/>
                <a:ea typeface="Open Sans"/>
                <a:cs typeface="Open Sans"/>
              </a:rPr>
              <a:t>B)  t = 0.33</a:t>
            </a:r>
          </a:p>
        </p:txBody>
      </p:sp>
      <p:sp>
        <p:nvSpPr>
          <p:cNvPr id="18" name="Rounded Rectangle 17">
            <a:extLst>
              <a:ext uri="{FF2B5EF4-FFF2-40B4-BE49-F238E27FC236}">
                <a16:creationId xmlns:a16="http://schemas.microsoft.com/office/drawing/2014/main" id="{BC3DB36A-18AE-4A46-03DD-B5F657FA539D}"/>
              </a:ext>
            </a:extLst>
          </p:cNvPr>
          <p:cNvSpPr/>
          <p:nvPr/>
        </p:nvSpPr>
        <p:spPr>
          <a:xfrm>
            <a:off x="609601" y="2489200"/>
            <a:ext cx="5384800" cy="330200"/>
          </a:xfrm>
          <a:prstGeom prst="roundRect">
            <a:avLst/>
          </a:prstGeom>
          <a:solidFill>
            <a:srgbClr val="F0F4F8"/>
          </a:solidFill>
          <a:ln w="6350" cap="flat" cmpd="sng" algn="ctr">
            <a:solidFill>
              <a:srgbClr val="CCCCC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500">
                <a:solidFill>
                  <a:srgbClr val="2E3640"/>
                </a:solidFill>
                <a:latin typeface="Open Sans"/>
                <a:ea typeface="Open Sans"/>
                <a:cs typeface="Open Sans"/>
              </a:rPr>
              <a:t>C)  t = 0.60</a:t>
            </a:r>
          </a:p>
        </p:txBody>
      </p:sp>
      <p:sp>
        <p:nvSpPr>
          <p:cNvPr id="19" name="Rounded Rectangle 18">
            <a:extLst>
              <a:ext uri="{FF2B5EF4-FFF2-40B4-BE49-F238E27FC236}">
                <a16:creationId xmlns:a16="http://schemas.microsoft.com/office/drawing/2014/main" id="{51ADCEBE-CC30-B4FC-1207-52663C926076}"/>
              </a:ext>
            </a:extLst>
          </p:cNvPr>
          <p:cNvSpPr/>
          <p:nvPr/>
        </p:nvSpPr>
        <p:spPr>
          <a:xfrm>
            <a:off x="406401" y="2997200"/>
            <a:ext cx="5588000" cy="2159000"/>
          </a:xfrm>
          <a:prstGeom prst="roundRect">
            <a:avLst/>
          </a:prstGeom>
          <a:solidFill>
            <a:srgbClr val="EAF4F4"/>
          </a:solidFill>
          <a:ln w="12700" cap="flat" cmpd="sng" algn="ctr">
            <a:solidFill>
              <a:srgbClr val="2E6B7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chorCtr="0">
            <a:noAutofit/>
          </a:bodyPr>
          <a:lstStyle/>
          <a:p>
            <a:pPr>
              <a:spcAft>
                <a:spcPts val="400"/>
              </a:spcAft>
            </a:pPr>
            <a:r>
              <a:rPr lang="en-US" sz="1500" b="1" dirty="0">
                <a:solidFill>
                  <a:srgbClr val="2E6B75"/>
                </a:solidFill>
                <a:latin typeface="Open Sans"/>
              </a:rPr>
              <a:t>Answer: A</a:t>
            </a:r>
          </a:p>
          <a:p>
            <a:pPr>
              <a:spcAft>
                <a:spcPts val="300"/>
              </a:spcAft>
            </a:pPr>
            <a:r>
              <a:rPr lang="en-US" sz="1400" dirty="0">
                <a:solidFill>
                  <a:srgbClr val="2E3640"/>
                </a:solidFill>
                <a:latin typeface="Open Sans"/>
              </a:rPr>
              <a:t>t = b₁ / SE = 0.45 / 0.15 = </a:t>
            </a:r>
            <a:r>
              <a:rPr lang="en-US" sz="1400" b="1" dirty="0">
                <a:solidFill>
                  <a:srgbClr val="2E6B75"/>
                </a:solidFill>
                <a:latin typeface="Open Sans"/>
              </a:rPr>
              <a:t>3.00</a:t>
            </a:r>
          </a:p>
          <a:p>
            <a:pPr>
              <a:spcAft>
                <a:spcPts val="300"/>
              </a:spcAft>
            </a:pPr>
            <a:r>
              <a:rPr lang="en-US" sz="1400" dirty="0">
                <a:solidFill>
                  <a:schemeClr val="tx1"/>
                </a:solidFill>
                <a:latin typeface="Open Sans"/>
              </a:rPr>
              <a:t>The slope is </a:t>
            </a:r>
            <a:r>
              <a:rPr lang="en-US" sz="1400" b="1" dirty="0">
                <a:solidFill>
                  <a:schemeClr val="tx1"/>
                </a:solidFill>
                <a:latin typeface="Open Sans"/>
              </a:rPr>
              <a:t>3 standard errors</a:t>
            </a:r>
            <a:r>
              <a:rPr lang="en-US" sz="1400" dirty="0">
                <a:solidFill>
                  <a:schemeClr val="tx1"/>
                </a:solidFill>
                <a:latin typeface="Open Sans"/>
              </a:rPr>
              <a:t> away from zero.</a:t>
            </a:r>
          </a:p>
        </p:txBody>
      </p:sp>
      <p:sp>
        <p:nvSpPr>
          <p:cNvPr id="20" name="Rectangle 19">
            <a:extLst>
              <a:ext uri="{FF2B5EF4-FFF2-40B4-BE49-F238E27FC236}">
                <a16:creationId xmlns:a16="http://schemas.microsoft.com/office/drawing/2014/main" id="{4F6458A2-92B6-296D-27EF-3E512601914B}"/>
              </a:ext>
            </a:extLst>
          </p:cNvPr>
          <p:cNvSpPr/>
          <p:nvPr/>
        </p:nvSpPr>
        <p:spPr>
          <a:xfrm>
            <a:off x="6070601" y="825500"/>
            <a:ext cx="9525" cy="4445000"/>
          </a:xfrm>
          <a:prstGeom prst="rect">
            <a:avLst/>
          </a:prstGeom>
          <a:solidFill>
            <a:srgbClr val="CCCCC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14">
            <a:extLst>
              <a:ext uri="{FF2B5EF4-FFF2-40B4-BE49-F238E27FC236}">
                <a16:creationId xmlns:a16="http://schemas.microsoft.com/office/drawing/2014/main" id="{5D28617B-7508-BAD0-D80C-1FBAAEE531C4}"/>
              </a:ext>
            </a:extLst>
          </p:cNvPr>
          <p:cNvSpPr txBox="1">
            <a:spLocks noChangeArrowheads="1"/>
          </p:cNvSpPr>
          <p:nvPr/>
        </p:nvSpPr>
        <p:spPr bwMode="auto">
          <a:xfrm>
            <a:off x="241300" y="276194"/>
            <a:ext cx="10515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r>
              <a:rPr lang="en-US" altLang="en-US" sz="2000" b="1" dirty="0">
                <a:solidFill>
                  <a:srgbClr val="2E6B75"/>
                </a:solidFill>
                <a:latin typeface="Montserrat"/>
              </a:rPr>
              <a:t>Practice: t-statistic</a:t>
            </a:r>
          </a:p>
        </p:txBody>
      </p:sp>
      <p:pic>
        <p:nvPicPr>
          <p:cNvPr id="27" name="Picture 26">
            <a:extLst>
              <a:ext uri="{FF2B5EF4-FFF2-40B4-BE49-F238E27FC236}">
                <a16:creationId xmlns:a16="http://schemas.microsoft.com/office/drawing/2014/main" id="{B0DF2AEF-01E9-7C8C-E6FA-51B28585DAC0}"/>
              </a:ext>
            </a:extLst>
          </p:cNvPr>
          <p:cNvPicPr>
            <a:picLocks noChangeAspect="1"/>
          </p:cNvPicPr>
          <p:nvPr/>
        </p:nvPicPr>
        <p:blipFill>
          <a:blip r:embed="rId2"/>
          <a:stretch>
            <a:fillRect/>
          </a:stretch>
        </p:blipFill>
        <p:spPr>
          <a:xfrm>
            <a:off x="6349301" y="4742559"/>
            <a:ext cx="5842699" cy="1839247"/>
          </a:xfrm>
          <a:prstGeom prst="rect">
            <a:avLst/>
          </a:prstGeom>
        </p:spPr>
      </p:pic>
    </p:spTree>
    <p:extLst>
      <p:ext uri="{BB962C8B-B14F-4D97-AF65-F5344CB8AC3E}">
        <p14:creationId xmlns:p14="http://schemas.microsoft.com/office/powerpoint/2010/main" val="3182054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AFE18-353F-0829-2D92-B8905EAC190E}"/>
            </a:ext>
          </a:extLst>
        </p:cNvPr>
        <p:cNvGrpSpPr/>
        <p:nvPr/>
      </p:nvGrpSpPr>
      <p:grpSpPr>
        <a:xfrm>
          <a:off x="0" y="0"/>
          <a:ext cx="0" cy="0"/>
          <a:chOff x="0" y="0"/>
          <a:chExt cx="0" cy="0"/>
        </a:xfrm>
      </p:grpSpPr>
      <p:sp>
        <p:nvSpPr>
          <p:cNvPr id="3073" name="TextBox 14">
            <a:extLst>
              <a:ext uri="{FF2B5EF4-FFF2-40B4-BE49-F238E27FC236}">
                <a16:creationId xmlns:a16="http://schemas.microsoft.com/office/drawing/2014/main" id="{336652C2-80D6-E350-2F1E-E5E11DAAD7AC}"/>
              </a:ext>
            </a:extLst>
          </p:cNvPr>
          <p:cNvSpPr txBox="1">
            <a:spLocks noChangeArrowheads="1"/>
          </p:cNvSpPr>
          <p:nvPr/>
        </p:nvSpPr>
        <p:spPr bwMode="auto">
          <a:xfrm>
            <a:off x="241300" y="245417"/>
            <a:ext cx="10515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r>
              <a:rPr lang="en-US" altLang="en-US" sz="2400" b="1" dirty="0">
                <a:solidFill>
                  <a:srgbClr val="2E6B75"/>
                </a:solidFill>
                <a:latin typeface="Montserrat"/>
              </a:rPr>
              <a:t>Learning Objectives | t Values and p Values</a:t>
            </a:r>
          </a:p>
        </p:txBody>
      </p:sp>
      <p:sp>
        <p:nvSpPr>
          <p:cNvPr id="500" name="LO Circle 1"/>
          <p:cNvSpPr/>
          <p:nvPr/>
        </p:nvSpPr>
        <p:spPr>
          <a:xfrm>
            <a:off x="609600" y="1092200"/>
            <a:ext cx="406400" cy="406400"/>
          </a:xfrm>
          <a:prstGeom prst="ellipse">
            <a:avLst/>
          </a:prstGeom>
          <a:solidFill>
            <a:srgbClr val="2E6B75"/>
          </a:solidFill>
          <a:ln>
            <a:noFill/>
          </a:ln>
        </p:spPr>
        <p:txBody>
          <a:bodyPr wrap="none" lIns="0" tIns="0" rIns="0" bIns="0" anchor="ctr" anchorCtr="1"/>
          <a:lstStyle/>
          <a:p>
            <a:pPr algn="ctr"/>
            <a:r>
              <a:rPr lang="en-US" sz="1500" b="1" dirty="0">
                <a:solidFill>
                  <a:srgbClr val="FFFFFF"/>
                </a:solidFill>
                <a:latin typeface="Montserrat"/>
              </a:rPr>
              <a:t>1</a:t>
            </a:r>
          </a:p>
        </p:txBody>
      </p:sp>
      <p:sp>
        <p:nvSpPr>
          <p:cNvPr id="501" name="LO Text 1"/>
          <p:cNvSpPr txBox="1"/>
          <p:nvPr/>
        </p:nvSpPr>
        <p:spPr>
          <a:xfrm>
            <a:off x="1168400" y="1066800"/>
            <a:ext cx="9906000" cy="889000"/>
          </a:xfrm>
          <a:prstGeom prst="rect">
            <a:avLst/>
          </a:prstGeom>
          <a:noFill/>
          <a:ln>
            <a:noFill/>
          </a:ln>
        </p:spPr>
        <p:txBody>
          <a:bodyPr wrap="square" lIns="91440" tIns="45720" rIns="91440" bIns="45720" anchor="t"/>
          <a:lstStyle/>
          <a:p>
            <a:pPr>
              <a:lnSpc>
                <a:spcPts val="1800"/>
              </a:lnSpc>
              <a:spcAft>
                <a:spcPts val="100"/>
              </a:spcAft>
            </a:pPr>
            <a:r>
              <a:rPr lang="en-US" sz="1400" b="1" dirty="0">
                <a:solidFill>
                  <a:srgbClr val="2E3640"/>
                </a:solidFill>
                <a:latin typeface="Montserrat"/>
              </a:rPr>
              <a:t>Compute the t-statistic for a regression slope </a:t>
            </a:r>
            <a:r>
              <a:rPr lang="en-US" sz="2400" b="1" dirty="0">
                <a:solidFill>
                  <a:srgbClr val="2E3640"/>
                </a:solidFill>
                <a:latin typeface="Montserrat"/>
              </a:rPr>
              <a:t>✅</a:t>
            </a:r>
            <a:endParaRPr lang="en-US" sz="1400" b="1" dirty="0">
              <a:solidFill>
                <a:srgbClr val="2E3640"/>
              </a:solidFill>
              <a:latin typeface="Montserrat"/>
            </a:endParaRPr>
          </a:p>
          <a:p>
            <a:pPr>
              <a:lnSpc>
                <a:spcPts val="1600"/>
              </a:lnSpc>
            </a:pPr>
            <a:r>
              <a:rPr lang="en-US" sz="1400" dirty="0">
                <a:solidFill>
                  <a:srgbClr val="7A8694"/>
                </a:solidFill>
                <a:latin typeface="Montserrat"/>
              </a:rPr>
              <a:t>Divide the estimated slope by its standard error to measure how many SEs away from zero the estimate sits</a:t>
            </a:r>
          </a:p>
        </p:txBody>
      </p:sp>
      <p:sp>
        <p:nvSpPr>
          <p:cNvPr id="502" name="LO Circle 2"/>
          <p:cNvSpPr/>
          <p:nvPr/>
        </p:nvSpPr>
        <p:spPr>
          <a:xfrm>
            <a:off x="609600" y="2197100"/>
            <a:ext cx="406400" cy="406400"/>
          </a:xfrm>
          <a:prstGeom prst="ellipse">
            <a:avLst/>
          </a:prstGeom>
          <a:solidFill>
            <a:srgbClr val="2E6B75"/>
          </a:solidFill>
          <a:ln>
            <a:noFill/>
          </a:ln>
        </p:spPr>
        <p:txBody>
          <a:bodyPr wrap="none" lIns="0" tIns="0" rIns="0" bIns="0" anchor="ctr" anchorCtr="1"/>
          <a:lstStyle/>
          <a:p>
            <a:pPr algn="ctr"/>
            <a:r>
              <a:rPr lang="en-US" sz="1500" b="1" dirty="0">
                <a:solidFill>
                  <a:srgbClr val="FFFFFF"/>
                </a:solidFill>
                <a:latin typeface="Montserrat"/>
              </a:rPr>
              <a:t>2</a:t>
            </a:r>
          </a:p>
        </p:txBody>
      </p:sp>
      <p:sp>
        <p:nvSpPr>
          <p:cNvPr id="503" name="LO Text 2"/>
          <p:cNvSpPr txBox="1"/>
          <p:nvPr/>
        </p:nvSpPr>
        <p:spPr>
          <a:xfrm>
            <a:off x="1168400" y="2171700"/>
            <a:ext cx="9906000" cy="889000"/>
          </a:xfrm>
          <a:prstGeom prst="rect">
            <a:avLst/>
          </a:prstGeom>
          <a:noFill/>
          <a:ln>
            <a:noFill/>
          </a:ln>
        </p:spPr>
        <p:txBody>
          <a:bodyPr wrap="square" lIns="91440" tIns="45720" rIns="91440" bIns="45720" anchor="t"/>
          <a:lstStyle/>
          <a:p>
            <a:pPr>
              <a:lnSpc>
                <a:spcPts val="1800"/>
              </a:lnSpc>
              <a:spcAft>
                <a:spcPts val="100"/>
              </a:spcAft>
            </a:pPr>
            <a:r>
              <a:rPr lang="en-US" sz="1400" b="1" dirty="0">
                <a:solidFill>
                  <a:srgbClr val="2E3640"/>
                </a:solidFill>
                <a:latin typeface="Montserrat"/>
              </a:rPr>
              <a:t>Define the null hypothesis, explain how a t-value is used to calculate a p-value, and describe what the p-value represents.</a:t>
            </a:r>
          </a:p>
          <a:p>
            <a:pPr>
              <a:lnSpc>
                <a:spcPts val="1600"/>
              </a:lnSpc>
            </a:pPr>
            <a:r>
              <a:rPr lang="en-US" sz="1400" dirty="0">
                <a:solidFill>
                  <a:srgbClr val="7A8694"/>
                </a:solidFill>
                <a:latin typeface="Montserrat"/>
              </a:rPr>
              <a:t>H₀: β₁ = 0 says x has no linear effect; the p-value is the probability of seeing a test statistic this extreme if H₀ is true</a:t>
            </a:r>
          </a:p>
        </p:txBody>
      </p:sp>
      <p:sp>
        <p:nvSpPr>
          <p:cNvPr id="506" name="LO Circle 4"/>
          <p:cNvSpPr/>
          <p:nvPr/>
        </p:nvSpPr>
        <p:spPr>
          <a:xfrm>
            <a:off x="609600" y="3378201"/>
            <a:ext cx="406400" cy="406400"/>
          </a:xfrm>
          <a:prstGeom prst="ellipse">
            <a:avLst/>
          </a:prstGeom>
          <a:solidFill>
            <a:srgbClr val="2E6B75"/>
          </a:solidFill>
          <a:ln>
            <a:noFill/>
          </a:ln>
        </p:spPr>
        <p:txBody>
          <a:bodyPr wrap="none" lIns="0" tIns="0" rIns="0" bIns="0" anchor="ctr" anchorCtr="1"/>
          <a:lstStyle/>
          <a:p>
            <a:pPr algn="ctr"/>
            <a:r>
              <a:rPr lang="en-US" sz="1500" b="1" dirty="0">
                <a:solidFill>
                  <a:srgbClr val="FFFFFF"/>
                </a:solidFill>
                <a:latin typeface="Montserrat"/>
              </a:rPr>
              <a:t>3</a:t>
            </a:r>
          </a:p>
        </p:txBody>
      </p:sp>
      <p:sp>
        <p:nvSpPr>
          <p:cNvPr id="507" name="LO Text 4"/>
          <p:cNvSpPr txBox="1"/>
          <p:nvPr/>
        </p:nvSpPr>
        <p:spPr>
          <a:xfrm>
            <a:off x="1168400" y="3352801"/>
            <a:ext cx="9906000" cy="889000"/>
          </a:xfrm>
          <a:prstGeom prst="rect">
            <a:avLst/>
          </a:prstGeom>
          <a:noFill/>
          <a:ln>
            <a:noFill/>
          </a:ln>
        </p:spPr>
        <p:txBody>
          <a:bodyPr wrap="square" lIns="91440" tIns="45720" rIns="91440" bIns="45720" anchor="t"/>
          <a:lstStyle/>
          <a:p>
            <a:pPr>
              <a:lnSpc>
                <a:spcPts val="1800"/>
              </a:lnSpc>
              <a:spcAft>
                <a:spcPts val="100"/>
              </a:spcAft>
            </a:pPr>
            <a:r>
              <a:rPr lang="en-US" sz="1400" b="1" dirty="0">
                <a:solidFill>
                  <a:srgbClr val="2E3640"/>
                </a:solidFill>
                <a:latin typeface="Montserrat"/>
              </a:rPr>
              <a:t>Connect the CI and p-value as two views of the same test</a:t>
            </a:r>
          </a:p>
          <a:p>
            <a:pPr>
              <a:lnSpc>
                <a:spcPts val="1600"/>
              </a:lnSpc>
            </a:pPr>
            <a:r>
              <a:rPr lang="en-US" sz="1400" dirty="0">
                <a:solidFill>
                  <a:srgbClr val="7A8694"/>
                </a:solidFill>
                <a:latin typeface="Montserrat"/>
              </a:rPr>
              <a:t>The CI excludes zero exactly when the p-value falls below the significance level</a:t>
            </a:r>
          </a:p>
        </p:txBody>
      </p:sp>
    </p:spTree>
    <p:extLst>
      <p:ext uri="{BB962C8B-B14F-4D97-AF65-F5344CB8AC3E}">
        <p14:creationId xmlns:p14="http://schemas.microsoft.com/office/powerpoint/2010/main" val="1966217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CF802-F3F1-C2BB-8A7B-355B704C41A8}"/>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BCF2B9F5-E8C8-D264-10B1-9C6FBB0DA407}"/>
              </a:ext>
            </a:extLst>
          </p:cNvPr>
          <p:cNvSpPr/>
          <p:nvPr/>
        </p:nvSpPr>
        <p:spPr>
          <a:xfrm>
            <a:off x="241300" y="177800"/>
            <a:ext cx="11709400" cy="482600"/>
          </a:xfrm>
          <a:prstGeom prst="rect">
            <a:avLst/>
          </a:prstGeom>
          <a:noFill/>
          <a:ln>
            <a:noFill/>
          </a:ln>
        </p:spPr>
        <p:txBody>
          <a:bodyPr wrap="square" lIns="36000" tIns="0" rIns="36000" bIns="0" anchor="ctr"/>
          <a:lstStyle/>
          <a:p>
            <a:pPr algn="l"/>
            <a:r>
              <a:rPr lang="en-US" sz="2000" b="1" dirty="0">
                <a:solidFill>
                  <a:srgbClr val="2E6B75"/>
                </a:solidFill>
                <a:latin typeface="Montserrat"/>
              </a:rPr>
              <a:t>From the t statistic to the p-value : Entering the </a:t>
            </a:r>
            <a:r>
              <a:rPr lang="en-US" sz="2000" b="1" dirty="0">
                <a:solidFill>
                  <a:schemeClr val="accent5">
                    <a:lumMod val="75000"/>
                  </a:schemeClr>
                </a:solidFill>
                <a:latin typeface="Montserrat"/>
              </a:rPr>
              <a:t>null world</a:t>
            </a:r>
          </a:p>
        </p:txBody>
      </p:sp>
      <p:sp>
        <p:nvSpPr>
          <p:cNvPr id="3089" name="NL6">
            <a:extLst>
              <a:ext uri="{FF2B5EF4-FFF2-40B4-BE49-F238E27FC236}">
                <a16:creationId xmlns:a16="http://schemas.microsoft.com/office/drawing/2014/main" id="{AAF914F5-D51D-A617-6B51-4A6170E30961}"/>
              </a:ext>
            </a:extLst>
          </p:cNvPr>
          <p:cNvSpPr/>
          <p:nvPr/>
        </p:nvSpPr>
        <p:spPr>
          <a:xfrm>
            <a:off x="6755305" y="5626035"/>
            <a:ext cx="4755374" cy="0"/>
          </a:xfrm>
          <a:prstGeom prst="line">
            <a:avLst/>
          </a:prstGeom>
          <a:ln w="15875">
            <a:solidFill>
              <a:srgbClr val="2E3640"/>
            </a:solidFill>
          </a:ln>
        </p:spPr>
        <p:txBody>
          <a:bodyPr/>
          <a:lstStyle/>
          <a:p>
            <a:endParaRPr lang="en-US" sz="2000"/>
          </a:p>
        </p:txBody>
      </p:sp>
      <p:sp>
        <p:nvSpPr>
          <p:cNvPr id="3090" name="NL6Tk0">
            <a:extLst>
              <a:ext uri="{FF2B5EF4-FFF2-40B4-BE49-F238E27FC236}">
                <a16:creationId xmlns:a16="http://schemas.microsoft.com/office/drawing/2014/main" id="{63C353E1-86A8-E041-B55F-86D72D7EA2B4}"/>
              </a:ext>
            </a:extLst>
          </p:cNvPr>
          <p:cNvSpPr/>
          <p:nvPr/>
        </p:nvSpPr>
        <p:spPr>
          <a:xfrm>
            <a:off x="6761951" y="5556109"/>
            <a:ext cx="0" cy="139852"/>
          </a:xfrm>
          <a:prstGeom prst="line">
            <a:avLst/>
          </a:prstGeom>
          <a:ln w="12700">
            <a:solidFill>
              <a:srgbClr val="2E3640"/>
            </a:solidFill>
          </a:ln>
        </p:spPr>
        <p:txBody>
          <a:bodyPr/>
          <a:lstStyle/>
          <a:p>
            <a:endParaRPr lang="en-US" sz="2000"/>
          </a:p>
        </p:txBody>
      </p:sp>
      <p:sp>
        <p:nvSpPr>
          <p:cNvPr id="3091" name="NL6TL0">
            <a:extLst>
              <a:ext uri="{FF2B5EF4-FFF2-40B4-BE49-F238E27FC236}">
                <a16:creationId xmlns:a16="http://schemas.microsoft.com/office/drawing/2014/main" id="{8E83D4C6-ACE1-8AA2-49C2-E463FAE72E25}"/>
              </a:ext>
            </a:extLst>
          </p:cNvPr>
          <p:cNvSpPr/>
          <p:nvPr/>
        </p:nvSpPr>
        <p:spPr>
          <a:xfrm>
            <a:off x="6564558"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0.0</a:t>
            </a:r>
          </a:p>
        </p:txBody>
      </p:sp>
      <p:sp>
        <p:nvSpPr>
          <p:cNvPr id="3092" name="NL6Tk0.1">
            <a:extLst>
              <a:ext uri="{FF2B5EF4-FFF2-40B4-BE49-F238E27FC236}">
                <a16:creationId xmlns:a16="http://schemas.microsoft.com/office/drawing/2014/main" id="{0D8BE339-E2AD-B46D-212C-6EF0F1C32AE9}"/>
              </a:ext>
            </a:extLst>
          </p:cNvPr>
          <p:cNvSpPr/>
          <p:nvPr/>
        </p:nvSpPr>
        <p:spPr>
          <a:xfrm>
            <a:off x="7349727" y="5591072"/>
            <a:ext cx="0" cy="69925"/>
          </a:xfrm>
          <a:prstGeom prst="line">
            <a:avLst/>
          </a:prstGeom>
          <a:ln w="12700">
            <a:solidFill>
              <a:srgbClr val="2E3640"/>
            </a:solidFill>
          </a:ln>
        </p:spPr>
        <p:txBody>
          <a:bodyPr/>
          <a:lstStyle/>
          <a:p>
            <a:endParaRPr lang="en-US" sz="2000"/>
          </a:p>
        </p:txBody>
      </p:sp>
      <p:sp>
        <p:nvSpPr>
          <p:cNvPr id="3093" name="NL6Tk0.2">
            <a:extLst>
              <a:ext uri="{FF2B5EF4-FFF2-40B4-BE49-F238E27FC236}">
                <a16:creationId xmlns:a16="http://schemas.microsoft.com/office/drawing/2014/main" id="{E18C0677-D82F-457A-126B-CA641698F136}"/>
              </a:ext>
            </a:extLst>
          </p:cNvPr>
          <p:cNvSpPr/>
          <p:nvPr/>
        </p:nvSpPr>
        <p:spPr>
          <a:xfrm>
            <a:off x="7944149" y="5556109"/>
            <a:ext cx="0" cy="139852"/>
          </a:xfrm>
          <a:prstGeom prst="line">
            <a:avLst/>
          </a:prstGeom>
          <a:ln w="12700">
            <a:solidFill>
              <a:srgbClr val="2E3640"/>
            </a:solidFill>
          </a:ln>
        </p:spPr>
        <p:txBody>
          <a:bodyPr/>
          <a:lstStyle/>
          <a:p>
            <a:endParaRPr lang="en-US" sz="2000"/>
          </a:p>
        </p:txBody>
      </p:sp>
      <p:sp>
        <p:nvSpPr>
          <p:cNvPr id="3094" name="NL6TL0.2">
            <a:extLst>
              <a:ext uri="{FF2B5EF4-FFF2-40B4-BE49-F238E27FC236}">
                <a16:creationId xmlns:a16="http://schemas.microsoft.com/office/drawing/2014/main" id="{35C4068C-4084-C30D-7C5D-467A2B4D3BB7}"/>
              </a:ext>
            </a:extLst>
          </p:cNvPr>
          <p:cNvSpPr/>
          <p:nvPr/>
        </p:nvSpPr>
        <p:spPr>
          <a:xfrm>
            <a:off x="7746756"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0.2</a:t>
            </a:r>
          </a:p>
        </p:txBody>
      </p:sp>
      <p:sp>
        <p:nvSpPr>
          <p:cNvPr id="3095" name="NL6Tk0.3">
            <a:extLst>
              <a:ext uri="{FF2B5EF4-FFF2-40B4-BE49-F238E27FC236}">
                <a16:creationId xmlns:a16="http://schemas.microsoft.com/office/drawing/2014/main" id="{EDA4DD8A-D6CE-2D77-D397-322C9C6A231D}"/>
              </a:ext>
            </a:extLst>
          </p:cNvPr>
          <p:cNvSpPr/>
          <p:nvPr/>
        </p:nvSpPr>
        <p:spPr>
          <a:xfrm>
            <a:off x="8538570" y="5591072"/>
            <a:ext cx="0" cy="69925"/>
          </a:xfrm>
          <a:prstGeom prst="line">
            <a:avLst/>
          </a:prstGeom>
          <a:ln w="12700">
            <a:solidFill>
              <a:srgbClr val="2E3640"/>
            </a:solidFill>
          </a:ln>
        </p:spPr>
        <p:txBody>
          <a:bodyPr/>
          <a:lstStyle/>
          <a:p>
            <a:endParaRPr lang="en-US" sz="2000"/>
          </a:p>
        </p:txBody>
      </p:sp>
      <p:sp>
        <p:nvSpPr>
          <p:cNvPr id="3096" name="NL6Tk0.4">
            <a:extLst>
              <a:ext uri="{FF2B5EF4-FFF2-40B4-BE49-F238E27FC236}">
                <a16:creationId xmlns:a16="http://schemas.microsoft.com/office/drawing/2014/main" id="{D0F8553D-267C-8690-4A2A-706CB400F26A}"/>
              </a:ext>
            </a:extLst>
          </p:cNvPr>
          <p:cNvSpPr/>
          <p:nvPr/>
        </p:nvSpPr>
        <p:spPr>
          <a:xfrm>
            <a:off x="9132993" y="5556109"/>
            <a:ext cx="0" cy="139852"/>
          </a:xfrm>
          <a:prstGeom prst="line">
            <a:avLst/>
          </a:prstGeom>
          <a:ln w="12700">
            <a:solidFill>
              <a:srgbClr val="2E3640"/>
            </a:solidFill>
          </a:ln>
        </p:spPr>
        <p:txBody>
          <a:bodyPr/>
          <a:lstStyle/>
          <a:p>
            <a:endParaRPr lang="en-US" sz="2000"/>
          </a:p>
        </p:txBody>
      </p:sp>
      <p:sp>
        <p:nvSpPr>
          <p:cNvPr id="3097" name="NL6TL0.4">
            <a:extLst>
              <a:ext uri="{FF2B5EF4-FFF2-40B4-BE49-F238E27FC236}">
                <a16:creationId xmlns:a16="http://schemas.microsoft.com/office/drawing/2014/main" id="{2688B37F-E749-4989-8DA7-FF79C42A8CC8}"/>
              </a:ext>
            </a:extLst>
          </p:cNvPr>
          <p:cNvSpPr/>
          <p:nvPr/>
        </p:nvSpPr>
        <p:spPr>
          <a:xfrm>
            <a:off x="8935599"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0.4</a:t>
            </a:r>
          </a:p>
        </p:txBody>
      </p:sp>
      <p:sp>
        <p:nvSpPr>
          <p:cNvPr id="3098" name="NL6Tk0.5">
            <a:extLst>
              <a:ext uri="{FF2B5EF4-FFF2-40B4-BE49-F238E27FC236}">
                <a16:creationId xmlns:a16="http://schemas.microsoft.com/office/drawing/2014/main" id="{67502B83-F2B5-E16B-AF4D-7092C0767D13}"/>
              </a:ext>
            </a:extLst>
          </p:cNvPr>
          <p:cNvSpPr/>
          <p:nvPr/>
        </p:nvSpPr>
        <p:spPr>
          <a:xfrm>
            <a:off x="9727414" y="5591072"/>
            <a:ext cx="0" cy="69925"/>
          </a:xfrm>
          <a:prstGeom prst="line">
            <a:avLst/>
          </a:prstGeom>
          <a:ln w="12700">
            <a:solidFill>
              <a:srgbClr val="2E3640"/>
            </a:solidFill>
          </a:ln>
        </p:spPr>
        <p:txBody>
          <a:bodyPr/>
          <a:lstStyle/>
          <a:p>
            <a:endParaRPr lang="en-US" sz="2000"/>
          </a:p>
        </p:txBody>
      </p:sp>
      <p:sp>
        <p:nvSpPr>
          <p:cNvPr id="3099" name="NL6Tk0.6">
            <a:extLst>
              <a:ext uri="{FF2B5EF4-FFF2-40B4-BE49-F238E27FC236}">
                <a16:creationId xmlns:a16="http://schemas.microsoft.com/office/drawing/2014/main" id="{09288E36-4924-5040-9223-0C3BBC3D9134}"/>
              </a:ext>
            </a:extLst>
          </p:cNvPr>
          <p:cNvSpPr/>
          <p:nvPr/>
        </p:nvSpPr>
        <p:spPr>
          <a:xfrm>
            <a:off x="10321835" y="5556109"/>
            <a:ext cx="0" cy="139852"/>
          </a:xfrm>
          <a:prstGeom prst="line">
            <a:avLst/>
          </a:prstGeom>
          <a:ln w="12700">
            <a:solidFill>
              <a:srgbClr val="2E3640"/>
            </a:solidFill>
          </a:ln>
        </p:spPr>
        <p:txBody>
          <a:bodyPr/>
          <a:lstStyle/>
          <a:p>
            <a:endParaRPr lang="en-US" sz="2000"/>
          </a:p>
        </p:txBody>
      </p:sp>
      <p:sp>
        <p:nvSpPr>
          <p:cNvPr id="3100" name="NL6TL0.6">
            <a:extLst>
              <a:ext uri="{FF2B5EF4-FFF2-40B4-BE49-F238E27FC236}">
                <a16:creationId xmlns:a16="http://schemas.microsoft.com/office/drawing/2014/main" id="{9EE6B380-28F1-9595-ABEA-1A57C7053255}"/>
              </a:ext>
            </a:extLst>
          </p:cNvPr>
          <p:cNvSpPr/>
          <p:nvPr/>
        </p:nvSpPr>
        <p:spPr>
          <a:xfrm>
            <a:off x="10124443"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0.6</a:t>
            </a:r>
          </a:p>
        </p:txBody>
      </p:sp>
      <p:sp>
        <p:nvSpPr>
          <p:cNvPr id="3101" name="NL6Tk0.7">
            <a:extLst>
              <a:ext uri="{FF2B5EF4-FFF2-40B4-BE49-F238E27FC236}">
                <a16:creationId xmlns:a16="http://schemas.microsoft.com/office/drawing/2014/main" id="{2CC2B67A-A016-87FF-68E4-EAC69C74E730}"/>
              </a:ext>
            </a:extLst>
          </p:cNvPr>
          <p:cNvSpPr/>
          <p:nvPr/>
        </p:nvSpPr>
        <p:spPr>
          <a:xfrm>
            <a:off x="10916257" y="5591072"/>
            <a:ext cx="0" cy="69925"/>
          </a:xfrm>
          <a:prstGeom prst="line">
            <a:avLst/>
          </a:prstGeom>
          <a:ln w="12700">
            <a:solidFill>
              <a:srgbClr val="2E3640"/>
            </a:solidFill>
          </a:ln>
        </p:spPr>
        <p:txBody>
          <a:bodyPr/>
          <a:lstStyle/>
          <a:p>
            <a:endParaRPr lang="en-US" sz="2000"/>
          </a:p>
        </p:txBody>
      </p:sp>
      <p:sp>
        <p:nvSpPr>
          <p:cNvPr id="3102" name="NL6Tk0.8">
            <a:extLst>
              <a:ext uri="{FF2B5EF4-FFF2-40B4-BE49-F238E27FC236}">
                <a16:creationId xmlns:a16="http://schemas.microsoft.com/office/drawing/2014/main" id="{7F0C00C3-17A6-6747-0634-06DF9FE54704}"/>
              </a:ext>
            </a:extLst>
          </p:cNvPr>
          <p:cNvSpPr/>
          <p:nvPr/>
        </p:nvSpPr>
        <p:spPr>
          <a:xfrm>
            <a:off x="11510679" y="5556109"/>
            <a:ext cx="0" cy="139852"/>
          </a:xfrm>
          <a:prstGeom prst="line">
            <a:avLst/>
          </a:prstGeom>
          <a:ln w="12700">
            <a:solidFill>
              <a:srgbClr val="2E3640"/>
            </a:solidFill>
          </a:ln>
        </p:spPr>
        <p:txBody>
          <a:bodyPr/>
          <a:lstStyle/>
          <a:p>
            <a:endParaRPr lang="en-US" sz="2000"/>
          </a:p>
        </p:txBody>
      </p:sp>
      <p:sp>
        <p:nvSpPr>
          <p:cNvPr id="3103" name="NL6TL0.8">
            <a:extLst>
              <a:ext uri="{FF2B5EF4-FFF2-40B4-BE49-F238E27FC236}">
                <a16:creationId xmlns:a16="http://schemas.microsoft.com/office/drawing/2014/main" id="{9D9AEBC9-8FAF-D27E-253D-7B794112CD4E}"/>
              </a:ext>
            </a:extLst>
          </p:cNvPr>
          <p:cNvSpPr/>
          <p:nvPr/>
        </p:nvSpPr>
        <p:spPr>
          <a:xfrm>
            <a:off x="11313286"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0.8</a:t>
            </a:r>
          </a:p>
        </p:txBody>
      </p:sp>
      <p:sp>
        <p:nvSpPr>
          <p:cNvPr id="3104" name="B1Dot6">
            <a:extLst>
              <a:ext uri="{FF2B5EF4-FFF2-40B4-BE49-F238E27FC236}">
                <a16:creationId xmlns:a16="http://schemas.microsoft.com/office/drawing/2014/main" id="{C02E83D9-CF96-914F-280E-0CCB84462AD3}"/>
              </a:ext>
            </a:extLst>
          </p:cNvPr>
          <p:cNvSpPr/>
          <p:nvPr/>
        </p:nvSpPr>
        <p:spPr>
          <a:xfrm>
            <a:off x="8977995" y="5545119"/>
            <a:ext cx="143559" cy="163160"/>
          </a:xfrm>
          <a:prstGeom prst="ellipse">
            <a:avLst/>
          </a:prstGeom>
          <a:solidFill>
            <a:srgbClr val="FFFFFF"/>
          </a:solidFill>
          <a:ln w="19050">
            <a:solidFill>
              <a:srgbClr val="D94535"/>
            </a:solidFill>
          </a:ln>
        </p:spPr>
        <p:txBody>
          <a:bodyPr/>
          <a:lstStyle/>
          <a:p>
            <a:endParaRPr lang="en-US" sz="2000"/>
          </a:p>
        </p:txBody>
      </p:sp>
      <p:grpSp>
        <p:nvGrpSpPr>
          <p:cNvPr id="3112" name="Group 3111">
            <a:extLst>
              <a:ext uri="{FF2B5EF4-FFF2-40B4-BE49-F238E27FC236}">
                <a16:creationId xmlns:a16="http://schemas.microsoft.com/office/drawing/2014/main" id="{8671440A-9250-8CD5-5014-A53E2976ADFB}"/>
              </a:ext>
            </a:extLst>
          </p:cNvPr>
          <p:cNvGrpSpPr/>
          <p:nvPr/>
        </p:nvGrpSpPr>
        <p:grpSpPr>
          <a:xfrm>
            <a:off x="6758096" y="5272869"/>
            <a:ext cx="2261173" cy="152651"/>
            <a:chOff x="7182260" y="4223241"/>
            <a:chExt cx="2008328" cy="313966"/>
          </a:xfrm>
        </p:grpSpPr>
        <p:sp>
          <p:nvSpPr>
            <p:cNvPr id="3118" name="CIBar7">
              <a:extLst>
                <a:ext uri="{FF2B5EF4-FFF2-40B4-BE49-F238E27FC236}">
                  <a16:creationId xmlns:a16="http://schemas.microsoft.com/office/drawing/2014/main" id="{4EAAEB16-678A-F887-2F09-1F060EB89FAD}"/>
                </a:ext>
              </a:extLst>
            </p:cNvPr>
            <p:cNvSpPr/>
            <p:nvPr/>
          </p:nvSpPr>
          <p:spPr>
            <a:xfrm>
              <a:off x="8437132" y="4261261"/>
              <a:ext cx="618774" cy="226982"/>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120" name="CILW7">
              <a:extLst>
                <a:ext uri="{FF2B5EF4-FFF2-40B4-BE49-F238E27FC236}">
                  <a16:creationId xmlns:a16="http://schemas.microsoft.com/office/drawing/2014/main" id="{6A595499-692D-6FBC-165C-144B7DD4E8CF}"/>
                </a:ext>
              </a:extLst>
            </p:cNvPr>
            <p:cNvSpPr/>
            <p:nvPr/>
          </p:nvSpPr>
          <p:spPr>
            <a:xfrm>
              <a:off x="8431235" y="4223241"/>
              <a:ext cx="0" cy="304800"/>
            </a:xfrm>
            <a:prstGeom prst="line">
              <a:avLst/>
            </a:prstGeom>
            <a:ln w="15875">
              <a:solidFill>
                <a:srgbClr val="2B6CB0"/>
              </a:solidFill>
            </a:ln>
          </p:spPr>
          <p:txBody>
            <a:bodyPr anchor="ctr"/>
            <a:lstStyle/>
            <a:p>
              <a:endParaRPr lang="en-US" sz="2000"/>
            </a:p>
          </p:txBody>
        </p:sp>
        <p:sp>
          <p:nvSpPr>
            <p:cNvPr id="3122" name="CILW7">
              <a:extLst>
                <a:ext uri="{FF2B5EF4-FFF2-40B4-BE49-F238E27FC236}">
                  <a16:creationId xmlns:a16="http://schemas.microsoft.com/office/drawing/2014/main" id="{14A9F07D-91CD-779D-4E31-7315AB765C67}"/>
                </a:ext>
              </a:extLst>
            </p:cNvPr>
            <p:cNvSpPr/>
            <p:nvPr/>
          </p:nvSpPr>
          <p:spPr>
            <a:xfrm>
              <a:off x="9057186" y="4223241"/>
              <a:ext cx="0" cy="304800"/>
            </a:xfrm>
            <a:prstGeom prst="line">
              <a:avLst/>
            </a:prstGeom>
            <a:ln w="15875">
              <a:solidFill>
                <a:srgbClr val="2B6CB0"/>
              </a:solidFill>
            </a:ln>
          </p:spPr>
          <p:txBody>
            <a:bodyPr anchor="ctr"/>
            <a:lstStyle/>
            <a:p>
              <a:endParaRPr lang="en-US" sz="2000"/>
            </a:p>
          </p:txBody>
        </p:sp>
        <p:sp>
          <p:nvSpPr>
            <p:cNvPr id="3126" name="CIBar7">
              <a:extLst>
                <a:ext uri="{FF2B5EF4-FFF2-40B4-BE49-F238E27FC236}">
                  <a16:creationId xmlns:a16="http://schemas.microsoft.com/office/drawing/2014/main" id="{12E850F2-098F-959E-6F81-391A29F911CB}"/>
                </a:ext>
              </a:extLst>
            </p:cNvPr>
            <p:cNvSpPr/>
            <p:nvPr/>
          </p:nvSpPr>
          <p:spPr>
            <a:xfrm>
              <a:off x="9063082" y="4267722"/>
              <a:ext cx="127506" cy="220919"/>
            </a:xfrm>
            <a:prstGeom prst="rect">
              <a:avLst/>
            </a:prstGeom>
            <a:solidFill>
              <a:srgbClr val="B8D4E8">
                <a:alpha val="34902"/>
              </a:srgbClr>
            </a:solidFill>
            <a:ln>
              <a:noFill/>
            </a:ln>
          </p:spPr>
          <p:txBody>
            <a:bodyPr lIns="0" rIns="0" anchor="ctr"/>
            <a:lstStyle/>
            <a:p>
              <a:pPr algn="ctr"/>
              <a:endParaRPr lang="en-US" sz="900" dirty="0"/>
            </a:p>
          </p:txBody>
        </p:sp>
        <p:sp>
          <p:nvSpPr>
            <p:cNvPr id="3127" name="CILW7">
              <a:extLst>
                <a:ext uri="{FF2B5EF4-FFF2-40B4-BE49-F238E27FC236}">
                  <a16:creationId xmlns:a16="http://schemas.microsoft.com/office/drawing/2014/main" id="{C181FAB4-FBEA-5128-CA9C-58CCE9964ADF}"/>
                </a:ext>
              </a:extLst>
            </p:cNvPr>
            <p:cNvSpPr/>
            <p:nvPr/>
          </p:nvSpPr>
          <p:spPr>
            <a:xfrm>
              <a:off x="9057185" y="4229702"/>
              <a:ext cx="0" cy="304800"/>
            </a:xfrm>
            <a:prstGeom prst="line">
              <a:avLst/>
            </a:prstGeom>
            <a:ln w="15875">
              <a:solidFill>
                <a:srgbClr val="2B6CB0"/>
              </a:solidFill>
            </a:ln>
          </p:spPr>
          <p:txBody>
            <a:bodyPr anchor="ctr"/>
            <a:lstStyle/>
            <a:p>
              <a:endParaRPr lang="en-US" sz="2000"/>
            </a:p>
          </p:txBody>
        </p:sp>
        <p:grpSp>
          <p:nvGrpSpPr>
            <p:cNvPr id="3133" name="Group 3132">
              <a:extLst>
                <a:ext uri="{FF2B5EF4-FFF2-40B4-BE49-F238E27FC236}">
                  <a16:creationId xmlns:a16="http://schemas.microsoft.com/office/drawing/2014/main" id="{507B08C2-F3F6-07EA-C099-7D6424CAA64E}"/>
                </a:ext>
              </a:extLst>
            </p:cNvPr>
            <p:cNvGrpSpPr/>
            <p:nvPr/>
          </p:nvGrpSpPr>
          <p:grpSpPr>
            <a:xfrm>
              <a:off x="7182260" y="4225946"/>
              <a:ext cx="1251897" cy="311261"/>
              <a:chOff x="9852940" y="4192417"/>
              <a:chExt cx="1216344" cy="311261"/>
            </a:xfrm>
          </p:grpSpPr>
          <p:sp>
            <p:nvSpPr>
              <p:cNvPr id="3134" name="CILW7">
                <a:extLst>
                  <a:ext uri="{FF2B5EF4-FFF2-40B4-BE49-F238E27FC236}">
                    <a16:creationId xmlns:a16="http://schemas.microsoft.com/office/drawing/2014/main" id="{D0FE99BF-3182-EFA8-B00C-381AA68C3AC7}"/>
                  </a:ext>
                </a:extLst>
              </p:cNvPr>
              <p:cNvSpPr/>
              <p:nvPr/>
            </p:nvSpPr>
            <p:spPr>
              <a:xfrm>
                <a:off x="9852941" y="4192417"/>
                <a:ext cx="0" cy="304800"/>
              </a:xfrm>
              <a:prstGeom prst="line">
                <a:avLst/>
              </a:prstGeom>
              <a:ln w="15875">
                <a:solidFill>
                  <a:srgbClr val="2B6CB0"/>
                </a:solidFill>
              </a:ln>
            </p:spPr>
            <p:txBody>
              <a:bodyPr anchor="ctr"/>
              <a:lstStyle/>
              <a:p>
                <a:endParaRPr lang="en-US" sz="2000"/>
              </a:p>
            </p:txBody>
          </p:sp>
          <p:sp>
            <p:nvSpPr>
              <p:cNvPr id="3135" name="CIBar7">
                <a:extLst>
                  <a:ext uri="{FF2B5EF4-FFF2-40B4-BE49-F238E27FC236}">
                    <a16:creationId xmlns:a16="http://schemas.microsoft.com/office/drawing/2014/main" id="{B51CCF90-A779-D77D-8A84-6A9ED013DD8C}"/>
                  </a:ext>
                </a:extLst>
              </p:cNvPr>
              <p:cNvSpPr/>
              <p:nvPr/>
            </p:nvSpPr>
            <p:spPr>
              <a:xfrm>
                <a:off x="9858670" y="4236898"/>
                <a:ext cx="601200" cy="226982"/>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00" name="CILW7">
                <a:extLst>
                  <a:ext uri="{FF2B5EF4-FFF2-40B4-BE49-F238E27FC236}">
                    <a16:creationId xmlns:a16="http://schemas.microsoft.com/office/drawing/2014/main" id="{37A40B0B-A8DC-BC84-E118-D00D4BE0ECA2}"/>
                  </a:ext>
                </a:extLst>
              </p:cNvPr>
              <p:cNvSpPr/>
              <p:nvPr/>
            </p:nvSpPr>
            <p:spPr>
              <a:xfrm>
                <a:off x="9852940" y="4198878"/>
                <a:ext cx="0" cy="304800"/>
              </a:xfrm>
              <a:prstGeom prst="line">
                <a:avLst/>
              </a:prstGeom>
              <a:ln w="15875">
                <a:solidFill>
                  <a:srgbClr val="2B6CB0"/>
                </a:solidFill>
              </a:ln>
            </p:spPr>
            <p:txBody>
              <a:bodyPr anchor="ctr"/>
              <a:lstStyle/>
              <a:p>
                <a:endParaRPr lang="en-US" sz="2000"/>
              </a:p>
            </p:txBody>
          </p:sp>
          <p:sp>
            <p:nvSpPr>
              <p:cNvPr id="3201" name="CILW7">
                <a:extLst>
                  <a:ext uri="{FF2B5EF4-FFF2-40B4-BE49-F238E27FC236}">
                    <a16:creationId xmlns:a16="http://schemas.microsoft.com/office/drawing/2014/main" id="{C7C48DC1-BE6D-E4D6-B29A-38576C216D15}"/>
                  </a:ext>
                </a:extLst>
              </p:cNvPr>
              <p:cNvSpPr/>
              <p:nvPr/>
            </p:nvSpPr>
            <p:spPr>
              <a:xfrm>
                <a:off x="10461113" y="4198878"/>
                <a:ext cx="0" cy="304800"/>
              </a:xfrm>
              <a:prstGeom prst="line">
                <a:avLst/>
              </a:prstGeom>
              <a:ln w="15875">
                <a:solidFill>
                  <a:srgbClr val="2B6CB0"/>
                </a:solidFill>
              </a:ln>
            </p:spPr>
            <p:txBody>
              <a:bodyPr anchor="ctr"/>
              <a:lstStyle/>
              <a:p>
                <a:endParaRPr lang="en-US" sz="2000"/>
              </a:p>
            </p:txBody>
          </p:sp>
          <p:sp>
            <p:nvSpPr>
              <p:cNvPr id="3202" name="CIBar7">
                <a:extLst>
                  <a:ext uri="{FF2B5EF4-FFF2-40B4-BE49-F238E27FC236}">
                    <a16:creationId xmlns:a16="http://schemas.microsoft.com/office/drawing/2014/main" id="{E3F87DEE-EBE6-4750-D407-1A4D69F1C9C6}"/>
                  </a:ext>
                </a:extLst>
              </p:cNvPr>
              <p:cNvSpPr/>
              <p:nvPr/>
            </p:nvSpPr>
            <p:spPr>
              <a:xfrm>
                <a:off x="10466841" y="4233142"/>
                <a:ext cx="601200" cy="226982"/>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03" name="CILW7">
                <a:extLst>
                  <a:ext uri="{FF2B5EF4-FFF2-40B4-BE49-F238E27FC236}">
                    <a16:creationId xmlns:a16="http://schemas.microsoft.com/office/drawing/2014/main" id="{9995D709-C2A7-123B-28D0-1FB93BB8F853}"/>
                  </a:ext>
                </a:extLst>
              </p:cNvPr>
              <p:cNvSpPr/>
              <p:nvPr/>
            </p:nvSpPr>
            <p:spPr>
              <a:xfrm>
                <a:off x="10461111" y="4195122"/>
                <a:ext cx="0" cy="304800"/>
              </a:xfrm>
              <a:prstGeom prst="line">
                <a:avLst/>
              </a:prstGeom>
              <a:ln w="15875">
                <a:solidFill>
                  <a:srgbClr val="2B6CB0"/>
                </a:solidFill>
              </a:ln>
            </p:spPr>
            <p:txBody>
              <a:bodyPr anchor="ctr"/>
              <a:lstStyle/>
              <a:p>
                <a:endParaRPr lang="en-US" sz="2000"/>
              </a:p>
            </p:txBody>
          </p:sp>
          <p:sp>
            <p:nvSpPr>
              <p:cNvPr id="3204" name="CILW7">
                <a:extLst>
                  <a:ext uri="{FF2B5EF4-FFF2-40B4-BE49-F238E27FC236}">
                    <a16:creationId xmlns:a16="http://schemas.microsoft.com/office/drawing/2014/main" id="{0AAE7EB4-D3D9-D2FC-63EA-791A9B94D02A}"/>
                  </a:ext>
                </a:extLst>
              </p:cNvPr>
              <p:cNvSpPr/>
              <p:nvPr/>
            </p:nvSpPr>
            <p:spPr>
              <a:xfrm>
                <a:off x="11069284" y="4195122"/>
                <a:ext cx="0" cy="304800"/>
              </a:xfrm>
              <a:prstGeom prst="line">
                <a:avLst/>
              </a:prstGeom>
              <a:ln w="15875">
                <a:solidFill>
                  <a:srgbClr val="2B6CB0"/>
                </a:solidFill>
              </a:ln>
            </p:spPr>
            <p:txBody>
              <a:bodyPr anchor="ctr"/>
              <a:lstStyle/>
              <a:p>
                <a:endParaRPr lang="en-US" sz="2000"/>
              </a:p>
            </p:txBody>
          </p:sp>
        </p:grpSp>
      </p:grpSp>
      <p:sp>
        <p:nvSpPr>
          <p:cNvPr id="3235" name="B1Dot6">
            <a:extLst>
              <a:ext uri="{FF2B5EF4-FFF2-40B4-BE49-F238E27FC236}">
                <a16:creationId xmlns:a16="http://schemas.microsoft.com/office/drawing/2014/main" id="{D5B12E8D-ADBA-F17B-FD0C-680F153B953C}"/>
              </a:ext>
            </a:extLst>
          </p:cNvPr>
          <p:cNvSpPr/>
          <p:nvPr/>
        </p:nvSpPr>
        <p:spPr>
          <a:xfrm>
            <a:off x="8977995" y="5545119"/>
            <a:ext cx="143559" cy="163160"/>
          </a:xfrm>
          <a:prstGeom prst="ellipse">
            <a:avLst/>
          </a:prstGeom>
          <a:solidFill>
            <a:srgbClr val="FFFFFF"/>
          </a:solidFill>
          <a:ln w="19050">
            <a:solidFill>
              <a:srgbClr val="D94535"/>
            </a:solidFill>
          </a:ln>
        </p:spPr>
        <p:txBody>
          <a:bodyPr/>
          <a:lstStyle/>
          <a:p>
            <a:endParaRPr lang="en-US" sz="2000"/>
          </a:p>
        </p:txBody>
      </p:sp>
      <p:cxnSp>
        <p:nvCxnSpPr>
          <p:cNvPr id="3236" name="DotLine">
            <a:extLst>
              <a:ext uri="{FF2B5EF4-FFF2-40B4-BE49-F238E27FC236}">
                <a16:creationId xmlns:a16="http://schemas.microsoft.com/office/drawing/2014/main" id="{BBA46332-B7A4-AEF6-16DA-5C3A92A67C9E}"/>
              </a:ext>
            </a:extLst>
          </p:cNvPr>
          <p:cNvCxnSpPr>
            <a:cxnSpLocks/>
            <a:stCxn id="3237" idx="2"/>
          </p:cNvCxnSpPr>
          <p:nvPr/>
        </p:nvCxnSpPr>
        <p:spPr>
          <a:xfrm flipH="1">
            <a:off x="9039179" y="4568965"/>
            <a:ext cx="1251" cy="947063"/>
          </a:xfrm>
          <a:prstGeom prst="line">
            <a:avLst/>
          </a:prstGeom>
          <a:ln w="19050">
            <a:solidFill>
              <a:srgbClr val="D94535"/>
            </a:solidFill>
            <a:prstDash val="dash"/>
          </a:ln>
        </p:spPr>
      </p:cxnSp>
      <p:sp>
        <p:nvSpPr>
          <p:cNvPr id="3237" name="BLabel">
            <a:extLst>
              <a:ext uri="{FF2B5EF4-FFF2-40B4-BE49-F238E27FC236}">
                <a16:creationId xmlns:a16="http://schemas.microsoft.com/office/drawing/2014/main" id="{EFD0930E-A738-8C3B-C8C9-266738970D79}"/>
              </a:ext>
            </a:extLst>
          </p:cNvPr>
          <p:cNvSpPr/>
          <p:nvPr/>
        </p:nvSpPr>
        <p:spPr>
          <a:xfrm>
            <a:off x="8516755" y="4383405"/>
            <a:ext cx="1047349" cy="185560"/>
          </a:xfrm>
          <a:prstGeom prst="roundRect">
            <a:avLst>
              <a:gd name="adj" fmla="val 16667"/>
            </a:avLst>
          </a:prstGeom>
          <a:solidFill>
            <a:srgbClr val="D94535"/>
          </a:solidFill>
          <a:ln>
            <a:noFill/>
          </a:ln>
        </p:spPr>
        <p:txBody>
          <a:bodyPr wrap="none" lIns="36000" tIns="0" rIns="36000" bIns="0" anchor="ctr"/>
          <a:lstStyle/>
          <a:p>
            <a:pPr algn="ctr"/>
            <a:r>
              <a:rPr lang="en-US" sz="1000" b="1" dirty="0">
                <a:solidFill>
                  <a:srgbClr val="FFFFFF"/>
                </a:solidFill>
                <a:latin typeface="Open Sans"/>
              </a:rPr>
              <a:t>b₁ = 0.386</a:t>
            </a:r>
          </a:p>
        </p:txBody>
      </p:sp>
      <p:sp>
        <p:nvSpPr>
          <p:cNvPr id="3240" name="TLabel">
            <a:extLst>
              <a:ext uri="{FF2B5EF4-FFF2-40B4-BE49-F238E27FC236}">
                <a16:creationId xmlns:a16="http://schemas.microsoft.com/office/drawing/2014/main" id="{75C93CA9-4728-5D1F-6EDD-ACFC6789E1EB}"/>
              </a:ext>
            </a:extLst>
          </p:cNvPr>
          <p:cNvSpPr/>
          <p:nvPr/>
        </p:nvSpPr>
        <p:spPr>
          <a:xfrm>
            <a:off x="6744099" y="5018733"/>
            <a:ext cx="2285125" cy="237320"/>
          </a:xfrm>
          <a:prstGeom prst="homePlate">
            <a:avLst/>
          </a:prstGeom>
          <a:solidFill>
            <a:srgbClr val="FFFFFF"/>
          </a:solidFill>
          <a:ln w="12700">
            <a:solidFill>
              <a:srgbClr val="2C8B2C"/>
            </a:solidFill>
          </a:ln>
        </p:spPr>
        <p:txBody>
          <a:bodyPr wrap="none" lIns="36000" tIns="0" rIns="36000" bIns="0" anchor="ctr"/>
          <a:lstStyle/>
          <a:p>
            <a:pPr algn="ctr"/>
            <a:r>
              <a:rPr lang="en-US" sz="1000" b="1" dirty="0">
                <a:solidFill>
                  <a:srgbClr val="2C8B2C"/>
                </a:solidFill>
                <a:latin typeface="Open Sans"/>
              </a:rPr>
              <a:t>t = b</a:t>
            </a:r>
            <a:r>
              <a:rPr lang="en-US" sz="1000" b="1" baseline="-25000" dirty="0">
                <a:solidFill>
                  <a:srgbClr val="2C8B2C"/>
                </a:solidFill>
                <a:latin typeface="Open Sans"/>
              </a:rPr>
              <a:t>1</a:t>
            </a:r>
            <a:r>
              <a:rPr lang="en-US" sz="1000" b="1" dirty="0">
                <a:solidFill>
                  <a:srgbClr val="2C8B2C"/>
                </a:solidFill>
                <a:latin typeface="Open Sans"/>
              </a:rPr>
              <a:t> / SE = 0.386 / 0.118 = 3.26</a:t>
            </a:r>
          </a:p>
        </p:txBody>
      </p:sp>
      <p:grpSp>
        <p:nvGrpSpPr>
          <p:cNvPr id="3264" name="Group 3263">
            <a:extLst>
              <a:ext uri="{FF2B5EF4-FFF2-40B4-BE49-F238E27FC236}">
                <a16:creationId xmlns:a16="http://schemas.microsoft.com/office/drawing/2014/main" id="{4947C6CB-0D4C-5F77-CA87-D5B411871AD1}"/>
              </a:ext>
            </a:extLst>
          </p:cNvPr>
          <p:cNvGrpSpPr/>
          <p:nvPr/>
        </p:nvGrpSpPr>
        <p:grpSpPr>
          <a:xfrm>
            <a:off x="7319661" y="5639970"/>
            <a:ext cx="3460225" cy="1157961"/>
            <a:chOff x="7319661" y="5639970"/>
            <a:chExt cx="3460225" cy="1157961"/>
          </a:xfrm>
        </p:grpSpPr>
        <p:grpSp>
          <p:nvGrpSpPr>
            <p:cNvPr id="3241" name="Group 3240">
              <a:extLst>
                <a:ext uri="{FF2B5EF4-FFF2-40B4-BE49-F238E27FC236}">
                  <a16:creationId xmlns:a16="http://schemas.microsoft.com/office/drawing/2014/main" id="{652798A5-E1AA-804D-FE0D-085B9E769E7B}"/>
                </a:ext>
              </a:extLst>
            </p:cNvPr>
            <p:cNvGrpSpPr/>
            <p:nvPr/>
          </p:nvGrpSpPr>
          <p:grpSpPr>
            <a:xfrm>
              <a:off x="7319661" y="5639970"/>
              <a:ext cx="3450237" cy="1157961"/>
              <a:chOff x="7319661" y="5639970"/>
              <a:chExt cx="3450237" cy="1505529"/>
            </a:xfrm>
          </p:grpSpPr>
          <p:sp>
            <p:nvSpPr>
              <p:cNvPr id="3242" name="CILW7">
                <a:extLst>
                  <a:ext uri="{FF2B5EF4-FFF2-40B4-BE49-F238E27FC236}">
                    <a16:creationId xmlns:a16="http://schemas.microsoft.com/office/drawing/2014/main" id="{50F99F7B-98A8-3CBE-2798-FF297C2D4C0B}"/>
                  </a:ext>
                </a:extLst>
              </p:cNvPr>
              <p:cNvSpPr/>
              <p:nvPr/>
            </p:nvSpPr>
            <p:spPr>
              <a:xfrm>
                <a:off x="7319661" y="5656439"/>
                <a:ext cx="6646" cy="1489060"/>
              </a:xfrm>
              <a:prstGeom prst="line">
                <a:avLst/>
              </a:prstGeom>
              <a:ln w="15875">
                <a:solidFill>
                  <a:srgbClr val="2B6CB0"/>
                </a:solidFill>
                <a:prstDash val="sysDash"/>
              </a:ln>
            </p:spPr>
            <p:txBody>
              <a:bodyPr/>
              <a:lstStyle/>
              <a:p>
                <a:endParaRPr lang="en-US" sz="2000"/>
              </a:p>
            </p:txBody>
          </p:sp>
          <p:sp>
            <p:nvSpPr>
              <p:cNvPr id="3243" name="CIRW7">
                <a:extLst>
                  <a:ext uri="{FF2B5EF4-FFF2-40B4-BE49-F238E27FC236}">
                    <a16:creationId xmlns:a16="http://schemas.microsoft.com/office/drawing/2014/main" id="{A1007AC2-1EDA-4EE8-F1C4-0EBFC7998F32}"/>
                  </a:ext>
                </a:extLst>
              </p:cNvPr>
              <p:cNvSpPr/>
              <p:nvPr/>
            </p:nvSpPr>
            <p:spPr>
              <a:xfrm flipH="1">
                <a:off x="10763252" y="5639970"/>
                <a:ext cx="6646" cy="1489061"/>
              </a:xfrm>
              <a:prstGeom prst="line">
                <a:avLst/>
              </a:prstGeom>
              <a:ln w="15875">
                <a:solidFill>
                  <a:srgbClr val="2B6CB0"/>
                </a:solidFill>
                <a:prstDash val="sysDash"/>
              </a:ln>
            </p:spPr>
            <p:txBody>
              <a:bodyPr/>
              <a:lstStyle/>
              <a:p>
                <a:endParaRPr lang="en-US" sz="2000"/>
              </a:p>
            </p:txBody>
          </p:sp>
        </p:grpSp>
        <p:sp>
          <p:nvSpPr>
            <p:cNvPr id="3244" name="CILVal7">
              <a:extLst>
                <a:ext uri="{FF2B5EF4-FFF2-40B4-BE49-F238E27FC236}">
                  <a16:creationId xmlns:a16="http://schemas.microsoft.com/office/drawing/2014/main" id="{66635458-3129-BB1B-9E5E-82260D876AE6}"/>
                </a:ext>
              </a:extLst>
            </p:cNvPr>
            <p:cNvSpPr/>
            <p:nvPr/>
          </p:nvSpPr>
          <p:spPr>
            <a:xfrm>
              <a:off x="7326307" y="5959054"/>
              <a:ext cx="448620" cy="186468"/>
            </a:xfrm>
            <a:prstGeom prst="rect">
              <a:avLst/>
            </a:prstGeom>
            <a:noFill/>
            <a:ln>
              <a:noFill/>
            </a:ln>
          </p:spPr>
          <p:txBody>
            <a:bodyPr wrap="none" lIns="0" tIns="0" rIns="0" bIns="0" anchor="t"/>
            <a:lstStyle/>
            <a:p>
              <a:pPr algn="ctr"/>
              <a:r>
                <a:rPr lang="en-US" sz="1000" b="1" dirty="0">
                  <a:solidFill>
                    <a:srgbClr val="2B6CB0"/>
                  </a:solidFill>
                  <a:latin typeface="Open Sans"/>
                </a:rPr>
                <a:t>0.096</a:t>
              </a:r>
            </a:p>
          </p:txBody>
        </p:sp>
        <p:sp>
          <p:nvSpPr>
            <p:cNvPr id="3245" name="CIRVal7">
              <a:extLst>
                <a:ext uri="{FF2B5EF4-FFF2-40B4-BE49-F238E27FC236}">
                  <a16:creationId xmlns:a16="http://schemas.microsoft.com/office/drawing/2014/main" id="{91800A3B-1B17-A873-8811-00A70D86BBFC}"/>
                </a:ext>
              </a:extLst>
            </p:cNvPr>
            <p:cNvSpPr/>
            <p:nvPr/>
          </p:nvSpPr>
          <p:spPr>
            <a:xfrm>
              <a:off x="10314634" y="5971044"/>
              <a:ext cx="448620" cy="186468"/>
            </a:xfrm>
            <a:prstGeom prst="rect">
              <a:avLst/>
            </a:prstGeom>
            <a:noFill/>
            <a:ln>
              <a:noFill/>
            </a:ln>
          </p:spPr>
          <p:txBody>
            <a:bodyPr wrap="none" lIns="0" tIns="0" rIns="0" bIns="0" anchor="t"/>
            <a:lstStyle/>
            <a:p>
              <a:pPr algn="ctr"/>
              <a:r>
                <a:rPr lang="en-US" sz="1000" b="1" dirty="0">
                  <a:solidFill>
                    <a:srgbClr val="2B6CB0"/>
                  </a:solidFill>
                  <a:latin typeface="Open Sans"/>
                </a:rPr>
                <a:t>0.676</a:t>
              </a:r>
            </a:p>
          </p:txBody>
        </p:sp>
        <p:sp>
          <p:nvSpPr>
            <p:cNvPr id="3246" name="CIBar7">
              <a:extLst>
                <a:ext uri="{FF2B5EF4-FFF2-40B4-BE49-F238E27FC236}">
                  <a16:creationId xmlns:a16="http://schemas.microsoft.com/office/drawing/2014/main" id="{5C4D7D6C-BE27-9353-014A-8A68DF3BA12B}"/>
                </a:ext>
              </a:extLst>
            </p:cNvPr>
            <p:cNvSpPr/>
            <p:nvPr/>
          </p:nvSpPr>
          <p:spPr>
            <a:xfrm>
              <a:off x="7332951" y="6284168"/>
              <a:ext cx="3436947" cy="429809"/>
            </a:xfrm>
            <a:prstGeom prst="rect">
              <a:avLst/>
            </a:prstGeom>
            <a:solidFill>
              <a:srgbClr val="F1F4FF"/>
            </a:solidFill>
            <a:ln>
              <a:solidFill>
                <a:srgbClr val="0070C0"/>
              </a:solidFill>
            </a:ln>
          </p:spPr>
          <p:txBody>
            <a:bodyPr anchor="ctr"/>
            <a:lstStyle/>
            <a:p>
              <a:pPr algn="ctr"/>
              <a:r>
                <a:rPr lang="en-US" sz="1050" b="1" dirty="0">
                  <a:solidFill>
                    <a:srgbClr val="2B6CB0"/>
                  </a:solidFill>
                  <a:latin typeface="Open Sans"/>
                </a:rPr>
                <a:t>True slope’s plausible region: ± 2.45 SE</a:t>
              </a:r>
            </a:p>
            <a:p>
              <a:pPr algn="ctr"/>
              <a:r>
                <a:rPr lang="en-US" sz="1050" b="1" dirty="0">
                  <a:solidFill>
                    <a:srgbClr val="2B6CB0"/>
                  </a:solidFill>
                  <a:latin typeface="Open Sans"/>
                </a:rPr>
                <a:t>95% Confidence Interval</a:t>
              </a:r>
            </a:p>
          </p:txBody>
        </p:sp>
        <p:grpSp>
          <p:nvGrpSpPr>
            <p:cNvPr id="3247" name="Group 3246">
              <a:extLst>
                <a:ext uri="{FF2B5EF4-FFF2-40B4-BE49-F238E27FC236}">
                  <a16:creationId xmlns:a16="http://schemas.microsoft.com/office/drawing/2014/main" id="{C6D28F1F-78BD-8B9E-C2F6-F71FF94D8857}"/>
                </a:ext>
              </a:extLst>
            </p:cNvPr>
            <p:cNvGrpSpPr/>
            <p:nvPr/>
          </p:nvGrpSpPr>
          <p:grpSpPr>
            <a:xfrm>
              <a:off x="7342945" y="6153014"/>
              <a:ext cx="3436941" cy="139778"/>
              <a:chOff x="7674600" y="4901590"/>
              <a:chExt cx="3052621" cy="124385"/>
            </a:xfrm>
          </p:grpSpPr>
          <p:sp>
            <p:nvSpPr>
              <p:cNvPr id="3248" name="CIBar7">
                <a:extLst>
                  <a:ext uri="{FF2B5EF4-FFF2-40B4-BE49-F238E27FC236}">
                    <a16:creationId xmlns:a16="http://schemas.microsoft.com/office/drawing/2014/main" id="{5C44553E-91AA-3E30-A0D8-20D75C1F5CBF}"/>
                  </a:ext>
                </a:extLst>
              </p:cNvPr>
              <p:cNvSpPr/>
              <p:nvPr/>
            </p:nvSpPr>
            <p:spPr>
              <a:xfrm>
                <a:off x="9202825" y="4916652"/>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49" name="CILW7">
                <a:extLst>
                  <a:ext uri="{FF2B5EF4-FFF2-40B4-BE49-F238E27FC236}">
                    <a16:creationId xmlns:a16="http://schemas.microsoft.com/office/drawing/2014/main" id="{361A44ED-DF71-BBC3-E196-ACC8436BF669}"/>
                  </a:ext>
                </a:extLst>
              </p:cNvPr>
              <p:cNvSpPr/>
              <p:nvPr/>
            </p:nvSpPr>
            <p:spPr>
              <a:xfrm>
                <a:off x="9196928" y="4901590"/>
                <a:ext cx="0" cy="120753"/>
              </a:xfrm>
              <a:prstGeom prst="line">
                <a:avLst/>
              </a:prstGeom>
              <a:ln w="15875">
                <a:solidFill>
                  <a:srgbClr val="2B6CB0"/>
                </a:solidFill>
              </a:ln>
            </p:spPr>
            <p:txBody>
              <a:bodyPr anchor="ctr"/>
              <a:lstStyle/>
              <a:p>
                <a:endParaRPr lang="en-US" sz="2000"/>
              </a:p>
            </p:txBody>
          </p:sp>
          <p:sp>
            <p:nvSpPr>
              <p:cNvPr id="3250" name="CILW7">
                <a:extLst>
                  <a:ext uri="{FF2B5EF4-FFF2-40B4-BE49-F238E27FC236}">
                    <a16:creationId xmlns:a16="http://schemas.microsoft.com/office/drawing/2014/main" id="{D38FB862-93A9-0AD2-7FBA-15B4E50A5122}"/>
                  </a:ext>
                </a:extLst>
              </p:cNvPr>
              <p:cNvSpPr/>
              <p:nvPr/>
            </p:nvSpPr>
            <p:spPr>
              <a:xfrm>
                <a:off x="9822879" y="4901590"/>
                <a:ext cx="0" cy="120753"/>
              </a:xfrm>
              <a:prstGeom prst="line">
                <a:avLst/>
              </a:prstGeom>
              <a:ln w="15875">
                <a:solidFill>
                  <a:srgbClr val="2B6CB0"/>
                </a:solidFill>
              </a:ln>
            </p:spPr>
            <p:txBody>
              <a:bodyPr anchor="ctr"/>
              <a:lstStyle/>
              <a:p>
                <a:endParaRPr lang="en-US" sz="2000"/>
              </a:p>
            </p:txBody>
          </p:sp>
          <p:sp>
            <p:nvSpPr>
              <p:cNvPr id="3251" name="CIBar7">
                <a:extLst>
                  <a:ext uri="{FF2B5EF4-FFF2-40B4-BE49-F238E27FC236}">
                    <a16:creationId xmlns:a16="http://schemas.microsoft.com/office/drawing/2014/main" id="{3A9205FB-4213-185B-12A7-9A9496D1F84D}"/>
                  </a:ext>
                </a:extLst>
              </p:cNvPr>
              <p:cNvSpPr/>
              <p:nvPr/>
            </p:nvSpPr>
            <p:spPr>
              <a:xfrm>
                <a:off x="9828775" y="4919212"/>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52" name="CILW7">
                <a:extLst>
                  <a:ext uri="{FF2B5EF4-FFF2-40B4-BE49-F238E27FC236}">
                    <a16:creationId xmlns:a16="http://schemas.microsoft.com/office/drawing/2014/main" id="{153F302F-851F-8126-0FDC-0CD33465A791}"/>
                  </a:ext>
                </a:extLst>
              </p:cNvPr>
              <p:cNvSpPr/>
              <p:nvPr/>
            </p:nvSpPr>
            <p:spPr>
              <a:xfrm>
                <a:off x="9822878" y="4904150"/>
                <a:ext cx="0" cy="120753"/>
              </a:xfrm>
              <a:prstGeom prst="line">
                <a:avLst/>
              </a:prstGeom>
              <a:ln w="15875">
                <a:solidFill>
                  <a:srgbClr val="2B6CB0"/>
                </a:solidFill>
              </a:ln>
            </p:spPr>
            <p:txBody>
              <a:bodyPr anchor="ctr"/>
              <a:lstStyle/>
              <a:p>
                <a:endParaRPr lang="en-US" sz="2000"/>
              </a:p>
            </p:txBody>
          </p:sp>
          <p:sp>
            <p:nvSpPr>
              <p:cNvPr id="3253" name="CILW7">
                <a:extLst>
                  <a:ext uri="{FF2B5EF4-FFF2-40B4-BE49-F238E27FC236}">
                    <a16:creationId xmlns:a16="http://schemas.microsoft.com/office/drawing/2014/main" id="{4E0A0E9D-AD01-DFD1-04D1-AA8F9A13FAAB}"/>
                  </a:ext>
                </a:extLst>
              </p:cNvPr>
              <p:cNvSpPr/>
              <p:nvPr/>
            </p:nvSpPr>
            <p:spPr>
              <a:xfrm>
                <a:off x="10448828" y="4904150"/>
                <a:ext cx="0" cy="120753"/>
              </a:xfrm>
              <a:prstGeom prst="line">
                <a:avLst/>
              </a:prstGeom>
              <a:ln w="15875">
                <a:solidFill>
                  <a:srgbClr val="2B6CB0"/>
                </a:solidFill>
              </a:ln>
            </p:spPr>
            <p:txBody>
              <a:bodyPr anchor="ctr"/>
              <a:lstStyle/>
              <a:p>
                <a:endParaRPr lang="en-US" sz="2000"/>
              </a:p>
            </p:txBody>
          </p:sp>
          <p:sp>
            <p:nvSpPr>
              <p:cNvPr id="3254" name="CIBar7">
                <a:extLst>
                  <a:ext uri="{FF2B5EF4-FFF2-40B4-BE49-F238E27FC236}">
                    <a16:creationId xmlns:a16="http://schemas.microsoft.com/office/drawing/2014/main" id="{AD4F5516-5B34-A0D2-411E-F039E0606891}"/>
                  </a:ext>
                </a:extLst>
              </p:cNvPr>
              <p:cNvSpPr/>
              <p:nvPr/>
            </p:nvSpPr>
            <p:spPr>
              <a:xfrm>
                <a:off x="10454724" y="4917724"/>
                <a:ext cx="272497" cy="89924"/>
              </a:xfrm>
              <a:prstGeom prst="rect">
                <a:avLst/>
              </a:prstGeom>
              <a:solidFill>
                <a:srgbClr val="B8D4E8">
                  <a:alpha val="34902"/>
                </a:srgbClr>
              </a:solidFill>
              <a:ln>
                <a:noFill/>
              </a:ln>
            </p:spPr>
            <p:txBody>
              <a:bodyPr lIns="0" rIns="0" anchor="ctr"/>
              <a:lstStyle/>
              <a:p>
                <a:pPr algn="ctr"/>
                <a:endParaRPr lang="en-US" sz="900" dirty="0"/>
              </a:p>
            </p:txBody>
          </p:sp>
          <p:sp>
            <p:nvSpPr>
              <p:cNvPr id="3255" name="CILW7">
                <a:extLst>
                  <a:ext uri="{FF2B5EF4-FFF2-40B4-BE49-F238E27FC236}">
                    <a16:creationId xmlns:a16="http://schemas.microsoft.com/office/drawing/2014/main" id="{CFA53EAF-1DCD-6DED-7D43-A5BA1468F3E3}"/>
                  </a:ext>
                </a:extLst>
              </p:cNvPr>
              <p:cNvSpPr/>
              <p:nvPr/>
            </p:nvSpPr>
            <p:spPr>
              <a:xfrm>
                <a:off x="10448826" y="4902662"/>
                <a:ext cx="0" cy="120753"/>
              </a:xfrm>
              <a:prstGeom prst="line">
                <a:avLst/>
              </a:prstGeom>
              <a:ln w="15875">
                <a:solidFill>
                  <a:srgbClr val="2B6CB0"/>
                </a:solidFill>
              </a:ln>
            </p:spPr>
            <p:txBody>
              <a:bodyPr anchor="ctr"/>
              <a:lstStyle/>
              <a:p>
                <a:endParaRPr lang="en-US" sz="2000"/>
              </a:p>
            </p:txBody>
          </p:sp>
          <p:sp>
            <p:nvSpPr>
              <p:cNvPr id="3256" name="CIBar7">
                <a:extLst>
                  <a:ext uri="{FF2B5EF4-FFF2-40B4-BE49-F238E27FC236}">
                    <a16:creationId xmlns:a16="http://schemas.microsoft.com/office/drawing/2014/main" id="{D5C5AE5D-BCBF-B39C-A6B7-C62D286723A6}"/>
                  </a:ext>
                </a:extLst>
              </p:cNvPr>
              <p:cNvSpPr/>
              <p:nvPr/>
            </p:nvSpPr>
            <p:spPr>
              <a:xfrm>
                <a:off x="7674600" y="4917724"/>
                <a:ext cx="272102" cy="89924"/>
              </a:xfrm>
              <a:prstGeom prst="rect">
                <a:avLst/>
              </a:prstGeom>
              <a:solidFill>
                <a:srgbClr val="B8D4E8">
                  <a:alpha val="34902"/>
                </a:srgbClr>
              </a:solidFill>
              <a:ln>
                <a:noFill/>
              </a:ln>
            </p:spPr>
            <p:txBody>
              <a:bodyPr lIns="0" rIns="0" anchor="ctr"/>
              <a:lstStyle/>
              <a:p>
                <a:pPr algn="ctr"/>
                <a:endParaRPr lang="en-US" sz="900" dirty="0"/>
              </a:p>
            </p:txBody>
          </p:sp>
          <p:sp>
            <p:nvSpPr>
              <p:cNvPr id="3257" name="CILW7">
                <a:extLst>
                  <a:ext uri="{FF2B5EF4-FFF2-40B4-BE49-F238E27FC236}">
                    <a16:creationId xmlns:a16="http://schemas.microsoft.com/office/drawing/2014/main" id="{CD0F471E-054F-B3CA-3CE8-64764305A485}"/>
                  </a:ext>
                </a:extLst>
              </p:cNvPr>
              <p:cNvSpPr/>
              <p:nvPr/>
            </p:nvSpPr>
            <p:spPr>
              <a:xfrm>
                <a:off x="7947981" y="4902662"/>
                <a:ext cx="0" cy="120753"/>
              </a:xfrm>
              <a:prstGeom prst="line">
                <a:avLst/>
              </a:prstGeom>
              <a:ln w="15875">
                <a:solidFill>
                  <a:srgbClr val="2B6CB0"/>
                </a:solidFill>
              </a:ln>
            </p:spPr>
            <p:txBody>
              <a:bodyPr anchor="ctr"/>
              <a:lstStyle/>
              <a:p>
                <a:endParaRPr lang="en-US" sz="2000"/>
              </a:p>
            </p:txBody>
          </p:sp>
          <p:sp>
            <p:nvSpPr>
              <p:cNvPr id="3258" name="CIBar7">
                <a:extLst>
                  <a:ext uri="{FF2B5EF4-FFF2-40B4-BE49-F238E27FC236}">
                    <a16:creationId xmlns:a16="http://schemas.microsoft.com/office/drawing/2014/main" id="{E117A3C0-6063-30CD-CA73-16043BF6AFE4}"/>
                  </a:ext>
                </a:extLst>
              </p:cNvPr>
              <p:cNvSpPr/>
              <p:nvPr/>
            </p:nvSpPr>
            <p:spPr>
              <a:xfrm>
                <a:off x="7953878" y="4920284"/>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59" name="CILW7">
                <a:extLst>
                  <a:ext uri="{FF2B5EF4-FFF2-40B4-BE49-F238E27FC236}">
                    <a16:creationId xmlns:a16="http://schemas.microsoft.com/office/drawing/2014/main" id="{4E8088E6-A194-9ED2-E7CD-C7B4F9143BE2}"/>
                  </a:ext>
                </a:extLst>
              </p:cNvPr>
              <p:cNvSpPr/>
              <p:nvPr/>
            </p:nvSpPr>
            <p:spPr>
              <a:xfrm>
                <a:off x="7947980" y="4905222"/>
                <a:ext cx="0" cy="120753"/>
              </a:xfrm>
              <a:prstGeom prst="line">
                <a:avLst/>
              </a:prstGeom>
              <a:ln w="15875">
                <a:solidFill>
                  <a:srgbClr val="2B6CB0"/>
                </a:solidFill>
              </a:ln>
            </p:spPr>
            <p:txBody>
              <a:bodyPr anchor="ctr"/>
              <a:lstStyle/>
              <a:p>
                <a:endParaRPr lang="en-US" sz="2000"/>
              </a:p>
            </p:txBody>
          </p:sp>
          <p:sp>
            <p:nvSpPr>
              <p:cNvPr id="3260" name="CILW7">
                <a:extLst>
                  <a:ext uri="{FF2B5EF4-FFF2-40B4-BE49-F238E27FC236}">
                    <a16:creationId xmlns:a16="http://schemas.microsoft.com/office/drawing/2014/main" id="{C495DE62-F72F-47FF-7BD0-171A38EB689B}"/>
                  </a:ext>
                </a:extLst>
              </p:cNvPr>
              <p:cNvSpPr/>
              <p:nvPr/>
            </p:nvSpPr>
            <p:spPr>
              <a:xfrm>
                <a:off x="8573931" y="4905222"/>
                <a:ext cx="0" cy="120753"/>
              </a:xfrm>
              <a:prstGeom prst="line">
                <a:avLst/>
              </a:prstGeom>
              <a:ln w="15875">
                <a:solidFill>
                  <a:srgbClr val="2B6CB0"/>
                </a:solidFill>
              </a:ln>
            </p:spPr>
            <p:txBody>
              <a:bodyPr anchor="ctr"/>
              <a:lstStyle/>
              <a:p>
                <a:endParaRPr lang="en-US" sz="2000"/>
              </a:p>
            </p:txBody>
          </p:sp>
          <p:sp>
            <p:nvSpPr>
              <p:cNvPr id="3261" name="CIBar7">
                <a:extLst>
                  <a:ext uri="{FF2B5EF4-FFF2-40B4-BE49-F238E27FC236}">
                    <a16:creationId xmlns:a16="http://schemas.microsoft.com/office/drawing/2014/main" id="{CD4840D3-2D71-D43C-EE49-9AE9F490ACE4}"/>
                  </a:ext>
                </a:extLst>
              </p:cNvPr>
              <p:cNvSpPr/>
              <p:nvPr/>
            </p:nvSpPr>
            <p:spPr>
              <a:xfrm>
                <a:off x="8579827" y="4918796"/>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62" name="CILW7">
                <a:extLst>
                  <a:ext uri="{FF2B5EF4-FFF2-40B4-BE49-F238E27FC236}">
                    <a16:creationId xmlns:a16="http://schemas.microsoft.com/office/drawing/2014/main" id="{4491EDE5-5B7C-4037-1571-FEB6D62AC3B0}"/>
                  </a:ext>
                </a:extLst>
              </p:cNvPr>
              <p:cNvSpPr/>
              <p:nvPr/>
            </p:nvSpPr>
            <p:spPr>
              <a:xfrm>
                <a:off x="8573929" y="4903734"/>
                <a:ext cx="0" cy="120753"/>
              </a:xfrm>
              <a:prstGeom prst="line">
                <a:avLst/>
              </a:prstGeom>
              <a:ln w="15875">
                <a:solidFill>
                  <a:srgbClr val="2B6CB0"/>
                </a:solidFill>
              </a:ln>
            </p:spPr>
            <p:txBody>
              <a:bodyPr anchor="ctr"/>
              <a:lstStyle/>
              <a:p>
                <a:endParaRPr lang="en-US" sz="2000"/>
              </a:p>
            </p:txBody>
          </p:sp>
          <p:sp>
            <p:nvSpPr>
              <p:cNvPr id="3263" name="CILW7">
                <a:extLst>
                  <a:ext uri="{FF2B5EF4-FFF2-40B4-BE49-F238E27FC236}">
                    <a16:creationId xmlns:a16="http://schemas.microsoft.com/office/drawing/2014/main" id="{5F0741D0-3B45-0088-B76C-24E44A2D75F7}"/>
                  </a:ext>
                </a:extLst>
              </p:cNvPr>
              <p:cNvSpPr/>
              <p:nvPr/>
            </p:nvSpPr>
            <p:spPr>
              <a:xfrm>
                <a:off x="9199880" y="4903734"/>
                <a:ext cx="0" cy="120753"/>
              </a:xfrm>
              <a:prstGeom prst="line">
                <a:avLst/>
              </a:prstGeom>
              <a:ln w="15875">
                <a:solidFill>
                  <a:srgbClr val="2B6CB0"/>
                </a:solidFill>
              </a:ln>
            </p:spPr>
            <p:txBody>
              <a:bodyPr anchor="ctr"/>
              <a:lstStyle/>
              <a:p>
                <a:endParaRPr lang="en-US" sz="2000"/>
              </a:p>
            </p:txBody>
          </p:sp>
        </p:grpSp>
      </p:grpSp>
      <p:grpSp>
        <p:nvGrpSpPr>
          <p:cNvPr id="3368" name="Group 3367">
            <a:extLst>
              <a:ext uri="{FF2B5EF4-FFF2-40B4-BE49-F238E27FC236}">
                <a16:creationId xmlns:a16="http://schemas.microsoft.com/office/drawing/2014/main" id="{AB31ECF2-1309-D49A-2D06-525E2D9587D1}"/>
              </a:ext>
            </a:extLst>
          </p:cNvPr>
          <p:cNvGrpSpPr/>
          <p:nvPr/>
        </p:nvGrpSpPr>
        <p:grpSpPr>
          <a:xfrm>
            <a:off x="468166" y="730326"/>
            <a:ext cx="8949103" cy="1839771"/>
            <a:chOff x="1170927" y="731593"/>
            <a:chExt cx="5618493" cy="1055444"/>
          </a:xfrm>
        </p:grpSpPr>
        <p:pic>
          <p:nvPicPr>
            <p:cNvPr id="3369" name="Picture 3368" descr="A screenshot of a computer program&#10;&#10;AI-generated content may be incorrect.">
              <a:extLst>
                <a:ext uri="{FF2B5EF4-FFF2-40B4-BE49-F238E27FC236}">
                  <a16:creationId xmlns:a16="http://schemas.microsoft.com/office/drawing/2014/main" id="{886986E1-1F61-08E2-965E-796532305D10}"/>
                </a:ext>
              </a:extLst>
            </p:cNvPr>
            <p:cNvPicPr>
              <a:picLocks noChangeAspect="1"/>
            </p:cNvPicPr>
            <p:nvPr/>
          </p:nvPicPr>
          <p:blipFill>
            <a:blip r:embed="rId3"/>
            <a:srcRect t="41659" r="19746" b="33576"/>
            <a:stretch>
              <a:fillRect/>
            </a:stretch>
          </p:blipFill>
          <p:spPr>
            <a:xfrm>
              <a:off x="1170927" y="731593"/>
              <a:ext cx="5618493" cy="1055444"/>
            </a:xfrm>
            <a:prstGeom prst="rect">
              <a:avLst/>
            </a:prstGeom>
            <a:ln w="19050" cap="sq">
              <a:solidFill>
                <a:srgbClr val="000000"/>
              </a:solidFill>
              <a:prstDash val="solid"/>
              <a:miter lim="800000"/>
            </a:ln>
            <a:effectLst>
              <a:outerShdw blurRad="50800" dist="38100" dir="2700000" algn="tl" rotWithShape="0">
                <a:srgbClr val="000000">
                  <a:alpha val="43000"/>
                </a:srgbClr>
              </a:outerShdw>
            </a:effectLst>
          </p:spPr>
        </p:pic>
        <p:pic>
          <p:nvPicPr>
            <p:cNvPr id="3370" name="Picture 3369">
              <a:extLst>
                <a:ext uri="{FF2B5EF4-FFF2-40B4-BE49-F238E27FC236}">
                  <a16:creationId xmlns:a16="http://schemas.microsoft.com/office/drawing/2014/main" id="{268FCFC3-BDC4-A6A3-8B54-54E6E491F3B0}"/>
                </a:ext>
              </a:extLst>
            </p:cNvPr>
            <p:cNvPicPr>
              <a:picLocks noChangeAspect="1"/>
            </p:cNvPicPr>
            <p:nvPr/>
          </p:nvPicPr>
          <p:blipFill>
            <a:blip r:embed="rId4"/>
            <a:srcRect r="73226" b="95733"/>
            <a:stretch>
              <a:fillRect/>
            </a:stretch>
          </p:blipFill>
          <p:spPr>
            <a:xfrm>
              <a:off x="1170927" y="780895"/>
              <a:ext cx="1728960" cy="212245"/>
            </a:xfrm>
            <a:prstGeom prst="rect">
              <a:avLst/>
            </a:prstGeom>
            <a:ln w="19050" cap="sq">
              <a:noFill/>
              <a:prstDash val="solid"/>
              <a:miter lim="800000"/>
            </a:ln>
            <a:effectLst/>
          </p:spPr>
        </p:pic>
      </p:grpSp>
      <p:sp>
        <p:nvSpPr>
          <p:cNvPr id="3371" name="Right Arrow 3370">
            <a:extLst>
              <a:ext uri="{FF2B5EF4-FFF2-40B4-BE49-F238E27FC236}">
                <a16:creationId xmlns:a16="http://schemas.microsoft.com/office/drawing/2014/main" id="{8B9B8991-C2CD-391B-1910-8A44DCE6660D}"/>
              </a:ext>
            </a:extLst>
          </p:cNvPr>
          <p:cNvSpPr/>
          <p:nvPr/>
        </p:nvSpPr>
        <p:spPr>
          <a:xfrm>
            <a:off x="7104861" y="2091893"/>
            <a:ext cx="429600" cy="273269"/>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7681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6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32821-FA96-5870-40F0-9BEA46CF32E9}"/>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D472882A-0133-DFFD-013D-500DF51A9B2E}"/>
              </a:ext>
            </a:extLst>
          </p:cNvPr>
          <p:cNvSpPr/>
          <p:nvPr/>
        </p:nvSpPr>
        <p:spPr>
          <a:xfrm>
            <a:off x="241300" y="177800"/>
            <a:ext cx="11709400" cy="482600"/>
          </a:xfrm>
          <a:prstGeom prst="rect">
            <a:avLst/>
          </a:prstGeom>
          <a:noFill/>
          <a:ln>
            <a:noFill/>
          </a:ln>
        </p:spPr>
        <p:txBody>
          <a:bodyPr wrap="square" lIns="36000" tIns="0" rIns="36000" bIns="0" anchor="ctr"/>
          <a:lstStyle/>
          <a:p>
            <a:pPr algn="l"/>
            <a:r>
              <a:rPr lang="en-US" sz="2000" b="1" dirty="0">
                <a:solidFill>
                  <a:srgbClr val="2E6B75"/>
                </a:solidFill>
                <a:latin typeface="Montserrat"/>
              </a:rPr>
              <a:t>From the t statistic to the p-value : Entering the </a:t>
            </a:r>
            <a:r>
              <a:rPr lang="en-US" sz="2000" b="1" dirty="0">
                <a:solidFill>
                  <a:schemeClr val="accent5">
                    <a:lumMod val="75000"/>
                  </a:schemeClr>
                </a:solidFill>
                <a:latin typeface="Montserrat"/>
              </a:rPr>
              <a:t>null world</a:t>
            </a:r>
          </a:p>
        </p:txBody>
      </p:sp>
      <p:sp>
        <p:nvSpPr>
          <p:cNvPr id="5" name="Bell">
            <a:extLst>
              <a:ext uri="{FF2B5EF4-FFF2-40B4-BE49-F238E27FC236}">
                <a16:creationId xmlns:a16="http://schemas.microsoft.com/office/drawing/2014/main" id="{3259FB0D-EA46-A3CB-53DB-FC0890623DB8}"/>
              </a:ext>
            </a:extLst>
          </p:cNvPr>
          <p:cNvSpPr/>
          <p:nvPr/>
        </p:nvSpPr>
        <p:spPr>
          <a:xfrm>
            <a:off x="3528509" y="4343194"/>
            <a:ext cx="6519132" cy="1274366"/>
          </a:xfrm>
          <a:custGeom>
            <a:avLst/>
            <a:gdLst/>
            <a:ahLst/>
            <a:cxnLst/>
            <a:rect l="0" t="0" r="7033846" b="2540000"/>
            <a:pathLst>
              <a:path w="7033846" h="2540000">
                <a:moveTo>
                  <a:pt x="0" y="2538235"/>
                </a:moveTo>
                <a:lnTo>
                  <a:pt x="117231" y="2537157"/>
                </a:lnTo>
                <a:lnTo>
                  <a:pt x="234462" y="2535493"/>
                </a:lnTo>
                <a:lnTo>
                  <a:pt x="351693" y="2532972"/>
                </a:lnTo>
                <a:lnTo>
                  <a:pt x="468923" y="2529215"/>
                </a:lnTo>
                <a:lnTo>
                  <a:pt x="586154" y="2523716"/>
                </a:lnTo>
                <a:lnTo>
                  <a:pt x="703385" y="2515806"/>
                </a:lnTo>
                <a:lnTo>
                  <a:pt x="820616" y="2504631"/>
                </a:lnTo>
                <a:lnTo>
                  <a:pt x="937846" y="2489123"/>
                </a:lnTo>
                <a:lnTo>
                  <a:pt x="1055077" y="2467988"/>
                </a:lnTo>
                <a:lnTo>
                  <a:pt x="1172308" y="2439708"/>
                </a:lnTo>
                <a:lnTo>
                  <a:pt x="1289539" y="2402559"/>
                </a:lnTo>
                <a:lnTo>
                  <a:pt x="1406769" y="2354670"/>
                </a:lnTo>
                <a:lnTo>
                  <a:pt x="1524000" y="2294101"/>
                </a:lnTo>
                <a:lnTo>
                  <a:pt x="1641231" y="2218966"/>
                </a:lnTo>
                <a:lnTo>
                  <a:pt x="1758462" y="2127591"/>
                </a:lnTo>
                <a:lnTo>
                  <a:pt x="1875693" y="2018702"/>
                </a:lnTo>
                <a:lnTo>
                  <a:pt x="1992923" y="1891624"/>
                </a:lnTo>
                <a:lnTo>
                  <a:pt x="2110154" y="1746494"/>
                </a:lnTo>
                <a:lnTo>
                  <a:pt x="2227385" y="1584446"/>
                </a:lnTo>
                <a:lnTo>
                  <a:pt x="2344616" y="1407750"/>
                </a:lnTo>
                <a:lnTo>
                  <a:pt x="2461846" y="1219885"/>
                </a:lnTo>
                <a:lnTo>
                  <a:pt x="2579077" y="1025521"/>
                </a:lnTo>
                <a:lnTo>
                  <a:pt x="2696308" y="830391"/>
                </a:lnTo>
                <a:lnTo>
                  <a:pt x="2813539" y="641053"/>
                </a:lnTo>
                <a:lnTo>
                  <a:pt x="2930769" y="464557"/>
                </a:lnTo>
                <a:lnTo>
                  <a:pt x="3048000" y="308016"/>
                </a:lnTo>
                <a:lnTo>
                  <a:pt x="3165231" y="178144"/>
                </a:lnTo>
                <a:lnTo>
                  <a:pt x="3282462" y="80776"/>
                </a:lnTo>
                <a:lnTo>
                  <a:pt x="3399693" y="20439"/>
                </a:lnTo>
                <a:lnTo>
                  <a:pt x="3516923" y="0"/>
                </a:lnTo>
                <a:lnTo>
                  <a:pt x="3634154" y="20439"/>
                </a:lnTo>
                <a:lnTo>
                  <a:pt x="3751385" y="80776"/>
                </a:lnTo>
                <a:lnTo>
                  <a:pt x="3868616" y="178144"/>
                </a:lnTo>
                <a:lnTo>
                  <a:pt x="3985846" y="308016"/>
                </a:lnTo>
                <a:lnTo>
                  <a:pt x="4103077" y="464557"/>
                </a:lnTo>
                <a:lnTo>
                  <a:pt x="4220308" y="641053"/>
                </a:lnTo>
                <a:lnTo>
                  <a:pt x="4337539" y="830391"/>
                </a:lnTo>
                <a:lnTo>
                  <a:pt x="4454769" y="1025521"/>
                </a:lnTo>
                <a:lnTo>
                  <a:pt x="4572000" y="1219885"/>
                </a:lnTo>
                <a:lnTo>
                  <a:pt x="4689231" y="1407750"/>
                </a:lnTo>
                <a:lnTo>
                  <a:pt x="4806462" y="1584446"/>
                </a:lnTo>
                <a:lnTo>
                  <a:pt x="4923693" y="1746494"/>
                </a:lnTo>
                <a:lnTo>
                  <a:pt x="5040923" y="1891624"/>
                </a:lnTo>
                <a:lnTo>
                  <a:pt x="5158154" y="2018702"/>
                </a:lnTo>
                <a:lnTo>
                  <a:pt x="5275385" y="2127591"/>
                </a:lnTo>
                <a:lnTo>
                  <a:pt x="5392616" y="2218966"/>
                </a:lnTo>
                <a:lnTo>
                  <a:pt x="5509846" y="2294101"/>
                </a:lnTo>
                <a:lnTo>
                  <a:pt x="5627077" y="2354670"/>
                </a:lnTo>
                <a:lnTo>
                  <a:pt x="5744308" y="2402559"/>
                </a:lnTo>
                <a:lnTo>
                  <a:pt x="5861539" y="2439708"/>
                </a:lnTo>
                <a:lnTo>
                  <a:pt x="5978769" y="2467988"/>
                </a:lnTo>
                <a:lnTo>
                  <a:pt x="6096000" y="2489123"/>
                </a:lnTo>
                <a:lnTo>
                  <a:pt x="6213231" y="2504631"/>
                </a:lnTo>
                <a:lnTo>
                  <a:pt x="6330462" y="2515806"/>
                </a:lnTo>
                <a:lnTo>
                  <a:pt x="6447693" y="2523716"/>
                </a:lnTo>
                <a:lnTo>
                  <a:pt x="6564923" y="2529215"/>
                </a:lnTo>
                <a:lnTo>
                  <a:pt x="6682154" y="2532972"/>
                </a:lnTo>
                <a:lnTo>
                  <a:pt x="6799385" y="2535493"/>
                </a:lnTo>
                <a:lnTo>
                  <a:pt x="6916616" y="2537157"/>
                </a:lnTo>
                <a:lnTo>
                  <a:pt x="7033846" y="2538235"/>
                </a:lnTo>
                <a:lnTo>
                  <a:pt x="7033846" y="2540000"/>
                </a:lnTo>
                <a:lnTo>
                  <a:pt x="0" y="2540000"/>
                </a:lnTo>
                <a:close/>
              </a:path>
            </a:pathLst>
          </a:custGeom>
          <a:solidFill>
            <a:srgbClr val="F5C451">
              <a:alpha val="20000"/>
            </a:srgbClr>
          </a:solidFill>
          <a:ln w="3175" cap="rnd">
            <a:solidFill>
              <a:srgbClr val="F5C451"/>
            </a:solidFill>
          </a:ln>
        </p:spPr>
        <p:txBody>
          <a:bodyPr/>
          <a:lstStyle/>
          <a:p>
            <a:endParaRPr lang="en-US" dirty="0"/>
          </a:p>
        </p:txBody>
      </p:sp>
      <p:sp>
        <p:nvSpPr>
          <p:cNvPr id="3089" name="NL6">
            <a:extLst>
              <a:ext uri="{FF2B5EF4-FFF2-40B4-BE49-F238E27FC236}">
                <a16:creationId xmlns:a16="http://schemas.microsoft.com/office/drawing/2014/main" id="{59C01AE6-FD59-893E-7AE6-3C452D36FFF1}"/>
              </a:ext>
            </a:extLst>
          </p:cNvPr>
          <p:cNvSpPr/>
          <p:nvPr/>
        </p:nvSpPr>
        <p:spPr>
          <a:xfrm>
            <a:off x="6755305" y="5626035"/>
            <a:ext cx="4755374" cy="0"/>
          </a:xfrm>
          <a:prstGeom prst="line">
            <a:avLst/>
          </a:prstGeom>
          <a:ln w="15875">
            <a:solidFill>
              <a:srgbClr val="2E3640"/>
            </a:solidFill>
          </a:ln>
        </p:spPr>
        <p:txBody>
          <a:bodyPr/>
          <a:lstStyle/>
          <a:p>
            <a:endParaRPr lang="en-US" sz="2000"/>
          </a:p>
        </p:txBody>
      </p:sp>
      <p:sp>
        <p:nvSpPr>
          <p:cNvPr id="3090" name="NL6Tk0">
            <a:extLst>
              <a:ext uri="{FF2B5EF4-FFF2-40B4-BE49-F238E27FC236}">
                <a16:creationId xmlns:a16="http://schemas.microsoft.com/office/drawing/2014/main" id="{0035CC20-7280-FA52-1583-16268A28A809}"/>
              </a:ext>
            </a:extLst>
          </p:cNvPr>
          <p:cNvSpPr/>
          <p:nvPr/>
        </p:nvSpPr>
        <p:spPr>
          <a:xfrm>
            <a:off x="6761951" y="5556109"/>
            <a:ext cx="0" cy="139852"/>
          </a:xfrm>
          <a:prstGeom prst="line">
            <a:avLst/>
          </a:prstGeom>
          <a:ln w="12700">
            <a:solidFill>
              <a:srgbClr val="2E3640"/>
            </a:solidFill>
          </a:ln>
        </p:spPr>
        <p:txBody>
          <a:bodyPr/>
          <a:lstStyle/>
          <a:p>
            <a:endParaRPr lang="en-US" sz="2000"/>
          </a:p>
        </p:txBody>
      </p:sp>
      <p:sp>
        <p:nvSpPr>
          <p:cNvPr id="3091" name="NL6TL0">
            <a:extLst>
              <a:ext uri="{FF2B5EF4-FFF2-40B4-BE49-F238E27FC236}">
                <a16:creationId xmlns:a16="http://schemas.microsoft.com/office/drawing/2014/main" id="{B8D53121-D62E-767B-7CF5-B4687BDC0F31}"/>
              </a:ext>
            </a:extLst>
          </p:cNvPr>
          <p:cNvSpPr/>
          <p:nvPr/>
        </p:nvSpPr>
        <p:spPr>
          <a:xfrm>
            <a:off x="6564558"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0.0</a:t>
            </a:r>
          </a:p>
        </p:txBody>
      </p:sp>
      <p:sp>
        <p:nvSpPr>
          <p:cNvPr id="3092" name="NL6Tk0.1">
            <a:extLst>
              <a:ext uri="{FF2B5EF4-FFF2-40B4-BE49-F238E27FC236}">
                <a16:creationId xmlns:a16="http://schemas.microsoft.com/office/drawing/2014/main" id="{AFF5FFEB-C349-C206-7D65-6E2AB2C3535D}"/>
              </a:ext>
            </a:extLst>
          </p:cNvPr>
          <p:cNvSpPr/>
          <p:nvPr/>
        </p:nvSpPr>
        <p:spPr>
          <a:xfrm>
            <a:off x="7349727" y="5591072"/>
            <a:ext cx="0" cy="69925"/>
          </a:xfrm>
          <a:prstGeom prst="line">
            <a:avLst/>
          </a:prstGeom>
          <a:ln w="12700">
            <a:solidFill>
              <a:srgbClr val="2E3640"/>
            </a:solidFill>
          </a:ln>
        </p:spPr>
        <p:txBody>
          <a:bodyPr/>
          <a:lstStyle/>
          <a:p>
            <a:endParaRPr lang="en-US" sz="2000"/>
          </a:p>
        </p:txBody>
      </p:sp>
      <p:sp>
        <p:nvSpPr>
          <p:cNvPr id="3093" name="NL6Tk0.2">
            <a:extLst>
              <a:ext uri="{FF2B5EF4-FFF2-40B4-BE49-F238E27FC236}">
                <a16:creationId xmlns:a16="http://schemas.microsoft.com/office/drawing/2014/main" id="{0AF2EBCD-8E42-7372-675B-5F5F31ABB833}"/>
              </a:ext>
            </a:extLst>
          </p:cNvPr>
          <p:cNvSpPr/>
          <p:nvPr/>
        </p:nvSpPr>
        <p:spPr>
          <a:xfrm>
            <a:off x="7944149" y="5556109"/>
            <a:ext cx="0" cy="139852"/>
          </a:xfrm>
          <a:prstGeom prst="line">
            <a:avLst/>
          </a:prstGeom>
          <a:ln w="12700">
            <a:solidFill>
              <a:srgbClr val="2E3640"/>
            </a:solidFill>
          </a:ln>
        </p:spPr>
        <p:txBody>
          <a:bodyPr/>
          <a:lstStyle/>
          <a:p>
            <a:endParaRPr lang="en-US" sz="2000"/>
          </a:p>
        </p:txBody>
      </p:sp>
      <p:sp>
        <p:nvSpPr>
          <p:cNvPr id="3094" name="NL6TL0.2">
            <a:extLst>
              <a:ext uri="{FF2B5EF4-FFF2-40B4-BE49-F238E27FC236}">
                <a16:creationId xmlns:a16="http://schemas.microsoft.com/office/drawing/2014/main" id="{F02408A1-4319-D460-7ACF-350D7E1097D2}"/>
              </a:ext>
            </a:extLst>
          </p:cNvPr>
          <p:cNvSpPr/>
          <p:nvPr/>
        </p:nvSpPr>
        <p:spPr>
          <a:xfrm>
            <a:off x="7746756"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0.2</a:t>
            </a:r>
          </a:p>
        </p:txBody>
      </p:sp>
      <p:sp>
        <p:nvSpPr>
          <p:cNvPr id="3095" name="NL6Tk0.3">
            <a:extLst>
              <a:ext uri="{FF2B5EF4-FFF2-40B4-BE49-F238E27FC236}">
                <a16:creationId xmlns:a16="http://schemas.microsoft.com/office/drawing/2014/main" id="{EE780A11-9512-7C48-B423-B766F0DE9509}"/>
              </a:ext>
            </a:extLst>
          </p:cNvPr>
          <p:cNvSpPr/>
          <p:nvPr/>
        </p:nvSpPr>
        <p:spPr>
          <a:xfrm>
            <a:off x="8538570" y="5591072"/>
            <a:ext cx="0" cy="69925"/>
          </a:xfrm>
          <a:prstGeom prst="line">
            <a:avLst/>
          </a:prstGeom>
          <a:ln w="12700">
            <a:solidFill>
              <a:srgbClr val="2E3640"/>
            </a:solidFill>
          </a:ln>
        </p:spPr>
        <p:txBody>
          <a:bodyPr/>
          <a:lstStyle/>
          <a:p>
            <a:endParaRPr lang="en-US" sz="2000"/>
          </a:p>
        </p:txBody>
      </p:sp>
      <p:sp>
        <p:nvSpPr>
          <p:cNvPr id="3096" name="NL6Tk0.4">
            <a:extLst>
              <a:ext uri="{FF2B5EF4-FFF2-40B4-BE49-F238E27FC236}">
                <a16:creationId xmlns:a16="http://schemas.microsoft.com/office/drawing/2014/main" id="{798C551A-E804-7E68-A2B0-98764A9D5E3D}"/>
              </a:ext>
            </a:extLst>
          </p:cNvPr>
          <p:cNvSpPr/>
          <p:nvPr/>
        </p:nvSpPr>
        <p:spPr>
          <a:xfrm>
            <a:off x="9132993" y="5556109"/>
            <a:ext cx="0" cy="139852"/>
          </a:xfrm>
          <a:prstGeom prst="line">
            <a:avLst/>
          </a:prstGeom>
          <a:ln w="12700">
            <a:solidFill>
              <a:srgbClr val="2E3640"/>
            </a:solidFill>
          </a:ln>
        </p:spPr>
        <p:txBody>
          <a:bodyPr/>
          <a:lstStyle/>
          <a:p>
            <a:endParaRPr lang="en-US" sz="2000"/>
          </a:p>
        </p:txBody>
      </p:sp>
      <p:sp>
        <p:nvSpPr>
          <p:cNvPr id="3097" name="NL6TL0.4">
            <a:extLst>
              <a:ext uri="{FF2B5EF4-FFF2-40B4-BE49-F238E27FC236}">
                <a16:creationId xmlns:a16="http://schemas.microsoft.com/office/drawing/2014/main" id="{EE360F5C-478B-B41D-38F4-F55A30BFE14F}"/>
              </a:ext>
            </a:extLst>
          </p:cNvPr>
          <p:cNvSpPr/>
          <p:nvPr/>
        </p:nvSpPr>
        <p:spPr>
          <a:xfrm>
            <a:off x="8935599"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0.4</a:t>
            </a:r>
          </a:p>
        </p:txBody>
      </p:sp>
      <p:sp>
        <p:nvSpPr>
          <p:cNvPr id="3098" name="NL6Tk0.5">
            <a:extLst>
              <a:ext uri="{FF2B5EF4-FFF2-40B4-BE49-F238E27FC236}">
                <a16:creationId xmlns:a16="http://schemas.microsoft.com/office/drawing/2014/main" id="{5EFF2DA1-C9F7-6E31-1787-D0B588501CF8}"/>
              </a:ext>
            </a:extLst>
          </p:cNvPr>
          <p:cNvSpPr/>
          <p:nvPr/>
        </p:nvSpPr>
        <p:spPr>
          <a:xfrm>
            <a:off x="9727414" y="5591072"/>
            <a:ext cx="0" cy="69925"/>
          </a:xfrm>
          <a:prstGeom prst="line">
            <a:avLst/>
          </a:prstGeom>
          <a:ln w="12700">
            <a:solidFill>
              <a:srgbClr val="2E3640"/>
            </a:solidFill>
          </a:ln>
        </p:spPr>
        <p:txBody>
          <a:bodyPr/>
          <a:lstStyle/>
          <a:p>
            <a:endParaRPr lang="en-US" sz="2000"/>
          </a:p>
        </p:txBody>
      </p:sp>
      <p:sp>
        <p:nvSpPr>
          <p:cNvPr id="3099" name="NL6Tk0.6">
            <a:extLst>
              <a:ext uri="{FF2B5EF4-FFF2-40B4-BE49-F238E27FC236}">
                <a16:creationId xmlns:a16="http://schemas.microsoft.com/office/drawing/2014/main" id="{41837639-C581-4DC5-F94F-AE8A2A98B823}"/>
              </a:ext>
            </a:extLst>
          </p:cNvPr>
          <p:cNvSpPr/>
          <p:nvPr/>
        </p:nvSpPr>
        <p:spPr>
          <a:xfrm>
            <a:off x="10321835" y="5556109"/>
            <a:ext cx="0" cy="139852"/>
          </a:xfrm>
          <a:prstGeom prst="line">
            <a:avLst/>
          </a:prstGeom>
          <a:ln w="12700">
            <a:solidFill>
              <a:srgbClr val="2E3640"/>
            </a:solidFill>
          </a:ln>
        </p:spPr>
        <p:txBody>
          <a:bodyPr/>
          <a:lstStyle/>
          <a:p>
            <a:endParaRPr lang="en-US" sz="2000"/>
          </a:p>
        </p:txBody>
      </p:sp>
      <p:sp>
        <p:nvSpPr>
          <p:cNvPr id="3100" name="NL6TL0.6">
            <a:extLst>
              <a:ext uri="{FF2B5EF4-FFF2-40B4-BE49-F238E27FC236}">
                <a16:creationId xmlns:a16="http://schemas.microsoft.com/office/drawing/2014/main" id="{4D621683-C7B9-8235-ADCC-98B50AD49C34}"/>
              </a:ext>
            </a:extLst>
          </p:cNvPr>
          <p:cNvSpPr/>
          <p:nvPr/>
        </p:nvSpPr>
        <p:spPr>
          <a:xfrm>
            <a:off x="10124443"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0.6</a:t>
            </a:r>
          </a:p>
        </p:txBody>
      </p:sp>
      <p:sp>
        <p:nvSpPr>
          <p:cNvPr id="3101" name="NL6Tk0.7">
            <a:extLst>
              <a:ext uri="{FF2B5EF4-FFF2-40B4-BE49-F238E27FC236}">
                <a16:creationId xmlns:a16="http://schemas.microsoft.com/office/drawing/2014/main" id="{FD8B52C4-C8C3-6C8C-D036-7527A1E062FB}"/>
              </a:ext>
            </a:extLst>
          </p:cNvPr>
          <p:cNvSpPr/>
          <p:nvPr/>
        </p:nvSpPr>
        <p:spPr>
          <a:xfrm>
            <a:off x="10916257" y="5591072"/>
            <a:ext cx="0" cy="69925"/>
          </a:xfrm>
          <a:prstGeom prst="line">
            <a:avLst/>
          </a:prstGeom>
          <a:ln w="12700">
            <a:solidFill>
              <a:srgbClr val="2E3640"/>
            </a:solidFill>
          </a:ln>
        </p:spPr>
        <p:txBody>
          <a:bodyPr/>
          <a:lstStyle/>
          <a:p>
            <a:endParaRPr lang="en-US" sz="2000"/>
          </a:p>
        </p:txBody>
      </p:sp>
      <p:sp>
        <p:nvSpPr>
          <p:cNvPr id="3102" name="NL6Tk0.8">
            <a:extLst>
              <a:ext uri="{FF2B5EF4-FFF2-40B4-BE49-F238E27FC236}">
                <a16:creationId xmlns:a16="http://schemas.microsoft.com/office/drawing/2014/main" id="{31663BAA-02FC-D396-62C2-609E192994AA}"/>
              </a:ext>
            </a:extLst>
          </p:cNvPr>
          <p:cNvSpPr/>
          <p:nvPr/>
        </p:nvSpPr>
        <p:spPr>
          <a:xfrm>
            <a:off x="11510679" y="5556109"/>
            <a:ext cx="0" cy="139852"/>
          </a:xfrm>
          <a:prstGeom prst="line">
            <a:avLst/>
          </a:prstGeom>
          <a:ln w="12700">
            <a:solidFill>
              <a:srgbClr val="2E3640"/>
            </a:solidFill>
          </a:ln>
        </p:spPr>
        <p:txBody>
          <a:bodyPr/>
          <a:lstStyle/>
          <a:p>
            <a:endParaRPr lang="en-US" sz="2000"/>
          </a:p>
        </p:txBody>
      </p:sp>
      <p:sp>
        <p:nvSpPr>
          <p:cNvPr id="3103" name="NL6TL0.8">
            <a:extLst>
              <a:ext uri="{FF2B5EF4-FFF2-40B4-BE49-F238E27FC236}">
                <a16:creationId xmlns:a16="http://schemas.microsoft.com/office/drawing/2014/main" id="{F10445C3-7AF9-162A-ABAC-EC59B63B9496}"/>
              </a:ext>
            </a:extLst>
          </p:cNvPr>
          <p:cNvSpPr/>
          <p:nvPr/>
        </p:nvSpPr>
        <p:spPr>
          <a:xfrm>
            <a:off x="11313286"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0.8</a:t>
            </a:r>
          </a:p>
        </p:txBody>
      </p:sp>
      <p:sp>
        <p:nvSpPr>
          <p:cNvPr id="3104" name="B1Dot6">
            <a:extLst>
              <a:ext uri="{FF2B5EF4-FFF2-40B4-BE49-F238E27FC236}">
                <a16:creationId xmlns:a16="http://schemas.microsoft.com/office/drawing/2014/main" id="{3CF384B5-842E-A07A-3151-809EBDEB9F4E}"/>
              </a:ext>
            </a:extLst>
          </p:cNvPr>
          <p:cNvSpPr/>
          <p:nvPr/>
        </p:nvSpPr>
        <p:spPr>
          <a:xfrm>
            <a:off x="8977995" y="5545119"/>
            <a:ext cx="143559" cy="163160"/>
          </a:xfrm>
          <a:prstGeom prst="ellipse">
            <a:avLst/>
          </a:prstGeom>
          <a:solidFill>
            <a:srgbClr val="FFFFFF"/>
          </a:solidFill>
          <a:ln w="19050">
            <a:solidFill>
              <a:srgbClr val="D94535"/>
            </a:solidFill>
          </a:ln>
        </p:spPr>
        <p:txBody>
          <a:bodyPr/>
          <a:lstStyle/>
          <a:p>
            <a:endParaRPr lang="en-US" sz="2000"/>
          </a:p>
        </p:txBody>
      </p:sp>
      <p:grpSp>
        <p:nvGrpSpPr>
          <p:cNvPr id="3112" name="Group 3111">
            <a:extLst>
              <a:ext uri="{FF2B5EF4-FFF2-40B4-BE49-F238E27FC236}">
                <a16:creationId xmlns:a16="http://schemas.microsoft.com/office/drawing/2014/main" id="{82401AB9-4052-E32C-0272-1700DE3FC477}"/>
              </a:ext>
            </a:extLst>
          </p:cNvPr>
          <p:cNvGrpSpPr/>
          <p:nvPr/>
        </p:nvGrpSpPr>
        <p:grpSpPr>
          <a:xfrm>
            <a:off x="6758096" y="5272869"/>
            <a:ext cx="2261173" cy="152651"/>
            <a:chOff x="7182260" y="4223241"/>
            <a:chExt cx="2008328" cy="313966"/>
          </a:xfrm>
        </p:grpSpPr>
        <p:sp>
          <p:nvSpPr>
            <p:cNvPr id="3118" name="CIBar7">
              <a:extLst>
                <a:ext uri="{FF2B5EF4-FFF2-40B4-BE49-F238E27FC236}">
                  <a16:creationId xmlns:a16="http://schemas.microsoft.com/office/drawing/2014/main" id="{4CD46A12-FD28-B9DA-12E5-E8E3AAA2A8DA}"/>
                </a:ext>
              </a:extLst>
            </p:cNvPr>
            <p:cNvSpPr/>
            <p:nvPr/>
          </p:nvSpPr>
          <p:spPr>
            <a:xfrm>
              <a:off x="8437132" y="4261261"/>
              <a:ext cx="618774" cy="226982"/>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120" name="CILW7">
              <a:extLst>
                <a:ext uri="{FF2B5EF4-FFF2-40B4-BE49-F238E27FC236}">
                  <a16:creationId xmlns:a16="http://schemas.microsoft.com/office/drawing/2014/main" id="{EA44062A-6623-89D9-B290-3C0308D3DAAA}"/>
                </a:ext>
              </a:extLst>
            </p:cNvPr>
            <p:cNvSpPr/>
            <p:nvPr/>
          </p:nvSpPr>
          <p:spPr>
            <a:xfrm>
              <a:off x="8431235" y="4223241"/>
              <a:ext cx="0" cy="304800"/>
            </a:xfrm>
            <a:prstGeom prst="line">
              <a:avLst/>
            </a:prstGeom>
            <a:ln w="15875">
              <a:solidFill>
                <a:srgbClr val="2B6CB0"/>
              </a:solidFill>
            </a:ln>
          </p:spPr>
          <p:txBody>
            <a:bodyPr anchor="ctr"/>
            <a:lstStyle/>
            <a:p>
              <a:endParaRPr lang="en-US" sz="2000"/>
            </a:p>
          </p:txBody>
        </p:sp>
        <p:sp>
          <p:nvSpPr>
            <p:cNvPr id="3122" name="CILW7">
              <a:extLst>
                <a:ext uri="{FF2B5EF4-FFF2-40B4-BE49-F238E27FC236}">
                  <a16:creationId xmlns:a16="http://schemas.microsoft.com/office/drawing/2014/main" id="{389E3664-F35B-BBB2-96FE-516361159B72}"/>
                </a:ext>
              </a:extLst>
            </p:cNvPr>
            <p:cNvSpPr/>
            <p:nvPr/>
          </p:nvSpPr>
          <p:spPr>
            <a:xfrm>
              <a:off x="9057186" y="4223241"/>
              <a:ext cx="0" cy="304800"/>
            </a:xfrm>
            <a:prstGeom prst="line">
              <a:avLst/>
            </a:prstGeom>
            <a:ln w="15875">
              <a:solidFill>
                <a:srgbClr val="2B6CB0"/>
              </a:solidFill>
            </a:ln>
          </p:spPr>
          <p:txBody>
            <a:bodyPr anchor="ctr"/>
            <a:lstStyle/>
            <a:p>
              <a:endParaRPr lang="en-US" sz="2000"/>
            </a:p>
          </p:txBody>
        </p:sp>
        <p:sp>
          <p:nvSpPr>
            <p:cNvPr id="3126" name="CIBar7">
              <a:extLst>
                <a:ext uri="{FF2B5EF4-FFF2-40B4-BE49-F238E27FC236}">
                  <a16:creationId xmlns:a16="http://schemas.microsoft.com/office/drawing/2014/main" id="{90A0F521-27CE-03FB-8F92-7CC2FB6152F0}"/>
                </a:ext>
              </a:extLst>
            </p:cNvPr>
            <p:cNvSpPr/>
            <p:nvPr/>
          </p:nvSpPr>
          <p:spPr>
            <a:xfrm>
              <a:off x="9063082" y="4267722"/>
              <a:ext cx="127506" cy="220919"/>
            </a:xfrm>
            <a:prstGeom prst="rect">
              <a:avLst/>
            </a:prstGeom>
            <a:solidFill>
              <a:srgbClr val="B8D4E8">
                <a:alpha val="34902"/>
              </a:srgbClr>
            </a:solidFill>
            <a:ln>
              <a:noFill/>
            </a:ln>
          </p:spPr>
          <p:txBody>
            <a:bodyPr lIns="0" rIns="0" anchor="ctr"/>
            <a:lstStyle/>
            <a:p>
              <a:pPr algn="ctr"/>
              <a:endParaRPr lang="en-US" sz="900" dirty="0"/>
            </a:p>
          </p:txBody>
        </p:sp>
        <p:sp>
          <p:nvSpPr>
            <p:cNvPr id="3127" name="CILW7">
              <a:extLst>
                <a:ext uri="{FF2B5EF4-FFF2-40B4-BE49-F238E27FC236}">
                  <a16:creationId xmlns:a16="http://schemas.microsoft.com/office/drawing/2014/main" id="{B2FAA0DE-AA09-BFC8-6F64-AEBB2D958AAD}"/>
                </a:ext>
              </a:extLst>
            </p:cNvPr>
            <p:cNvSpPr/>
            <p:nvPr/>
          </p:nvSpPr>
          <p:spPr>
            <a:xfrm>
              <a:off x="9057185" y="4229702"/>
              <a:ext cx="0" cy="304800"/>
            </a:xfrm>
            <a:prstGeom prst="line">
              <a:avLst/>
            </a:prstGeom>
            <a:ln w="15875">
              <a:solidFill>
                <a:srgbClr val="2B6CB0"/>
              </a:solidFill>
            </a:ln>
          </p:spPr>
          <p:txBody>
            <a:bodyPr anchor="ctr"/>
            <a:lstStyle/>
            <a:p>
              <a:endParaRPr lang="en-US" sz="2000"/>
            </a:p>
          </p:txBody>
        </p:sp>
        <p:grpSp>
          <p:nvGrpSpPr>
            <p:cNvPr id="3133" name="Group 3132">
              <a:extLst>
                <a:ext uri="{FF2B5EF4-FFF2-40B4-BE49-F238E27FC236}">
                  <a16:creationId xmlns:a16="http://schemas.microsoft.com/office/drawing/2014/main" id="{7AD21A99-9EFA-0BAA-0DBE-1A369CE9FA09}"/>
                </a:ext>
              </a:extLst>
            </p:cNvPr>
            <p:cNvGrpSpPr/>
            <p:nvPr/>
          </p:nvGrpSpPr>
          <p:grpSpPr>
            <a:xfrm>
              <a:off x="7182260" y="4225946"/>
              <a:ext cx="1251897" cy="311261"/>
              <a:chOff x="9852940" y="4192417"/>
              <a:chExt cx="1216344" cy="311261"/>
            </a:xfrm>
          </p:grpSpPr>
          <p:sp>
            <p:nvSpPr>
              <p:cNvPr id="3134" name="CILW7">
                <a:extLst>
                  <a:ext uri="{FF2B5EF4-FFF2-40B4-BE49-F238E27FC236}">
                    <a16:creationId xmlns:a16="http://schemas.microsoft.com/office/drawing/2014/main" id="{838B80C0-77A4-F699-14E5-2B1B9191172E}"/>
                  </a:ext>
                </a:extLst>
              </p:cNvPr>
              <p:cNvSpPr/>
              <p:nvPr/>
            </p:nvSpPr>
            <p:spPr>
              <a:xfrm>
                <a:off x="9852941" y="4192417"/>
                <a:ext cx="0" cy="304800"/>
              </a:xfrm>
              <a:prstGeom prst="line">
                <a:avLst/>
              </a:prstGeom>
              <a:ln w="15875">
                <a:solidFill>
                  <a:srgbClr val="2B6CB0"/>
                </a:solidFill>
              </a:ln>
            </p:spPr>
            <p:txBody>
              <a:bodyPr anchor="ctr"/>
              <a:lstStyle/>
              <a:p>
                <a:endParaRPr lang="en-US" sz="2000"/>
              </a:p>
            </p:txBody>
          </p:sp>
          <p:sp>
            <p:nvSpPr>
              <p:cNvPr id="3135" name="CIBar7">
                <a:extLst>
                  <a:ext uri="{FF2B5EF4-FFF2-40B4-BE49-F238E27FC236}">
                    <a16:creationId xmlns:a16="http://schemas.microsoft.com/office/drawing/2014/main" id="{CD352E52-3F6A-C0E2-2992-180C308294CA}"/>
                  </a:ext>
                </a:extLst>
              </p:cNvPr>
              <p:cNvSpPr/>
              <p:nvPr/>
            </p:nvSpPr>
            <p:spPr>
              <a:xfrm>
                <a:off x="9858670" y="4236898"/>
                <a:ext cx="601200" cy="226982"/>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00" name="CILW7">
                <a:extLst>
                  <a:ext uri="{FF2B5EF4-FFF2-40B4-BE49-F238E27FC236}">
                    <a16:creationId xmlns:a16="http://schemas.microsoft.com/office/drawing/2014/main" id="{341819A4-3A66-8E5B-BFB0-E9E8BBD7AF69}"/>
                  </a:ext>
                </a:extLst>
              </p:cNvPr>
              <p:cNvSpPr/>
              <p:nvPr/>
            </p:nvSpPr>
            <p:spPr>
              <a:xfrm>
                <a:off x="9852940" y="4198878"/>
                <a:ext cx="0" cy="304800"/>
              </a:xfrm>
              <a:prstGeom prst="line">
                <a:avLst/>
              </a:prstGeom>
              <a:ln w="15875">
                <a:solidFill>
                  <a:srgbClr val="2B6CB0"/>
                </a:solidFill>
              </a:ln>
            </p:spPr>
            <p:txBody>
              <a:bodyPr anchor="ctr"/>
              <a:lstStyle/>
              <a:p>
                <a:endParaRPr lang="en-US" sz="2000"/>
              </a:p>
            </p:txBody>
          </p:sp>
          <p:sp>
            <p:nvSpPr>
              <p:cNvPr id="3201" name="CILW7">
                <a:extLst>
                  <a:ext uri="{FF2B5EF4-FFF2-40B4-BE49-F238E27FC236}">
                    <a16:creationId xmlns:a16="http://schemas.microsoft.com/office/drawing/2014/main" id="{90C8760E-4C21-7532-B518-F48443DC3E71}"/>
                  </a:ext>
                </a:extLst>
              </p:cNvPr>
              <p:cNvSpPr/>
              <p:nvPr/>
            </p:nvSpPr>
            <p:spPr>
              <a:xfrm>
                <a:off x="10461113" y="4198878"/>
                <a:ext cx="0" cy="304800"/>
              </a:xfrm>
              <a:prstGeom prst="line">
                <a:avLst/>
              </a:prstGeom>
              <a:ln w="15875">
                <a:solidFill>
                  <a:srgbClr val="2B6CB0"/>
                </a:solidFill>
              </a:ln>
            </p:spPr>
            <p:txBody>
              <a:bodyPr anchor="ctr"/>
              <a:lstStyle/>
              <a:p>
                <a:endParaRPr lang="en-US" sz="2000"/>
              </a:p>
            </p:txBody>
          </p:sp>
          <p:sp>
            <p:nvSpPr>
              <p:cNvPr id="3202" name="CIBar7">
                <a:extLst>
                  <a:ext uri="{FF2B5EF4-FFF2-40B4-BE49-F238E27FC236}">
                    <a16:creationId xmlns:a16="http://schemas.microsoft.com/office/drawing/2014/main" id="{051C7760-C1C5-EC60-A75A-F7C43317A747}"/>
                  </a:ext>
                </a:extLst>
              </p:cNvPr>
              <p:cNvSpPr/>
              <p:nvPr/>
            </p:nvSpPr>
            <p:spPr>
              <a:xfrm>
                <a:off x="10466841" y="4233142"/>
                <a:ext cx="601200" cy="226982"/>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03" name="CILW7">
                <a:extLst>
                  <a:ext uri="{FF2B5EF4-FFF2-40B4-BE49-F238E27FC236}">
                    <a16:creationId xmlns:a16="http://schemas.microsoft.com/office/drawing/2014/main" id="{2E4762F0-F78F-F363-5A7B-129CB05E28E5}"/>
                  </a:ext>
                </a:extLst>
              </p:cNvPr>
              <p:cNvSpPr/>
              <p:nvPr/>
            </p:nvSpPr>
            <p:spPr>
              <a:xfrm>
                <a:off x="10461111" y="4195122"/>
                <a:ext cx="0" cy="304800"/>
              </a:xfrm>
              <a:prstGeom prst="line">
                <a:avLst/>
              </a:prstGeom>
              <a:ln w="15875">
                <a:solidFill>
                  <a:srgbClr val="2B6CB0"/>
                </a:solidFill>
              </a:ln>
            </p:spPr>
            <p:txBody>
              <a:bodyPr anchor="ctr"/>
              <a:lstStyle/>
              <a:p>
                <a:endParaRPr lang="en-US" sz="2000"/>
              </a:p>
            </p:txBody>
          </p:sp>
          <p:sp>
            <p:nvSpPr>
              <p:cNvPr id="3204" name="CILW7">
                <a:extLst>
                  <a:ext uri="{FF2B5EF4-FFF2-40B4-BE49-F238E27FC236}">
                    <a16:creationId xmlns:a16="http://schemas.microsoft.com/office/drawing/2014/main" id="{5BE9450D-4B11-332A-3EB6-26C84C209EA5}"/>
                  </a:ext>
                </a:extLst>
              </p:cNvPr>
              <p:cNvSpPr/>
              <p:nvPr/>
            </p:nvSpPr>
            <p:spPr>
              <a:xfrm>
                <a:off x="11069284" y="4195122"/>
                <a:ext cx="0" cy="304800"/>
              </a:xfrm>
              <a:prstGeom prst="line">
                <a:avLst/>
              </a:prstGeom>
              <a:ln w="15875">
                <a:solidFill>
                  <a:srgbClr val="2B6CB0"/>
                </a:solidFill>
              </a:ln>
            </p:spPr>
            <p:txBody>
              <a:bodyPr anchor="ctr"/>
              <a:lstStyle/>
              <a:p>
                <a:endParaRPr lang="en-US" sz="2000"/>
              </a:p>
            </p:txBody>
          </p:sp>
        </p:grpSp>
      </p:grpSp>
      <p:sp>
        <p:nvSpPr>
          <p:cNvPr id="3234" name="Rounded Rectangle 3233">
            <a:extLst>
              <a:ext uri="{FF2B5EF4-FFF2-40B4-BE49-F238E27FC236}">
                <a16:creationId xmlns:a16="http://schemas.microsoft.com/office/drawing/2014/main" id="{07C68595-FB4D-800A-5F1C-E5A1D70A7716}"/>
              </a:ext>
            </a:extLst>
          </p:cNvPr>
          <p:cNvSpPr/>
          <p:nvPr/>
        </p:nvSpPr>
        <p:spPr>
          <a:xfrm>
            <a:off x="242818" y="716434"/>
            <a:ext cx="5185216" cy="1997583"/>
          </a:xfrm>
          <a:prstGeom prst="roundRect">
            <a:avLst>
              <a:gd name="adj" fmla="val 3379"/>
            </a:avLst>
          </a:prstGeom>
          <a:solidFill>
            <a:schemeClr val="accent2">
              <a:lumMod val="20000"/>
              <a:lumOff val="80000"/>
            </a:schemeClr>
          </a:solidFill>
          <a:ln w="12700">
            <a:solidFill>
              <a:schemeClr val="accent5">
                <a:lumMod val="50000"/>
              </a:schemeClr>
            </a:solidFill>
          </a:ln>
        </p:spPr>
        <p:txBody>
          <a:bodyPr vertOverflow="overflow" vert="horz" wrap="square" rtlCol="0" anchor="t">
            <a:noAutofit/>
          </a:bodyPr>
          <a:lstStyle/>
          <a:p>
            <a:pPr marL="285750" indent="-285750">
              <a:spcAft>
                <a:spcPts val="200"/>
              </a:spcAft>
              <a:buFont typeface="Arial" panose="020B0604020202020204" pitchFamily="34" charset="0"/>
              <a:buChar char="•"/>
            </a:pPr>
            <a:r>
              <a:rPr lang="en-US" sz="1400" dirty="0">
                <a:solidFill>
                  <a:srgbClr val="2E3640"/>
                </a:solidFill>
                <a:latin typeface="Open Sans"/>
              </a:rPr>
              <a:t>The </a:t>
            </a:r>
            <a:r>
              <a:rPr lang="en-US" sz="1400" b="1" dirty="0">
                <a:solidFill>
                  <a:srgbClr val="2E3640"/>
                </a:solidFill>
                <a:latin typeface="Open Sans"/>
              </a:rPr>
              <a:t>null hypothesis</a:t>
            </a:r>
            <a:r>
              <a:rPr lang="en-US" sz="1400" dirty="0">
                <a:solidFill>
                  <a:srgbClr val="2E3640"/>
                </a:solidFill>
                <a:latin typeface="Open Sans"/>
              </a:rPr>
              <a:t>: "There is no relationship between x and y.”</a:t>
            </a:r>
          </a:p>
          <a:p>
            <a:pPr marL="285750" indent="-285750">
              <a:spcAft>
                <a:spcPts val="200"/>
              </a:spcAft>
              <a:buFont typeface="Arial" panose="020B0604020202020204" pitchFamily="34" charset="0"/>
              <a:buChar char="•"/>
            </a:pPr>
            <a:r>
              <a:rPr lang="en-US" sz="1400" dirty="0">
                <a:solidFill>
                  <a:srgbClr val="2E3640"/>
                </a:solidFill>
                <a:latin typeface="Open Sans"/>
              </a:rPr>
              <a:t>True </a:t>
            </a:r>
            <a:r>
              <a:rPr lang="en-US" sz="1400" b="1" dirty="0">
                <a:solidFill>
                  <a:srgbClr val="2E3640"/>
                </a:solidFill>
                <a:latin typeface="Open Sans"/>
              </a:rPr>
              <a:t>slope of zero</a:t>
            </a:r>
          </a:p>
          <a:p>
            <a:pPr marL="285750" indent="-285750">
              <a:spcAft>
                <a:spcPts val="200"/>
              </a:spcAft>
              <a:buFont typeface="Arial" panose="020B0604020202020204" pitchFamily="34" charset="0"/>
              <a:buChar char="•"/>
            </a:pPr>
            <a:r>
              <a:rPr lang="en-US" sz="1400" dirty="0">
                <a:solidFill>
                  <a:srgbClr val="2E3640"/>
                </a:solidFill>
                <a:latin typeface="Open Sans"/>
              </a:rPr>
              <a:t>In such a world, </a:t>
            </a:r>
            <a:r>
              <a:rPr lang="en-US" sz="1400" b="1" dirty="0">
                <a:solidFill>
                  <a:srgbClr val="2E3640"/>
                </a:solidFill>
                <a:latin typeface="Open Sans"/>
              </a:rPr>
              <a:t>random samples </a:t>
            </a:r>
            <a:r>
              <a:rPr lang="en-US" sz="1400" dirty="0">
                <a:solidFill>
                  <a:srgbClr val="2E3640"/>
                </a:solidFill>
                <a:latin typeface="Open Sans"/>
              </a:rPr>
              <a:t>of 8 would still produce some slope, and a corresponding t value</a:t>
            </a:r>
          </a:p>
          <a:p>
            <a:pPr marL="285750" indent="-285750">
              <a:spcAft>
                <a:spcPts val="200"/>
              </a:spcAft>
              <a:buFont typeface="Arial" panose="020B0604020202020204" pitchFamily="34" charset="0"/>
              <a:buChar char="•"/>
            </a:pPr>
            <a:r>
              <a:rPr lang="en-US" sz="1400" dirty="0">
                <a:solidFill>
                  <a:srgbClr val="2E3640"/>
                </a:solidFill>
                <a:latin typeface="Open Sans"/>
              </a:rPr>
              <a:t>Forming a </a:t>
            </a:r>
            <a:r>
              <a:rPr lang="en-US" sz="1400" b="1" dirty="0">
                <a:solidFill>
                  <a:srgbClr val="2E3640"/>
                </a:solidFill>
                <a:latin typeface="Open Sans"/>
              </a:rPr>
              <a:t>bell curve around 0</a:t>
            </a:r>
          </a:p>
          <a:p>
            <a:pPr marL="285750" indent="-285750">
              <a:spcAft>
                <a:spcPts val="200"/>
              </a:spcAft>
              <a:buFont typeface="Arial" panose="020B0604020202020204" pitchFamily="34" charset="0"/>
              <a:buChar char="•"/>
            </a:pPr>
            <a:r>
              <a:rPr lang="en-US" sz="1400" dirty="0">
                <a:solidFill>
                  <a:srgbClr val="2E3640"/>
                </a:solidFill>
                <a:latin typeface="Open Sans"/>
              </a:rPr>
              <a:t>The </a:t>
            </a:r>
            <a:r>
              <a:rPr lang="en-US" sz="1400" b="1" dirty="0">
                <a:solidFill>
                  <a:srgbClr val="2E3640"/>
                </a:solidFill>
                <a:latin typeface="Open Sans"/>
              </a:rPr>
              <a:t>null distribution </a:t>
            </a:r>
            <a:r>
              <a:rPr lang="en-US" sz="1400" dirty="0">
                <a:solidFill>
                  <a:srgbClr val="2E3640"/>
                </a:solidFill>
                <a:latin typeface="Open Sans"/>
              </a:rPr>
              <a:t>shows what t-values (signal-to-noise ratios) we'd see</a:t>
            </a:r>
          </a:p>
        </p:txBody>
      </p:sp>
      <p:sp>
        <p:nvSpPr>
          <p:cNvPr id="3235" name="B1Dot6">
            <a:extLst>
              <a:ext uri="{FF2B5EF4-FFF2-40B4-BE49-F238E27FC236}">
                <a16:creationId xmlns:a16="http://schemas.microsoft.com/office/drawing/2014/main" id="{DD7C0162-A821-3D2C-D12F-DEF95EA275F2}"/>
              </a:ext>
            </a:extLst>
          </p:cNvPr>
          <p:cNvSpPr/>
          <p:nvPr/>
        </p:nvSpPr>
        <p:spPr>
          <a:xfrm>
            <a:off x="8977995" y="5545119"/>
            <a:ext cx="143559" cy="163160"/>
          </a:xfrm>
          <a:prstGeom prst="ellipse">
            <a:avLst/>
          </a:prstGeom>
          <a:solidFill>
            <a:srgbClr val="FFFFFF"/>
          </a:solidFill>
          <a:ln w="19050">
            <a:solidFill>
              <a:srgbClr val="D94535"/>
            </a:solidFill>
          </a:ln>
        </p:spPr>
        <p:txBody>
          <a:bodyPr/>
          <a:lstStyle/>
          <a:p>
            <a:endParaRPr lang="en-US" sz="2000"/>
          </a:p>
        </p:txBody>
      </p:sp>
      <p:cxnSp>
        <p:nvCxnSpPr>
          <p:cNvPr id="3236" name="DotLine">
            <a:extLst>
              <a:ext uri="{FF2B5EF4-FFF2-40B4-BE49-F238E27FC236}">
                <a16:creationId xmlns:a16="http://schemas.microsoft.com/office/drawing/2014/main" id="{02D8062C-7794-281A-96D9-2CF3409FDFA4}"/>
              </a:ext>
            </a:extLst>
          </p:cNvPr>
          <p:cNvCxnSpPr>
            <a:cxnSpLocks/>
            <a:stCxn id="3237" idx="2"/>
          </p:cNvCxnSpPr>
          <p:nvPr/>
        </p:nvCxnSpPr>
        <p:spPr>
          <a:xfrm flipH="1">
            <a:off x="9039179" y="4568965"/>
            <a:ext cx="1251" cy="947063"/>
          </a:xfrm>
          <a:prstGeom prst="line">
            <a:avLst/>
          </a:prstGeom>
          <a:ln w="19050">
            <a:solidFill>
              <a:srgbClr val="D94535"/>
            </a:solidFill>
            <a:prstDash val="dash"/>
          </a:ln>
        </p:spPr>
      </p:cxnSp>
      <p:sp>
        <p:nvSpPr>
          <p:cNvPr id="3237" name="BLabel">
            <a:extLst>
              <a:ext uri="{FF2B5EF4-FFF2-40B4-BE49-F238E27FC236}">
                <a16:creationId xmlns:a16="http://schemas.microsoft.com/office/drawing/2014/main" id="{420C5BAC-D273-3645-0D03-FE1E3051E6D7}"/>
              </a:ext>
            </a:extLst>
          </p:cNvPr>
          <p:cNvSpPr/>
          <p:nvPr/>
        </p:nvSpPr>
        <p:spPr>
          <a:xfrm>
            <a:off x="8516755" y="4383405"/>
            <a:ext cx="1047349" cy="185560"/>
          </a:xfrm>
          <a:prstGeom prst="roundRect">
            <a:avLst>
              <a:gd name="adj" fmla="val 16667"/>
            </a:avLst>
          </a:prstGeom>
          <a:solidFill>
            <a:srgbClr val="D94535"/>
          </a:solidFill>
          <a:ln>
            <a:noFill/>
          </a:ln>
        </p:spPr>
        <p:txBody>
          <a:bodyPr wrap="none" lIns="36000" tIns="0" rIns="36000" bIns="0" anchor="ctr"/>
          <a:lstStyle/>
          <a:p>
            <a:pPr algn="ctr"/>
            <a:r>
              <a:rPr lang="en-US" sz="1000" b="1" dirty="0">
                <a:solidFill>
                  <a:srgbClr val="FFFFFF"/>
                </a:solidFill>
                <a:latin typeface="Open Sans"/>
              </a:rPr>
              <a:t>b₁ = 0.386</a:t>
            </a:r>
          </a:p>
        </p:txBody>
      </p:sp>
      <p:sp>
        <p:nvSpPr>
          <p:cNvPr id="3240" name="TLabel">
            <a:extLst>
              <a:ext uri="{FF2B5EF4-FFF2-40B4-BE49-F238E27FC236}">
                <a16:creationId xmlns:a16="http://schemas.microsoft.com/office/drawing/2014/main" id="{E30EAD3A-1EA3-3845-A7D9-E7CA2A908F66}"/>
              </a:ext>
            </a:extLst>
          </p:cNvPr>
          <p:cNvSpPr/>
          <p:nvPr/>
        </p:nvSpPr>
        <p:spPr>
          <a:xfrm>
            <a:off x="6744099" y="5018733"/>
            <a:ext cx="2285125" cy="237320"/>
          </a:xfrm>
          <a:prstGeom prst="homePlate">
            <a:avLst/>
          </a:prstGeom>
          <a:solidFill>
            <a:srgbClr val="FFFFFF"/>
          </a:solidFill>
          <a:ln w="12700">
            <a:solidFill>
              <a:srgbClr val="2C8B2C"/>
            </a:solidFill>
          </a:ln>
        </p:spPr>
        <p:txBody>
          <a:bodyPr wrap="none" lIns="36000" tIns="0" rIns="36000" bIns="0" anchor="ctr"/>
          <a:lstStyle/>
          <a:p>
            <a:pPr algn="ctr"/>
            <a:r>
              <a:rPr lang="en-US" sz="1000" b="1" dirty="0">
                <a:solidFill>
                  <a:srgbClr val="2C8B2C"/>
                </a:solidFill>
                <a:latin typeface="Open Sans"/>
              </a:rPr>
              <a:t>t = b</a:t>
            </a:r>
            <a:r>
              <a:rPr lang="en-US" sz="1000" b="1" baseline="-25000" dirty="0">
                <a:solidFill>
                  <a:srgbClr val="2C8B2C"/>
                </a:solidFill>
                <a:latin typeface="Open Sans"/>
              </a:rPr>
              <a:t>1</a:t>
            </a:r>
            <a:r>
              <a:rPr lang="en-US" sz="1000" b="1" dirty="0">
                <a:solidFill>
                  <a:srgbClr val="2C8B2C"/>
                </a:solidFill>
                <a:latin typeface="Open Sans"/>
              </a:rPr>
              <a:t> / SE = 0.386 / 0.118 = 3.26</a:t>
            </a:r>
          </a:p>
        </p:txBody>
      </p:sp>
      <p:grpSp>
        <p:nvGrpSpPr>
          <p:cNvPr id="3264" name="Group 3263">
            <a:extLst>
              <a:ext uri="{FF2B5EF4-FFF2-40B4-BE49-F238E27FC236}">
                <a16:creationId xmlns:a16="http://schemas.microsoft.com/office/drawing/2014/main" id="{EC506D9E-F506-C5DF-74B8-8C5F6D324CA6}"/>
              </a:ext>
            </a:extLst>
          </p:cNvPr>
          <p:cNvGrpSpPr/>
          <p:nvPr/>
        </p:nvGrpSpPr>
        <p:grpSpPr>
          <a:xfrm>
            <a:off x="7319661" y="5639970"/>
            <a:ext cx="3460225" cy="1157961"/>
            <a:chOff x="7319661" y="5639970"/>
            <a:chExt cx="3460225" cy="1157961"/>
          </a:xfrm>
        </p:grpSpPr>
        <p:grpSp>
          <p:nvGrpSpPr>
            <p:cNvPr id="3241" name="Group 3240">
              <a:extLst>
                <a:ext uri="{FF2B5EF4-FFF2-40B4-BE49-F238E27FC236}">
                  <a16:creationId xmlns:a16="http://schemas.microsoft.com/office/drawing/2014/main" id="{9557870B-DE2F-9883-11BF-F32DF17AEDD9}"/>
                </a:ext>
              </a:extLst>
            </p:cNvPr>
            <p:cNvGrpSpPr/>
            <p:nvPr/>
          </p:nvGrpSpPr>
          <p:grpSpPr>
            <a:xfrm>
              <a:off x="7319661" y="5639970"/>
              <a:ext cx="3450237" cy="1157961"/>
              <a:chOff x="7319661" y="5639970"/>
              <a:chExt cx="3450237" cy="1505529"/>
            </a:xfrm>
          </p:grpSpPr>
          <p:sp>
            <p:nvSpPr>
              <p:cNvPr id="3242" name="CILW7">
                <a:extLst>
                  <a:ext uri="{FF2B5EF4-FFF2-40B4-BE49-F238E27FC236}">
                    <a16:creationId xmlns:a16="http://schemas.microsoft.com/office/drawing/2014/main" id="{EE5A4675-4F0F-232F-BFB8-828291CDF4B2}"/>
                  </a:ext>
                </a:extLst>
              </p:cNvPr>
              <p:cNvSpPr/>
              <p:nvPr/>
            </p:nvSpPr>
            <p:spPr>
              <a:xfrm>
                <a:off x="7319661" y="5656439"/>
                <a:ext cx="6646" cy="1489060"/>
              </a:xfrm>
              <a:prstGeom prst="line">
                <a:avLst/>
              </a:prstGeom>
              <a:ln w="15875">
                <a:solidFill>
                  <a:srgbClr val="2B6CB0"/>
                </a:solidFill>
                <a:prstDash val="sysDash"/>
              </a:ln>
            </p:spPr>
            <p:txBody>
              <a:bodyPr/>
              <a:lstStyle/>
              <a:p>
                <a:endParaRPr lang="en-US" sz="2000"/>
              </a:p>
            </p:txBody>
          </p:sp>
          <p:sp>
            <p:nvSpPr>
              <p:cNvPr id="3243" name="CIRW7">
                <a:extLst>
                  <a:ext uri="{FF2B5EF4-FFF2-40B4-BE49-F238E27FC236}">
                    <a16:creationId xmlns:a16="http://schemas.microsoft.com/office/drawing/2014/main" id="{CEAC9F7D-20C0-BFD4-B9EA-AA8776CAB725}"/>
                  </a:ext>
                </a:extLst>
              </p:cNvPr>
              <p:cNvSpPr/>
              <p:nvPr/>
            </p:nvSpPr>
            <p:spPr>
              <a:xfrm flipH="1">
                <a:off x="10763252" y="5639970"/>
                <a:ext cx="6646" cy="1489061"/>
              </a:xfrm>
              <a:prstGeom prst="line">
                <a:avLst/>
              </a:prstGeom>
              <a:ln w="15875">
                <a:solidFill>
                  <a:srgbClr val="2B6CB0"/>
                </a:solidFill>
                <a:prstDash val="sysDash"/>
              </a:ln>
            </p:spPr>
            <p:txBody>
              <a:bodyPr/>
              <a:lstStyle/>
              <a:p>
                <a:endParaRPr lang="en-US" sz="2000"/>
              </a:p>
            </p:txBody>
          </p:sp>
        </p:grpSp>
        <p:sp>
          <p:nvSpPr>
            <p:cNvPr id="3244" name="CILVal7">
              <a:extLst>
                <a:ext uri="{FF2B5EF4-FFF2-40B4-BE49-F238E27FC236}">
                  <a16:creationId xmlns:a16="http://schemas.microsoft.com/office/drawing/2014/main" id="{D821B13A-AA0E-A2C4-06B5-E58F7FDB83C0}"/>
                </a:ext>
              </a:extLst>
            </p:cNvPr>
            <p:cNvSpPr/>
            <p:nvPr/>
          </p:nvSpPr>
          <p:spPr>
            <a:xfrm>
              <a:off x="7326307" y="5959054"/>
              <a:ext cx="448620" cy="186468"/>
            </a:xfrm>
            <a:prstGeom prst="rect">
              <a:avLst/>
            </a:prstGeom>
            <a:noFill/>
            <a:ln>
              <a:noFill/>
            </a:ln>
          </p:spPr>
          <p:txBody>
            <a:bodyPr wrap="none" lIns="0" tIns="0" rIns="0" bIns="0" anchor="t"/>
            <a:lstStyle/>
            <a:p>
              <a:pPr algn="ctr"/>
              <a:r>
                <a:rPr lang="en-US" sz="1000" b="1" dirty="0">
                  <a:solidFill>
                    <a:srgbClr val="2B6CB0"/>
                  </a:solidFill>
                  <a:latin typeface="Open Sans"/>
                </a:rPr>
                <a:t>0.096</a:t>
              </a:r>
            </a:p>
          </p:txBody>
        </p:sp>
        <p:sp>
          <p:nvSpPr>
            <p:cNvPr id="3245" name="CIRVal7">
              <a:extLst>
                <a:ext uri="{FF2B5EF4-FFF2-40B4-BE49-F238E27FC236}">
                  <a16:creationId xmlns:a16="http://schemas.microsoft.com/office/drawing/2014/main" id="{E8D0C0ED-3278-578F-F110-1D60BE2CFCF2}"/>
                </a:ext>
              </a:extLst>
            </p:cNvPr>
            <p:cNvSpPr/>
            <p:nvPr/>
          </p:nvSpPr>
          <p:spPr>
            <a:xfrm>
              <a:off x="10314634" y="5971044"/>
              <a:ext cx="448620" cy="186468"/>
            </a:xfrm>
            <a:prstGeom prst="rect">
              <a:avLst/>
            </a:prstGeom>
            <a:noFill/>
            <a:ln>
              <a:noFill/>
            </a:ln>
          </p:spPr>
          <p:txBody>
            <a:bodyPr wrap="none" lIns="0" tIns="0" rIns="0" bIns="0" anchor="t"/>
            <a:lstStyle/>
            <a:p>
              <a:pPr algn="ctr"/>
              <a:r>
                <a:rPr lang="en-US" sz="1000" b="1" dirty="0">
                  <a:solidFill>
                    <a:srgbClr val="2B6CB0"/>
                  </a:solidFill>
                  <a:latin typeface="Open Sans"/>
                </a:rPr>
                <a:t>0.676</a:t>
              </a:r>
            </a:p>
          </p:txBody>
        </p:sp>
        <p:sp>
          <p:nvSpPr>
            <p:cNvPr id="3246" name="CIBar7">
              <a:extLst>
                <a:ext uri="{FF2B5EF4-FFF2-40B4-BE49-F238E27FC236}">
                  <a16:creationId xmlns:a16="http://schemas.microsoft.com/office/drawing/2014/main" id="{8C52687B-7D28-9569-9D34-029A60F4F81C}"/>
                </a:ext>
              </a:extLst>
            </p:cNvPr>
            <p:cNvSpPr/>
            <p:nvPr/>
          </p:nvSpPr>
          <p:spPr>
            <a:xfrm>
              <a:off x="7332951" y="6284168"/>
              <a:ext cx="3436947" cy="429809"/>
            </a:xfrm>
            <a:prstGeom prst="rect">
              <a:avLst/>
            </a:prstGeom>
            <a:solidFill>
              <a:srgbClr val="F1F4FF"/>
            </a:solidFill>
            <a:ln>
              <a:solidFill>
                <a:srgbClr val="0070C0"/>
              </a:solidFill>
            </a:ln>
          </p:spPr>
          <p:txBody>
            <a:bodyPr anchor="ctr"/>
            <a:lstStyle/>
            <a:p>
              <a:pPr algn="ctr"/>
              <a:r>
                <a:rPr lang="en-US" sz="1050" b="1" dirty="0">
                  <a:solidFill>
                    <a:srgbClr val="2B6CB0"/>
                  </a:solidFill>
                  <a:latin typeface="Open Sans"/>
                </a:rPr>
                <a:t>True slope’s plausible region: ± 2.45 SE</a:t>
              </a:r>
            </a:p>
            <a:p>
              <a:pPr algn="ctr"/>
              <a:r>
                <a:rPr lang="en-US" sz="1050" b="1" dirty="0">
                  <a:solidFill>
                    <a:srgbClr val="2B6CB0"/>
                  </a:solidFill>
                  <a:latin typeface="Open Sans"/>
                </a:rPr>
                <a:t>95% Confidence Interval</a:t>
              </a:r>
            </a:p>
          </p:txBody>
        </p:sp>
        <p:grpSp>
          <p:nvGrpSpPr>
            <p:cNvPr id="3247" name="Group 3246">
              <a:extLst>
                <a:ext uri="{FF2B5EF4-FFF2-40B4-BE49-F238E27FC236}">
                  <a16:creationId xmlns:a16="http://schemas.microsoft.com/office/drawing/2014/main" id="{7832C625-4A89-70EF-0756-2B8E567E7E89}"/>
                </a:ext>
              </a:extLst>
            </p:cNvPr>
            <p:cNvGrpSpPr/>
            <p:nvPr/>
          </p:nvGrpSpPr>
          <p:grpSpPr>
            <a:xfrm>
              <a:off x="7342945" y="6153014"/>
              <a:ext cx="3436941" cy="139778"/>
              <a:chOff x="7674600" y="4901590"/>
              <a:chExt cx="3052621" cy="124385"/>
            </a:xfrm>
          </p:grpSpPr>
          <p:sp>
            <p:nvSpPr>
              <p:cNvPr id="3248" name="CIBar7">
                <a:extLst>
                  <a:ext uri="{FF2B5EF4-FFF2-40B4-BE49-F238E27FC236}">
                    <a16:creationId xmlns:a16="http://schemas.microsoft.com/office/drawing/2014/main" id="{4652837A-8C20-51AF-2FD1-E436FF5371FE}"/>
                  </a:ext>
                </a:extLst>
              </p:cNvPr>
              <p:cNvSpPr/>
              <p:nvPr/>
            </p:nvSpPr>
            <p:spPr>
              <a:xfrm>
                <a:off x="9202825" y="4916652"/>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49" name="CILW7">
                <a:extLst>
                  <a:ext uri="{FF2B5EF4-FFF2-40B4-BE49-F238E27FC236}">
                    <a16:creationId xmlns:a16="http://schemas.microsoft.com/office/drawing/2014/main" id="{2A70D59B-34D0-F358-2316-F8203AEFA68B}"/>
                  </a:ext>
                </a:extLst>
              </p:cNvPr>
              <p:cNvSpPr/>
              <p:nvPr/>
            </p:nvSpPr>
            <p:spPr>
              <a:xfrm>
                <a:off x="9196928" y="4901590"/>
                <a:ext cx="0" cy="120753"/>
              </a:xfrm>
              <a:prstGeom prst="line">
                <a:avLst/>
              </a:prstGeom>
              <a:ln w="15875">
                <a:solidFill>
                  <a:srgbClr val="2B6CB0"/>
                </a:solidFill>
              </a:ln>
            </p:spPr>
            <p:txBody>
              <a:bodyPr anchor="ctr"/>
              <a:lstStyle/>
              <a:p>
                <a:endParaRPr lang="en-US" sz="2000"/>
              </a:p>
            </p:txBody>
          </p:sp>
          <p:sp>
            <p:nvSpPr>
              <p:cNvPr id="3250" name="CILW7">
                <a:extLst>
                  <a:ext uri="{FF2B5EF4-FFF2-40B4-BE49-F238E27FC236}">
                    <a16:creationId xmlns:a16="http://schemas.microsoft.com/office/drawing/2014/main" id="{917B0DA0-170E-BFCC-368F-FF85FE14030B}"/>
                  </a:ext>
                </a:extLst>
              </p:cNvPr>
              <p:cNvSpPr/>
              <p:nvPr/>
            </p:nvSpPr>
            <p:spPr>
              <a:xfrm>
                <a:off x="9822879" y="4901590"/>
                <a:ext cx="0" cy="120753"/>
              </a:xfrm>
              <a:prstGeom prst="line">
                <a:avLst/>
              </a:prstGeom>
              <a:ln w="15875">
                <a:solidFill>
                  <a:srgbClr val="2B6CB0"/>
                </a:solidFill>
              </a:ln>
            </p:spPr>
            <p:txBody>
              <a:bodyPr anchor="ctr"/>
              <a:lstStyle/>
              <a:p>
                <a:endParaRPr lang="en-US" sz="2000"/>
              </a:p>
            </p:txBody>
          </p:sp>
          <p:sp>
            <p:nvSpPr>
              <p:cNvPr id="3251" name="CIBar7">
                <a:extLst>
                  <a:ext uri="{FF2B5EF4-FFF2-40B4-BE49-F238E27FC236}">
                    <a16:creationId xmlns:a16="http://schemas.microsoft.com/office/drawing/2014/main" id="{CFD939E1-BA81-5560-48E0-D9B83498C428}"/>
                  </a:ext>
                </a:extLst>
              </p:cNvPr>
              <p:cNvSpPr/>
              <p:nvPr/>
            </p:nvSpPr>
            <p:spPr>
              <a:xfrm>
                <a:off x="9828775" y="4919212"/>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52" name="CILW7">
                <a:extLst>
                  <a:ext uri="{FF2B5EF4-FFF2-40B4-BE49-F238E27FC236}">
                    <a16:creationId xmlns:a16="http://schemas.microsoft.com/office/drawing/2014/main" id="{2C9D0E3C-07BA-53CA-3CEE-2B8DF52DB300}"/>
                  </a:ext>
                </a:extLst>
              </p:cNvPr>
              <p:cNvSpPr/>
              <p:nvPr/>
            </p:nvSpPr>
            <p:spPr>
              <a:xfrm>
                <a:off x="9822878" y="4904150"/>
                <a:ext cx="0" cy="120753"/>
              </a:xfrm>
              <a:prstGeom prst="line">
                <a:avLst/>
              </a:prstGeom>
              <a:ln w="15875">
                <a:solidFill>
                  <a:srgbClr val="2B6CB0"/>
                </a:solidFill>
              </a:ln>
            </p:spPr>
            <p:txBody>
              <a:bodyPr anchor="ctr"/>
              <a:lstStyle/>
              <a:p>
                <a:endParaRPr lang="en-US" sz="2000"/>
              </a:p>
            </p:txBody>
          </p:sp>
          <p:sp>
            <p:nvSpPr>
              <p:cNvPr id="3253" name="CILW7">
                <a:extLst>
                  <a:ext uri="{FF2B5EF4-FFF2-40B4-BE49-F238E27FC236}">
                    <a16:creationId xmlns:a16="http://schemas.microsoft.com/office/drawing/2014/main" id="{4943C9CE-99C2-E691-5552-C8051AA33150}"/>
                  </a:ext>
                </a:extLst>
              </p:cNvPr>
              <p:cNvSpPr/>
              <p:nvPr/>
            </p:nvSpPr>
            <p:spPr>
              <a:xfrm>
                <a:off x="10448828" y="4904150"/>
                <a:ext cx="0" cy="120753"/>
              </a:xfrm>
              <a:prstGeom prst="line">
                <a:avLst/>
              </a:prstGeom>
              <a:ln w="15875">
                <a:solidFill>
                  <a:srgbClr val="2B6CB0"/>
                </a:solidFill>
              </a:ln>
            </p:spPr>
            <p:txBody>
              <a:bodyPr anchor="ctr"/>
              <a:lstStyle/>
              <a:p>
                <a:endParaRPr lang="en-US" sz="2000"/>
              </a:p>
            </p:txBody>
          </p:sp>
          <p:sp>
            <p:nvSpPr>
              <p:cNvPr id="3254" name="CIBar7">
                <a:extLst>
                  <a:ext uri="{FF2B5EF4-FFF2-40B4-BE49-F238E27FC236}">
                    <a16:creationId xmlns:a16="http://schemas.microsoft.com/office/drawing/2014/main" id="{87B26832-61E1-0E8A-1A08-858B7A5D422E}"/>
                  </a:ext>
                </a:extLst>
              </p:cNvPr>
              <p:cNvSpPr/>
              <p:nvPr/>
            </p:nvSpPr>
            <p:spPr>
              <a:xfrm>
                <a:off x="10454724" y="4917724"/>
                <a:ext cx="272497" cy="89924"/>
              </a:xfrm>
              <a:prstGeom prst="rect">
                <a:avLst/>
              </a:prstGeom>
              <a:solidFill>
                <a:srgbClr val="B8D4E8">
                  <a:alpha val="34902"/>
                </a:srgbClr>
              </a:solidFill>
              <a:ln>
                <a:noFill/>
              </a:ln>
            </p:spPr>
            <p:txBody>
              <a:bodyPr lIns="0" rIns="0" anchor="ctr"/>
              <a:lstStyle/>
              <a:p>
                <a:pPr algn="ctr"/>
                <a:endParaRPr lang="en-US" sz="900" dirty="0"/>
              </a:p>
            </p:txBody>
          </p:sp>
          <p:sp>
            <p:nvSpPr>
              <p:cNvPr id="3255" name="CILW7">
                <a:extLst>
                  <a:ext uri="{FF2B5EF4-FFF2-40B4-BE49-F238E27FC236}">
                    <a16:creationId xmlns:a16="http://schemas.microsoft.com/office/drawing/2014/main" id="{E2081433-1314-4A0A-02F2-4C8C7919444B}"/>
                  </a:ext>
                </a:extLst>
              </p:cNvPr>
              <p:cNvSpPr/>
              <p:nvPr/>
            </p:nvSpPr>
            <p:spPr>
              <a:xfrm>
                <a:off x="10448826" y="4902662"/>
                <a:ext cx="0" cy="120753"/>
              </a:xfrm>
              <a:prstGeom prst="line">
                <a:avLst/>
              </a:prstGeom>
              <a:ln w="15875">
                <a:solidFill>
                  <a:srgbClr val="2B6CB0"/>
                </a:solidFill>
              </a:ln>
            </p:spPr>
            <p:txBody>
              <a:bodyPr anchor="ctr"/>
              <a:lstStyle/>
              <a:p>
                <a:endParaRPr lang="en-US" sz="2000"/>
              </a:p>
            </p:txBody>
          </p:sp>
          <p:sp>
            <p:nvSpPr>
              <p:cNvPr id="3256" name="CIBar7">
                <a:extLst>
                  <a:ext uri="{FF2B5EF4-FFF2-40B4-BE49-F238E27FC236}">
                    <a16:creationId xmlns:a16="http://schemas.microsoft.com/office/drawing/2014/main" id="{D5D75CF9-3046-AEB8-CFB6-B3E0E94EFC5E}"/>
                  </a:ext>
                </a:extLst>
              </p:cNvPr>
              <p:cNvSpPr/>
              <p:nvPr/>
            </p:nvSpPr>
            <p:spPr>
              <a:xfrm>
                <a:off x="7674600" y="4917724"/>
                <a:ext cx="272102" cy="89924"/>
              </a:xfrm>
              <a:prstGeom prst="rect">
                <a:avLst/>
              </a:prstGeom>
              <a:solidFill>
                <a:srgbClr val="B8D4E8">
                  <a:alpha val="34902"/>
                </a:srgbClr>
              </a:solidFill>
              <a:ln>
                <a:noFill/>
              </a:ln>
            </p:spPr>
            <p:txBody>
              <a:bodyPr lIns="0" rIns="0" anchor="ctr"/>
              <a:lstStyle/>
              <a:p>
                <a:pPr algn="ctr"/>
                <a:endParaRPr lang="en-US" sz="900" dirty="0"/>
              </a:p>
            </p:txBody>
          </p:sp>
          <p:sp>
            <p:nvSpPr>
              <p:cNvPr id="3257" name="CILW7">
                <a:extLst>
                  <a:ext uri="{FF2B5EF4-FFF2-40B4-BE49-F238E27FC236}">
                    <a16:creationId xmlns:a16="http://schemas.microsoft.com/office/drawing/2014/main" id="{EB4DBC4C-1378-14B4-5BC9-C55886767CB7}"/>
                  </a:ext>
                </a:extLst>
              </p:cNvPr>
              <p:cNvSpPr/>
              <p:nvPr/>
            </p:nvSpPr>
            <p:spPr>
              <a:xfrm>
                <a:off x="7947981" y="4902662"/>
                <a:ext cx="0" cy="120753"/>
              </a:xfrm>
              <a:prstGeom prst="line">
                <a:avLst/>
              </a:prstGeom>
              <a:ln w="15875">
                <a:solidFill>
                  <a:srgbClr val="2B6CB0"/>
                </a:solidFill>
              </a:ln>
            </p:spPr>
            <p:txBody>
              <a:bodyPr anchor="ctr"/>
              <a:lstStyle/>
              <a:p>
                <a:endParaRPr lang="en-US" sz="2000"/>
              </a:p>
            </p:txBody>
          </p:sp>
          <p:sp>
            <p:nvSpPr>
              <p:cNvPr id="3258" name="CIBar7">
                <a:extLst>
                  <a:ext uri="{FF2B5EF4-FFF2-40B4-BE49-F238E27FC236}">
                    <a16:creationId xmlns:a16="http://schemas.microsoft.com/office/drawing/2014/main" id="{8398740C-89F7-B95F-24A9-A5C6A83ADD92}"/>
                  </a:ext>
                </a:extLst>
              </p:cNvPr>
              <p:cNvSpPr/>
              <p:nvPr/>
            </p:nvSpPr>
            <p:spPr>
              <a:xfrm>
                <a:off x="7953878" y="4920284"/>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59" name="CILW7">
                <a:extLst>
                  <a:ext uri="{FF2B5EF4-FFF2-40B4-BE49-F238E27FC236}">
                    <a16:creationId xmlns:a16="http://schemas.microsoft.com/office/drawing/2014/main" id="{48B1AEFB-F064-FA62-5489-62FF9545540E}"/>
                  </a:ext>
                </a:extLst>
              </p:cNvPr>
              <p:cNvSpPr/>
              <p:nvPr/>
            </p:nvSpPr>
            <p:spPr>
              <a:xfrm>
                <a:off x="7947980" y="4905222"/>
                <a:ext cx="0" cy="120753"/>
              </a:xfrm>
              <a:prstGeom prst="line">
                <a:avLst/>
              </a:prstGeom>
              <a:ln w="15875">
                <a:solidFill>
                  <a:srgbClr val="2B6CB0"/>
                </a:solidFill>
              </a:ln>
            </p:spPr>
            <p:txBody>
              <a:bodyPr anchor="ctr"/>
              <a:lstStyle/>
              <a:p>
                <a:endParaRPr lang="en-US" sz="2000"/>
              </a:p>
            </p:txBody>
          </p:sp>
          <p:sp>
            <p:nvSpPr>
              <p:cNvPr id="3260" name="CILW7">
                <a:extLst>
                  <a:ext uri="{FF2B5EF4-FFF2-40B4-BE49-F238E27FC236}">
                    <a16:creationId xmlns:a16="http://schemas.microsoft.com/office/drawing/2014/main" id="{1D79CE8E-63F0-8977-4256-C9FA99D9480E}"/>
                  </a:ext>
                </a:extLst>
              </p:cNvPr>
              <p:cNvSpPr/>
              <p:nvPr/>
            </p:nvSpPr>
            <p:spPr>
              <a:xfrm>
                <a:off x="8573931" y="4905222"/>
                <a:ext cx="0" cy="120753"/>
              </a:xfrm>
              <a:prstGeom prst="line">
                <a:avLst/>
              </a:prstGeom>
              <a:ln w="15875">
                <a:solidFill>
                  <a:srgbClr val="2B6CB0"/>
                </a:solidFill>
              </a:ln>
            </p:spPr>
            <p:txBody>
              <a:bodyPr anchor="ctr"/>
              <a:lstStyle/>
              <a:p>
                <a:endParaRPr lang="en-US" sz="2000"/>
              </a:p>
            </p:txBody>
          </p:sp>
          <p:sp>
            <p:nvSpPr>
              <p:cNvPr id="3261" name="CIBar7">
                <a:extLst>
                  <a:ext uri="{FF2B5EF4-FFF2-40B4-BE49-F238E27FC236}">
                    <a16:creationId xmlns:a16="http://schemas.microsoft.com/office/drawing/2014/main" id="{43375DC4-79CD-708A-4C09-BB1457881BF4}"/>
                  </a:ext>
                </a:extLst>
              </p:cNvPr>
              <p:cNvSpPr/>
              <p:nvPr/>
            </p:nvSpPr>
            <p:spPr>
              <a:xfrm>
                <a:off x="8579827" y="4918796"/>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62" name="CILW7">
                <a:extLst>
                  <a:ext uri="{FF2B5EF4-FFF2-40B4-BE49-F238E27FC236}">
                    <a16:creationId xmlns:a16="http://schemas.microsoft.com/office/drawing/2014/main" id="{1BFC9118-E996-17B3-C167-ED71FACEB82C}"/>
                  </a:ext>
                </a:extLst>
              </p:cNvPr>
              <p:cNvSpPr/>
              <p:nvPr/>
            </p:nvSpPr>
            <p:spPr>
              <a:xfrm>
                <a:off x="8573929" y="4903734"/>
                <a:ext cx="0" cy="120753"/>
              </a:xfrm>
              <a:prstGeom prst="line">
                <a:avLst/>
              </a:prstGeom>
              <a:ln w="15875">
                <a:solidFill>
                  <a:srgbClr val="2B6CB0"/>
                </a:solidFill>
              </a:ln>
            </p:spPr>
            <p:txBody>
              <a:bodyPr anchor="ctr"/>
              <a:lstStyle/>
              <a:p>
                <a:endParaRPr lang="en-US" sz="2000"/>
              </a:p>
            </p:txBody>
          </p:sp>
          <p:sp>
            <p:nvSpPr>
              <p:cNvPr id="3263" name="CILW7">
                <a:extLst>
                  <a:ext uri="{FF2B5EF4-FFF2-40B4-BE49-F238E27FC236}">
                    <a16:creationId xmlns:a16="http://schemas.microsoft.com/office/drawing/2014/main" id="{BCB0B1D2-B559-5B45-8A77-3D96017C21E0}"/>
                  </a:ext>
                </a:extLst>
              </p:cNvPr>
              <p:cNvSpPr/>
              <p:nvPr/>
            </p:nvSpPr>
            <p:spPr>
              <a:xfrm>
                <a:off x="9199880" y="4903734"/>
                <a:ext cx="0" cy="120753"/>
              </a:xfrm>
              <a:prstGeom prst="line">
                <a:avLst/>
              </a:prstGeom>
              <a:ln w="15875">
                <a:solidFill>
                  <a:srgbClr val="2B6CB0"/>
                </a:solidFill>
              </a:ln>
            </p:spPr>
            <p:txBody>
              <a:bodyPr anchor="ctr"/>
              <a:lstStyle/>
              <a:p>
                <a:endParaRPr lang="en-US" sz="2000"/>
              </a:p>
            </p:txBody>
          </p:sp>
        </p:grpSp>
      </p:grpSp>
      <p:grpSp>
        <p:nvGrpSpPr>
          <p:cNvPr id="3367" name="Group 3366">
            <a:extLst>
              <a:ext uri="{FF2B5EF4-FFF2-40B4-BE49-F238E27FC236}">
                <a16:creationId xmlns:a16="http://schemas.microsoft.com/office/drawing/2014/main" id="{B75B73C9-5536-F630-879F-4E840C8E6EBF}"/>
              </a:ext>
            </a:extLst>
          </p:cNvPr>
          <p:cNvGrpSpPr/>
          <p:nvPr/>
        </p:nvGrpSpPr>
        <p:grpSpPr>
          <a:xfrm>
            <a:off x="5764014" y="910202"/>
            <a:ext cx="6343169" cy="1415766"/>
            <a:chOff x="4150097" y="4695549"/>
            <a:chExt cx="7996926" cy="1991667"/>
          </a:xfrm>
        </p:grpSpPr>
        <p:sp>
          <p:nvSpPr>
            <p:cNvPr id="3298" name="Rounded Rectangle 3297">
              <a:extLst>
                <a:ext uri="{FF2B5EF4-FFF2-40B4-BE49-F238E27FC236}">
                  <a16:creationId xmlns:a16="http://schemas.microsoft.com/office/drawing/2014/main" id="{E376A6E5-015E-31A6-11A4-CF96F1F904B7}"/>
                </a:ext>
              </a:extLst>
            </p:cNvPr>
            <p:cNvSpPr/>
            <p:nvPr/>
          </p:nvSpPr>
          <p:spPr>
            <a:xfrm>
              <a:off x="4153589" y="4854299"/>
              <a:ext cx="7874000" cy="1777635"/>
            </a:xfrm>
            <a:prstGeom prst="roundRect">
              <a:avLst>
                <a:gd name="adj" fmla="val 8794"/>
              </a:avLst>
            </a:prstGeom>
            <a:solidFill>
              <a:srgbClr val="FBF3E4">
                <a:alpha val="7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99" name="Takeaway">
              <a:extLst>
                <a:ext uri="{FF2B5EF4-FFF2-40B4-BE49-F238E27FC236}">
                  <a16:creationId xmlns:a16="http://schemas.microsoft.com/office/drawing/2014/main" id="{2975ADCC-BD14-3B9E-367B-E4E74976DBAB}"/>
                </a:ext>
              </a:extLst>
            </p:cNvPr>
            <p:cNvSpPr/>
            <p:nvPr/>
          </p:nvSpPr>
          <p:spPr>
            <a:xfrm>
              <a:off x="4150097" y="4710853"/>
              <a:ext cx="7874000" cy="1921082"/>
            </a:xfrm>
            <a:prstGeom prst="roundRect">
              <a:avLst>
                <a:gd name="adj" fmla="val 5827"/>
              </a:avLst>
            </a:prstGeom>
            <a:solidFill>
              <a:srgbClr val="FFF8F0"/>
            </a:solidFill>
            <a:ln w="12700">
              <a:noFill/>
            </a:ln>
          </p:spPr>
          <p:txBody>
            <a:bodyPr wrap="square" lIns="72000" tIns="54000" rIns="72000" bIns="54000" anchor="ctr"/>
            <a:lstStyle/>
            <a:p>
              <a:pPr algn="l">
                <a:spcAft>
                  <a:spcPts val="200"/>
                </a:spcAft>
              </a:pPr>
              <a:endParaRPr lang="en-US" sz="1400" dirty="0">
                <a:solidFill>
                  <a:srgbClr val="2E3640"/>
                </a:solidFill>
                <a:latin typeface="Open Sans"/>
              </a:endParaRPr>
            </a:p>
          </p:txBody>
        </p:sp>
        <p:grpSp>
          <p:nvGrpSpPr>
            <p:cNvPr id="3300" name="Group 3299">
              <a:extLst>
                <a:ext uri="{FF2B5EF4-FFF2-40B4-BE49-F238E27FC236}">
                  <a16:creationId xmlns:a16="http://schemas.microsoft.com/office/drawing/2014/main" id="{B7C1C969-63AD-81B3-5C98-7F96871DCED0}"/>
                </a:ext>
              </a:extLst>
            </p:cNvPr>
            <p:cNvGrpSpPr/>
            <p:nvPr/>
          </p:nvGrpSpPr>
          <p:grpSpPr>
            <a:xfrm>
              <a:off x="4186484" y="5108194"/>
              <a:ext cx="7960539" cy="1579022"/>
              <a:chOff x="210695" y="5115873"/>
              <a:chExt cx="8656947" cy="1579022"/>
            </a:xfrm>
          </p:grpSpPr>
          <p:sp>
            <p:nvSpPr>
              <p:cNvPr id="3301" name="NoRelLabel">
                <a:extLst>
                  <a:ext uri="{FF2B5EF4-FFF2-40B4-BE49-F238E27FC236}">
                    <a16:creationId xmlns:a16="http://schemas.microsoft.com/office/drawing/2014/main" id="{C3EF382C-50D6-4511-ABB3-F32F30741242}"/>
                  </a:ext>
                </a:extLst>
              </p:cNvPr>
              <p:cNvSpPr/>
              <p:nvPr/>
            </p:nvSpPr>
            <p:spPr>
              <a:xfrm>
                <a:off x="210695" y="5115873"/>
                <a:ext cx="4318000" cy="279400"/>
              </a:xfrm>
              <a:prstGeom prst="rect">
                <a:avLst/>
              </a:prstGeom>
              <a:noFill/>
              <a:ln>
                <a:noFill/>
              </a:ln>
            </p:spPr>
            <p:txBody>
              <a:bodyPr wrap="square" lIns="0" tIns="0" rIns="0" bIns="0" anchor="b"/>
              <a:lstStyle/>
              <a:p>
                <a:pPr algn="l"/>
                <a:r>
                  <a:rPr lang="en-US" sz="1200" dirty="0">
                    <a:solidFill>
                      <a:srgbClr val="2E3640"/>
                    </a:solidFill>
                    <a:latin typeface="Open Sans"/>
                  </a:rPr>
                  <a:t>When there’s no relationship:</a:t>
                </a:r>
              </a:p>
            </p:txBody>
          </p:sp>
          <p:sp>
            <p:nvSpPr>
              <p:cNvPr id="3302" name="Rectangle 3301">
                <a:extLst>
                  <a:ext uri="{FF2B5EF4-FFF2-40B4-BE49-F238E27FC236}">
                    <a16:creationId xmlns:a16="http://schemas.microsoft.com/office/drawing/2014/main" id="{6FE91C2A-88B4-E9B4-DD1B-24A1C1108FDD}"/>
                  </a:ext>
                </a:extLst>
              </p:cNvPr>
              <p:cNvSpPr/>
              <p:nvPr/>
            </p:nvSpPr>
            <p:spPr>
              <a:xfrm>
                <a:off x="210695" y="5446073"/>
                <a:ext cx="1270000" cy="952500"/>
              </a:xfrm>
              <a:prstGeom prst="rect">
                <a:avLst/>
              </a:prstGeom>
              <a:solidFill>
                <a:srgbClr val="F8F8F8"/>
              </a:solidFill>
              <a:ln w="6350">
                <a:solidFill>
                  <a:srgbClr val="CCCCCC"/>
                </a:solidFill>
              </a:ln>
            </p:spPr>
            <p:txBody>
              <a:bodyPr/>
              <a:lstStyle/>
              <a:p>
                <a:endParaRPr lang="en-US"/>
              </a:p>
            </p:txBody>
          </p:sp>
          <p:sp>
            <p:nvSpPr>
              <p:cNvPr id="3303" name="Oval 3302">
                <a:extLst>
                  <a:ext uri="{FF2B5EF4-FFF2-40B4-BE49-F238E27FC236}">
                    <a16:creationId xmlns:a16="http://schemas.microsoft.com/office/drawing/2014/main" id="{128B0E78-6BAD-53B9-044C-84FB9E507A8E}"/>
                  </a:ext>
                </a:extLst>
              </p:cNvPr>
              <p:cNvSpPr/>
              <p:nvPr/>
            </p:nvSpPr>
            <p:spPr>
              <a:xfrm>
                <a:off x="407545" y="5959153"/>
                <a:ext cx="76200" cy="76200"/>
              </a:xfrm>
              <a:prstGeom prst="ellipse">
                <a:avLst/>
              </a:prstGeom>
              <a:solidFill>
                <a:srgbClr val="999999"/>
              </a:solidFill>
              <a:ln w="0">
                <a:noFill/>
              </a:ln>
            </p:spPr>
            <p:txBody>
              <a:bodyPr/>
              <a:lstStyle/>
              <a:p>
                <a:endParaRPr lang="en-US"/>
              </a:p>
            </p:txBody>
          </p:sp>
          <p:sp>
            <p:nvSpPr>
              <p:cNvPr id="3304" name="Oval 3303">
                <a:extLst>
                  <a:ext uri="{FF2B5EF4-FFF2-40B4-BE49-F238E27FC236}">
                    <a16:creationId xmlns:a16="http://schemas.microsoft.com/office/drawing/2014/main" id="{702007CE-BAFC-682F-4F1C-2F3081604DAA}"/>
                  </a:ext>
                </a:extLst>
              </p:cNvPr>
              <p:cNvSpPr/>
              <p:nvPr/>
            </p:nvSpPr>
            <p:spPr>
              <a:xfrm>
                <a:off x="540895" y="6109013"/>
                <a:ext cx="76200" cy="76200"/>
              </a:xfrm>
              <a:prstGeom prst="ellipse">
                <a:avLst/>
              </a:prstGeom>
              <a:solidFill>
                <a:srgbClr val="999999"/>
              </a:solidFill>
              <a:ln w="0">
                <a:noFill/>
              </a:ln>
            </p:spPr>
            <p:txBody>
              <a:bodyPr/>
              <a:lstStyle/>
              <a:p>
                <a:endParaRPr lang="en-US"/>
              </a:p>
            </p:txBody>
          </p:sp>
          <p:sp>
            <p:nvSpPr>
              <p:cNvPr id="3305" name="Oval 3304">
                <a:extLst>
                  <a:ext uri="{FF2B5EF4-FFF2-40B4-BE49-F238E27FC236}">
                    <a16:creationId xmlns:a16="http://schemas.microsoft.com/office/drawing/2014/main" id="{D9B0ED4D-6AB5-4E32-5EFF-962A73CC9EEC}"/>
                  </a:ext>
                </a:extLst>
              </p:cNvPr>
              <p:cNvSpPr/>
              <p:nvPr/>
            </p:nvSpPr>
            <p:spPr>
              <a:xfrm>
                <a:off x="674245" y="5809293"/>
                <a:ext cx="76200" cy="76200"/>
              </a:xfrm>
              <a:prstGeom prst="ellipse">
                <a:avLst/>
              </a:prstGeom>
              <a:solidFill>
                <a:srgbClr val="999999"/>
              </a:solidFill>
              <a:ln w="0">
                <a:noFill/>
              </a:ln>
            </p:spPr>
            <p:txBody>
              <a:bodyPr/>
              <a:lstStyle/>
              <a:p>
                <a:endParaRPr lang="en-US"/>
              </a:p>
            </p:txBody>
          </p:sp>
          <p:sp>
            <p:nvSpPr>
              <p:cNvPr id="3306" name="Oval 3305">
                <a:extLst>
                  <a:ext uri="{FF2B5EF4-FFF2-40B4-BE49-F238E27FC236}">
                    <a16:creationId xmlns:a16="http://schemas.microsoft.com/office/drawing/2014/main" id="{5A7CA79E-B3AC-A2A4-3AEE-0A774671DC0F}"/>
                  </a:ext>
                </a:extLst>
              </p:cNvPr>
              <p:cNvSpPr/>
              <p:nvPr/>
            </p:nvSpPr>
            <p:spPr>
              <a:xfrm>
                <a:off x="807595" y="6059060"/>
                <a:ext cx="76200" cy="76200"/>
              </a:xfrm>
              <a:prstGeom prst="ellipse">
                <a:avLst/>
              </a:prstGeom>
              <a:solidFill>
                <a:srgbClr val="999999"/>
              </a:solidFill>
              <a:ln w="0">
                <a:noFill/>
              </a:ln>
            </p:spPr>
            <p:txBody>
              <a:bodyPr/>
              <a:lstStyle/>
              <a:p>
                <a:endParaRPr lang="en-US"/>
              </a:p>
            </p:txBody>
          </p:sp>
          <p:sp>
            <p:nvSpPr>
              <p:cNvPr id="3307" name="Oval 3306">
                <a:extLst>
                  <a:ext uri="{FF2B5EF4-FFF2-40B4-BE49-F238E27FC236}">
                    <a16:creationId xmlns:a16="http://schemas.microsoft.com/office/drawing/2014/main" id="{AAB4EECB-F71D-91EA-68BE-E3DF34AA76F8}"/>
                  </a:ext>
                </a:extLst>
              </p:cNvPr>
              <p:cNvSpPr/>
              <p:nvPr/>
            </p:nvSpPr>
            <p:spPr>
              <a:xfrm>
                <a:off x="940945" y="5859246"/>
                <a:ext cx="76200" cy="76200"/>
              </a:xfrm>
              <a:prstGeom prst="ellipse">
                <a:avLst/>
              </a:prstGeom>
              <a:solidFill>
                <a:srgbClr val="999999"/>
              </a:solidFill>
              <a:ln w="0">
                <a:noFill/>
              </a:ln>
            </p:spPr>
            <p:txBody>
              <a:bodyPr/>
              <a:lstStyle/>
              <a:p>
                <a:endParaRPr lang="en-US"/>
              </a:p>
            </p:txBody>
          </p:sp>
          <p:sp>
            <p:nvSpPr>
              <p:cNvPr id="3308" name="Oval 3307">
                <a:extLst>
                  <a:ext uri="{FF2B5EF4-FFF2-40B4-BE49-F238E27FC236}">
                    <a16:creationId xmlns:a16="http://schemas.microsoft.com/office/drawing/2014/main" id="{1113EBE7-CDEA-4FF9-1FA2-BF6A7F1C18F9}"/>
                  </a:ext>
                </a:extLst>
              </p:cNvPr>
              <p:cNvSpPr/>
              <p:nvPr/>
            </p:nvSpPr>
            <p:spPr>
              <a:xfrm>
                <a:off x="1074295" y="6009106"/>
                <a:ext cx="76200" cy="76200"/>
              </a:xfrm>
              <a:prstGeom prst="ellipse">
                <a:avLst/>
              </a:prstGeom>
              <a:solidFill>
                <a:srgbClr val="999999"/>
              </a:solidFill>
              <a:ln w="0">
                <a:noFill/>
              </a:ln>
            </p:spPr>
            <p:txBody>
              <a:bodyPr/>
              <a:lstStyle/>
              <a:p>
                <a:endParaRPr lang="en-US"/>
              </a:p>
            </p:txBody>
          </p:sp>
          <p:sp>
            <p:nvSpPr>
              <p:cNvPr id="3309" name="Oval 3308">
                <a:extLst>
                  <a:ext uri="{FF2B5EF4-FFF2-40B4-BE49-F238E27FC236}">
                    <a16:creationId xmlns:a16="http://schemas.microsoft.com/office/drawing/2014/main" id="{541A8306-CCC6-7BBF-6914-BC9A01F54FE3}"/>
                  </a:ext>
                </a:extLst>
              </p:cNvPr>
              <p:cNvSpPr/>
              <p:nvPr/>
            </p:nvSpPr>
            <p:spPr>
              <a:xfrm>
                <a:off x="1207645" y="5909200"/>
                <a:ext cx="76200" cy="76200"/>
              </a:xfrm>
              <a:prstGeom prst="ellipse">
                <a:avLst/>
              </a:prstGeom>
              <a:solidFill>
                <a:srgbClr val="999999"/>
              </a:solidFill>
              <a:ln w="0">
                <a:noFill/>
              </a:ln>
            </p:spPr>
            <p:txBody>
              <a:bodyPr/>
              <a:lstStyle/>
              <a:p>
                <a:endParaRPr lang="en-US"/>
              </a:p>
            </p:txBody>
          </p:sp>
          <p:sp>
            <p:nvSpPr>
              <p:cNvPr id="3310" name="Oval 3309">
                <a:extLst>
                  <a:ext uri="{FF2B5EF4-FFF2-40B4-BE49-F238E27FC236}">
                    <a16:creationId xmlns:a16="http://schemas.microsoft.com/office/drawing/2014/main" id="{1E50E733-A2E9-C4F1-6FA5-5F5AA91CEAFF}"/>
                  </a:ext>
                </a:extLst>
              </p:cNvPr>
              <p:cNvSpPr/>
              <p:nvPr/>
            </p:nvSpPr>
            <p:spPr>
              <a:xfrm>
                <a:off x="807595" y="5959153"/>
                <a:ext cx="76200" cy="76200"/>
              </a:xfrm>
              <a:prstGeom prst="ellipse">
                <a:avLst/>
              </a:prstGeom>
              <a:solidFill>
                <a:srgbClr val="999999"/>
              </a:solidFill>
              <a:ln w="0">
                <a:noFill/>
              </a:ln>
            </p:spPr>
            <p:txBody>
              <a:bodyPr/>
              <a:lstStyle/>
              <a:p>
                <a:endParaRPr lang="en-US"/>
              </a:p>
            </p:txBody>
          </p:sp>
          <p:cxnSp>
            <p:nvCxnSpPr>
              <p:cNvPr id="3311" name="Straight Connector 3310">
                <a:extLst>
                  <a:ext uri="{FF2B5EF4-FFF2-40B4-BE49-F238E27FC236}">
                    <a16:creationId xmlns:a16="http://schemas.microsoft.com/office/drawing/2014/main" id="{F9FEE456-0663-2D56-6D1B-F58E86551039}"/>
                  </a:ext>
                </a:extLst>
              </p:cNvPr>
              <p:cNvCxnSpPr/>
              <p:nvPr/>
            </p:nvCxnSpPr>
            <p:spPr>
              <a:xfrm>
                <a:off x="445645" y="5997253"/>
                <a:ext cx="800100" cy="38100"/>
              </a:xfrm>
              <a:prstGeom prst="line">
                <a:avLst/>
              </a:prstGeom>
              <a:ln w="12700">
                <a:solidFill>
                  <a:srgbClr val="999999"/>
                </a:solidFill>
                <a:prstDash val="dash"/>
              </a:ln>
            </p:spPr>
          </p:cxnSp>
          <p:sp>
            <p:nvSpPr>
              <p:cNvPr id="3312" name="Rectangle 3311">
                <a:extLst>
                  <a:ext uri="{FF2B5EF4-FFF2-40B4-BE49-F238E27FC236}">
                    <a16:creationId xmlns:a16="http://schemas.microsoft.com/office/drawing/2014/main" id="{B7A0703B-E54C-D229-B1B3-30F842268730}"/>
                  </a:ext>
                </a:extLst>
              </p:cNvPr>
              <p:cNvSpPr/>
              <p:nvPr/>
            </p:nvSpPr>
            <p:spPr>
              <a:xfrm>
                <a:off x="1607695" y="5446073"/>
                <a:ext cx="1270000" cy="952500"/>
              </a:xfrm>
              <a:prstGeom prst="rect">
                <a:avLst/>
              </a:prstGeom>
              <a:solidFill>
                <a:srgbClr val="F8F8F8"/>
              </a:solidFill>
              <a:ln w="6350">
                <a:solidFill>
                  <a:srgbClr val="CCCCCC"/>
                </a:solidFill>
              </a:ln>
            </p:spPr>
            <p:txBody>
              <a:bodyPr/>
              <a:lstStyle/>
              <a:p>
                <a:endParaRPr lang="en-US"/>
              </a:p>
            </p:txBody>
          </p:sp>
          <p:sp>
            <p:nvSpPr>
              <p:cNvPr id="3313" name="Oval 3312">
                <a:extLst>
                  <a:ext uri="{FF2B5EF4-FFF2-40B4-BE49-F238E27FC236}">
                    <a16:creationId xmlns:a16="http://schemas.microsoft.com/office/drawing/2014/main" id="{815A350F-961B-2277-0BFD-E22399FA61A7}"/>
                  </a:ext>
                </a:extLst>
              </p:cNvPr>
              <p:cNvSpPr/>
              <p:nvPr/>
            </p:nvSpPr>
            <p:spPr>
              <a:xfrm>
                <a:off x="1804545" y="5859246"/>
                <a:ext cx="76200" cy="76200"/>
              </a:xfrm>
              <a:prstGeom prst="ellipse">
                <a:avLst/>
              </a:prstGeom>
              <a:solidFill>
                <a:srgbClr val="999999"/>
              </a:solidFill>
              <a:ln w="0">
                <a:noFill/>
              </a:ln>
            </p:spPr>
            <p:txBody>
              <a:bodyPr/>
              <a:lstStyle/>
              <a:p>
                <a:endParaRPr lang="en-US"/>
              </a:p>
            </p:txBody>
          </p:sp>
          <p:sp>
            <p:nvSpPr>
              <p:cNvPr id="3314" name="Oval 3313">
                <a:extLst>
                  <a:ext uri="{FF2B5EF4-FFF2-40B4-BE49-F238E27FC236}">
                    <a16:creationId xmlns:a16="http://schemas.microsoft.com/office/drawing/2014/main" id="{08A173C2-F631-19FF-0C07-2EA89DB576E9}"/>
                  </a:ext>
                </a:extLst>
              </p:cNvPr>
              <p:cNvSpPr/>
              <p:nvPr/>
            </p:nvSpPr>
            <p:spPr>
              <a:xfrm>
                <a:off x="1937895" y="6009106"/>
                <a:ext cx="76200" cy="76200"/>
              </a:xfrm>
              <a:prstGeom prst="ellipse">
                <a:avLst/>
              </a:prstGeom>
              <a:solidFill>
                <a:srgbClr val="999999"/>
              </a:solidFill>
              <a:ln w="0">
                <a:noFill/>
              </a:ln>
            </p:spPr>
            <p:txBody>
              <a:bodyPr/>
              <a:lstStyle/>
              <a:p>
                <a:endParaRPr lang="en-US"/>
              </a:p>
            </p:txBody>
          </p:sp>
          <p:sp>
            <p:nvSpPr>
              <p:cNvPr id="3315" name="Oval 3314">
                <a:extLst>
                  <a:ext uri="{FF2B5EF4-FFF2-40B4-BE49-F238E27FC236}">
                    <a16:creationId xmlns:a16="http://schemas.microsoft.com/office/drawing/2014/main" id="{9E68388D-CFC8-639C-6314-4FDB3B264B83}"/>
                  </a:ext>
                </a:extLst>
              </p:cNvPr>
              <p:cNvSpPr/>
              <p:nvPr/>
            </p:nvSpPr>
            <p:spPr>
              <a:xfrm>
                <a:off x="2071245" y="6158966"/>
                <a:ext cx="76200" cy="76200"/>
              </a:xfrm>
              <a:prstGeom prst="ellipse">
                <a:avLst/>
              </a:prstGeom>
              <a:solidFill>
                <a:srgbClr val="999999"/>
              </a:solidFill>
              <a:ln w="0">
                <a:noFill/>
              </a:ln>
            </p:spPr>
            <p:txBody>
              <a:bodyPr/>
              <a:lstStyle/>
              <a:p>
                <a:endParaRPr lang="en-US"/>
              </a:p>
            </p:txBody>
          </p:sp>
          <p:sp>
            <p:nvSpPr>
              <p:cNvPr id="3316" name="Oval 3315">
                <a:extLst>
                  <a:ext uri="{FF2B5EF4-FFF2-40B4-BE49-F238E27FC236}">
                    <a16:creationId xmlns:a16="http://schemas.microsoft.com/office/drawing/2014/main" id="{270D9291-23F3-EF7C-0036-738C4A5181B7}"/>
                  </a:ext>
                </a:extLst>
              </p:cNvPr>
              <p:cNvSpPr/>
              <p:nvPr/>
            </p:nvSpPr>
            <p:spPr>
              <a:xfrm>
                <a:off x="2204595" y="5759340"/>
                <a:ext cx="76200" cy="76200"/>
              </a:xfrm>
              <a:prstGeom prst="ellipse">
                <a:avLst/>
              </a:prstGeom>
              <a:solidFill>
                <a:srgbClr val="999999"/>
              </a:solidFill>
              <a:ln w="0">
                <a:noFill/>
              </a:ln>
            </p:spPr>
            <p:txBody>
              <a:bodyPr/>
              <a:lstStyle/>
              <a:p>
                <a:endParaRPr lang="en-US"/>
              </a:p>
            </p:txBody>
          </p:sp>
          <p:sp>
            <p:nvSpPr>
              <p:cNvPr id="3317" name="Oval 3316">
                <a:extLst>
                  <a:ext uri="{FF2B5EF4-FFF2-40B4-BE49-F238E27FC236}">
                    <a16:creationId xmlns:a16="http://schemas.microsoft.com/office/drawing/2014/main" id="{12E2305E-574D-3551-D591-79259955E614}"/>
                  </a:ext>
                </a:extLst>
              </p:cNvPr>
              <p:cNvSpPr/>
              <p:nvPr/>
            </p:nvSpPr>
            <p:spPr>
              <a:xfrm>
                <a:off x="2337945" y="5959153"/>
                <a:ext cx="76200" cy="76200"/>
              </a:xfrm>
              <a:prstGeom prst="ellipse">
                <a:avLst/>
              </a:prstGeom>
              <a:solidFill>
                <a:srgbClr val="999999"/>
              </a:solidFill>
              <a:ln w="0">
                <a:noFill/>
              </a:ln>
            </p:spPr>
            <p:txBody>
              <a:bodyPr/>
              <a:lstStyle/>
              <a:p>
                <a:endParaRPr lang="en-US"/>
              </a:p>
            </p:txBody>
          </p:sp>
          <p:sp>
            <p:nvSpPr>
              <p:cNvPr id="3318" name="Oval 3317">
                <a:extLst>
                  <a:ext uri="{FF2B5EF4-FFF2-40B4-BE49-F238E27FC236}">
                    <a16:creationId xmlns:a16="http://schemas.microsoft.com/office/drawing/2014/main" id="{0B6BFC67-92A0-3F50-FF31-41D14A3F4281}"/>
                  </a:ext>
                </a:extLst>
              </p:cNvPr>
              <p:cNvSpPr/>
              <p:nvPr/>
            </p:nvSpPr>
            <p:spPr>
              <a:xfrm>
                <a:off x="2471295" y="6109013"/>
                <a:ext cx="76200" cy="76200"/>
              </a:xfrm>
              <a:prstGeom prst="ellipse">
                <a:avLst/>
              </a:prstGeom>
              <a:solidFill>
                <a:srgbClr val="999999"/>
              </a:solidFill>
              <a:ln w="0">
                <a:noFill/>
              </a:ln>
            </p:spPr>
            <p:txBody>
              <a:bodyPr/>
              <a:lstStyle/>
              <a:p>
                <a:endParaRPr lang="en-US"/>
              </a:p>
            </p:txBody>
          </p:sp>
          <p:sp>
            <p:nvSpPr>
              <p:cNvPr id="3319" name="Oval 3318">
                <a:extLst>
                  <a:ext uri="{FF2B5EF4-FFF2-40B4-BE49-F238E27FC236}">
                    <a16:creationId xmlns:a16="http://schemas.microsoft.com/office/drawing/2014/main" id="{A6A79F5E-36C2-E609-D003-CDC2826C9DF9}"/>
                  </a:ext>
                </a:extLst>
              </p:cNvPr>
              <p:cNvSpPr/>
              <p:nvPr/>
            </p:nvSpPr>
            <p:spPr>
              <a:xfrm>
                <a:off x="2604645" y="5909200"/>
                <a:ext cx="76200" cy="76200"/>
              </a:xfrm>
              <a:prstGeom prst="ellipse">
                <a:avLst/>
              </a:prstGeom>
              <a:solidFill>
                <a:srgbClr val="999999"/>
              </a:solidFill>
              <a:ln w="0">
                <a:noFill/>
              </a:ln>
            </p:spPr>
            <p:txBody>
              <a:bodyPr/>
              <a:lstStyle/>
              <a:p>
                <a:endParaRPr lang="en-US"/>
              </a:p>
            </p:txBody>
          </p:sp>
          <p:sp>
            <p:nvSpPr>
              <p:cNvPr id="3320" name="Oval 3319">
                <a:extLst>
                  <a:ext uri="{FF2B5EF4-FFF2-40B4-BE49-F238E27FC236}">
                    <a16:creationId xmlns:a16="http://schemas.microsoft.com/office/drawing/2014/main" id="{68935BEC-242B-4965-67CB-A00307D77ED1}"/>
                  </a:ext>
                </a:extLst>
              </p:cNvPr>
              <p:cNvSpPr/>
              <p:nvPr/>
            </p:nvSpPr>
            <p:spPr>
              <a:xfrm>
                <a:off x="2337945" y="5809293"/>
                <a:ext cx="76200" cy="76200"/>
              </a:xfrm>
              <a:prstGeom prst="ellipse">
                <a:avLst/>
              </a:prstGeom>
              <a:solidFill>
                <a:srgbClr val="999999"/>
              </a:solidFill>
              <a:ln w="0">
                <a:noFill/>
              </a:ln>
            </p:spPr>
            <p:txBody>
              <a:bodyPr/>
              <a:lstStyle/>
              <a:p>
                <a:endParaRPr lang="en-US"/>
              </a:p>
            </p:txBody>
          </p:sp>
          <p:cxnSp>
            <p:nvCxnSpPr>
              <p:cNvPr id="3321" name="Straight Connector 3320">
                <a:extLst>
                  <a:ext uri="{FF2B5EF4-FFF2-40B4-BE49-F238E27FC236}">
                    <a16:creationId xmlns:a16="http://schemas.microsoft.com/office/drawing/2014/main" id="{6ED949F1-6B1B-5AAA-479A-5944795CBF1C}"/>
                  </a:ext>
                </a:extLst>
              </p:cNvPr>
              <p:cNvCxnSpPr/>
              <p:nvPr/>
            </p:nvCxnSpPr>
            <p:spPr>
              <a:xfrm>
                <a:off x="1842645" y="5997253"/>
                <a:ext cx="800100" cy="38100"/>
              </a:xfrm>
              <a:prstGeom prst="line">
                <a:avLst/>
              </a:prstGeom>
              <a:ln w="12700">
                <a:solidFill>
                  <a:srgbClr val="999999"/>
                </a:solidFill>
                <a:prstDash val="dash"/>
              </a:ln>
            </p:spPr>
          </p:cxnSp>
          <p:sp>
            <p:nvSpPr>
              <p:cNvPr id="3322" name="Rectangle 3321">
                <a:extLst>
                  <a:ext uri="{FF2B5EF4-FFF2-40B4-BE49-F238E27FC236}">
                    <a16:creationId xmlns:a16="http://schemas.microsoft.com/office/drawing/2014/main" id="{E62F44A6-F389-73C6-664B-C255A76780D8}"/>
                  </a:ext>
                </a:extLst>
              </p:cNvPr>
              <p:cNvSpPr/>
              <p:nvPr/>
            </p:nvSpPr>
            <p:spPr>
              <a:xfrm>
                <a:off x="3004695" y="5446073"/>
                <a:ext cx="1270000" cy="952500"/>
              </a:xfrm>
              <a:prstGeom prst="rect">
                <a:avLst/>
              </a:prstGeom>
              <a:solidFill>
                <a:srgbClr val="F8F8F8"/>
              </a:solidFill>
              <a:ln w="6350">
                <a:solidFill>
                  <a:srgbClr val="CCCCCC"/>
                </a:solidFill>
              </a:ln>
            </p:spPr>
            <p:txBody>
              <a:bodyPr/>
              <a:lstStyle/>
              <a:p>
                <a:endParaRPr lang="en-US"/>
              </a:p>
            </p:txBody>
          </p:sp>
          <p:sp>
            <p:nvSpPr>
              <p:cNvPr id="3323" name="Oval 3322">
                <a:extLst>
                  <a:ext uri="{FF2B5EF4-FFF2-40B4-BE49-F238E27FC236}">
                    <a16:creationId xmlns:a16="http://schemas.microsoft.com/office/drawing/2014/main" id="{C47D1D1F-30E7-9BD1-A7FF-FEABCEBBEE12}"/>
                  </a:ext>
                </a:extLst>
              </p:cNvPr>
              <p:cNvSpPr/>
              <p:nvPr/>
            </p:nvSpPr>
            <p:spPr>
              <a:xfrm>
                <a:off x="3201545" y="6059060"/>
                <a:ext cx="76200" cy="76200"/>
              </a:xfrm>
              <a:prstGeom prst="ellipse">
                <a:avLst/>
              </a:prstGeom>
              <a:solidFill>
                <a:srgbClr val="999999"/>
              </a:solidFill>
              <a:ln w="0">
                <a:noFill/>
              </a:ln>
            </p:spPr>
            <p:txBody>
              <a:bodyPr/>
              <a:lstStyle/>
              <a:p>
                <a:endParaRPr lang="en-US"/>
              </a:p>
            </p:txBody>
          </p:sp>
          <p:sp>
            <p:nvSpPr>
              <p:cNvPr id="3324" name="Oval 3323">
                <a:extLst>
                  <a:ext uri="{FF2B5EF4-FFF2-40B4-BE49-F238E27FC236}">
                    <a16:creationId xmlns:a16="http://schemas.microsoft.com/office/drawing/2014/main" id="{0F2975FD-B833-D093-0380-581C1B696B8F}"/>
                  </a:ext>
                </a:extLst>
              </p:cNvPr>
              <p:cNvSpPr/>
              <p:nvPr/>
            </p:nvSpPr>
            <p:spPr>
              <a:xfrm>
                <a:off x="3334895" y="5909200"/>
                <a:ext cx="76200" cy="76200"/>
              </a:xfrm>
              <a:prstGeom prst="ellipse">
                <a:avLst/>
              </a:prstGeom>
              <a:solidFill>
                <a:srgbClr val="999999"/>
              </a:solidFill>
              <a:ln w="0">
                <a:noFill/>
              </a:ln>
            </p:spPr>
            <p:txBody>
              <a:bodyPr/>
              <a:lstStyle/>
              <a:p>
                <a:endParaRPr lang="en-US"/>
              </a:p>
            </p:txBody>
          </p:sp>
          <p:sp>
            <p:nvSpPr>
              <p:cNvPr id="3325" name="Oval 3324">
                <a:extLst>
                  <a:ext uri="{FF2B5EF4-FFF2-40B4-BE49-F238E27FC236}">
                    <a16:creationId xmlns:a16="http://schemas.microsoft.com/office/drawing/2014/main" id="{12EF076B-E6EF-84C4-F2C8-F0FFB8854D3F}"/>
                  </a:ext>
                </a:extLst>
              </p:cNvPr>
              <p:cNvSpPr/>
              <p:nvPr/>
            </p:nvSpPr>
            <p:spPr>
              <a:xfrm>
                <a:off x="3468245" y="6009106"/>
                <a:ext cx="76200" cy="76200"/>
              </a:xfrm>
              <a:prstGeom prst="ellipse">
                <a:avLst/>
              </a:prstGeom>
              <a:solidFill>
                <a:srgbClr val="999999"/>
              </a:solidFill>
              <a:ln w="0">
                <a:noFill/>
              </a:ln>
            </p:spPr>
            <p:txBody>
              <a:bodyPr/>
              <a:lstStyle/>
              <a:p>
                <a:endParaRPr lang="en-US"/>
              </a:p>
            </p:txBody>
          </p:sp>
          <p:sp>
            <p:nvSpPr>
              <p:cNvPr id="3326" name="Oval 3325">
                <a:extLst>
                  <a:ext uri="{FF2B5EF4-FFF2-40B4-BE49-F238E27FC236}">
                    <a16:creationId xmlns:a16="http://schemas.microsoft.com/office/drawing/2014/main" id="{2156873D-C407-F56E-7151-040C2D47B0B8}"/>
                  </a:ext>
                </a:extLst>
              </p:cNvPr>
              <p:cNvSpPr/>
              <p:nvPr/>
            </p:nvSpPr>
            <p:spPr>
              <a:xfrm>
                <a:off x="3617779" y="5818786"/>
                <a:ext cx="76200" cy="76200"/>
              </a:xfrm>
              <a:prstGeom prst="ellipse">
                <a:avLst/>
              </a:prstGeom>
              <a:solidFill>
                <a:srgbClr val="999999"/>
              </a:solidFill>
              <a:ln w="0">
                <a:noFill/>
              </a:ln>
            </p:spPr>
            <p:txBody>
              <a:bodyPr/>
              <a:lstStyle/>
              <a:p>
                <a:endParaRPr lang="en-US"/>
              </a:p>
            </p:txBody>
          </p:sp>
          <p:sp>
            <p:nvSpPr>
              <p:cNvPr id="3327" name="Oval 3326">
                <a:extLst>
                  <a:ext uri="{FF2B5EF4-FFF2-40B4-BE49-F238E27FC236}">
                    <a16:creationId xmlns:a16="http://schemas.microsoft.com/office/drawing/2014/main" id="{A688DDF4-1F7A-F024-BC93-99E7F0080F37}"/>
                  </a:ext>
                </a:extLst>
              </p:cNvPr>
              <p:cNvSpPr/>
              <p:nvPr/>
            </p:nvSpPr>
            <p:spPr>
              <a:xfrm>
                <a:off x="3734945" y="6109013"/>
                <a:ext cx="76200" cy="76200"/>
              </a:xfrm>
              <a:prstGeom prst="ellipse">
                <a:avLst/>
              </a:prstGeom>
              <a:solidFill>
                <a:srgbClr val="999999"/>
              </a:solidFill>
              <a:ln w="0">
                <a:noFill/>
              </a:ln>
            </p:spPr>
            <p:txBody>
              <a:bodyPr/>
              <a:lstStyle/>
              <a:p>
                <a:endParaRPr lang="en-US"/>
              </a:p>
            </p:txBody>
          </p:sp>
          <p:sp>
            <p:nvSpPr>
              <p:cNvPr id="3328" name="Oval 3327">
                <a:extLst>
                  <a:ext uri="{FF2B5EF4-FFF2-40B4-BE49-F238E27FC236}">
                    <a16:creationId xmlns:a16="http://schemas.microsoft.com/office/drawing/2014/main" id="{4675E711-E1A3-993C-7610-5E85A7D15154}"/>
                  </a:ext>
                </a:extLst>
              </p:cNvPr>
              <p:cNvSpPr/>
              <p:nvPr/>
            </p:nvSpPr>
            <p:spPr>
              <a:xfrm>
                <a:off x="3868295" y="5959153"/>
                <a:ext cx="76200" cy="76200"/>
              </a:xfrm>
              <a:prstGeom prst="ellipse">
                <a:avLst/>
              </a:prstGeom>
              <a:solidFill>
                <a:srgbClr val="999999"/>
              </a:solidFill>
              <a:ln w="0">
                <a:noFill/>
              </a:ln>
            </p:spPr>
            <p:txBody>
              <a:bodyPr/>
              <a:lstStyle/>
              <a:p>
                <a:endParaRPr lang="en-US"/>
              </a:p>
            </p:txBody>
          </p:sp>
          <p:sp>
            <p:nvSpPr>
              <p:cNvPr id="3329" name="Oval 3328">
                <a:extLst>
                  <a:ext uri="{FF2B5EF4-FFF2-40B4-BE49-F238E27FC236}">
                    <a16:creationId xmlns:a16="http://schemas.microsoft.com/office/drawing/2014/main" id="{8567E092-23F5-60C0-F71D-3DC4FE4DD8AD}"/>
                  </a:ext>
                </a:extLst>
              </p:cNvPr>
              <p:cNvSpPr/>
              <p:nvPr/>
            </p:nvSpPr>
            <p:spPr>
              <a:xfrm>
                <a:off x="3989770" y="5773668"/>
                <a:ext cx="76200" cy="76200"/>
              </a:xfrm>
              <a:prstGeom prst="ellipse">
                <a:avLst/>
              </a:prstGeom>
              <a:solidFill>
                <a:srgbClr val="999999"/>
              </a:solidFill>
              <a:ln w="0">
                <a:noFill/>
              </a:ln>
            </p:spPr>
            <p:txBody>
              <a:bodyPr/>
              <a:lstStyle/>
              <a:p>
                <a:endParaRPr lang="en-US"/>
              </a:p>
            </p:txBody>
          </p:sp>
          <p:sp>
            <p:nvSpPr>
              <p:cNvPr id="3330" name="Oval 3329">
                <a:extLst>
                  <a:ext uri="{FF2B5EF4-FFF2-40B4-BE49-F238E27FC236}">
                    <a16:creationId xmlns:a16="http://schemas.microsoft.com/office/drawing/2014/main" id="{482995D2-970D-509C-864C-E3F1B00FCD3B}"/>
                  </a:ext>
                </a:extLst>
              </p:cNvPr>
              <p:cNvSpPr/>
              <p:nvPr/>
            </p:nvSpPr>
            <p:spPr>
              <a:xfrm>
                <a:off x="3468245" y="5909200"/>
                <a:ext cx="76200" cy="76200"/>
              </a:xfrm>
              <a:prstGeom prst="ellipse">
                <a:avLst/>
              </a:prstGeom>
              <a:solidFill>
                <a:srgbClr val="999999"/>
              </a:solidFill>
              <a:ln w="0">
                <a:noFill/>
              </a:ln>
            </p:spPr>
            <p:txBody>
              <a:bodyPr/>
              <a:lstStyle/>
              <a:p>
                <a:endParaRPr lang="en-US"/>
              </a:p>
            </p:txBody>
          </p:sp>
          <p:cxnSp>
            <p:nvCxnSpPr>
              <p:cNvPr id="3331" name="Straight Connector 3330">
                <a:extLst>
                  <a:ext uri="{FF2B5EF4-FFF2-40B4-BE49-F238E27FC236}">
                    <a16:creationId xmlns:a16="http://schemas.microsoft.com/office/drawing/2014/main" id="{44A06E16-6751-9B7A-7FC1-4F25EF35DFB0}"/>
                  </a:ext>
                </a:extLst>
              </p:cNvPr>
              <p:cNvCxnSpPr>
                <a:cxnSpLocks/>
              </p:cNvCxnSpPr>
              <p:nvPr/>
            </p:nvCxnSpPr>
            <p:spPr>
              <a:xfrm flipV="1">
                <a:off x="3239645" y="5959153"/>
                <a:ext cx="762000" cy="38100"/>
              </a:xfrm>
              <a:prstGeom prst="line">
                <a:avLst/>
              </a:prstGeom>
              <a:ln w="12700">
                <a:solidFill>
                  <a:srgbClr val="999999"/>
                </a:solidFill>
                <a:prstDash val="dash"/>
              </a:ln>
            </p:spPr>
          </p:cxnSp>
          <p:sp>
            <p:nvSpPr>
              <p:cNvPr id="3332" name="NoRelCaption">
                <a:extLst>
                  <a:ext uri="{FF2B5EF4-FFF2-40B4-BE49-F238E27FC236}">
                    <a16:creationId xmlns:a16="http://schemas.microsoft.com/office/drawing/2014/main" id="{4F22789C-1BE2-FB91-6966-082B4A52363D}"/>
                  </a:ext>
                </a:extLst>
              </p:cNvPr>
              <p:cNvSpPr/>
              <p:nvPr/>
            </p:nvSpPr>
            <p:spPr>
              <a:xfrm>
                <a:off x="210695" y="6436673"/>
                <a:ext cx="4318000" cy="254000"/>
              </a:xfrm>
              <a:prstGeom prst="rect">
                <a:avLst/>
              </a:prstGeom>
              <a:noFill/>
              <a:ln>
                <a:noFill/>
              </a:ln>
            </p:spPr>
            <p:txBody>
              <a:bodyPr wrap="square" lIns="0" tIns="0" rIns="0" bIns="0" anchor="t"/>
              <a:lstStyle/>
              <a:p>
                <a:pPr algn="ctr"/>
                <a:r>
                  <a:rPr lang="en-US" sz="1200" dirty="0">
                    <a:solidFill>
                      <a:srgbClr val="999999"/>
                    </a:solidFill>
                    <a:latin typeface="Open Sans"/>
                  </a:rPr>
                  <a:t>Slopes ≈ 0 (flat lines)</a:t>
                </a:r>
              </a:p>
            </p:txBody>
          </p:sp>
          <p:sp>
            <p:nvSpPr>
              <p:cNvPr id="3333" name="YesRelLabel">
                <a:extLst>
                  <a:ext uri="{FF2B5EF4-FFF2-40B4-BE49-F238E27FC236}">
                    <a16:creationId xmlns:a16="http://schemas.microsoft.com/office/drawing/2014/main" id="{110E04F0-55E3-AA14-F844-3C518384E620}"/>
                  </a:ext>
                </a:extLst>
              </p:cNvPr>
              <p:cNvSpPr/>
              <p:nvPr/>
            </p:nvSpPr>
            <p:spPr>
              <a:xfrm>
                <a:off x="4549642" y="5120095"/>
                <a:ext cx="4318000" cy="279400"/>
              </a:xfrm>
              <a:prstGeom prst="rect">
                <a:avLst/>
              </a:prstGeom>
              <a:noFill/>
              <a:ln>
                <a:noFill/>
              </a:ln>
            </p:spPr>
            <p:txBody>
              <a:bodyPr wrap="square" lIns="0" tIns="0" rIns="0" bIns="0" anchor="b"/>
              <a:lstStyle/>
              <a:p>
                <a:pPr algn="l"/>
                <a:r>
                  <a:rPr lang="en-US" sz="1200" dirty="0">
                    <a:solidFill>
                      <a:srgbClr val="2E6B75"/>
                    </a:solidFill>
                    <a:latin typeface="Open Sans"/>
                  </a:rPr>
                  <a:t>When there IS a relationship:</a:t>
                </a:r>
              </a:p>
            </p:txBody>
          </p:sp>
          <p:sp>
            <p:nvSpPr>
              <p:cNvPr id="3334" name="Rectangle 3333">
                <a:extLst>
                  <a:ext uri="{FF2B5EF4-FFF2-40B4-BE49-F238E27FC236}">
                    <a16:creationId xmlns:a16="http://schemas.microsoft.com/office/drawing/2014/main" id="{E05A9A2B-78D9-C59D-B745-3C11243E0859}"/>
                  </a:ext>
                </a:extLst>
              </p:cNvPr>
              <p:cNvSpPr/>
              <p:nvPr/>
            </p:nvSpPr>
            <p:spPr>
              <a:xfrm>
                <a:off x="4537767" y="5414670"/>
                <a:ext cx="1270000" cy="952500"/>
              </a:xfrm>
              <a:prstGeom prst="rect">
                <a:avLst/>
              </a:prstGeom>
              <a:solidFill>
                <a:srgbClr val="F1FFF5">
                  <a:alpha val="54902"/>
                </a:srgbClr>
              </a:solidFill>
              <a:ln w="6350">
                <a:solidFill>
                  <a:srgbClr val="2E6B75"/>
                </a:solidFill>
              </a:ln>
            </p:spPr>
            <p:txBody>
              <a:bodyPr/>
              <a:lstStyle/>
              <a:p>
                <a:endParaRPr lang="en-US"/>
              </a:p>
            </p:txBody>
          </p:sp>
          <p:sp>
            <p:nvSpPr>
              <p:cNvPr id="3335" name="Oval 3334">
                <a:extLst>
                  <a:ext uri="{FF2B5EF4-FFF2-40B4-BE49-F238E27FC236}">
                    <a16:creationId xmlns:a16="http://schemas.microsoft.com/office/drawing/2014/main" id="{6DF67F10-9D6F-8CEC-B4EF-72468D2044E5}"/>
                  </a:ext>
                </a:extLst>
              </p:cNvPr>
              <p:cNvSpPr/>
              <p:nvPr/>
            </p:nvSpPr>
            <p:spPr>
              <a:xfrm>
                <a:off x="4734617" y="6034793"/>
                <a:ext cx="76200" cy="76200"/>
              </a:xfrm>
              <a:prstGeom prst="ellipse">
                <a:avLst/>
              </a:prstGeom>
              <a:solidFill>
                <a:srgbClr val="2E6B75"/>
              </a:solidFill>
              <a:ln w="0">
                <a:noFill/>
              </a:ln>
            </p:spPr>
            <p:txBody>
              <a:bodyPr/>
              <a:lstStyle/>
              <a:p>
                <a:endParaRPr lang="en-US"/>
              </a:p>
            </p:txBody>
          </p:sp>
          <p:sp>
            <p:nvSpPr>
              <p:cNvPr id="3336" name="Oval 3335">
                <a:extLst>
                  <a:ext uri="{FF2B5EF4-FFF2-40B4-BE49-F238E27FC236}">
                    <a16:creationId xmlns:a16="http://schemas.microsoft.com/office/drawing/2014/main" id="{288810CB-4083-A7EA-43A8-F7BAE2492AE4}"/>
                  </a:ext>
                </a:extLst>
              </p:cNvPr>
              <p:cNvSpPr/>
              <p:nvPr/>
            </p:nvSpPr>
            <p:spPr>
              <a:xfrm>
                <a:off x="4867967" y="5970567"/>
                <a:ext cx="76200" cy="76200"/>
              </a:xfrm>
              <a:prstGeom prst="ellipse">
                <a:avLst/>
              </a:prstGeom>
              <a:solidFill>
                <a:srgbClr val="2E6B75"/>
              </a:solidFill>
              <a:ln w="0">
                <a:noFill/>
              </a:ln>
            </p:spPr>
            <p:txBody>
              <a:bodyPr/>
              <a:lstStyle/>
              <a:p>
                <a:endParaRPr lang="en-US"/>
              </a:p>
            </p:txBody>
          </p:sp>
          <p:sp>
            <p:nvSpPr>
              <p:cNvPr id="3337" name="Oval 3336">
                <a:extLst>
                  <a:ext uri="{FF2B5EF4-FFF2-40B4-BE49-F238E27FC236}">
                    <a16:creationId xmlns:a16="http://schemas.microsoft.com/office/drawing/2014/main" id="{670C05DB-8DB3-E799-4F2C-A5317BB03756}"/>
                  </a:ext>
                </a:extLst>
              </p:cNvPr>
              <p:cNvSpPr/>
              <p:nvPr/>
            </p:nvSpPr>
            <p:spPr>
              <a:xfrm>
                <a:off x="4966781" y="5832681"/>
                <a:ext cx="76200" cy="76200"/>
              </a:xfrm>
              <a:prstGeom prst="ellipse">
                <a:avLst/>
              </a:prstGeom>
              <a:solidFill>
                <a:srgbClr val="2E6B75"/>
              </a:solidFill>
              <a:ln w="0">
                <a:noFill/>
              </a:ln>
            </p:spPr>
            <p:txBody>
              <a:bodyPr/>
              <a:lstStyle/>
              <a:p>
                <a:endParaRPr lang="en-US"/>
              </a:p>
            </p:txBody>
          </p:sp>
          <p:sp>
            <p:nvSpPr>
              <p:cNvPr id="3338" name="Oval 3337">
                <a:extLst>
                  <a:ext uri="{FF2B5EF4-FFF2-40B4-BE49-F238E27FC236}">
                    <a16:creationId xmlns:a16="http://schemas.microsoft.com/office/drawing/2014/main" id="{7FC5393B-3383-B22A-F505-056EB0691469}"/>
                  </a:ext>
                </a:extLst>
              </p:cNvPr>
              <p:cNvSpPr/>
              <p:nvPr/>
            </p:nvSpPr>
            <p:spPr>
              <a:xfrm>
                <a:off x="5100131" y="5882953"/>
                <a:ext cx="76200" cy="76200"/>
              </a:xfrm>
              <a:prstGeom prst="ellipse">
                <a:avLst/>
              </a:prstGeom>
              <a:solidFill>
                <a:srgbClr val="2E6B75"/>
              </a:solidFill>
              <a:ln w="0">
                <a:noFill/>
              </a:ln>
            </p:spPr>
            <p:txBody>
              <a:bodyPr/>
              <a:lstStyle/>
              <a:p>
                <a:endParaRPr lang="en-US"/>
              </a:p>
            </p:txBody>
          </p:sp>
          <p:sp>
            <p:nvSpPr>
              <p:cNvPr id="3339" name="Oval 3338">
                <a:extLst>
                  <a:ext uri="{FF2B5EF4-FFF2-40B4-BE49-F238E27FC236}">
                    <a16:creationId xmlns:a16="http://schemas.microsoft.com/office/drawing/2014/main" id="{8C302502-2865-BF3D-EFB2-E3F3089F9F0D}"/>
                  </a:ext>
                </a:extLst>
              </p:cNvPr>
              <p:cNvSpPr/>
              <p:nvPr/>
            </p:nvSpPr>
            <p:spPr>
              <a:xfrm>
                <a:off x="5268017" y="5735073"/>
                <a:ext cx="76200" cy="76200"/>
              </a:xfrm>
              <a:prstGeom prst="ellipse">
                <a:avLst/>
              </a:prstGeom>
              <a:solidFill>
                <a:srgbClr val="2E6B75"/>
              </a:solidFill>
              <a:ln w="0">
                <a:noFill/>
              </a:ln>
            </p:spPr>
            <p:txBody>
              <a:bodyPr/>
              <a:lstStyle/>
              <a:p>
                <a:endParaRPr lang="en-US"/>
              </a:p>
            </p:txBody>
          </p:sp>
          <p:sp>
            <p:nvSpPr>
              <p:cNvPr id="3340" name="Oval 3339">
                <a:extLst>
                  <a:ext uri="{FF2B5EF4-FFF2-40B4-BE49-F238E27FC236}">
                    <a16:creationId xmlns:a16="http://schemas.microsoft.com/office/drawing/2014/main" id="{0285F723-F4C1-317D-009D-559466C83974}"/>
                  </a:ext>
                </a:extLst>
              </p:cNvPr>
              <p:cNvSpPr/>
              <p:nvPr/>
            </p:nvSpPr>
            <p:spPr>
              <a:xfrm>
                <a:off x="5412317" y="5763597"/>
                <a:ext cx="76200" cy="76200"/>
              </a:xfrm>
              <a:prstGeom prst="ellipse">
                <a:avLst/>
              </a:prstGeom>
              <a:solidFill>
                <a:srgbClr val="2E6B75"/>
              </a:solidFill>
              <a:ln w="0">
                <a:noFill/>
              </a:ln>
            </p:spPr>
            <p:txBody>
              <a:bodyPr/>
              <a:lstStyle/>
              <a:p>
                <a:endParaRPr lang="en-US"/>
              </a:p>
            </p:txBody>
          </p:sp>
          <p:sp>
            <p:nvSpPr>
              <p:cNvPr id="3341" name="Oval 3340">
                <a:extLst>
                  <a:ext uri="{FF2B5EF4-FFF2-40B4-BE49-F238E27FC236}">
                    <a16:creationId xmlns:a16="http://schemas.microsoft.com/office/drawing/2014/main" id="{C3150401-5C9D-D763-846C-189411A3DC42}"/>
                  </a:ext>
                </a:extLst>
              </p:cNvPr>
              <p:cNvSpPr/>
              <p:nvPr/>
            </p:nvSpPr>
            <p:spPr>
              <a:xfrm>
                <a:off x="5534717" y="5628030"/>
                <a:ext cx="76200" cy="76200"/>
              </a:xfrm>
              <a:prstGeom prst="ellipse">
                <a:avLst/>
              </a:prstGeom>
              <a:solidFill>
                <a:srgbClr val="2E6B75"/>
              </a:solidFill>
              <a:ln w="0">
                <a:noFill/>
              </a:ln>
            </p:spPr>
            <p:txBody>
              <a:bodyPr/>
              <a:lstStyle/>
              <a:p>
                <a:endParaRPr lang="en-US"/>
              </a:p>
            </p:txBody>
          </p:sp>
          <p:sp>
            <p:nvSpPr>
              <p:cNvPr id="3342" name="Oval 3341">
                <a:extLst>
                  <a:ext uri="{FF2B5EF4-FFF2-40B4-BE49-F238E27FC236}">
                    <a16:creationId xmlns:a16="http://schemas.microsoft.com/office/drawing/2014/main" id="{1DE69A47-1188-7B46-FCD6-E2354F10F490}"/>
                  </a:ext>
                </a:extLst>
              </p:cNvPr>
              <p:cNvSpPr/>
              <p:nvPr/>
            </p:nvSpPr>
            <p:spPr>
              <a:xfrm>
                <a:off x="5268017" y="5756481"/>
                <a:ext cx="76200" cy="76200"/>
              </a:xfrm>
              <a:prstGeom prst="ellipse">
                <a:avLst/>
              </a:prstGeom>
              <a:solidFill>
                <a:srgbClr val="2E6B75"/>
              </a:solidFill>
              <a:ln w="0">
                <a:noFill/>
              </a:ln>
            </p:spPr>
            <p:txBody>
              <a:bodyPr/>
              <a:lstStyle/>
              <a:p>
                <a:endParaRPr lang="en-US"/>
              </a:p>
            </p:txBody>
          </p:sp>
          <p:cxnSp>
            <p:nvCxnSpPr>
              <p:cNvPr id="3343" name="Straight Connector 3342">
                <a:extLst>
                  <a:ext uri="{FF2B5EF4-FFF2-40B4-BE49-F238E27FC236}">
                    <a16:creationId xmlns:a16="http://schemas.microsoft.com/office/drawing/2014/main" id="{73F7BBD1-9AD2-E0B4-3421-2F7304F45E90}"/>
                  </a:ext>
                </a:extLst>
              </p:cNvPr>
              <p:cNvCxnSpPr/>
              <p:nvPr/>
            </p:nvCxnSpPr>
            <p:spPr>
              <a:xfrm flipV="1">
                <a:off x="4738245" y="5687538"/>
                <a:ext cx="800100" cy="406763"/>
              </a:xfrm>
              <a:prstGeom prst="line">
                <a:avLst/>
              </a:prstGeom>
              <a:ln w="12700">
                <a:solidFill>
                  <a:srgbClr val="2E6B75"/>
                </a:solidFill>
              </a:ln>
            </p:spPr>
          </p:cxnSp>
          <p:sp>
            <p:nvSpPr>
              <p:cNvPr id="3344" name="Rectangle 3343">
                <a:extLst>
                  <a:ext uri="{FF2B5EF4-FFF2-40B4-BE49-F238E27FC236}">
                    <a16:creationId xmlns:a16="http://schemas.microsoft.com/office/drawing/2014/main" id="{FB330E9E-3453-FD4C-4A26-E36E0674ED58}"/>
                  </a:ext>
                </a:extLst>
              </p:cNvPr>
              <p:cNvSpPr/>
              <p:nvPr/>
            </p:nvSpPr>
            <p:spPr>
              <a:xfrm>
                <a:off x="5934767" y="5414670"/>
                <a:ext cx="1270000" cy="952500"/>
              </a:xfrm>
              <a:prstGeom prst="rect">
                <a:avLst/>
              </a:prstGeom>
              <a:solidFill>
                <a:srgbClr val="F1FFF5">
                  <a:alpha val="54902"/>
                </a:srgbClr>
              </a:solidFill>
              <a:ln w="6350">
                <a:solidFill>
                  <a:srgbClr val="2E6B75"/>
                </a:solidFill>
              </a:ln>
            </p:spPr>
            <p:txBody>
              <a:bodyPr/>
              <a:lstStyle/>
              <a:p>
                <a:endParaRPr lang="en-US"/>
              </a:p>
            </p:txBody>
          </p:sp>
          <p:sp>
            <p:nvSpPr>
              <p:cNvPr id="3345" name="Oval 3344">
                <a:extLst>
                  <a:ext uri="{FF2B5EF4-FFF2-40B4-BE49-F238E27FC236}">
                    <a16:creationId xmlns:a16="http://schemas.microsoft.com/office/drawing/2014/main" id="{A368CDC7-79E9-B564-BDBB-0C4B1AEA17A4}"/>
                  </a:ext>
                </a:extLst>
              </p:cNvPr>
              <p:cNvSpPr/>
              <p:nvPr/>
            </p:nvSpPr>
            <p:spPr>
              <a:xfrm>
                <a:off x="6174148" y="6108936"/>
                <a:ext cx="76200" cy="76200"/>
              </a:xfrm>
              <a:prstGeom prst="ellipse">
                <a:avLst/>
              </a:prstGeom>
              <a:solidFill>
                <a:srgbClr val="2E6B75"/>
              </a:solidFill>
              <a:ln w="0">
                <a:noFill/>
              </a:ln>
            </p:spPr>
            <p:txBody>
              <a:bodyPr/>
              <a:lstStyle/>
              <a:p>
                <a:endParaRPr lang="en-US"/>
              </a:p>
            </p:txBody>
          </p:sp>
          <p:sp>
            <p:nvSpPr>
              <p:cNvPr id="3346" name="Oval 3345">
                <a:extLst>
                  <a:ext uri="{FF2B5EF4-FFF2-40B4-BE49-F238E27FC236}">
                    <a16:creationId xmlns:a16="http://schemas.microsoft.com/office/drawing/2014/main" id="{788E489A-2353-0A89-AD26-8C39DED63D7F}"/>
                  </a:ext>
                </a:extLst>
              </p:cNvPr>
              <p:cNvSpPr/>
              <p:nvPr/>
            </p:nvSpPr>
            <p:spPr>
              <a:xfrm>
                <a:off x="6275579" y="5947735"/>
                <a:ext cx="76200" cy="76200"/>
              </a:xfrm>
              <a:prstGeom prst="ellipse">
                <a:avLst/>
              </a:prstGeom>
              <a:solidFill>
                <a:srgbClr val="2E6B75"/>
              </a:solidFill>
              <a:ln w="0">
                <a:noFill/>
              </a:ln>
            </p:spPr>
            <p:txBody>
              <a:bodyPr/>
              <a:lstStyle/>
              <a:p>
                <a:endParaRPr lang="en-US"/>
              </a:p>
            </p:txBody>
          </p:sp>
          <p:sp>
            <p:nvSpPr>
              <p:cNvPr id="3347" name="Oval 3346">
                <a:extLst>
                  <a:ext uri="{FF2B5EF4-FFF2-40B4-BE49-F238E27FC236}">
                    <a16:creationId xmlns:a16="http://schemas.microsoft.com/office/drawing/2014/main" id="{CEB43A83-369E-C6A9-E3DA-314D4A37C765}"/>
                  </a:ext>
                </a:extLst>
              </p:cNvPr>
              <p:cNvSpPr/>
              <p:nvPr/>
            </p:nvSpPr>
            <p:spPr>
              <a:xfrm>
                <a:off x="6440848" y="5980484"/>
                <a:ext cx="76200" cy="76200"/>
              </a:xfrm>
              <a:prstGeom prst="ellipse">
                <a:avLst/>
              </a:prstGeom>
              <a:solidFill>
                <a:srgbClr val="2E6B75"/>
              </a:solidFill>
              <a:ln w="0">
                <a:noFill/>
              </a:ln>
            </p:spPr>
            <p:txBody>
              <a:bodyPr/>
              <a:lstStyle/>
              <a:p>
                <a:endParaRPr lang="en-US"/>
              </a:p>
            </p:txBody>
          </p:sp>
          <p:sp>
            <p:nvSpPr>
              <p:cNvPr id="3348" name="Oval 3347">
                <a:extLst>
                  <a:ext uri="{FF2B5EF4-FFF2-40B4-BE49-F238E27FC236}">
                    <a16:creationId xmlns:a16="http://schemas.microsoft.com/office/drawing/2014/main" id="{C2D78407-ED23-5E60-F264-37F7D354C4EF}"/>
                  </a:ext>
                </a:extLst>
              </p:cNvPr>
              <p:cNvSpPr/>
              <p:nvPr/>
            </p:nvSpPr>
            <p:spPr>
              <a:xfrm>
                <a:off x="6574198" y="5937667"/>
                <a:ext cx="76200" cy="76200"/>
              </a:xfrm>
              <a:prstGeom prst="ellipse">
                <a:avLst/>
              </a:prstGeom>
              <a:solidFill>
                <a:srgbClr val="2E6B75"/>
              </a:solidFill>
              <a:ln w="0">
                <a:noFill/>
              </a:ln>
            </p:spPr>
            <p:txBody>
              <a:bodyPr/>
              <a:lstStyle/>
              <a:p>
                <a:endParaRPr lang="en-US"/>
              </a:p>
            </p:txBody>
          </p:sp>
          <p:sp>
            <p:nvSpPr>
              <p:cNvPr id="3349" name="Oval 3348">
                <a:extLst>
                  <a:ext uri="{FF2B5EF4-FFF2-40B4-BE49-F238E27FC236}">
                    <a16:creationId xmlns:a16="http://schemas.microsoft.com/office/drawing/2014/main" id="{638866DD-5F42-75A0-4079-68DEA115CAC8}"/>
                  </a:ext>
                </a:extLst>
              </p:cNvPr>
              <p:cNvSpPr/>
              <p:nvPr/>
            </p:nvSpPr>
            <p:spPr>
              <a:xfrm>
                <a:off x="6665017" y="5756481"/>
                <a:ext cx="76200" cy="76200"/>
              </a:xfrm>
              <a:prstGeom prst="ellipse">
                <a:avLst/>
              </a:prstGeom>
              <a:solidFill>
                <a:srgbClr val="2E6B75"/>
              </a:solidFill>
              <a:ln w="0">
                <a:noFill/>
              </a:ln>
            </p:spPr>
            <p:txBody>
              <a:bodyPr/>
              <a:lstStyle/>
              <a:p>
                <a:endParaRPr lang="en-US"/>
              </a:p>
            </p:txBody>
          </p:sp>
          <p:sp>
            <p:nvSpPr>
              <p:cNvPr id="3350" name="Oval 3349">
                <a:extLst>
                  <a:ext uri="{FF2B5EF4-FFF2-40B4-BE49-F238E27FC236}">
                    <a16:creationId xmlns:a16="http://schemas.microsoft.com/office/drawing/2014/main" id="{F1BA8F8D-BF3F-71BA-F9C1-25A79626176E}"/>
                  </a:ext>
                </a:extLst>
              </p:cNvPr>
              <p:cNvSpPr/>
              <p:nvPr/>
            </p:nvSpPr>
            <p:spPr>
              <a:xfrm>
                <a:off x="6798367" y="5692256"/>
                <a:ext cx="76200" cy="76200"/>
              </a:xfrm>
              <a:prstGeom prst="ellipse">
                <a:avLst/>
              </a:prstGeom>
              <a:solidFill>
                <a:srgbClr val="2E6B75"/>
              </a:solidFill>
              <a:ln w="0">
                <a:noFill/>
              </a:ln>
            </p:spPr>
            <p:txBody>
              <a:bodyPr/>
              <a:lstStyle/>
              <a:p>
                <a:endParaRPr lang="en-US"/>
              </a:p>
            </p:txBody>
          </p:sp>
          <p:sp>
            <p:nvSpPr>
              <p:cNvPr id="3351" name="Oval 3350">
                <a:extLst>
                  <a:ext uri="{FF2B5EF4-FFF2-40B4-BE49-F238E27FC236}">
                    <a16:creationId xmlns:a16="http://schemas.microsoft.com/office/drawing/2014/main" id="{A6BA7C6A-A81A-DF22-AB36-6AD29E0AD027}"/>
                  </a:ext>
                </a:extLst>
              </p:cNvPr>
              <p:cNvSpPr/>
              <p:nvPr/>
            </p:nvSpPr>
            <p:spPr>
              <a:xfrm>
                <a:off x="6931717" y="5585213"/>
                <a:ext cx="76200" cy="76200"/>
              </a:xfrm>
              <a:prstGeom prst="ellipse">
                <a:avLst/>
              </a:prstGeom>
              <a:solidFill>
                <a:srgbClr val="2E6B75"/>
              </a:solidFill>
              <a:ln w="0">
                <a:noFill/>
              </a:ln>
            </p:spPr>
            <p:txBody>
              <a:bodyPr/>
              <a:lstStyle/>
              <a:p>
                <a:endParaRPr lang="en-US"/>
              </a:p>
            </p:txBody>
          </p:sp>
          <p:sp>
            <p:nvSpPr>
              <p:cNvPr id="3352" name="Oval 3351">
                <a:extLst>
                  <a:ext uri="{FF2B5EF4-FFF2-40B4-BE49-F238E27FC236}">
                    <a16:creationId xmlns:a16="http://schemas.microsoft.com/office/drawing/2014/main" id="{E83A380F-8BB4-5DA6-4574-902919E3A7A7}"/>
                  </a:ext>
                </a:extLst>
              </p:cNvPr>
              <p:cNvSpPr/>
              <p:nvPr/>
            </p:nvSpPr>
            <p:spPr>
              <a:xfrm>
                <a:off x="6574198" y="5894850"/>
                <a:ext cx="76200" cy="76200"/>
              </a:xfrm>
              <a:prstGeom prst="ellipse">
                <a:avLst/>
              </a:prstGeom>
              <a:solidFill>
                <a:srgbClr val="2E6B75"/>
              </a:solidFill>
              <a:ln w="0">
                <a:noFill/>
              </a:ln>
            </p:spPr>
            <p:txBody>
              <a:bodyPr/>
              <a:lstStyle/>
              <a:p>
                <a:endParaRPr lang="en-US"/>
              </a:p>
            </p:txBody>
          </p:sp>
          <p:cxnSp>
            <p:nvCxnSpPr>
              <p:cNvPr id="3353" name="Straight Connector 3352">
                <a:extLst>
                  <a:ext uri="{FF2B5EF4-FFF2-40B4-BE49-F238E27FC236}">
                    <a16:creationId xmlns:a16="http://schemas.microsoft.com/office/drawing/2014/main" id="{E5A52996-86C7-DDED-5AD6-6073BE94E9F3}"/>
                  </a:ext>
                </a:extLst>
              </p:cNvPr>
              <p:cNvCxnSpPr/>
              <p:nvPr/>
            </p:nvCxnSpPr>
            <p:spPr>
              <a:xfrm flipV="1">
                <a:off x="6169653" y="5714901"/>
                <a:ext cx="800100" cy="406763"/>
              </a:xfrm>
              <a:prstGeom prst="line">
                <a:avLst/>
              </a:prstGeom>
              <a:ln w="12700">
                <a:solidFill>
                  <a:srgbClr val="2E6B75"/>
                </a:solidFill>
              </a:ln>
            </p:spPr>
          </p:cxnSp>
          <p:sp>
            <p:nvSpPr>
              <p:cNvPr id="3354" name="Rectangle 3353">
                <a:extLst>
                  <a:ext uri="{FF2B5EF4-FFF2-40B4-BE49-F238E27FC236}">
                    <a16:creationId xmlns:a16="http://schemas.microsoft.com/office/drawing/2014/main" id="{6D2850D7-DD5D-E1F9-0CB2-52DFC769BC45}"/>
                  </a:ext>
                </a:extLst>
              </p:cNvPr>
              <p:cNvSpPr/>
              <p:nvPr/>
            </p:nvSpPr>
            <p:spPr>
              <a:xfrm>
                <a:off x="7331767" y="5414670"/>
                <a:ext cx="1270000" cy="952500"/>
              </a:xfrm>
              <a:prstGeom prst="rect">
                <a:avLst/>
              </a:prstGeom>
              <a:solidFill>
                <a:srgbClr val="F1FFF5">
                  <a:alpha val="54902"/>
                </a:srgbClr>
              </a:solidFill>
              <a:ln w="6350">
                <a:solidFill>
                  <a:srgbClr val="2E6B75"/>
                </a:solidFill>
              </a:ln>
            </p:spPr>
            <p:txBody>
              <a:bodyPr/>
              <a:lstStyle/>
              <a:p>
                <a:endParaRPr lang="en-US"/>
              </a:p>
            </p:txBody>
          </p:sp>
          <p:sp>
            <p:nvSpPr>
              <p:cNvPr id="3355" name="Oval 3354">
                <a:extLst>
                  <a:ext uri="{FF2B5EF4-FFF2-40B4-BE49-F238E27FC236}">
                    <a16:creationId xmlns:a16="http://schemas.microsoft.com/office/drawing/2014/main" id="{063964E3-DD7B-BB37-1958-234CF5F652EE}"/>
                  </a:ext>
                </a:extLst>
              </p:cNvPr>
              <p:cNvSpPr/>
              <p:nvPr/>
            </p:nvSpPr>
            <p:spPr>
              <a:xfrm rot="3910521">
                <a:off x="7576121" y="5575124"/>
                <a:ext cx="76200" cy="76200"/>
              </a:xfrm>
              <a:prstGeom prst="ellipse">
                <a:avLst/>
              </a:prstGeom>
              <a:solidFill>
                <a:srgbClr val="2E6B75"/>
              </a:solidFill>
              <a:ln w="0">
                <a:noFill/>
              </a:ln>
            </p:spPr>
            <p:txBody>
              <a:bodyPr/>
              <a:lstStyle/>
              <a:p>
                <a:endParaRPr lang="en-US"/>
              </a:p>
            </p:txBody>
          </p:sp>
          <p:sp>
            <p:nvSpPr>
              <p:cNvPr id="3356" name="Oval 3355">
                <a:extLst>
                  <a:ext uri="{FF2B5EF4-FFF2-40B4-BE49-F238E27FC236}">
                    <a16:creationId xmlns:a16="http://schemas.microsoft.com/office/drawing/2014/main" id="{3A3A2C4F-6BA0-C2C1-1BF8-4A3E1F309671}"/>
                  </a:ext>
                </a:extLst>
              </p:cNvPr>
              <p:cNvSpPr/>
              <p:nvPr/>
            </p:nvSpPr>
            <p:spPr>
              <a:xfrm rot="3910521">
                <a:off x="7843535" y="5724008"/>
                <a:ext cx="76200" cy="76200"/>
              </a:xfrm>
              <a:prstGeom prst="ellipse">
                <a:avLst/>
              </a:prstGeom>
              <a:solidFill>
                <a:srgbClr val="2E6B75"/>
              </a:solidFill>
              <a:ln w="0">
                <a:noFill/>
              </a:ln>
            </p:spPr>
            <p:txBody>
              <a:bodyPr/>
              <a:lstStyle/>
              <a:p>
                <a:endParaRPr lang="en-US"/>
              </a:p>
            </p:txBody>
          </p:sp>
          <p:sp>
            <p:nvSpPr>
              <p:cNvPr id="3357" name="Oval 3356">
                <a:extLst>
                  <a:ext uri="{FF2B5EF4-FFF2-40B4-BE49-F238E27FC236}">
                    <a16:creationId xmlns:a16="http://schemas.microsoft.com/office/drawing/2014/main" id="{52A5C60F-9268-86F7-5268-4E0FF9D7FF26}"/>
                  </a:ext>
                </a:extLst>
              </p:cNvPr>
              <p:cNvSpPr/>
              <p:nvPr/>
            </p:nvSpPr>
            <p:spPr>
              <a:xfrm rot="3910521">
                <a:off x="7938382" y="5848326"/>
                <a:ext cx="76200" cy="76200"/>
              </a:xfrm>
              <a:prstGeom prst="ellipse">
                <a:avLst/>
              </a:prstGeom>
              <a:solidFill>
                <a:srgbClr val="2E6B75"/>
              </a:solidFill>
              <a:ln w="0">
                <a:noFill/>
              </a:ln>
            </p:spPr>
            <p:txBody>
              <a:bodyPr/>
              <a:lstStyle/>
              <a:p>
                <a:endParaRPr lang="en-US"/>
              </a:p>
            </p:txBody>
          </p:sp>
          <p:sp>
            <p:nvSpPr>
              <p:cNvPr id="3358" name="Oval 3357">
                <a:extLst>
                  <a:ext uri="{FF2B5EF4-FFF2-40B4-BE49-F238E27FC236}">
                    <a16:creationId xmlns:a16="http://schemas.microsoft.com/office/drawing/2014/main" id="{C9905815-8B4B-26B5-A1CB-054190E3EB87}"/>
                  </a:ext>
                </a:extLst>
              </p:cNvPr>
              <p:cNvSpPr/>
              <p:nvPr/>
            </p:nvSpPr>
            <p:spPr>
              <a:xfrm rot="3910521">
                <a:off x="8052659" y="5942389"/>
                <a:ext cx="76200" cy="76200"/>
              </a:xfrm>
              <a:prstGeom prst="ellipse">
                <a:avLst/>
              </a:prstGeom>
              <a:solidFill>
                <a:srgbClr val="2E6B75"/>
              </a:solidFill>
              <a:ln w="0">
                <a:noFill/>
              </a:ln>
            </p:spPr>
            <p:txBody>
              <a:bodyPr/>
              <a:lstStyle/>
              <a:p>
                <a:endParaRPr lang="en-US"/>
              </a:p>
            </p:txBody>
          </p:sp>
          <p:sp>
            <p:nvSpPr>
              <p:cNvPr id="3359" name="Oval 3358">
                <a:extLst>
                  <a:ext uri="{FF2B5EF4-FFF2-40B4-BE49-F238E27FC236}">
                    <a16:creationId xmlns:a16="http://schemas.microsoft.com/office/drawing/2014/main" id="{187C657D-FAA0-849A-30C9-B09DB5B98A50}"/>
                  </a:ext>
                </a:extLst>
              </p:cNvPr>
              <p:cNvSpPr/>
              <p:nvPr/>
            </p:nvSpPr>
            <p:spPr>
              <a:xfrm rot="3910521">
                <a:off x="8166937" y="6036452"/>
                <a:ext cx="76200" cy="76200"/>
              </a:xfrm>
              <a:prstGeom prst="ellipse">
                <a:avLst/>
              </a:prstGeom>
              <a:solidFill>
                <a:srgbClr val="2E6B75"/>
              </a:solidFill>
              <a:ln w="0">
                <a:noFill/>
              </a:ln>
            </p:spPr>
            <p:txBody>
              <a:bodyPr/>
              <a:lstStyle/>
              <a:p>
                <a:endParaRPr lang="en-US"/>
              </a:p>
            </p:txBody>
          </p:sp>
          <p:sp>
            <p:nvSpPr>
              <p:cNvPr id="3360" name="Oval 3359">
                <a:extLst>
                  <a:ext uri="{FF2B5EF4-FFF2-40B4-BE49-F238E27FC236}">
                    <a16:creationId xmlns:a16="http://schemas.microsoft.com/office/drawing/2014/main" id="{F5B90AB7-6233-C0E0-C114-42604304EEFB}"/>
                  </a:ext>
                </a:extLst>
              </p:cNvPr>
              <p:cNvSpPr/>
              <p:nvPr/>
            </p:nvSpPr>
            <p:spPr>
              <a:xfrm rot="3910521">
                <a:off x="8281213" y="6130516"/>
                <a:ext cx="76200" cy="76200"/>
              </a:xfrm>
              <a:prstGeom prst="ellipse">
                <a:avLst/>
              </a:prstGeom>
              <a:solidFill>
                <a:srgbClr val="2E6B75"/>
              </a:solidFill>
              <a:ln w="0">
                <a:noFill/>
              </a:ln>
            </p:spPr>
            <p:txBody>
              <a:bodyPr/>
              <a:lstStyle/>
              <a:p>
                <a:endParaRPr lang="en-US"/>
              </a:p>
            </p:txBody>
          </p:sp>
          <p:sp>
            <p:nvSpPr>
              <p:cNvPr id="3361" name="Oval 3360">
                <a:extLst>
                  <a:ext uri="{FF2B5EF4-FFF2-40B4-BE49-F238E27FC236}">
                    <a16:creationId xmlns:a16="http://schemas.microsoft.com/office/drawing/2014/main" id="{F558D72F-0322-22CD-E9EE-1FB050B0A775}"/>
                  </a:ext>
                </a:extLst>
              </p:cNvPr>
              <p:cNvSpPr/>
              <p:nvPr/>
            </p:nvSpPr>
            <p:spPr>
              <a:xfrm rot="3910521">
                <a:off x="7670968" y="5678176"/>
                <a:ext cx="76200" cy="76200"/>
              </a:xfrm>
              <a:prstGeom prst="ellipse">
                <a:avLst/>
              </a:prstGeom>
              <a:solidFill>
                <a:srgbClr val="2E6B75"/>
              </a:solidFill>
              <a:ln w="0">
                <a:noFill/>
              </a:ln>
            </p:spPr>
            <p:txBody>
              <a:bodyPr/>
              <a:lstStyle/>
              <a:p>
                <a:endParaRPr lang="en-US"/>
              </a:p>
            </p:txBody>
          </p:sp>
          <p:sp>
            <p:nvSpPr>
              <p:cNvPr id="3362" name="Oval 3361">
                <a:extLst>
                  <a:ext uri="{FF2B5EF4-FFF2-40B4-BE49-F238E27FC236}">
                    <a16:creationId xmlns:a16="http://schemas.microsoft.com/office/drawing/2014/main" id="{E3AF9DF6-34FE-517A-3823-6E451ADC5C6F}"/>
                  </a:ext>
                </a:extLst>
              </p:cNvPr>
              <p:cNvSpPr/>
              <p:nvPr/>
            </p:nvSpPr>
            <p:spPr>
              <a:xfrm rot="3910521">
                <a:off x="8186366" y="6027464"/>
                <a:ext cx="76200" cy="76200"/>
              </a:xfrm>
              <a:prstGeom prst="ellipse">
                <a:avLst/>
              </a:prstGeom>
              <a:solidFill>
                <a:srgbClr val="2E6B75"/>
              </a:solidFill>
              <a:ln w="0">
                <a:noFill/>
              </a:ln>
            </p:spPr>
            <p:txBody>
              <a:bodyPr/>
              <a:lstStyle/>
              <a:p>
                <a:endParaRPr lang="en-US"/>
              </a:p>
            </p:txBody>
          </p:sp>
          <p:cxnSp>
            <p:nvCxnSpPr>
              <p:cNvPr id="3363" name="Straight Connector 3362">
                <a:extLst>
                  <a:ext uri="{FF2B5EF4-FFF2-40B4-BE49-F238E27FC236}">
                    <a16:creationId xmlns:a16="http://schemas.microsoft.com/office/drawing/2014/main" id="{245E4DE4-A128-F789-C2DD-D2229C5E33AA}"/>
                  </a:ext>
                </a:extLst>
              </p:cNvPr>
              <p:cNvCxnSpPr/>
              <p:nvPr/>
            </p:nvCxnSpPr>
            <p:spPr>
              <a:xfrm rot="3910521" flipV="1">
                <a:off x="7503774" y="5642262"/>
                <a:ext cx="800100" cy="406763"/>
              </a:xfrm>
              <a:prstGeom prst="line">
                <a:avLst/>
              </a:prstGeom>
              <a:ln w="12700">
                <a:solidFill>
                  <a:srgbClr val="2E6B75"/>
                </a:solidFill>
              </a:ln>
            </p:spPr>
          </p:cxnSp>
          <p:sp>
            <p:nvSpPr>
              <p:cNvPr id="3364" name="YesRelCaption">
                <a:extLst>
                  <a:ext uri="{FF2B5EF4-FFF2-40B4-BE49-F238E27FC236}">
                    <a16:creationId xmlns:a16="http://schemas.microsoft.com/office/drawing/2014/main" id="{BE53C1D8-9E82-B9FF-8BCC-60D9B9045BA4}"/>
                  </a:ext>
                </a:extLst>
              </p:cNvPr>
              <p:cNvSpPr/>
              <p:nvPr/>
            </p:nvSpPr>
            <p:spPr>
              <a:xfrm>
                <a:off x="4549642" y="6440895"/>
                <a:ext cx="4318000" cy="254000"/>
              </a:xfrm>
              <a:prstGeom prst="rect">
                <a:avLst/>
              </a:prstGeom>
              <a:noFill/>
              <a:ln>
                <a:noFill/>
              </a:ln>
            </p:spPr>
            <p:txBody>
              <a:bodyPr wrap="square" lIns="0" tIns="0" rIns="0" bIns="0" anchor="t"/>
              <a:lstStyle/>
              <a:p>
                <a:pPr algn="ctr"/>
                <a:r>
                  <a:rPr lang="en-US" sz="1200" dirty="0">
                    <a:solidFill>
                      <a:srgbClr val="2E6B75"/>
                    </a:solidFill>
                    <a:latin typeface="Open Sans"/>
                  </a:rPr>
                  <a:t>Slopes clearly away from 0</a:t>
                </a:r>
              </a:p>
            </p:txBody>
          </p:sp>
        </p:grpSp>
        <p:sp>
          <p:nvSpPr>
            <p:cNvPr id="3365" name="NoRelLabel">
              <a:extLst>
                <a:ext uri="{FF2B5EF4-FFF2-40B4-BE49-F238E27FC236}">
                  <a16:creationId xmlns:a16="http://schemas.microsoft.com/office/drawing/2014/main" id="{46E22F4D-FCB4-823A-097D-A215989CB51C}"/>
                </a:ext>
              </a:extLst>
            </p:cNvPr>
            <p:cNvSpPr/>
            <p:nvPr/>
          </p:nvSpPr>
          <p:spPr>
            <a:xfrm>
              <a:off x="6470522" y="4695549"/>
              <a:ext cx="4318000" cy="279400"/>
            </a:xfrm>
            <a:prstGeom prst="rect">
              <a:avLst/>
            </a:prstGeom>
            <a:noFill/>
            <a:ln>
              <a:noFill/>
            </a:ln>
          </p:spPr>
          <p:txBody>
            <a:bodyPr wrap="square" lIns="0" tIns="0" rIns="0" bIns="0" anchor="b"/>
            <a:lstStyle/>
            <a:p>
              <a:pPr algn="l"/>
              <a:r>
                <a:rPr lang="en-US" sz="1200" b="1" dirty="0">
                  <a:solidFill>
                    <a:srgbClr val="D5952A"/>
                  </a:solidFill>
                  <a:latin typeface="Open Sans"/>
                </a:rPr>
                <a:t>Reminder: No relationship ≃ zero slope</a:t>
              </a:r>
            </a:p>
          </p:txBody>
        </p:sp>
        <p:sp>
          <p:nvSpPr>
            <p:cNvPr id="3366" name="Rounded Rectangle 3365">
              <a:extLst>
                <a:ext uri="{FF2B5EF4-FFF2-40B4-BE49-F238E27FC236}">
                  <a16:creationId xmlns:a16="http://schemas.microsoft.com/office/drawing/2014/main" id="{255DEC9F-12FA-DA0C-FEB2-AF322C961E22}"/>
                </a:ext>
              </a:extLst>
            </p:cNvPr>
            <p:cNvSpPr/>
            <p:nvPr/>
          </p:nvSpPr>
          <p:spPr>
            <a:xfrm>
              <a:off x="4153589" y="4720949"/>
              <a:ext cx="1270000" cy="254000"/>
            </a:xfrm>
            <a:prstGeom prst="roundRect">
              <a:avLst/>
            </a:prstGeom>
            <a:solidFill>
              <a:srgbClr val="D495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b="1">
                  <a:solidFill>
                    <a:srgbClr val="FFFFFF"/>
                  </a:solidFill>
                  <a:latin typeface="Montserrat"/>
                </a:rPr>
                <a:t>ASIDE</a:t>
              </a:r>
            </a:p>
          </p:txBody>
        </p:sp>
      </p:grpSp>
      <p:sp>
        <p:nvSpPr>
          <p:cNvPr id="2" name="TextBox 1">
            <a:extLst>
              <a:ext uri="{FF2B5EF4-FFF2-40B4-BE49-F238E27FC236}">
                <a16:creationId xmlns:a16="http://schemas.microsoft.com/office/drawing/2014/main" id="{BA06C563-AC3A-8A49-108D-99B26AE7D181}"/>
              </a:ext>
            </a:extLst>
          </p:cNvPr>
          <p:cNvSpPr txBox="1"/>
          <p:nvPr/>
        </p:nvSpPr>
        <p:spPr>
          <a:xfrm>
            <a:off x="5466469" y="2411943"/>
            <a:ext cx="6725531" cy="1770698"/>
          </a:xfrm>
          <a:prstGeom prst="roundRect">
            <a:avLst/>
          </a:prstGeom>
          <a:noFill/>
          <a:ln>
            <a:noFill/>
          </a:ln>
        </p:spPr>
        <p:txBody>
          <a:bodyPr wrap="square" rtlCol="0">
            <a:spAutoFit/>
          </a:bodyPr>
          <a:lstStyle/>
          <a:p>
            <a:r>
              <a:rPr lang="en-US" sz="1400" b="1" dirty="0">
                <a:solidFill>
                  <a:schemeClr val="accent3">
                    <a:lumMod val="25000"/>
                  </a:schemeClr>
                </a:solidFill>
              </a:rPr>
              <a:t>Side note: </a:t>
            </a:r>
          </a:p>
          <a:p>
            <a:r>
              <a:rPr lang="en-US" sz="1400" dirty="0">
                <a:solidFill>
                  <a:schemeClr val="accent3">
                    <a:lumMod val="25000"/>
                  </a:schemeClr>
                </a:solidFill>
              </a:rPr>
              <a:t>Our null: </a:t>
            </a:r>
          </a:p>
          <a:p>
            <a:r>
              <a:rPr lang="en-US" sz="1400" dirty="0">
                <a:solidFill>
                  <a:schemeClr val="accent3">
                    <a:lumMod val="25000"/>
                  </a:schemeClr>
                </a:solidFill>
              </a:rPr>
              <a:t>- Gestational weeks has no association with birth weight</a:t>
            </a:r>
          </a:p>
          <a:p>
            <a:r>
              <a:rPr lang="en-US" sz="1400" dirty="0">
                <a:solidFill>
                  <a:schemeClr val="accent3">
                    <a:lumMod val="25000"/>
                  </a:schemeClr>
                </a:solidFill>
              </a:rPr>
              <a:t>For a believable null world, consider:</a:t>
            </a:r>
          </a:p>
          <a:p>
            <a:pPr marL="285750" indent="-285750">
              <a:buFontTx/>
              <a:buChar char="-"/>
            </a:pPr>
            <a:r>
              <a:rPr lang="en-US" sz="1400" dirty="0">
                <a:solidFill>
                  <a:schemeClr val="accent3">
                    <a:lumMod val="25000"/>
                  </a:schemeClr>
                </a:solidFill>
              </a:rPr>
              <a:t>trial testing dosages of a drug on symptom severity</a:t>
            </a:r>
          </a:p>
          <a:p>
            <a:pPr marL="285750" indent="-285750">
              <a:buFontTx/>
              <a:buChar char="-"/>
            </a:pPr>
            <a:r>
              <a:rPr lang="en-US" sz="1400" dirty="0">
                <a:solidFill>
                  <a:schemeClr val="accent3">
                    <a:lumMod val="25000"/>
                  </a:schemeClr>
                </a:solidFill>
              </a:rPr>
              <a:t>the effect of reading a specific prep book on exam scores. </a:t>
            </a:r>
          </a:p>
          <a:p>
            <a:r>
              <a:rPr lang="en-US" sz="1400" dirty="0">
                <a:solidFill>
                  <a:schemeClr val="accent3">
                    <a:lumMod val="25000"/>
                  </a:schemeClr>
                </a:solidFill>
              </a:rPr>
              <a:t>We’re imagining the drug/prep book do not work</a:t>
            </a:r>
          </a:p>
        </p:txBody>
      </p:sp>
    </p:spTree>
    <p:extLst>
      <p:ext uri="{BB962C8B-B14F-4D97-AF65-F5344CB8AC3E}">
        <p14:creationId xmlns:p14="http://schemas.microsoft.com/office/powerpoint/2010/main" val="1248565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3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3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3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234">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234">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234">
                                            <p:txEl>
                                              <p:pRg st="4" end="4"/>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234" grpId="0" uiExpand="1"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97438-BA5D-D335-7FD5-9F4BC0813FCC}"/>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AD22AD2C-93CA-D3EE-0119-8B622D498B12}"/>
              </a:ext>
            </a:extLst>
          </p:cNvPr>
          <p:cNvSpPr/>
          <p:nvPr/>
        </p:nvSpPr>
        <p:spPr>
          <a:xfrm>
            <a:off x="241300" y="177800"/>
            <a:ext cx="11709400" cy="482600"/>
          </a:xfrm>
          <a:prstGeom prst="rect">
            <a:avLst/>
          </a:prstGeom>
          <a:noFill/>
          <a:ln>
            <a:noFill/>
          </a:ln>
        </p:spPr>
        <p:txBody>
          <a:bodyPr wrap="square" lIns="36000" tIns="0" rIns="36000" bIns="0" anchor="ctr"/>
          <a:lstStyle/>
          <a:p>
            <a:r>
              <a:rPr lang="en-US" sz="2000" b="1" dirty="0">
                <a:solidFill>
                  <a:srgbClr val="2E6B75"/>
                </a:solidFill>
                <a:latin typeface="Montserrat"/>
              </a:rPr>
              <a:t>From the t statistic to the p-value : Entering the </a:t>
            </a:r>
            <a:r>
              <a:rPr lang="en-US" sz="2000" b="1" dirty="0">
                <a:solidFill>
                  <a:schemeClr val="accent5">
                    <a:lumMod val="75000"/>
                  </a:schemeClr>
                </a:solidFill>
                <a:latin typeface="Montserrat"/>
              </a:rPr>
              <a:t>null world</a:t>
            </a:r>
            <a:endParaRPr lang="en-US" sz="2000" b="1" dirty="0">
              <a:solidFill>
                <a:srgbClr val="E0AF89"/>
              </a:solidFill>
              <a:latin typeface="Montserrat"/>
            </a:endParaRPr>
          </a:p>
        </p:txBody>
      </p:sp>
      <p:grpSp>
        <p:nvGrpSpPr>
          <p:cNvPr id="38" name="Group 37">
            <a:extLst>
              <a:ext uri="{FF2B5EF4-FFF2-40B4-BE49-F238E27FC236}">
                <a16:creationId xmlns:a16="http://schemas.microsoft.com/office/drawing/2014/main" id="{28E39468-AE3B-0476-0D7C-21616C9715E3}"/>
              </a:ext>
            </a:extLst>
          </p:cNvPr>
          <p:cNvGrpSpPr/>
          <p:nvPr/>
        </p:nvGrpSpPr>
        <p:grpSpPr>
          <a:xfrm>
            <a:off x="32883" y="2714017"/>
            <a:ext cx="3634231" cy="3835030"/>
            <a:chOff x="105113" y="3190338"/>
            <a:chExt cx="3236335" cy="3414743"/>
          </a:xfrm>
        </p:grpSpPr>
        <p:pic>
          <p:nvPicPr>
            <p:cNvPr id="10" name="Picture 9">
              <a:extLst>
                <a:ext uri="{FF2B5EF4-FFF2-40B4-BE49-F238E27FC236}">
                  <a16:creationId xmlns:a16="http://schemas.microsoft.com/office/drawing/2014/main" id="{CA145BA5-03DC-0C23-8AD7-BB85A1155A23}"/>
                </a:ext>
              </a:extLst>
            </p:cNvPr>
            <p:cNvPicPr>
              <a:picLocks noChangeAspect="1"/>
            </p:cNvPicPr>
            <p:nvPr/>
          </p:nvPicPr>
          <p:blipFill>
            <a:blip r:embed="rId3"/>
            <a:srcRect r="75651" b="72221"/>
            <a:stretch>
              <a:fillRect/>
            </a:stretch>
          </p:blipFill>
          <p:spPr>
            <a:xfrm>
              <a:off x="105113" y="3190338"/>
              <a:ext cx="1712022" cy="1227825"/>
            </a:xfrm>
            <a:prstGeom prst="rect">
              <a:avLst/>
            </a:prstGeom>
          </p:spPr>
        </p:pic>
        <p:pic>
          <p:nvPicPr>
            <p:cNvPr id="11" name="Picture 10">
              <a:extLst>
                <a:ext uri="{FF2B5EF4-FFF2-40B4-BE49-F238E27FC236}">
                  <a16:creationId xmlns:a16="http://schemas.microsoft.com/office/drawing/2014/main" id="{C7330BD7-0EC8-E74E-6B2E-2F2181AA1214}"/>
                </a:ext>
              </a:extLst>
            </p:cNvPr>
            <p:cNvPicPr>
              <a:picLocks noChangeAspect="1"/>
            </p:cNvPicPr>
            <p:nvPr/>
          </p:nvPicPr>
          <p:blipFill>
            <a:blip r:embed="rId3"/>
            <a:srcRect l="24517" r="54243" b="71940"/>
            <a:stretch>
              <a:fillRect/>
            </a:stretch>
          </p:blipFill>
          <p:spPr>
            <a:xfrm>
              <a:off x="1847993" y="3190338"/>
              <a:ext cx="1493455" cy="1240255"/>
            </a:xfrm>
            <a:prstGeom prst="rect">
              <a:avLst/>
            </a:prstGeom>
          </p:spPr>
        </p:pic>
        <p:pic>
          <p:nvPicPr>
            <p:cNvPr id="12" name="Picture 11">
              <a:extLst>
                <a:ext uri="{FF2B5EF4-FFF2-40B4-BE49-F238E27FC236}">
                  <a16:creationId xmlns:a16="http://schemas.microsoft.com/office/drawing/2014/main" id="{6BB99678-B40C-1643-79A8-CFEC01728E8B}"/>
                </a:ext>
              </a:extLst>
            </p:cNvPr>
            <p:cNvPicPr>
              <a:picLocks noChangeAspect="1"/>
            </p:cNvPicPr>
            <p:nvPr/>
          </p:nvPicPr>
          <p:blipFill>
            <a:blip r:embed="rId3"/>
            <a:srcRect l="2413" t="27585" r="75651" b="50447"/>
            <a:stretch>
              <a:fillRect/>
            </a:stretch>
          </p:blipFill>
          <p:spPr>
            <a:xfrm>
              <a:off x="274698" y="4564257"/>
              <a:ext cx="1542436" cy="970985"/>
            </a:xfrm>
            <a:prstGeom prst="rect">
              <a:avLst/>
            </a:prstGeom>
          </p:spPr>
        </p:pic>
        <p:pic>
          <p:nvPicPr>
            <p:cNvPr id="13" name="Picture 12">
              <a:extLst>
                <a:ext uri="{FF2B5EF4-FFF2-40B4-BE49-F238E27FC236}">
                  <a16:creationId xmlns:a16="http://schemas.microsoft.com/office/drawing/2014/main" id="{6B380DD4-251A-F037-B3A7-889C509170D6}"/>
                </a:ext>
              </a:extLst>
            </p:cNvPr>
            <p:cNvPicPr>
              <a:picLocks noChangeAspect="1"/>
            </p:cNvPicPr>
            <p:nvPr/>
          </p:nvPicPr>
          <p:blipFill>
            <a:blip r:embed="rId3"/>
            <a:srcRect l="24437" t="28690" r="54322" b="49935"/>
            <a:stretch>
              <a:fillRect/>
            </a:stretch>
          </p:blipFill>
          <p:spPr>
            <a:xfrm>
              <a:off x="1847993" y="4615374"/>
              <a:ext cx="1493455" cy="944789"/>
            </a:xfrm>
            <a:prstGeom prst="rect">
              <a:avLst/>
            </a:prstGeom>
          </p:spPr>
        </p:pic>
        <p:pic>
          <p:nvPicPr>
            <p:cNvPr id="14" name="Picture 13">
              <a:extLst>
                <a:ext uri="{FF2B5EF4-FFF2-40B4-BE49-F238E27FC236}">
                  <a16:creationId xmlns:a16="http://schemas.microsoft.com/office/drawing/2014/main" id="{CAE272C6-44FA-DC62-AB21-649D980E75A3}"/>
                </a:ext>
              </a:extLst>
            </p:cNvPr>
            <p:cNvPicPr>
              <a:picLocks noChangeAspect="1"/>
            </p:cNvPicPr>
            <p:nvPr/>
          </p:nvPicPr>
          <p:blipFill>
            <a:blip r:embed="rId3"/>
            <a:srcRect l="2403" t="49466" r="54600" b="28709"/>
            <a:stretch>
              <a:fillRect/>
            </a:stretch>
          </p:blipFill>
          <p:spPr>
            <a:xfrm>
              <a:off x="273723" y="5634095"/>
              <a:ext cx="3043009" cy="970986"/>
            </a:xfrm>
            <a:prstGeom prst="rect">
              <a:avLst/>
            </a:prstGeom>
          </p:spPr>
        </p:pic>
      </p:grpSp>
      <p:grpSp>
        <p:nvGrpSpPr>
          <p:cNvPr id="37" name="Group 36">
            <a:extLst>
              <a:ext uri="{FF2B5EF4-FFF2-40B4-BE49-F238E27FC236}">
                <a16:creationId xmlns:a16="http://schemas.microsoft.com/office/drawing/2014/main" id="{A1D3A251-052F-2780-8145-F3110251E72E}"/>
              </a:ext>
            </a:extLst>
          </p:cNvPr>
          <p:cNvGrpSpPr/>
          <p:nvPr/>
        </p:nvGrpSpPr>
        <p:grpSpPr>
          <a:xfrm>
            <a:off x="5828381" y="729561"/>
            <a:ext cx="2248581" cy="2113306"/>
            <a:chOff x="5828381" y="729561"/>
            <a:chExt cx="2248581" cy="2113306"/>
          </a:xfrm>
        </p:grpSpPr>
        <p:pic>
          <p:nvPicPr>
            <p:cNvPr id="2" name="Picture 1" descr="A graph with a red line&#10;&#10;AI-generated content may be incorrect.">
              <a:extLst>
                <a:ext uri="{FF2B5EF4-FFF2-40B4-BE49-F238E27FC236}">
                  <a16:creationId xmlns:a16="http://schemas.microsoft.com/office/drawing/2014/main" id="{F335D993-0EED-94E7-71F0-901E7ADD47C0}"/>
                </a:ext>
              </a:extLst>
            </p:cNvPr>
            <p:cNvPicPr>
              <a:picLocks noChangeAspect="1"/>
            </p:cNvPicPr>
            <p:nvPr/>
          </p:nvPicPr>
          <p:blipFill>
            <a:blip r:embed="rId4"/>
            <a:srcRect t="2139" r="2348"/>
            <a:stretch>
              <a:fillRect/>
            </a:stretch>
          </p:blipFill>
          <p:spPr>
            <a:xfrm>
              <a:off x="5894737" y="1020906"/>
              <a:ext cx="2182225" cy="18219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Rounded Rectangle 2">
              <a:extLst>
                <a:ext uri="{FF2B5EF4-FFF2-40B4-BE49-F238E27FC236}">
                  <a16:creationId xmlns:a16="http://schemas.microsoft.com/office/drawing/2014/main" id="{13D2254B-FC4D-7A2C-7088-178E8389FD37}"/>
                </a:ext>
              </a:extLst>
            </p:cNvPr>
            <p:cNvSpPr/>
            <p:nvPr/>
          </p:nvSpPr>
          <p:spPr>
            <a:xfrm>
              <a:off x="5828381" y="729561"/>
              <a:ext cx="1485235" cy="224980"/>
            </a:xfrm>
            <a:prstGeom prst="roundRect">
              <a:avLst/>
            </a:prstGeom>
            <a:solidFill>
              <a:srgbClr val="2E6B7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dirty="0">
                  <a:solidFill>
                    <a:srgbClr val="FFFFFF"/>
                  </a:solidFill>
                  <a:latin typeface="Montserrat"/>
                </a:rPr>
                <a:t>POPULATION DATA</a:t>
              </a:r>
            </a:p>
          </p:txBody>
        </p:sp>
      </p:grpSp>
      <p:pic>
        <p:nvPicPr>
          <p:cNvPr id="4" name="Picture 3">
            <a:extLst>
              <a:ext uri="{FF2B5EF4-FFF2-40B4-BE49-F238E27FC236}">
                <a16:creationId xmlns:a16="http://schemas.microsoft.com/office/drawing/2014/main" id="{4C759525-6F5B-08A8-6828-E389DF809C40}"/>
              </a:ext>
            </a:extLst>
          </p:cNvPr>
          <p:cNvPicPr>
            <a:picLocks noChangeAspect="1"/>
          </p:cNvPicPr>
          <p:nvPr/>
        </p:nvPicPr>
        <p:blipFill>
          <a:blip r:embed="rId5"/>
          <a:srcRect l="5674" t="6012" r="6995" b="5537"/>
          <a:stretch>
            <a:fillRect/>
          </a:stretch>
        </p:blipFill>
        <p:spPr>
          <a:xfrm>
            <a:off x="8972811" y="1020906"/>
            <a:ext cx="2350185" cy="18476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ounded Rectangle 5">
            <a:extLst>
              <a:ext uri="{FF2B5EF4-FFF2-40B4-BE49-F238E27FC236}">
                <a16:creationId xmlns:a16="http://schemas.microsoft.com/office/drawing/2014/main" id="{2EC7988F-52FF-2468-37E1-6E60F9072DF1}"/>
              </a:ext>
            </a:extLst>
          </p:cNvPr>
          <p:cNvSpPr/>
          <p:nvPr/>
        </p:nvSpPr>
        <p:spPr>
          <a:xfrm>
            <a:off x="8972812" y="716434"/>
            <a:ext cx="1972714" cy="238107"/>
          </a:xfrm>
          <a:prstGeom prst="roundRect">
            <a:avLst/>
          </a:prstGeom>
          <a:solidFill>
            <a:srgbClr val="2E6B7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dirty="0">
                <a:solidFill>
                  <a:srgbClr val="FFFFFF"/>
                </a:solidFill>
                <a:latin typeface="Montserrat"/>
              </a:rPr>
              <a:t>NULL HYPOTHESIS WORLD</a:t>
            </a:r>
          </a:p>
        </p:txBody>
      </p:sp>
      <p:sp>
        <p:nvSpPr>
          <p:cNvPr id="7" name="Right Arrow 6">
            <a:extLst>
              <a:ext uri="{FF2B5EF4-FFF2-40B4-BE49-F238E27FC236}">
                <a16:creationId xmlns:a16="http://schemas.microsoft.com/office/drawing/2014/main" id="{8CCF70EF-D1BE-F01E-DE7B-BBC21780F7DE}"/>
              </a:ext>
            </a:extLst>
          </p:cNvPr>
          <p:cNvSpPr/>
          <p:nvPr/>
        </p:nvSpPr>
        <p:spPr>
          <a:xfrm>
            <a:off x="8416308" y="1760386"/>
            <a:ext cx="311767" cy="289261"/>
          </a:xfrm>
          <a:prstGeom prst="rightArrow">
            <a:avLst>
              <a:gd name="adj1" fmla="val 30769"/>
              <a:gd name="adj2" fmla="val 442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18BC49B5-D2D1-6100-6A4F-7194CB98A8CB}"/>
              </a:ext>
            </a:extLst>
          </p:cNvPr>
          <p:cNvSpPr/>
          <p:nvPr/>
        </p:nvSpPr>
        <p:spPr>
          <a:xfrm>
            <a:off x="8171570" y="1105540"/>
            <a:ext cx="706635" cy="63686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200" dirty="0"/>
              <a:t>Flatten out the data</a:t>
            </a:r>
          </a:p>
        </p:txBody>
      </p:sp>
      <p:pic>
        <p:nvPicPr>
          <p:cNvPr id="29" name="Picture 28">
            <a:extLst>
              <a:ext uri="{FF2B5EF4-FFF2-40B4-BE49-F238E27FC236}">
                <a16:creationId xmlns:a16="http://schemas.microsoft.com/office/drawing/2014/main" id="{0E30CEF4-FEB1-CF40-0C21-D332BD99F976}"/>
              </a:ext>
            </a:extLst>
          </p:cNvPr>
          <p:cNvPicPr>
            <a:picLocks noChangeAspect="1"/>
          </p:cNvPicPr>
          <p:nvPr/>
        </p:nvPicPr>
        <p:blipFill>
          <a:blip r:embed="rId6"/>
          <a:srcRect l="48312" t="6960" b="61352"/>
          <a:stretch>
            <a:fillRect/>
          </a:stretch>
        </p:blipFill>
        <p:spPr>
          <a:xfrm>
            <a:off x="3805051" y="4404974"/>
            <a:ext cx="3508565" cy="1229119"/>
          </a:xfrm>
          <a:prstGeom prst="rect">
            <a:avLst/>
          </a:prstGeom>
        </p:spPr>
      </p:pic>
      <p:sp>
        <p:nvSpPr>
          <p:cNvPr id="32" name="TextBox 31">
            <a:extLst>
              <a:ext uri="{FF2B5EF4-FFF2-40B4-BE49-F238E27FC236}">
                <a16:creationId xmlns:a16="http://schemas.microsoft.com/office/drawing/2014/main" id="{DC3A909B-F05F-BDD0-4636-29A8E35C50A6}"/>
              </a:ext>
            </a:extLst>
          </p:cNvPr>
          <p:cNvSpPr txBox="1"/>
          <p:nvPr/>
        </p:nvSpPr>
        <p:spPr>
          <a:xfrm>
            <a:off x="4690060" y="4187489"/>
            <a:ext cx="1582484" cy="253916"/>
          </a:xfrm>
          <a:prstGeom prst="rect">
            <a:avLst/>
          </a:prstGeom>
          <a:noFill/>
        </p:spPr>
        <p:txBody>
          <a:bodyPr wrap="none" rtlCol="0">
            <a:spAutoFit/>
          </a:bodyPr>
          <a:lstStyle/>
          <a:p>
            <a:r>
              <a:rPr lang="en-US" sz="1050" b="1" dirty="0">
                <a:solidFill>
                  <a:srgbClr val="D5952A"/>
                </a:solidFill>
              </a:rPr>
              <a:t>6 resampled t-values</a:t>
            </a:r>
          </a:p>
        </p:txBody>
      </p:sp>
      <p:sp>
        <p:nvSpPr>
          <p:cNvPr id="34" name="TextBox 33">
            <a:extLst>
              <a:ext uri="{FF2B5EF4-FFF2-40B4-BE49-F238E27FC236}">
                <a16:creationId xmlns:a16="http://schemas.microsoft.com/office/drawing/2014/main" id="{11D24F63-1F0D-284A-74AC-EF6BD163CE1D}"/>
              </a:ext>
            </a:extLst>
          </p:cNvPr>
          <p:cNvSpPr txBox="1"/>
          <p:nvPr/>
        </p:nvSpPr>
        <p:spPr>
          <a:xfrm>
            <a:off x="8524887" y="3582236"/>
            <a:ext cx="1813317" cy="253916"/>
          </a:xfrm>
          <a:prstGeom prst="rect">
            <a:avLst/>
          </a:prstGeom>
          <a:noFill/>
        </p:spPr>
        <p:txBody>
          <a:bodyPr wrap="none" rtlCol="0">
            <a:spAutoFit/>
          </a:bodyPr>
          <a:lstStyle/>
          <a:p>
            <a:r>
              <a:rPr lang="en-US" sz="1050" b="1" dirty="0">
                <a:solidFill>
                  <a:srgbClr val="D5952A"/>
                </a:solidFill>
              </a:rPr>
              <a:t>2000 resampled t-values</a:t>
            </a:r>
          </a:p>
        </p:txBody>
      </p:sp>
      <p:sp>
        <p:nvSpPr>
          <p:cNvPr id="35" name="Rounded Rectangle 34">
            <a:extLst>
              <a:ext uri="{FF2B5EF4-FFF2-40B4-BE49-F238E27FC236}">
                <a16:creationId xmlns:a16="http://schemas.microsoft.com/office/drawing/2014/main" id="{3D70B384-8721-1BDA-510B-7286483AF2CD}"/>
              </a:ext>
            </a:extLst>
          </p:cNvPr>
          <p:cNvSpPr/>
          <p:nvPr/>
        </p:nvSpPr>
        <p:spPr>
          <a:xfrm>
            <a:off x="242818" y="716434"/>
            <a:ext cx="5185216" cy="1997583"/>
          </a:xfrm>
          <a:prstGeom prst="roundRect">
            <a:avLst>
              <a:gd name="adj" fmla="val 3379"/>
            </a:avLst>
          </a:prstGeom>
          <a:solidFill>
            <a:schemeClr val="accent2">
              <a:lumMod val="20000"/>
              <a:lumOff val="80000"/>
            </a:schemeClr>
          </a:solidFill>
          <a:ln w="12700">
            <a:solidFill>
              <a:schemeClr val="accent5">
                <a:lumMod val="50000"/>
              </a:schemeClr>
            </a:solidFill>
          </a:ln>
        </p:spPr>
        <p:txBody>
          <a:bodyPr vertOverflow="overflow" vert="horz" wrap="square" rtlCol="0" anchor="t">
            <a:noAutofit/>
          </a:bodyPr>
          <a:lstStyle/>
          <a:p>
            <a:pPr marL="285750" indent="-285750">
              <a:spcAft>
                <a:spcPts val="200"/>
              </a:spcAft>
              <a:buFont typeface="Arial" panose="020B0604020202020204" pitchFamily="34" charset="0"/>
              <a:buChar char="•"/>
            </a:pPr>
            <a:r>
              <a:rPr lang="en-US" sz="1400" dirty="0">
                <a:solidFill>
                  <a:srgbClr val="2E3640"/>
                </a:solidFill>
                <a:latin typeface="Open Sans"/>
              </a:rPr>
              <a:t>The </a:t>
            </a:r>
            <a:r>
              <a:rPr lang="en-US" sz="1400" b="1" dirty="0">
                <a:solidFill>
                  <a:srgbClr val="2E3640"/>
                </a:solidFill>
                <a:latin typeface="Open Sans"/>
              </a:rPr>
              <a:t>null hypothesis</a:t>
            </a:r>
            <a:r>
              <a:rPr lang="en-US" sz="1400" dirty="0">
                <a:solidFill>
                  <a:srgbClr val="2E3640"/>
                </a:solidFill>
                <a:latin typeface="Open Sans"/>
              </a:rPr>
              <a:t>: "There is no relationship between x and y.”</a:t>
            </a:r>
          </a:p>
          <a:p>
            <a:pPr marL="285750" indent="-285750">
              <a:spcAft>
                <a:spcPts val="200"/>
              </a:spcAft>
              <a:buFont typeface="Arial" panose="020B0604020202020204" pitchFamily="34" charset="0"/>
              <a:buChar char="•"/>
            </a:pPr>
            <a:r>
              <a:rPr lang="en-US" sz="1400" dirty="0">
                <a:solidFill>
                  <a:srgbClr val="2E3640"/>
                </a:solidFill>
                <a:latin typeface="Open Sans"/>
              </a:rPr>
              <a:t>True </a:t>
            </a:r>
            <a:r>
              <a:rPr lang="en-US" sz="1400" b="1" dirty="0">
                <a:solidFill>
                  <a:srgbClr val="2E3640"/>
                </a:solidFill>
                <a:latin typeface="Open Sans"/>
              </a:rPr>
              <a:t>slope of zero</a:t>
            </a:r>
          </a:p>
          <a:p>
            <a:pPr marL="285750" indent="-285750">
              <a:spcAft>
                <a:spcPts val="200"/>
              </a:spcAft>
              <a:buFont typeface="Arial" panose="020B0604020202020204" pitchFamily="34" charset="0"/>
              <a:buChar char="•"/>
            </a:pPr>
            <a:r>
              <a:rPr lang="en-US" sz="1400" dirty="0">
                <a:solidFill>
                  <a:srgbClr val="2E3640"/>
                </a:solidFill>
                <a:latin typeface="Open Sans"/>
              </a:rPr>
              <a:t>In such a world, </a:t>
            </a:r>
            <a:r>
              <a:rPr lang="en-US" sz="1400" b="1" dirty="0">
                <a:solidFill>
                  <a:srgbClr val="2E3640"/>
                </a:solidFill>
                <a:latin typeface="Open Sans"/>
              </a:rPr>
              <a:t>random samples </a:t>
            </a:r>
            <a:r>
              <a:rPr lang="en-US" sz="1400" dirty="0">
                <a:solidFill>
                  <a:srgbClr val="2E3640"/>
                </a:solidFill>
                <a:latin typeface="Open Sans"/>
              </a:rPr>
              <a:t>of 8 would still produce some slope, and a corresponding t value</a:t>
            </a:r>
          </a:p>
          <a:p>
            <a:pPr marL="285750" indent="-285750">
              <a:spcAft>
                <a:spcPts val="200"/>
              </a:spcAft>
              <a:buFont typeface="Arial" panose="020B0604020202020204" pitchFamily="34" charset="0"/>
              <a:buChar char="•"/>
            </a:pPr>
            <a:r>
              <a:rPr lang="en-US" sz="1400" dirty="0">
                <a:solidFill>
                  <a:srgbClr val="2E3640"/>
                </a:solidFill>
                <a:latin typeface="Open Sans"/>
              </a:rPr>
              <a:t>Forming a </a:t>
            </a:r>
            <a:r>
              <a:rPr lang="en-US" sz="1400" b="1" dirty="0">
                <a:solidFill>
                  <a:srgbClr val="2E3640"/>
                </a:solidFill>
                <a:latin typeface="Open Sans"/>
              </a:rPr>
              <a:t>bell curve around 0</a:t>
            </a:r>
          </a:p>
          <a:p>
            <a:pPr marL="285750" indent="-285750">
              <a:spcAft>
                <a:spcPts val="200"/>
              </a:spcAft>
              <a:buFont typeface="Arial" panose="020B0604020202020204" pitchFamily="34" charset="0"/>
              <a:buChar char="•"/>
            </a:pPr>
            <a:r>
              <a:rPr lang="en-US" sz="1400" dirty="0">
                <a:solidFill>
                  <a:srgbClr val="2E3640"/>
                </a:solidFill>
                <a:latin typeface="Open Sans"/>
              </a:rPr>
              <a:t>The </a:t>
            </a:r>
            <a:r>
              <a:rPr lang="en-US" sz="1400" b="1" dirty="0">
                <a:solidFill>
                  <a:srgbClr val="2E3640"/>
                </a:solidFill>
                <a:latin typeface="Open Sans"/>
              </a:rPr>
              <a:t>null distribution </a:t>
            </a:r>
            <a:r>
              <a:rPr lang="en-US" sz="1400" dirty="0">
                <a:solidFill>
                  <a:srgbClr val="2E3640"/>
                </a:solidFill>
                <a:latin typeface="Open Sans"/>
              </a:rPr>
              <a:t>shows what t-values (signal-to-noise ratios) we'd see</a:t>
            </a:r>
          </a:p>
        </p:txBody>
      </p:sp>
      <p:pic>
        <p:nvPicPr>
          <p:cNvPr id="40" name="Picture 39">
            <a:extLst>
              <a:ext uri="{FF2B5EF4-FFF2-40B4-BE49-F238E27FC236}">
                <a16:creationId xmlns:a16="http://schemas.microsoft.com/office/drawing/2014/main" id="{2638607B-2FE5-5E57-0615-DF9985E3F4F2}"/>
              </a:ext>
            </a:extLst>
          </p:cNvPr>
          <p:cNvPicPr>
            <a:picLocks noChangeAspect="1"/>
          </p:cNvPicPr>
          <p:nvPr/>
        </p:nvPicPr>
        <p:blipFill>
          <a:blip r:embed="rId7"/>
          <a:stretch>
            <a:fillRect/>
          </a:stretch>
        </p:blipFill>
        <p:spPr>
          <a:xfrm>
            <a:off x="7313616" y="3836152"/>
            <a:ext cx="4473388" cy="2627695"/>
          </a:xfrm>
          <a:prstGeom prst="rect">
            <a:avLst/>
          </a:prstGeom>
        </p:spPr>
      </p:pic>
    </p:spTree>
    <p:extLst>
      <p:ext uri="{BB962C8B-B14F-4D97-AF65-F5344CB8AC3E}">
        <p14:creationId xmlns:p14="http://schemas.microsoft.com/office/powerpoint/2010/main" val="3286138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32" grpId="0"/>
      <p:bldP spid="3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600EB-EA79-3A3E-BC7A-49E4C3D94B4E}"/>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3E1EA99F-A55C-FA16-A38F-5C10B9F7D8D4}"/>
              </a:ext>
            </a:extLst>
          </p:cNvPr>
          <p:cNvSpPr/>
          <p:nvPr/>
        </p:nvSpPr>
        <p:spPr>
          <a:xfrm>
            <a:off x="241300" y="177800"/>
            <a:ext cx="11709400" cy="482600"/>
          </a:xfrm>
          <a:prstGeom prst="rect">
            <a:avLst/>
          </a:prstGeom>
          <a:noFill/>
          <a:ln>
            <a:noFill/>
          </a:ln>
        </p:spPr>
        <p:txBody>
          <a:bodyPr wrap="square" lIns="36000" tIns="0" rIns="36000" bIns="0" anchor="ctr"/>
          <a:lstStyle/>
          <a:p>
            <a:r>
              <a:rPr lang="en-US" sz="2000" b="1" dirty="0">
                <a:solidFill>
                  <a:srgbClr val="2E6B75"/>
                </a:solidFill>
                <a:latin typeface="Montserrat"/>
              </a:rPr>
              <a:t>From the t statistic to the p-value : Entering the </a:t>
            </a:r>
            <a:r>
              <a:rPr lang="en-US" sz="2000" b="1" dirty="0">
                <a:solidFill>
                  <a:schemeClr val="accent5">
                    <a:lumMod val="75000"/>
                  </a:schemeClr>
                </a:solidFill>
                <a:latin typeface="Montserrat"/>
              </a:rPr>
              <a:t>null world</a:t>
            </a:r>
            <a:endParaRPr lang="en-US" sz="2000" b="1" dirty="0">
              <a:solidFill>
                <a:srgbClr val="E0AF89"/>
              </a:solidFill>
              <a:latin typeface="Montserrat"/>
            </a:endParaRPr>
          </a:p>
        </p:txBody>
      </p:sp>
      <p:grpSp>
        <p:nvGrpSpPr>
          <p:cNvPr id="37" name="Group 36">
            <a:extLst>
              <a:ext uri="{FF2B5EF4-FFF2-40B4-BE49-F238E27FC236}">
                <a16:creationId xmlns:a16="http://schemas.microsoft.com/office/drawing/2014/main" id="{A006B65E-38BB-D2FC-80E7-F2107381B2FB}"/>
              </a:ext>
            </a:extLst>
          </p:cNvPr>
          <p:cNvGrpSpPr/>
          <p:nvPr/>
        </p:nvGrpSpPr>
        <p:grpSpPr>
          <a:xfrm>
            <a:off x="5828381" y="729561"/>
            <a:ext cx="2248581" cy="2113306"/>
            <a:chOff x="5828381" y="729561"/>
            <a:chExt cx="2248581" cy="2113306"/>
          </a:xfrm>
        </p:grpSpPr>
        <p:pic>
          <p:nvPicPr>
            <p:cNvPr id="2" name="Picture 1" descr="A graph with a red line&#10;&#10;AI-generated content may be incorrect.">
              <a:extLst>
                <a:ext uri="{FF2B5EF4-FFF2-40B4-BE49-F238E27FC236}">
                  <a16:creationId xmlns:a16="http://schemas.microsoft.com/office/drawing/2014/main" id="{5A38B93C-2FF1-206E-1EF3-0DEA8E7E9FFC}"/>
                </a:ext>
              </a:extLst>
            </p:cNvPr>
            <p:cNvPicPr>
              <a:picLocks noChangeAspect="1"/>
            </p:cNvPicPr>
            <p:nvPr/>
          </p:nvPicPr>
          <p:blipFill>
            <a:blip r:embed="rId3"/>
            <a:srcRect t="2139" r="2348"/>
            <a:stretch>
              <a:fillRect/>
            </a:stretch>
          </p:blipFill>
          <p:spPr>
            <a:xfrm>
              <a:off x="5894737" y="1020906"/>
              <a:ext cx="2182225" cy="18219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Rounded Rectangle 2">
              <a:extLst>
                <a:ext uri="{FF2B5EF4-FFF2-40B4-BE49-F238E27FC236}">
                  <a16:creationId xmlns:a16="http://schemas.microsoft.com/office/drawing/2014/main" id="{B15B1E15-7EF1-E901-0510-187686D0F6EE}"/>
                </a:ext>
              </a:extLst>
            </p:cNvPr>
            <p:cNvSpPr/>
            <p:nvPr/>
          </p:nvSpPr>
          <p:spPr>
            <a:xfrm>
              <a:off x="5828381" y="729561"/>
              <a:ext cx="1485235" cy="224980"/>
            </a:xfrm>
            <a:prstGeom prst="roundRect">
              <a:avLst/>
            </a:prstGeom>
            <a:solidFill>
              <a:srgbClr val="2E6B7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dirty="0">
                  <a:solidFill>
                    <a:srgbClr val="FFFFFF"/>
                  </a:solidFill>
                  <a:latin typeface="Montserrat"/>
                </a:rPr>
                <a:t>POPULATION DATA</a:t>
              </a:r>
            </a:p>
          </p:txBody>
        </p:sp>
      </p:grpSp>
      <p:pic>
        <p:nvPicPr>
          <p:cNvPr id="4" name="Picture 3">
            <a:extLst>
              <a:ext uri="{FF2B5EF4-FFF2-40B4-BE49-F238E27FC236}">
                <a16:creationId xmlns:a16="http://schemas.microsoft.com/office/drawing/2014/main" id="{25E379A2-233C-B35B-6C75-978150BA4B15}"/>
              </a:ext>
            </a:extLst>
          </p:cNvPr>
          <p:cNvPicPr>
            <a:picLocks noChangeAspect="1"/>
          </p:cNvPicPr>
          <p:nvPr/>
        </p:nvPicPr>
        <p:blipFill>
          <a:blip r:embed="rId4"/>
          <a:srcRect l="5674" t="6012" r="6995" b="5537"/>
          <a:stretch>
            <a:fillRect/>
          </a:stretch>
        </p:blipFill>
        <p:spPr>
          <a:xfrm>
            <a:off x="8972811" y="1020906"/>
            <a:ext cx="2350185" cy="18476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ounded Rectangle 5">
            <a:extLst>
              <a:ext uri="{FF2B5EF4-FFF2-40B4-BE49-F238E27FC236}">
                <a16:creationId xmlns:a16="http://schemas.microsoft.com/office/drawing/2014/main" id="{562E2856-2F3E-6FDC-CAB6-8E71D2163A04}"/>
              </a:ext>
            </a:extLst>
          </p:cNvPr>
          <p:cNvSpPr/>
          <p:nvPr/>
        </p:nvSpPr>
        <p:spPr>
          <a:xfrm>
            <a:off x="8972812" y="716434"/>
            <a:ext cx="1972714" cy="238107"/>
          </a:xfrm>
          <a:prstGeom prst="roundRect">
            <a:avLst/>
          </a:prstGeom>
          <a:solidFill>
            <a:srgbClr val="2E6B7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dirty="0">
                <a:solidFill>
                  <a:srgbClr val="FFFFFF"/>
                </a:solidFill>
                <a:latin typeface="Montserrat"/>
              </a:rPr>
              <a:t>NULL HYPOTHESIS WORLD</a:t>
            </a:r>
          </a:p>
        </p:txBody>
      </p:sp>
      <p:sp>
        <p:nvSpPr>
          <p:cNvPr id="7" name="Right Arrow 6">
            <a:extLst>
              <a:ext uri="{FF2B5EF4-FFF2-40B4-BE49-F238E27FC236}">
                <a16:creationId xmlns:a16="http://schemas.microsoft.com/office/drawing/2014/main" id="{B467E929-D036-5DBE-3393-D188537DE1D3}"/>
              </a:ext>
            </a:extLst>
          </p:cNvPr>
          <p:cNvSpPr/>
          <p:nvPr/>
        </p:nvSpPr>
        <p:spPr>
          <a:xfrm>
            <a:off x="8416308" y="1760386"/>
            <a:ext cx="311767" cy="289261"/>
          </a:xfrm>
          <a:prstGeom prst="rightArrow">
            <a:avLst>
              <a:gd name="adj1" fmla="val 30769"/>
              <a:gd name="adj2" fmla="val 442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40B47C7-EC7F-08E0-0BEE-9D4E204F33F7}"/>
              </a:ext>
            </a:extLst>
          </p:cNvPr>
          <p:cNvSpPr/>
          <p:nvPr/>
        </p:nvSpPr>
        <p:spPr>
          <a:xfrm>
            <a:off x="8171570" y="1105540"/>
            <a:ext cx="706635" cy="63686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200" dirty="0"/>
              <a:t>Flatten out the data</a:t>
            </a:r>
          </a:p>
        </p:txBody>
      </p:sp>
      <p:sp>
        <p:nvSpPr>
          <p:cNvPr id="34" name="TextBox 33">
            <a:extLst>
              <a:ext uri="{FF2B5EF4-FFF2-40B4-BE49-F238E27FC236}">
                <a16:creationId xmlns:a16="http://schemas.microsoft.com/office/drawing/2014/main" id="{7C9A46E4-C3AA-A6CE-2E54-CB1AC4814794}"/>
              </a:ext>
            </a:extLst>
          </p:cNvPr>
          <p:cNvSpPr txBox="1"/>
          <p:nvPr/>
        </p:nvSpPr>
        <p:spPr>
          <a:xfrm>
            <a:off x="8524887" y="3582236"/>
            <a:ext cx="1813317" cy="253916"/>
          </a:xfrm>
          <a:prstGeom prst="rect">
            <a:avLst/>
          </a:prstGeom>
          <a:noFill/>
        </p:spPr>
        <p:txBody>
          <a:bodyPr wrap="none" rtlCol="0">
            <a:spAutoFit/>
          </a:bodyPr>
          <a:lstStyle/>
          <a:p>
            <a:r>
              <a:rPr lang="en-US" sz="1050" b="1" dirty="0">
                <a:solidFill>
                  <a:srgbClr val="D5952A"/>
                </a:solidFill>
              </a:rPr>
              <a:t>2000 resampled t-values</a:t>
            </a:r>
          </a:p>
        </p:txBody>
      </p:sp>
      <p:sp>
        <p:nvSpPr>
          <p:cNvPr id="35" name="Rounded Rectangle 34">
            <a:extLst>
              <a:ext uri="{FF2B5EF4-FFF2-40B4-BE49-F238E27FC236}">
                <a16:creationId xmlns:a16="http://schemas.microsoft.com/office/drawing/2014/main" id="{4DCE483C-0BA3-0D11-AAEE-4270E76B9882}"/>
              </a:ext>
            </a:extLst>
          </p:cNvPr>
          <p:cNvSpPr/>
          <p:nvPr/>
        </p:nvSpPr>
        <p:spPr>
          <a:xfrm>
            <a:off x="242818" y="716434"/>
            <a:ext cx="5185216" cy="4552796"/>
          </a:xfrm>
          <a:prstGeom prst="roundRect">
            <a:avLst>
              <a:gd name="adj" fmla="val 3379"/>
            </a:avLst>
          </a:prstGeom>
          <a:solidFill>
            <a:schemeClr val="accent2">
              <a:lumMod val="20000"/>
              <a:lumOff val="80000"/>
            </a:schemeClr>
          </a:solidFill>
          <a:ln w="12700">
            <a:solidFill>
              <a:schemeClr val="accent5">
                <a:lumMod val="50000"/>
              </a:schemeClr>
            </a:solidFill>
          </a:ln>
        </p:spPr>
        <p:txBody>
          <a:bodyPr vertOverflow="overflow" vert="horz" wrap="square" rtlCol="0" anchor="t">
            <a:noAutofit/>
          </a:bodyPr>
          <a:lstStyle/>
          <a:p>
            <a:pPr marL="285750" indent="-285750">
              <a:spcAft>
                <a:spcPts val="200"/>
              </a:spcAft>
              <a:buFont typeface="Arial" panose="020B0604020202020204" pitchFamily="34" charset="0"/>
              <a:buChar char="•"/>
            </a:pPr>
            <a:r>
              <a:rPr lang="en-US" sz="1400" dirty="0">
                <a:solidFill>
                  <a:srgbClr val="2E3640"/>
                </a:solidFill>
                <a:latin typeface="Open Sans"/>
              </a:rPr>
              <a:t>The </a:t>
            </a:r>
            <a:r>
              <a:rPr lang="en-US" sz="1400" b="1" dirty="0">
                <a:solidFill>
                  <a:srgbClr val="2E3640"/>
                </a:solidFill>
                <a:latin typeface="Open Sans"/>
              </a:rPr>
              <a:t>null hypothesis</a:t>
            </a:r>
            <a:r>
              <a:rPr lang="en-US" sz="1400" dirty="0">
                <a:solidFill>
                  <a:srgbClr val="2E3640"/>
                </a:solidFill>
                <a:latin typeface="Open Sans"/>
              </a:rPr>
              <a:t>: "There is no relationship between x and y.”</a:t>
            </a:r>
          </a:p>
          <a:p>
            <a:pPr marL="285750" indent="-285750">
              <a:spcAft>
                <a:spcPts val="200"/>
              </a:spcAft>
              <a:buFont typeface="Arial" panose="020B0604020202020204" pitchFamily="34" charset="0"/>
              <a:buChar char="•"/>
            </a:pPr>
            <a:r>
              <a:rPr lang="en-US" sz="1400" dirty="0">
                <a:solidFill>
                  <a:srgbClr val="2E3640"/>
                </a:solidFill>
                <a:latin typeface="Open Sans"/>
              </a:rPr>
              <a:t>True </a:t>
            </a:r>
            <a:r>
              <a:rPr lang="en-US" sz="1400" b="1" dirty="0">
                <a:solidFill>
                  <a:srgbClr val="2E3640"/>
                </a:solidFill>
                <a:latin typeface="Open Sans"/>
              </a:rPr>
              <a:t>slope of zero</a:t>
            </a:r>
          </a:p>
          <a:p>
            <a:pPr marL="285750" indent="-285750">
              <a:spcAft>
                <a:spcPts val="200"/>
              </a:spcAft>
              <a:buFont typeface="Arial" panose="020B0604020202020204" pitchFamily="34" charset="0"/>
              <a:buChar char="•"/>
            </a:pPr>
            <a:r>
              <a:rPr lang="en-US" sz="1400" dirty="0">
                <a:solidFill>
                  <a:srgbClr val="2E3640"/>
                </a:solidFill>
                <a:latin typeface="Open Sans"/>
              </a:rPr>
              <a:t>In such a world, </a:t>
            </a:r>
            <a:r>
              <a:rPr lang="en-US" sz="1400" b="1" dirty="0">
                <a:solidFill>
                  <a:srgbClr val="2E3640"/>
                </a:solidFill>
                <a:latin typeface="Open Sans"/>
              </a:rPr>
              <a:t>random samples </a:t>
            </a:r>
            <a:r>
              <a:rPr lang="en-US" sz="1400" dirty="0">
                <a:solidFill>
                  <a:srgbClr val="2E3640"/>
                </a:solidFill>
                <a:latin typeface="Open Sans"/>
              </a:rPr>
              <a:t>of 8 would still produce some slope, and a corresponding t value</a:t>
            </a:r>
          </a:p>
          <a:p>
            <a:pPr marL="285750" indent="-285750">
              <a:spcAft>
                <a:spcPts val="200"/>
              </a:spcAft>
              <a:buFont typeface="Arial" panose="020B0604020202020204" pitchFamily="34" charset="0"/>
              <a:buChar char="•"/>
            </a:pPr>
            <a:r>
              <a:rPr lang="en-US" sz="1400" dirty="0">
                <a:solidFill>
                  <a:srgbClr val="2E3640"/>
                </a:solidFill>
                <a:latin typeface="Open Sans"/>
              </a:rPr>
              <a:t>Forming a </a:t>
            </a:r>
            <a:r>
              <a:rPr lang="en-US" sz="1400" b="1" dirty="0">
                <a:solidFill>
                  <a:srgbClr val="2E3640"/>
                </a:solidFill>
                <a:latin typeface="Open Sans"/>
              </a:rPr>
              <a:t>bell curve around 0</a:t>
            </a:r>
          </a:p>
          <a:p>
            <a:pPr marL="285750" indent="-285750">
              <a:spcAft>
                <a:spcPts val="200"/>
              </a:spcAft>
              <a:buFont typeface="Arial" panose="020B0604020202020204" pitchFamily="34" charset="0"/>
              <a:buChar char="•"/>
            </a:pPr>
            <a:r>
              <a:rPr lang="en-US" sz="1400" dirty="0">
                <a:solidFill>
                  <a:srgbClr val="2E3640"/>
                </a:solidFill>
                <a:latin typeface="Open Sans"/>
              </a:rPr>
              <a:t>The </a:t>
            </a:r>
            <a:r>
              <a:rPr lang="en-US" sz="1400" b="1" dirty="0">
                <a:solidFill>
                  <a:srgbClr val="2E3640"/>
                </a:solidFill>
                <a:latin typeface="Open Sans"/>
              </a:rPr>
              <a:t>null distribution </a:t>
            </a:r>
            <a:r>
              <a:rPr lang="en-US" sz="1400" dirty="0">
                <a:solidFill>
                  <a:srgbClr val="2E3640"/>
                </a:solidFill>
                <a:latin typeface="Open Sans"/>
              </a:rPr>
              <a:t>shows what t-values (signal-to-noise ratios) we'd see</a:t>
            </a:r>
          </a:p>
          <a:p>
            <a:pPr marL="285750" indent="-285750">
              <a:spcAft>
                <a:spcPts val="200"/>
              </a:spcAft>
              <a:buFont typeface="Arial" panose="020B0604020202020204" pitchFamily="34" charset="0"/>
              <a:buChar char="•"/>
            </a:pPr>
            <a:r>
              <a:rPr lang="en-US" sz="1400" b="1" dirty="0">
                <a:solidFill>
                  <a:srgbClr val="2E3640"/>
                </a:solidFill>
                <a:latin typeface="Open Sans"/>
              </a:rPr>
              <a:t>P-value: </a:t>
            </a:r>
            <a:r>
              <a:rPr lang="en-US" sz="1400" dirty="0">
                <a:solidFill>
                  <a:srgbClr val="2E3640"/>
                </a:solidFill>
                <a:latin typeface="Open Sans"/>
              </a:rPr>
              <a:t>in this world, how often would we get a t-value as extreme as 3.26?</a:t>
            </a:r>
          </a:p>
          <a:p>
            <a:pPr marL="285750" indent="-285750">
              <a:spcAft>
                <a:spcPts val="200"/>
              </a:spcAft>
              <a:buFont typeface="Arial" panose="020B0604020202020204" pitchFamily="34" charset="0"/>
              <a:buChar char="•"/>
            </a:pPr>
            <a:r>
              <a:rPr lang="en-US" sz="1400" b="1" dirty="0">
                <a:solidFill>
                  <a:srgbClr val="2E3640"/>
                </a:solidFill>
                <a:latin typeface="Open Sans"/>
              </a:rPr>
              <a:t>Simulation answer</a:t>
            </a:r>
            <a:r>
              <a:rPr lang="en-US" sz="1400" dirty="0">
                <a:solidFill>
                  <a:srgbClr val="2E3640"/>
                </a:solidFill>
                <a:latin typeface="Open Sans"/>
              </a:rPr>
              <a:t>: 41 out of 2,000 samples (~2%)</a:t>
            </a:r>
          </a:p>
          <a:p>
            <a:pPr marL="285750" indent="-285750">
              <a:spcAft>
                <a:spcPts val="200"/>
              </a:spcAft>
              <a:buFont typeface="Arial" panose="020B0604020202020204" pitchFamily="34" charset="0"/>
              <a:buChar char="•"/>
            </a:pPr>
            <a:r>
              <a:rPr lang="en-US" sz="1400" b="1" dirty="0">
                <a:solidFill>
                  <a:srgbClr val="2E3640"/>
                </a:solidFill>
                <a:latin typeface="Open Sans"/>
              </a:rPr>
              <a:t>Theoretical answer (how it’s actually done)</a:t>
            </a:r>
            <a:r>
              <a:rPr lang="en-US" sz="1400" dirty="0">
                <a:solidFill>
                  <a:srgbClr val="2E3640"/>
                </a:solidFill>
                <a:latin typeface="Open Sans"/>
              </a:rPr>
              <a:t>: using a t-distribution with </a:t>
            </a:r>
            <a:r>
              <a:rPr lang="en-US" sz="1400" dirty="0" err="1">
                <a:solidFill>
                  <a:srgbClr val="2E3640"/>
                </a:solidFill>
                <a:latin typeface="Open Sans"/>
              </a:rPr>
              <a:t>df</a:t>
            </a:r>
            <a:r>
              <a:rPr lang="en-US" sz="1400" dirty="0">
                <a:solidFill>
                  <a:srgbClr val="2E3640"/>
                </a:solidFill>
                <a:latin typeface="Open Sans"/>
              </a:rPr>
              <a:t> = n - 2 = 6, we get p = 0.0172 (1.7%)</a:t>
            </a:r>
          </a:p>
          <a:p>
            <a:pPr marL="742950" lvl="1" indent="-285750">
              <a:spcAft>
                <a:spcPts val="200"/>
              </a:spcAft>
              <a:buFont typeface="Arial" panose="020B0604020202020204" pitchFamily="34" charset="0"/>
              <a:buChar char="•"/>
            </a:pPr>
            <a:r>
              <a:rPr lang="en-US" sz="1400" dirty="0">
                <a:solidFill>
                  <a:srgbClr val="2E3640"/>
                </a:solidFill>
                <a:latin typeface="Open Sans"/>
              </a:rPr>
              <a:t>T to p conversion depends on </a:t>
            </a:r>
            <a:r>
              <a:rPr lang="en-US" sz="1400" dirty="0" err="1">
                <a:solidFill>
                  <a:srgbClr val="2E3640"/>
                </a:solidFill>
                <a:latin typeface="Open Sans"/>
              </a:rPr>
              <a:t>df</a:t>
            </a:r>
            <a:r>
              <a:rPr lang="en-US" sz="1400" dirty="0">
                <a:solidFill>
                  <a:srgbClr val="2E3640"/>
                </a:solidFill>
                <a:latin typeface="Open Sans"/>
              </a:rPr>
              <a:t>. Software handles this. Roughly, |</a:t>
            </a:r>
            <a:r>
              <a:rPr lang="en-US" sz="1400" dirty="0" err="1">
                <a:solidFill>
                  <a:srgbClr val="2E3640"/>
                </a:solidFill>
                <a:latin typeface="Open Sans"/>
              </a:rPr>
              <a:t>t|statistic</a:t>
            </a:r>
            <a:r>
              <a:rPr lang="en-US" sz="1400" dirty="0">
                <a:solidFill>
                  <a:srgbClr val="2E3640"/>
                </a:solidFill>
                <a:latin typeface="Open Sans"/>
              </a:rPr>
              <a:t> above 2 ≃ p-value below 0.05 for samples &gt; 30</a:t>
            </a:r>
          </a:p>
          <a:p>
            <a:pPr marL="285750" indent="-285750">
              <a:spcAft>
                <a:spcPts val="200"/>
              </a:spcAft>
              <a:buFont typeface="Arial" panose="020B0604020202020204" pitchFamily="34" charset="0"/>
              <a:buChar char="•"/>
            </a:pPr>
            <a:r>
              <a:rPr lang="en-GB" sz="1400" b="1" dirty="0"/>
              <a:t>Conclusion:</a:t>
            </a:r>
            <a:r>
              <a:rPr lang="en-GB" sz="1400" dirty="0"/>
              <a:t> the "no relationship" world is not a good explanation of our data. We reject the null hypothesis.</a:t>
            </a:r>
            <a:endParaRPr lang="en-US" sz="1400" dirty="0">
              <a:solidFill>
                <a:srgbClr val="2E3640"/>
              </a:solidFill>
              <a:latin typeface="Open Sans"/>
            </a:endParaRPr>
          </a:p>
        </p:txBody>
      </p:sp>
      <p:pic>
        <p:nvPicPr>
          <p:cNvPr id="40" name="Picture 39">
            <a:extLst>
              <a:ext uri="{FF2B5EF4-FFF2-40B4-BE49-F238E27FC236}">
                <a16:creationId xmlns:a16="http://schemas.microsoft.com/office/drawing/2014/main" id="{685623E5-3EBC-B6DD-C705-A40A8A55F82A}"/>
              </a:ext>
            </a:extLst>
          </p:cNvPr>
          <p:cNvPicPr>
            <a:picLocks noChangeAspect="1"/>
          </p:cNvPicPr>
          <p:nvPr/>
        </p:nvPicPr>
        <p:blipFill>
          <a:blip r:embed="rId5"/>
          <a:stretch>
            <a:fillRect/>
          </a:stretch>
        </p:blipFill>
        <p:spPr>
          <a:xfrm>
            <a:off x="7313616" y="3836152"/>
            <a:ext cx="4473388" cy="2627695"/>
          </a:xfrm>
          <a:prstGeom prst="rect">
            <a:avLst/>
          </a:prstGeom>
        </p:spPr>
      </p:pic>
      <p:pic>
        <p:nvPicPr>
          <p:cNvPr id="15" name="Picture 14">
            <a:extLst>
              <a:ext uri="{FF2B5EF4-FFF2-40B4-BE49-F238E27FC236}">
                <a16:creationId xmlns:a16="http://schemas.microsoft.com/office/drawing/2014/main" id="{480ED463-EA4A-EF84-12BE-A30DB3128DB3}"/>
              </a:ext>
            </a:extLst>
          </p:cNvPr>
          <p:cNvPicPr>
            <a:picLocks noChangeAspect="1"/>
          </p:cNvPicPr>
          <p:nvPr/>
        </p:nvPicPr>
        <p:blipFill>
          <a:blip r:embed="rId6"/>
          <a:stretch>
            <a:fillRect/>
          </a:stretch>
        </p:blipFill>
        <p:spPr>
          <a:xfrm>
            <a:off x="7313616" y="3839435"/>
            <a:ext cx="4473388" cy="2627696"/>
          </a:xfrm>
          <a:prstGeom prst="rect">
            <a:avLst/>
          </a:prstGeom>
        </p:spPr>
      </p:pic>
      <p:pic>
        <p:nvPicPr>
          <p:cNvPr id="17" name="Picture 16">
            <a:extLst>
              <a:ext uri="{FF2B5EF4-FFF2-40B4-BE49-F238E27FC236}">
                <a16:creationId xmlns:a16="http://schemas.microsoft.com/office/drawing/2014/main" id="{3253C2F3-75B9-C05B-F569-DBC0F0AC19BD}"/>
              </a:ext>
            </a:extLst>
          </p:cNvPr>
          <p:cNvPicPr>
            <a:picLocks noChangeAspect="1"/>
          </p:cNvPicPr>
          <p:nvPr/>
        </p:nvPicPr>
        <p:blipFill>
          <a:blip r:embed="rId7"/>
          <a:stretch>
            <a:fillRect/>
          </a:stretch>
        </p:blipFill>
        <p:spPr>
          <a:xfrm>
            <a:off x="5273687" y="5366709"/>
            <a:ext cx="1097138" cy="1097138"/>
          </a:xfrm>
          <a:prstGeom prst="rect">
            <a:avLst/>
          </a:prstGeom>
        </p:spPr>
      </p:pic>
    </p:spTree>
    <p:extLst>
      <p:ext uri="{BB962C8B-B14F-4D97-AF65-F5344CB8AC3E}">
        <p14:creationId xmlns:p14="http://schemas.microsoft.com/office/powerpoint/2010/main" val="4163926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D7AB8-E249-98AB-D767-A4E931BC2DD6}"/>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46EB6781-F4CC-382A-690B-274B35B79FF2}"/>
              </a:ext>
            </a:extLst>
          </p:cNvPr>
          <p:cNvSpPr/>
          <p:nvPr/>
        </p:nvSpPr>
        <p:spPr>
          <a:xfrm>
            <a:off x="241300" y="177800"/>
            <a:ext cx="11709400" cy="482600"/>
          </a:xfrm>
          <a:prstGeom prst="rect">
            <a:avLst/>
          </a:prstGeom>
          <a:noFill/>
          <a:ln>
            <a:noFill/>
          </a:ln>
        </p:spPr>
        <p:txBody>
          <a:bodyPr wrap="square" lIns="36000" tIns="0" rIns="36000" bIns="0" anchor="ctr"/>
          <a:lstStyle/>
          <a:p>
            <a:pPr algn="l"/>
            <a:r>
              <a:rPr lang="en-US" sz="2000" b="1" dirty="0">
                <a:solidFill>
                  <a:srgbClr val="2E6B75"/>
                </a:solidFill>
                <a:latin typeface="Montserrat"/>
              </a:rPr>
              <a:t>From the t statistic to the p-value : Entering the </a:t>
            </a:r>
            <a:r>
              <a:rPr lang="en-US" sz="2000" b="1" dirty="0">
                <a:solidFill>
                  <a:schemeClr val="accent5">
                    <a:lumMod val="75000"/>
                  </a:schemeClr>
                </a:solidFill>
                <a:latin typeface="Montserrat"/>
              </a:rPr>
              <a:t>null world</a:t>
            </a:r>
          </a:p>
        </p:txBody>
      </p:sp>
      <p:sp>
        <p:nvSpPr>
          <p:cNvPr id="5" name="Bell">
            <a:extLst>
              <a:ext uri="{FF2B5EF4-FFF2-40B4-BE49-F238E27FC236}">
                <a16:creationId xmlns:a16="http://schemas.microsoft.com/office/drawing/2014/main" id="{B1E1239C-D279-E8C8-72EE-33C37A42055C}"/>
              </a:ext>
            </a:extLst>
          </p:cNvPr>
          <p:cNvSpPr/>
          <p:nvPr/>
        </p:nvSpPr>
        <p:spPr>
          <a:xfrm>
            <a:off x="3528509" y="4343194"/>
            <a:ext cx="6519132" cy="1274366"/>
          </a:xfrm>
          <a:custGeom>
            <a:avLst/>
            <a:gdLst/>
            <a:ahLst/>
            <a:cxnLst/>
            <a:rect l="0" t="0" r="7033846" b="2540000"/>
            <a:pathLst>
              <a:path w="7033846" h="2540000">
                <a:moveTo>
                  <a:pt x="0" y="2538235"/>
                </a:moveTo>
                <a:lnTo>
                  <a:pt x="117231" y="2537157"/>
                </a:lnTo>
                <a:lnTo>
                  <a:pt x="234462" y="2535493"/>
                </a:lnTo>
                <a:lnTo>
                  <a:pt x="351693" y="2532972"/>
                </a:lnTo>
                <a:lnTo>
                  <a:pt x="468923" y="2529215"/>
                </a:lnTo>
                <a:lnTo>
                  <a:pt x="586154" y="2523716"/>
                </a:lnTo>
                <a:lnTo>
                  <a:pt x="703385" y="2515806"/>
                </a:lnTo>
                <a:lnTo>
                  <a:pt x="820616" y="2504631"/>
                </a:lnTo>
                <a:lnTo>
                  <a:pt x="937846" y="2489123"/>
                </a:lnTo>
                <a:lnTo>
                  <a:pt x="1055077" y="2467988"/>
                </a:lnTo>
                <a:lnTo>
                  <a:pt x="1172308" y="2439708"/>
                </a:lnTo>
                <a:lnTo>
                  <a:pt x="1289539" y="2402559"/>
                </a:lnTo>
                <a:lnTo>
                  <a:pt x="1406769" y="2354670"/>
                </a:lnTo>
                <a:lnTo>
                  <a:pt x="1524000" y="2294101"/>
                </a:lnTo>
                <a:lnTo>
                  <a:pt x="1641231" y="2218966"/>
                </a:lnTo>
                <a:lnTo>
                  <a:pt x="1758462" y="2127591"/>
                </a:lnTo>
                <a:lnTo>
                  <a:pt x="1875693" y="2018702"/>
                </a:lnTo>
                <a:lnTo>
                  <a:pt x="1992923" y="1891624"/>
                </a:lnTo>
                <a:lnTo>
                  <a:pt x="2110154" y="1746494"/>
                </a:lnTo>
                <a:lnTo>
                  <a:pt x="2227385" y="1584446"/>
                </a:lnTo>
                <a:lnTo>
                  <a:pt x="2344616" y="1407750"/>
                </a:lnTo>
                <a:lnTo>
                  <a:pt x="2461846" y="1219885"/>
                </a:lnTo>
                <a:lnTo>
                  <a:pt x="2579077" y="1025521"/>
                </a:lnTo>
                <a:lnTo>
                  <a:pt x="2696308" y="830391"/>
                </a:lnTo>
                <a:lnTo>
                  <a:pt x="2813539" y="641053"/>
                </a:lnTo>
                <a:lnTo>
                  <a:pt x="2930769" y="464557"/>
                </a:lnTo>
                <a:lnTo>
                  <a:pt x="3048000" y="308016"/>
                </a:lnTo>
                <a:lnTo>
                  <a:pt x="3165231" y="178144"/>
                </a:lnTo>
                <a:lnTo>
                  <a:pt x="3282462" y="80776"/>
                </a:lnTo>
                <a:lnTo>
                  <a:pt x="3399693" y="20439"/>
                </a:lnTo>
                <a:lnTo>
                  <a:pt x="3516923" y="0"/>
                </a:lnTo>
                <a:lnTo>
                  <a:pt x="3634154" y="20439"/>
                </a:lnTo>
                <a:lnTo>
                  <a:pt x="3751385" y="80776"/>
                </a:lnTo>
                <a:lnTo>
                  <a:pt x="3868616" y="178144"/>
                </a:lnTo>
                <a:lnTo>
                  <a:pt x="3985846" y="308016"/>
                </a:lnTo>
                <a:lnTo>
                  <a:pt x="4103077" y="464557"/>
                </a:lnTo>
                <a:lnTo>
                  <a:pt x="4220308" y="641053"/>
                </a:lnTo>
                <a:lnTo>
                  <a:pt x="4337539" y="830391"/>
                </a:lnTo>
                <a:lnTo>
                  <a:pt x="4454769" y="1025521"/>
                </a:lnTo>
                <a:lnTo>
                  <a:pt x="4572000" y="1219885"/>
                </a:lnTo>
                <a:lnTo>
                  <a:pt x="4689231" y="1407750"/>
                </a:lnTo>
                <a:lnTo>
                  <a:pt x="4806462" y="1584446"/>
                </a:lnTo>
                <a:lnTo>
                  <a:pt x="4923693" y="1746494"/>
                </a:lnTo>
                <a:lnTo>
                  <a:pt x="5040923" y="1891624"/>
                </a:lnTo>
                <a:lnTo>
                  <a:pt x="5158154" y="2018702"/>
                </a:lnTo>
                <a:lnTo>
                  <a:pt x="5275385" y="2127591"/>
                </a:lnTo>
                <a:lnTo>
                  <a:pt x="5392616" y="2218966"/>
                </a:lnTo>
                <a:lnTo>
                  <a:pt x="5509846" y="2294101"/>
                </a:lnTo>
                <a:lnTo>
                  <a:pt x="5627077" y="2354670"/>
                </a:lnTo>
                <a:lnTo>
                  <a:pt x="5744308" y="2402559"/>
                </a:lnTo>
                <a:lnTo>
                  <a:pt x="5861539" y="2439708"/>
                </a:lnTo>
                <a:lnTo>
                  <a:pt x="5978769" y="2467988"/>
                </a:lnTo>
                <a:lnTo>
                  <a:pt x="6096000" y="2489123"/>
                </a:lnTo>
                <a:lnTo>
                  <a:pt x="6213231" y="2504631"/>
                </a:lnTo>
                <a:lnTo>
                  <a:pt x="6330462" y="2515806"/>
                </a:lnTo>
                <a:lnTo>
                  <a:pt x="6447693" y="2523716"/>
                </a:lnTo>
                <a:lnTo>
                  <a:pt x="6564923" y="2529215"/>
                </a:lnTo>
                <a:lnTo>
                  <a:pt x="6682154" y="2532972"/>
                </a:lnTo>
                <a:lnTo>
                  <a:pt x="6799385" y="2535493"/>
                </a:lnTo>
                <a:lnTo>
                  <a:pt x="6916616" y="2537157"/>
                </a:lnTo>
                <a:lnTo>
                  <a:pt x="7033846" y="2538235"/>
                </a:lnTo>
                <a:lnTo>
                  <a:pt x="7033846" y="2540000"/>
                </a:lnTo>
                <a:lnTo>
                  <a:pt x="0" y="2540000"/>
                </a:lnTo>
                <a:close/>
              </a:path>
            </a:pathLst>
          </a:custGeom>
          <a:solidFill>
            <a:srgbClr val="F5C451">
              <a:alpha val="20000"/>
            </a:srgbClr>
          </a:solidFill>
          <a:ln w="3175" cap="rnd">
            <a:solidFill>
              <a:srgbClr val="F5C451"/>
            </a:solidFill>
          </a:ln>
        </p:spPr>
        <p:txBody>
          <a:bodyPr/>
          <a:lstStyle/>
          <a:p>
            <a:endParaRPr lang="en-US" dirty="0"/>
          </a:p>
        </p:txBody>
      </p:sp>
      <p:sp>
        <p:nvSpPr>
          <p:cNvPr id="24" name="Right Triangle 23">
            <a:extLst>
              <a:ext uri="{FF2B5EF4-FFF2-40B4-BE49-F238E27FC236}">
                <a16:creationId xmlns:a16="http://schemas.microsoft.com/office/drawing/2014/main" id="{EB95FB3F-3AF1-CFC9-DC44-06C6A663BC85}"/>
              </a:ext>
            </a:extLst>
          </p:cNvPr>
          <p:cNvSpPr/>
          <p:nvPr/>
        </p:nvSpPr>
        <p:spPr>
          <a:xfrm flipH="1">
            <a:off x="3900301" y="5561181"/>
            <a:ext cx="911961" cy="51854"/>
          </a:xfrm>
          <a:prstGeom prst="rtTriangle">
            <a:avLst/>
          </a:prstGeom>
          <a:solidFill>
            <a:schemeClr val="accent5">
              <a:lumMod val="50000"/>
              <a:alpha val="60000"/>
            </a:scheme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89" name="NL6">
            <a:extLst>
              <a:ext uri="{FF2B5EF4-FFF2-40B4-BE49-F238E27FC236}">
                <a16:creationId xmlns:a16="http://schemas.microsoft.com/office/drawing/2014/main" id="{9F86DC9F-1594-4B80-0EE1-5FD816104A97}"/>
              </a:ext>
            </a:extLst>
          </p:cNvPr>
          <p:cNvSpPr/>
          <p:nvPr/>
        </p:nvSpPr>
        <p:spPr>
          <a:xfrm>
            <a:off x="6755305" y="5626035"/>
            <a:ext cx="4755374" cy="0"/>
          </a:xfrm>
          <a:prstGeom prst="line">
            <a:avLst/>
          </a:prstGeom>
          <a:ln w="15875">
            <a:solidFill>
              <a:srgbClr val="2E3640"/>
            </a:solidFill>
          </a:ln>
        </p:spPr>
        <p:txBody>
          <a:bodyPr/>
          <a:lstStyle/>
          <a:p>
            <a:endParaRPr lang="en-US" sz="2000"/>
          </a:p>
        </p:txBody>
      </p:sp>
      <p:sp>
        <p:nvSpPr>
          <p:cNvPr id="3090" name="NL6Tk0">
            <a:extLst>
              <a:ext uri="{FF2B5EF4-FFF2-40B4-BE49-F238E27FC236}">
                <a16:creationId xmlns:a16="http://schemas.microsoft.com/office/drawing/2014/main" id="{1E820564-5814-3C25-6AA4-91D409408D5C}"/>
              </a:ext>
            </a:extLst>
          </p:cNvPr>
          <p:cNvSpPr/>
          <p:nvPr/>
        </p:nvSpPr>
        <p:spPr>
          <a:xfrm>
            <a:off x="6761951" y="5556109"/>
            <a:ext cx="0" cy="139852"/>
          </a:xfrm>
          <a:prstGeom prst="line">
            <a:avLst/>
          </a:prstGeom>
          <a:ln w="12700">
            <a:solidFill>
              <a:srgbClr val="2E3640"/>
            </a:solidFill>
          </a:ln>
        </p:spPr>
        <p:txBody>
          <a:bodyPr/>
          <a:lstStyle/>
          <a:p>
            <a:endParaRPr lang="en-US" sz="2000"/>
          </a:p>
        </p:txBody>
      </p:sp>
      <p:sp>
        <p:nvSpPr>
          <p:cNvPr id="3091" name="NL6TL0">
            <a:extLst>
              <a:ext uri="{FF2B5EF4-FFF2-40B4-BE49-F238E27FC236}">
                <a16:creationId xmlns:a16="http://schemas.microsoft.com/office/drawing/2014/main" id="{34A640D7-51F1-F284-B48E-F003003C061A}"/>
              </a:ext>
            </a:extLst>
          </p:cNvPr>
          <p:cNvSpPr/>
          <p:nvPr/>
        </p:nvSpPr>
        <p:spPr>
          <a:xfrm>
            <a:off x="6564558"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0.0</a:t>
            </a:r>
          </a:p>
        </p:txBody>
      </p:sp>
      <p:sp>
        <p:nvSpPr>
          <p:cNvPr id="3092" name="NL6Tk0.1">
            <a:extLst>
              <a:ext uri="{FF2B5EF4-FFF2-40B4-BE49-F238E27FC236}">
                <a16:creationId xmlns:a16="http://schemas.microsoft.com/office/drawing/2014/main" id="{C6B7182C-75A4-F356-8BBD-8278F58C4E58}"/>
              </a:ext>
            </a:extLst>
          </p:cNvPr>
          <p:cNvSpPr/>
          <p:nvPr/>
        </p:nvSpPr>
        <p:spPr>
          <a:xfrm>
            <a:off x="7349727" y="5591072"/>
            <a:ext cx="0" cy="69925"/>
          </a:xfrm>
          <a:prstGeom prst="line">
            <a:avLst/>
          </a:prstGeom>
          <a:ln w="12700">
            <a:solidFill>
              <a:srgbClr val="2E3640"/>
            </a:solidFill>
          </a:ln>
        </p:spPr>
        <p:txBody>
          <a:bodyPr/>
          <a:lstStyle/>
          <a:p>
            <a:endParaRPr lang="en-US" sz="2000"/>
          </a:p>
        </p:txBody>
      </p:sp>
      <p:sp>
        <p:nvSpPr>
          <p:cNvPr id="3093" name="NL6Tk0.2">
            <a:extLst>
              <a:ext uri="{FF2B5EF4-FFF2-40B4-BE49-F238E27FC236}">
                <a16:creationId xmlns:a16="http://schemas.microsoft.com/office/drawing/2014/main" id="{1B80E179-5B4A-5D2C-0724-48D0F3F53F20}"/>
              </a:ext>
            </a:extLst>
          </p:cNvPr>
          <p:cNvSpPr/>
          <p:nvPr/>
        </p:nvSpPr>
        <p:spPr>
          <a:xfrm>
            <a:off x="7944149" y="5556109"/>
            <a:ext cx="0" cy="139852"/>
          </a:xfrm>
          <a:prstGeom prst="line">
            <a:avLst/>
          </a:prstGeom>
          <a:ln w="12700">
            <a:solidFill>
              <a:srgbClr val="2E3640"/>
            </a:solidFill>
          </a:ln>
        </p:spPr>
        <p:txBody>
          <a:bodyPr/>
          <a:lstStyle/>
          <a:p>
            <a:endParaRPr lang="en-US" sz="2000"/>
          </a:p>
        </p:txBody>
      </p:sp>
      <p:sp>
        <p:nvSpPr>
          <p:cNvPr id="3094" name="NL6TL0.2">
            <a:extLst>
              <a:ext uri="{FF2B5EF4-FFF2-40B4-BE49-F238E27FC236}">
                <a16:creationId xmlns:a16="http://schemas.microsoft.com/office/drawing/2014/main" id="{48DD9E57-571A-B7BC-4CE1-C2C4818BD37D}"/>
              </a:ext>
            </a:extLst>
          </p:cNvPr>
          <p:cNvSpPr/>
          <p:nvPr/>
        </p:nvSpPr>
        <p:spPr>
          <a:xfrm>
            <a:off x="7746756"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0.2</a:t>
            </a:r>
          </a:p>
        </p:txBody>
      </p:sp>
      <p:sp>
        <p:nvSpPr>
          <p:cNvPr id="3095" name="NL6Tk0.3">
            <a:extLst>
              <a:ext uri="{FF2B5EF4-FFF2-40B4-BE49-F238E27FC236}">
                <a16:creationId xmlns:a16="http://schemas.microsoft.com/office/drawing/2014/main" id="{A9586280-9E8E-66B5-4333-620710FC56C0}"/>
              </a:ext>
            </a:extLst>
          </p:cNvPr>
          <p:cNvSpPr/>
          <p:nvPr/>
        </p:nvSpPr>
        <p:spPr>
          <a:xfrm>
            <a:off x="8538570" y="5591072"/>
            <a:ext cx="0" cy="69925"/>
          </a:xfrm>
          <a:prstGeom prst="line">
            <a:avLst/>
          </a:prstGeom>
          <a:ln w="12700">
            <a:solidFill>
              <a:srgbClr val="2E3640"/>
            </a:solidFill>
          </a:ln>
        </p:spPr>
        <p:txBody>
          <a:bodyPr/>
          <a:lstStyle/>
          <a:p>
            <a:endParaRPr lang="en-US" sz="2000"/>
          </a:p>
        </p:txBody>
      </p:sp>
      <p:sp>
        <p:nvSpPr>
          <p:cNvPr id="3096" name="NL6Tk0.4">
            <a:extLst>
              <a:ext uri="{FF2B5EF4-FFF2-40B4-BE49-F238E27FC236}">
                <a16:creationId xmlns:a16="http://schemas.microsoft.com/office/drawing/2014/main" id="{67453A4F-63B6-E9B5-DE8F-59732C6B94E0}"/>
              </a:ext>
            </a:extLst>
          </p:cNvPr>
          <p:cNvSpPr/>
          <p:nvPr/>
        </p:nvSpPr>
        <p:spPr>
          <a:xfrm>
            <a:off x="9132993" y="5556109"/>
            <a:ext cx="0" cy="139852"/>
          </a:xfrm>
          <a:prstGeom prst="line">
            <a:avLst/>
          </a:prstGeom>
          <a:ln w="12700">
            <a:solidFill>
              <a:srgbClr val="2E3640"/>
            </a:solidFill>
          </a:ln>
        </p:spPr>
        <p:txBody>
          <a:bodyPr/>
          <a:lstStyle/>
          <a:p>
            <a:endParaRPr lang="en-US" sz="2000"/>
          </a:p>
        </p:txBody>
      </p:sp>
      <p:sp>
        <p:nvSpPr>
          <p:cNvPr id="3097" name="NL6TL0.4">
            <a:extLst>
              <a:ext uri="{FF2B5EF4-FFF2-40B4-BE49-F238E27FC236}">
                <a16:creationId xmlns:a16="http://schemas.microsoft.com/office/drawing/2014/main" id="{3CD5E812-4B07-071C-1B21-F08E69758392}"/>
              </a:ext>
            </a:extLst>
          </p:cNvPr>
          <p:cNvSpPr/>
          <p:nvPr/>
        </p:nvSpPr>
        <p:spPr>
          <a:xfrm>
            <a:off x="8935599"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0.4</a:t>
            </a:r>
          </a:p>
        </p:txBody>
      </p:sp>
      <p:sp>
        <p:nvSpPr>
          <p:cNvPr id="3098" name="NL6Tk0.5">
            <a:extLst>
              <a:ext uri="{FF2B5EF4-FFF2-40B4-BE49-F238E27FC236}">
                <a16:creationId xmlns:a16="http://schemas.microsoft.com/office/drawing/2014/main" id="{16CBBCE3-FC80-0893-9E83-349A62CAC675}"/>
              </a:ext>
            </a:extLst>
          </p:cNvPr>
          <p:cNvSpPr/>
          <p:nvPr/>
        </p:nvSpPr>
        <p:spPr>
          <a:xfrm>
            <a:off x="9727414" y="5591072"/>
            <a:ext cx="0" cy="69925"/>
          </a:xfrm>
          <a:prstGeom prst="line">
            <a:avLst/>
          </a:prstGeom>
          <a:ln w="12700">
            <a:solidFill>
              <a:srgbClr val="2E3640"/>
            </a:solidFill>
          </a:ln>
        </p:spPr>
        <p:txBody>
          <a:bodyPr/>
          <a:lstStyle/>
          <a:p>
            <a:endParaRPr lang="en-US" sz="2000"/>
          </a:p>
        </p:txBody>
      </p:sp>
      <p:sp>
        <p:nvSpPr>
          <p:cNvPr id="3099" name="NL6Tk0.6">
            <a:extLst>
              <a:ext uri="{FF2B5EF4-FFF2-40B4-BE49-F238E27FC236}">
                <a16:creationId xmlns:a16="http://schemas.microsoft.com/office/drawing/2014/main" id="{075FCA49-2DDA-6973-E676-0E9A92F64CE0}"/>
              </a:ext>
            </a:extLst>
          </p:cNvPr>
          <p:cNvSpPr/>
          <p:nvPr/>
        </p:nvSpPr>
        <p:spPr>
          <a:xfrm>
            <a:off x="10321835" y="5556109"/>
            <a:ext cx="0" cy="139852"/>
          </a:xfrm>
          <a:prstGeom prst="line">
            <a:avLst/>
          </a:prstGeom>
          <a:ln w="12700">
            <a:solidFill>
              <a:srgbClr val="2E3640"/>
            </a:solidFill>
          </a:ln>
        </p:spPr>
        <p:txBody>
          <a:bodyPr/>
          <a:lstStyle/>
          <a:p>
            <a:endParaRPr lang="en-US" sz="2000"/>
          </a:p>
        </p:txBody>
      </p:sp>
      <p:sp>
        <p:nvSpPr>
          <p:cNvPr id="3100" name="NL6TL0.6">
            <a:extLst>
              <a:ext uri="{FF2B5EF4-FFF2-40B4-BE49-F238E27FC236}">
                <a16:creationId xmlns:a16="http://schemas.microsoft.com/office/drawing/2014/main" id="{DB5062DF-1FC1-DD09-151C-D1647898E03F}"/>
              </a:ext>
            </a:extLst>
          </p:cNvPr>
          <p:cNvSpPr/>
          <p:nvPr/>
        </p:nvSpPr>
        <p:spPr>
          <a:xfrm>
            <a:off x="10124443"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0.6</a:t>
            </a:r>
          </a:p>
        </p:txBody>
      </p:sp>
      <p:sp>
        <p:nvSpPr>
          <p:cNvPr id="3101" name="NL6Tk0.7">
            <a:extLst>
              <a:ext uri="{FF2B5EF4-FFF2-40B4-BE49-F238E27FC236}">
                <a16:creationId xmlns:a16="http://schemas.microsoft.com/office/drawing/2014/main" id="{BD8D3A81-950B-A0A1-79F5-0C8CB7663A45}"/>
              </a:ext>
            </a:extLst>
          </p:cNvPr>
          <p:cNvSpPr/>
          <p:nvPr/>
        </p:nvSpPr>
        <p:spPr>
          <a:xfrm>
            <a:off x="10916257" y="5591072"/>
            <a:ext cx="0" cy="69925"/>
          </a:xfrm>
          <a:prstGeom prst="line">
            <a:avLst/>
          </a:prstGeom>
          <a:ln w="12700">
            <a:solidFill>
              <a:srgbClr val="2E3640"/>
            </a:solidFill>
          </a:ln>
        </p:spPr>
        <p:txBody>
          <a:bodyPr/>
          <a:lstStyle/>
          <a:p>
            <a:endParaRPr lang="en-US" sz="2000"/>
          </a:p>
        </p:txBody>
      </p:sp>
      <p:sp>
        <p:nvSpPr>
          <p:cNvPr id="3102" name="NL6Tk0.8">
            <a:extLst>
              <a:ext uri="{FF2B5EF4-FFF2-40B4-BE49-F238E27FC236}">
                <a16:creationId xmlns:a16="http://schemas.microsoft.com/office/drawing/2014/main" id="{96B3F106-0D99-9368-5FFF-DF40090B54F8}"/>
              </a:ext>
            </a:extLst>
          </p:cNvPr>
          <p:cNvSpPr/>
          <p:nvPr/>
        </p:nvSpPr>
        <p:spPr>
          <a:xfrm>
            <a:off x="11510679" y="5556109"/>
            <a:ext cx="0" cy="139852"/>
          </a:xfrm>
          <a:prstGeom prst="line">
            <a:avLst/>
          </a:prstGeom>
          <a:ln w="12700">
            <a:solidFill>
              <a:srgbClr val="2E3640"/>
            </a:solidFill>
          </a:ln>
        </p:spPr>
        <p:txBody>
          <a:bodyPr/>
          <a:lstStyle/>
          <a:p>
            <a:endParaRPr lang="en-US" sz="2000"/>
          </a:p>
        </p:txBody>
      </p:sp>
      <p:sp>
        <p:nvSpPr>
          <p:cNvPr id="3103" name="NL6TL0.8">
            <a:extLst>
              <a:ext uri="{FF2B5EF4-FFF2-40B4-BE49-F238E27FC236}">
                <a16:creationId xmlns:a16="http://schemas.microsoft.com/office/drawing/2014/main" id="{A0AA2FC7-BA30-5C27-D9A2-9DD6EE050A56}"/>
              </a:ext>
            </a:extLst>
          </p:cNvPr>
          <p:cNvSpPr/>
          <p:nvPr/>
        </p:nvSpPr>
        <p:spPr>
          <a:xfrm>
            <a:off x="11313286"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0.8</a:t>
            </a:r>
          </a:p>
        </p:txBody>
      </p:sp>
      <p:sp>
        <p:nvSpPr>
          <p:cNvPr id="3104" name="B1Dot6">
            <a:extLst>
              <a:ext uri="{FF2B5EF4-FFF2-40B4-BE49-F238E27FC236}">
                <a16:creationId xmlns:a16="http://schemas.microsoft.com/office/drawing/2014/main" id="{02C025F2-F170-6B0B-0FB2-F398B1C0DB30}"/>
              </a:ext>
            </a:extLst>
          </p:cNvPr>
          <p:cNvSpPr/>
          <p:nvPr/>
        </p:nvSpPr>
        <p:spPr>
          <a:xfrm>
            <a:off x="8977995" y="5545119"/>
            <a:ext cx="143559" cy="163160"/>
          </a:xfrm>
          <a:prstGeom prst="ellipse">
            <a:avLst/>
          </a:prstGeom>
          <a:solidFill>
            <a:srgbClr val="FFFFFF"/>
          </a:solidFill>
          <a:ln w="19050">
            <a:solidFill>
              <a:srgbClr val="D94535"/>
            </a:solidFill>
          </a:ln>
        </p:spPr>
        <p:txBody>
          <a:bodyPr/>
          <a:lstStyle/>
          <a:p>
            <a:endParaRPr lang="en-US" sz="2000"/>
          </a:p>
        </p:txBody>
      </p:sp>
      <p:grpSp>
        <p:nvGrpSpPr>
          <p:cNvPr id="3112" name="Group 3111">
            <a:extLst>
              <a:ext uri="{FF2B5EF4-FFF2-40B4-BE49-F238E27FC236}">
                <a16:creationId xmlns:a16="http://schemas.microsoft.com/office/drawing/2014/main" id="{0FF5008D-91BB-65F3-35BE-143FF3E44086}"/>
              </a:ext>
            </a:extLst>
          </p:cNvPr>
          <p:cNvGrpSpPr/>
          <p:nvPr/>
        </p:nvGrpSpPr>
        <p:grpSpPr>
          <a:xfrm>
            <a:off x="6758096" y="5283029"/>
            <a:ext cx="2261173" cy="152651"/>
            <a:chOff x="7182260" y="4223241"/>
            <a:chExt cx="2008328" cy="313966"/>
          </a:xfrm>
        </p:grpSpPr>
        <p:sp>
          <p:nvSpPr>
            <p:cNvPr id="3118" name="CIBar7">
              <a:extLst>
                <a:ext uri="{FF2B5EF4-FFF2-40B4-BE49-F238E27FC236}">
                  <a16:creationId xmlns:a16="http://schemas.microsoft.com/office/drawing/2014/main" id="{A0D3D924-DE73-7D8D-D8E0-2798D1296153}"/>
                </a:ext>
              </a:extLst>
            </p:cNvPr>
            <p:cNvSpPr/>
            <p:nvPr/>
          </p:nvSpPr>
          <p:spPr>
            <a:xfrm>
              <a:off x="8437132" y="4261261"/>
              <a:ext cx="618774" cy="226982"/>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120" name="CILW7">
              <a:extLst>
                <a:ext uri="{FF2B5EF4-FFF2-40B4-BE49-F238E27FC236}">
                  <a16:creationId xmlns:a16="http://schemas.microsoft.com/office/drawing/2014/main" id="{3D5E11FB-61CE-9C35-2D51-7B6CCA43E84F}"/>
                </a:ext>
              </a:extLst>
            </p:cNvPr>
            <p:cNvSpPr/>
            <p:nvPr/>
          </p:nvSpPr>
          <p:spPr>
            <a:xfrm>
              <a:off x="8431235" y="4223241"/>
              <a:ext cx="0" cy="304800"/>
            </a:xfrm>
            <a:prstGeom prst="line">
              <a:avLst/>
            </a:prstGeom>
            <a:ln w="15875">
              <a:solidFill>
                <a:srgbClr val="2B6CB0"/>
              </a:solidFill>
            </a:ln>
          </p:spPr>
          <p:txBody>
            <a:bodyPr anchor="ctr"/>
            <a:lstStyle/>
            <a:p>
              <a:endParaRPr lang="en-US" sz="2000"/>
            </a:p>
          </p:txBody>
        </p:sp>
        <p:sp>
          <p:nvSpPr>
            <p:cNvPr id="3122" name="CILW7">
              <a:extLst>
                <a:ext uri="{FF2B5EF4-FFF2-40B4-BE49-F238E27FC236}">
                  <a16:creationId xmlns:a16="http://schemas.microsoft.com/office/drawing/2014/main" id="{301F6F32-6DBA-0B37-CB61-C076B3217278}"/>
                </a:ext>
              </a:extLst>
            </p:cNvPr>
            <p:cNvSpPr/>
            <p:nvPr/>
          </p:nvSpPr>
          <p:spPr>
            <a:xfrm>
              <a:off x="9057186" y="4223241"/>
              <a:ext cx="0" cy="304800"/>
            </a:xfrm>
            <a:prstGeom prst="line">
              <a:avLst/>
            </a:prstGeom>
            <a:ln w="15875">
              <a:solidFill>
                <a:srgbClr val="2B6CB0"/>
              </a:solidFill>
            </a:ln>
          </p:spPr>
          <p:txBody>
            <a:bodyPr anchor="ctr"/>
            <a:lstStyle/>
            <a:p>
              <a:endParaRPr lang="en-US" sz="2000"/>
            </a:p>
          </p:txBody>
        </p:sp>
        <p:sp>
          <p:nvSpPr>
            <p:cNvPr id="3126" name="CIBar7">
              <a:extLst>
                <a:ext uri="{FF2B5EF4-FFF2-40B4-BE49-F238E27FC236}">
                  <a16:creationId xmlns:a16="http://schemas.microsoft.com/office/drawing/2014/main" id="{9CBC0CB1-AD5B-CF12-5C44-9F84DB67F08A}"/>
                </a:ext>
              </a:extLst>
            </p:cNvPr>
            <p:cNvSpPr/>
            <p:nvPr/>
          </p:nvSpPr>
          <p:spPr>
            <a:xfrm>
              <a:off x="9063082" y="4267722"/>
              <a:ext cx="127506" cy="220919"/>
            </a:xfrm>
            <a:prstGeom prst="rect">
              <a:avLst/>
            </a:prstGeom>
            <a:solidFill>
              <a:srgbClr val="B8D4E8">
                <a:alpha val="34902"/>
              </a:srgbClr>
            </a:solidFill>
            <a:ln>
              <a:noFill/>
            </a:ln>
          </p:spPr>
          <p:txBody>
            <a:bodyPr lIns="0" rIns="0" anchor="ctr"/>
            <a:lstStyle/>
            <a:p>
              <a:pPr algn="ctr"/>
              <a:endParaRPr lang="en-US" sz="900" dirty="0"/>
            </a:p>
          </p:txBody>
        </p:sp>
        <p:sp>
          <p:nvSpPr>
            <p:cNvPr id="3127" name="CILW7">
              <a:extLst>
                <a:ext uri="{FF2B5EF4-FFF2-40B4-BE49-F238E27FC236}">
                  <a16:creationId xmlns:a16="http://schemas.microsoft.com/office/drawing/2014/main" id="{5DA15097-51C1-D6AD-38BB-7BA60816DC88}"/>
                </a:ext>
              </a:extLst>
            </p:cNvPr>
            <p:cNvSpPr/>
            <p:nvPr/>
          </p:nvSpPr>
          <p:spPr>
            <a:xfrm>
              <a:off x="9057185" y="4229702"/>
              <a:ext cx="0" cy="304800"/>
            </a:xfrm>
            <a:prstGeom prst="line">
              <a:avLst/>
            </a:prstGeom>
            <a:ln w="15875">
              <a:solidFill>
                <a:srgbClr val="2B6CB0"/>
              </a:solidFill>
            </a:ln>
          </p:spPr>
          <p:txBody>
            <a:bodyPr anchor="ctr"/>
            <a:lstStyle/>
            <a:p>
              <a:endParaRPr lang="en-US" sz="2000"/>
            </a:p>
          </p:txBody>
        </p:sp>
        <p:grpSp>
          <p:nvGrpSpPr>
            <p:cNvPr id="3133" name="Group 3132">
              <a:extLst>
                <a:ext uri="{FF2B5EF4-FFF2-40B4-BE49-F238E27FC236}">
                  <a16:creationId xmlns:a16="http://schemas.microsoft.com/office/drawing/2014/main" id="{53682CB8-86E1-900B-5202-4985559D60B4}"/>
                </a:ext>
              </a:extLst>
            </p:cNvPr>
            <p:cNvGrpSpPr/>
            <p:nvPr/>
          </p:nvGrpSpPr>
          <p:grpSpPr>
            <a:xfrm>
              <a:off x="7182260" y="4225946"/>
              <a:ext cx="1251897" cy="311261"/>
              <a:chOff x="9852940" y="4192417"/>
              <a:chExt cx="1216344" cy="311261"/>
            </a:xfrm>
          </p:grpSpPr>
          <p:sp>
            <p:nvSpPr>
              <p:cNvPr id="3134" name="CILW7">
                <a:extLst>
                  <a:ext uri="{FF2B5EF4-FFF2-40B4-BE49-F238E27FC236}">
                    <a16:creationId xmlns:a16="http://schemas.microsoft.com/office/drawing/2014/main" id="{C9D18A3F-0BAA-A302-C6AD-B8F8723467F8}"/>
                  </a:ext>
                </a:extLst>
              </p:cNvPr>
              <p:cNvSpPr/>
              <p:nvPr/>
            </p:nvSpPr>
            <p:spPr>
              <a:xfrm>
                <a:off x="9852941" y="4192417"/>
                <a:ext cx="0" cy="304800"/>
              </a:xfrm>
              <a:prstGeom prst="line">
                <a:avLst/>
              </a:prstGeom>
              <a:ln w="15875">
                <a:solidFill>
                  <a:srgbClr val="2B6CB0"/>
                </a:solidFill>
              </a:ln>
            </p:spPr>
            <p:txBody>
              <a:bodyPr anchor="ctr"/>
              <a:lstStyle/>
              <a:p>
                <a:endParaRPr lang="en-US" sz="2000"/>
              </a:p>
            </p:txBody>
          </p:sp>
          <p:sp>
            <p:nvSpPr>
              <p:cNvPr id="3135" name="CIBar7">
                <a:extLst>
                  <a:ext uri="{FF2B5EF4-FFF2-40B4-BE49-F238E27FC236}">
                    <a16:creationId xmlns:a16="http://schemas.microsoft.com/office/drawing/2014/main" id="{AC2A2473-E6F3-FD59-65DF-EAE426B9E8E7}"/>
                  </a:ext>
                </a:extLst>
              </p:cNvPr>
              <p:cNvSpPr/>
              <p:nvPr/>
            </p:nvSpPr>
            <p:spPr>
              <a:xfrm>
                <a:off x="9858670" y="4236898"/>
                <a:ext cx="601200" cy="226982"/>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00" name="CILW7">
                <a:extLst>
                  <a:ext uri="{FF2B5EF4-FFF2-40B4-BE49-F238E27FC236}">
                    <a16:creationId xmlns:a16="http://schemas.microsoft.com/office/drawing/2014/main" id="{4AB3417B-584C-B1B4-F683-27505E09079A}"/>
                  </a:ext>
                </a:extLst>
              </p:cNvPr>
              <p:cNvSpPr/>
              <p:nvPr/>
            </p:nvSpPr>
            <p:spPr>
              <a:xfrm>
                <a:off x="9852940" y="4198878"/>
                <a:ext cx="0" cy="304800"/>
              </a:xfrm>
              <a:prstGeom prst="line">
                <a:avLst/>
              </a:prstGeom>
              <a:ln w="15875">
                <a:solidFill>
                  <a:srgbClr val="2B6CB0"/>
                </a:solidFill>
              </a:ln>
            </p:spPr>
            <p:txBody>
              <a:bodyPr anchor="ctr"/>
              <a:lstStyle/>
              <a:p>
                <a:endParaRPr lang="en-US" sz="2000"/>
              </a:p>
            </p:txBody>
          </p:sp>
          <p:sp>
            <p:nvSpPr>
              <p:cNvPr id="3201" name="CILW7">
                <a:extLst>
                  <a:ext uri="{FF2B5EF4-FFF2-40B4-BE49-F238E27FC236}">
                    <a16:creationId xmlns:a16="http://schemas.microsoft.com/office/drawing/2014/main" id="{BE623EDC-481D-8069-3CF9-43BA4B68A69E}"/>
                  </a:ext>
                </a:extLst>
              </p:cNvPr>
              <p:cNvSpPr/>
              <p:nvPr/>
            </p:nvSpPr>
            <p:spPr>
              <a:xfrm>
                <a:off x="10461113" y="4198878"/>
                <a:ext cx="0" cy="304800"/>
              </a:xfrm>
              <a:prstGeom prst="line">
                <a:avLst/>
              </a:prstGeom>
              <a:ln w="15875">
                <a:solidFill>
                  <a:srgbClr val="2B6CB0"/>
                </a:solidFill>
              </a:ln>
            </p:spPr>
            <p:txBody>
              <a:bodyPr anchor="ctr"/>
              <a:lstStyle/>
              <a:p>
                <a:endParaRPr lang="en-US" sz="2000"/>
              </a:p>
            </p:txBody>
          </p:sp>
          <p:sp>
            <p:nvSpPr>
              <p:cNvPr id="3202" name="CIBar7">
                <a:extLst>
                  <a:ext uri="{FF2B5EF4-FFF2-40B4-BE49-F238E27FC236}">
                    <a16:creationId xmlns:a16="http://schemas.microsoft.com/office/drawing/2014/main" id="{5A634DDF-FF66-3880-9A9B-68E2BE1B412F}"/>
                  </a:ext>
                </a:extLst>
              </p:cNvPr>
              <p:cNvSpPr/>
              <p:nvPr/>
            </p:nvSpPr>
            <p:spPr>
              <a:xfrm>
                <a:off x="10466841" y="4233142"/>
                <a:ext cx="601200" cy="226982"/>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03" name="CILW7">
                <a:extLst>
                  <a:ext uri="{FF2B5EF4-FFF2-40B4-BE49-F238E27FC236}">
                    <a16:creationId xmlns:a16="http://schemas.microsoft.com/office/drawing/2014/main" id="{8D8058BA-F4D9-01D9-BBAE-103E2886F1A7}"/>
                  </a:ext>
                </a:extLst>
              </p:cNvPr>
              <p:cNvSpPr/>
              <p:nvPr/>
            </p:nvSpPr>
            <p:spPr>
              <a:xfrm>
                <a:off x="10461111" y="4195122"/>
                <a:ext cx="0" cy="304800"/>
              </a:xfrm>
              <a:prstGeom prst="line">
                <a:avLst/>
              </a:prstGeom>
              <a:ln w="15875">
                <a:solidFill>
                  <a:srgbClr val="2B6CB0"/>
                </a:solidFill>
              </a:ln>
            </p:spPr>
            <p:txBody>
              <a:bodyPr anchor="ctr"/>
              <a:lstStyle/>
              <a:p>
                <a:endParaRPr lang="en-US" sz="2000"/>
              </a:p>
            </p:txBody>
          </p:sp>
          <p:sp>
            <p:nvSpPr>
              <p:cNvPr id="3204" name="CILW7">
                <a:extLst>
                  <a:ext uri="{FF2B5EF4-FFF2-40B4-BE49-F238E27FC236}">
                    <a16:creationId xmlns:a16="http://schemas.microsoft.com/office/drawing/2014/main" id="{C410C8A8-9C5F-826A-8E81-E59A78353F88}"/>
                  </a:ext>
                </a:extLst>
              </p:cNvPr>
              <p:cNvSpPr/>
              <p:nvPr/>
            </p:nvSpPr>
            <p:spPr>
              <a:xfrm>
                <a:off x="11069284" y="4195122"/>
                <a:ext cx="0" cy="304800"/>
              </a:xfrm>
              <a:prstGeom prst="line">
                <a:avLst/>
              </a:prstGeom>
              <a:ln w="15875">
                <a:solidFill>
                  <a:srgbClr val="2B6CB0"/>
                </a:solidFill>
              </a:ln>
            </p:spPr>
            <p:txBody>
              <a:bodyPr anchor="ctr"/>
              <a:lstStyle/>
              <a:p>
                <a:endParaRPr lang="en-US" sz="2000"/>
              </a:p>
            </p:txBody>
          </p:sp>
        </p:grpSp>
      </p:grpSp>
      <p:cxnSp>
        <p:nvCxnSpPr>
          <p:cNvPr id="3113" name="DotLine">
            <a:extLst>
              <a:ext uri="{FF2B5EF4-FFF2-40B4-BE49-F238E27FC236}">
                <a16:creationId xmlns:a16="http://schemas.microsoft.com/office/drawing/2014/main" id="{0CED77FA-EB1A-63A3-9D4C-6CF45D1A67A4}"/>
              </a:ext>
            </a:extLst>
          </p:cNvPr>
          <p:cNvCxnSpPr>
            <a:cxnSpLocks/>
            <a:stCxn id="3114" idx="2"/>
          </p:cNvCxnSpPr>
          <p:nvPr/>
        </p:nvCxnSpPr>
        <p:spPr>
          <a:xfrm flipH="1">
            <a:off x="9039179" y="4568965"/>
            <a:ext cx="1251" cy="947063"/>
          </a:xfrm>
          <a:prstGeom prst="line">
            <a:avLst/>
          </a:prstGeom>
          <a:ln w="19050">
            <a:solidFill>
              <a:srgbClr val="D94535"/>
            </a:solidFill>
            <a:prstDash val="dash"/>
          </a:ln>
        </p:spPr>
      </p:cxnSp>
      <p:sp>
        <p:nvSpPr>
          <p:cNvPr id="3114" name="BLabel">
            <a:extLst>
              <a:ext uri="{FF2B5EF4-FFF2-40B4-BE49-F238E27FC236}">
                <a16:creationId xmlns:a16="http://schemas.microsoft.com/office/drawing/2014/main" id="{27C65EAB-3C39-3A9D-1568-E5F2C97F20B0}"/>
              </a:ext>
            </a:extLst>
          </p:cNvPr>
          <p:cNvSpPr/>
          <p:nvPr/>
        </p:nvSpPr>
        <p:spPr>
          <a:xfrm>
            <a:off x="8516755" y="4383405"/>
            <a:ext cx="1047349" cy="185560"/>
          </a:xfrm>
          <a:prstGeom prst="roundRect">
            <a:avLst>
              <a:gd name="adj" fmla="val 16667"/>
            </a:avLst>
          </a:prstGeom>
          <a:solidFill>
            <a:srgbClr val="D94535"/>
          </a:solidFill>
          <a:ln>
            <a:noFill/>
          </a:ln>
        </p:spPr>
        <p:txBody>
          <a:bodyPr wrap="none" lIns="36000" tIns="0" rIns="36000" bIns="0" anchor="ctr"/>
          <a:lstStyle/>
          <a:p>
            <a:pPr algn="ctr"/>
            <a:r>
              <a:rPr lang="en-US" sz="1000" b="1" dirty="0">
                <a:solidFill>
                  <a:srgbClr val="FFFFFF"/>
                </a:solidFill>
                <a:latin typeface="Open Sans"/>
              </a:rPr>
              <a:t>b₁ = 0.386</a:t>
            </a:r>
          </a:p>
        </p:txBody>
      </p:sp>
      <p:sp>
        <p:nvSpPr>
          <p:cNvPr id="3223" name="Right Triangle 3222">
            <a:extLst>
              <a:ext uri="{FF2B5EF4-FFF2-40B4-BE49-F238E27FC236}">
                <a16:creationId xmlns:a16="http://schemas.microsoft.com/office/drawing/2014/main" id="{71C71C39-6EA1-0554-2C06-54E3BAE6428D}"/>
              </a:ext>
            </a:extLst>
          </p:cNvPr>
          <p:cNvSpPr/>
          <p:nvPr/>
        </p:nvSpPr>
        <p:spPr>
          <a:xfrm>
            <a:off x="9104239" y="5561180"/>
            <a:ext cx="611736" cy="83627"/>
          </a:xfrm>
          <a:prstGeom prst="rtTriangle">
            <a:avLst/>
          </a:prstGeom>
          <a:solidFill>
            <a:schemeClr val="accent5">
              <a:lumMod val="50000"/>
              <a:alpha val="60000"/>
            </a:scheme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34" name="Rounded Rectangle 3233">
            <a:extLst>
              <a:ext uri="{FF2B5EF4-FFF2-40B4-BE49-F238E27FC236}">
                <a16:creationId xmlns:a16="http://schemas.microsoft.com/office/drawing/2014/main" id="{0E27BF26-25C6-6840-5C37-5FC07B8C4533}"/>
              </a:ext>
            </a:extLst>
          </p:cNvPr>
          <p:cNvSpPr/>
          <p:nvPr/>
        </p:nvSpPr>
        <p:spPr>
          <a:xfrm>
            <a:off x="242818" y="716433"/>
            <a:ext cx="5185216" cy="4539620"/>
          </a:xfrm>
          <a:prstGeom prst="roundRect">
            <a:avLst>
              <a:gd name="adj" fmla="val 3379"/>
            </a:avLst>
          </a:prstGeom>
          <a:solidFill>
            <a:schemeClr val="accent2">
              <a:lumMod val="20000"/>
              <a:lumOff val="80000"/>
            </a:schemeClr>
          </a:solidFill>
          <a:ln w="12700">
            <a:solidFill>
              <a:schemeClr val="accent5">
                <a:lumMod val="50000"/>
              </a:schemeClr>
            </a:solidFill>
          </a:ln>
        </p:spPr>
        <p:txBody>
          <a:bodyPr vertOverflow="overflow" vert="horz" wrap="square" rtlCol="0" anchor="t">
            <a:noAutofit/>
          </a:bodyPr>
          <a:lstStyle/>
          <a:p>
            <a:pPr marL="285750" indent="-285750">
              <a:spcAft>
                <a:spcPts val="200"/>
              </a:spcAft>
              <a:buFont typeface="Arial" panose="020B0604020202020204" pitchFamily="34" charset="0"/>
              <a:buChar char="•"/>
            </a:pPr>
            <a:r>
              <a:rPr lang="en-US" sz="1400" dirty="0">
                <a:solidFill>
                  <a:srgbClr val="2E3640"/>
                </a:solidFill>
                <a:latin typeface="Open Sans"/>
              </a:rPr>
              <a:t>The </a:t>
            </a:r>
            <a:r>
              <a:rPr lang="en-US" sz="1400" b="1" dirty="0">
                <a:solidFill>
                  <a:srgbClr val="2E3640"/>
                </a:solidFill>
                <a:latin typeface="Open Sans"/>
              </a:rPr>
              <a:t>null hypothesis</a:t>
            </a:r>
            <a:r>
              <a:rPr lang="en-US" sz="1400" dirty="0">
                <a:solidFill>
                  <a:srgbClr val="2E3640"/>
                </a:solidFill>
                <a:latin typeface="Open Sans"/>
              </a:rPr>
              <a:t>: "There is no relationship between x and y.”</a:t>
            </a:r>
          </a:p>
          <a:p>
            <a:pPr marL="285750" indent="-285750">
              <a:spcAft>
                <a:spcPts val="200"/>
              </a:spcAft>
              <a:buFont typeface="Arial" panose="020B0604020202020204" pitchFamily="34" charset="0"/>
              <a:buChar char="•"/>
            </a:pPr>
            <a:r>
              <a:rPr lang="en-US" sz="1400" dirty="0">
                <a:solidFill>
                  <a:srgbClr val="2E3640"/>
                </a:solidFill>
                <a:latin typeface="Open Sans"/>
              </a:rPr>
              <a:t>True </a:t>
            </a:r>
            <a:r>
              <a:rPr lang="en-US" sz="1400" b="1" dirty="0">
                <a:solidFill>
                  <a:srgbClr val="2E3640"/>
                </a:solidFill>
                <a:latin typeface="Open Sans"/>
              </a:rPr>
              <a:t>slope of zero</a:t>
            </a:r>
          </a:p>
          <a:p>
            <a:pPr marL="285750" indent="-285750">
              <a:spcAft>
                <a:spcPts val="200"/>
              </a:spcAft>
              <a:buFont typeface="Arial" panose="020B0604020202020204" pitchFamily="34" charset="0"/>
              <a:buChar char="•"/>
            </a:pPr>
            <a:r>
              <a:rPr lang="en-US" sz="1400" dirty="0">
                <a:solidFill>
                  <a:srgbClr val="2E3640"/>
                </a:solidFill>
                <a:latin typeface="Open Sans"/>
              </a:rPr>
              <a:t>In such a world, </a:t>
            </a:r>
            <a:r>
              <a:rPr lang="en-US" sz="1400" b="1" dirty="0">
                <a:solidFill>
                  <a:srgbClr val="2E3640"/>
                </a:solidFill>
                <a:latin typeface="Open Sans"/>
              </a:rPr>
              <a:t>random samples </a:t>
            </a:r>
            <a:r>
              <a:rPr lang="en-US" sz="1400" dirty="0">
                <a:solidFill>
                  <a:srgbClr val="2E3640"/>
                </a:solidFill>
                <a:latin typeface="Open Sans"/>
              </a:rPr>
              <a:t>of 8 would still produce some slope, and a corresponding t value</a:t>
            </a:r>
          </a:p>
          <a:p>
            <a:pPr marL="285750" indent="-285750">
              <a:spcAft>
                <a:spcPts val="200"/>
              </a:spcAft>
              <a:buFont typeface="Arial" panose="020B0604020202020204" pitchFamily="34" charset="0"/>
              <a:buChar char="•"/>
            </a:pPr>
            <a:r>
              <a:rPr lang="en-US" sz="1400" dirty="0">
                <a:solidFill>
                  <a:srgbClr val="2E3640"/>
                </a:solidFill>
                <a:latin typeface="Open Sans"/>
              </a:rPr>
              <a:t>Forming a </a:t>
            </a:r>
            <a:r>
              <a:rPr lang="en-US" sz="1400" b="1" dirty="0">
                <a:solidFill>
                  <a:srgbClr val="2E3640"/>
                </a:solidFill>
                <a:latin typeface="Open Sans"/>
              </a:rPr>
              <a:t>bell curve around 0</a:t>
            </a:r>
          </a:p>
          <a:p>
            <a:pPr marL="285750" indent="-285750">
              <a:spcAft>
                <a:spcPts val="200"/>
              </a:spcAft>
              <a:buFont typeface="Arial" panose="020B0604020202020204" pitchFamily="34" charset="0"/>
              <a:buChar char="•"/>
            </a:pPr>
            <a:r>
              <a:rPr lang="en-US" sz="1400" dirty="0">
                <a:solidFill>
                  <a:srgbClr val="2E3640"/>
                </a:solidFill>
                <a:latin typeface="Open Sans"/>
              </a:rPr>
              <a:t>The </a:t>
            </a:r>
            <a:r>
              <a:rPr lang="en-US" sz="1400" b="1" dirty="0">
                <a:solidFill>
                  <a:srgbClr val="2E3640"/>
                </a:solidFill>
                <a:latin typeface="Open Sans"/>
              </a:rPr>
              <a:t>null distribution </a:t>
            </a:r>
            <a:r>
              <a:rPr lang="en-US" sz="1400" dirty="0">
                <a:solidFill>
                  <a:srgbClr val="2E3640"/>
                </a:solidFill>
                <a:latin typeface="Open Sans"/>
              </a:rPr>
              <a:t>shows what t-values (signal-to-noise ratios) we'd see</a:t>
            </a:r>
          </a:p>
          <a:p>
            <a:pPr marL="285750" indent="-285750">
              <a:spcAft>
                <a:spcPts val="200"/>
              </a:spcAft>
              <a:buFont typeface="Arial" panose="020B0604020202020204" pitchFamily="34" charset="0"/>
              <a:buChar char="•"/>
            </a:pPr>
            <a:r>
              <a:rPr lang="en-US" sz="1400" b="1" dirty="0">
                <a:solidFill>
                  <a:srgbClr val="2E3640"/>
                </a:solidFill>
                <a:latin typeface="Open Sans"/>
              </a:rPr>
              <a:t>P-value: </a:t>
            </a:r>
            <a:r>
              <a:rPr lang="en-US" sz="1400" dirty="0">
                <a:solidFill>
                  <a:srgbClr val="2E3640"/>
                </a:solidFill>
                <a:latin typeface="Open Sans"/>
              </a:rPr>
              <a:t>in this world, how often would we get a t-value as extreme as 3.26?</a:t>
            </a:r>
          </a:p>
          <a:p>
            <a:pPr marL="285750" indent="-285750">
              <a:spcAft>
                <a:spcPts val="200"/>
              </a:spcAft>
              <a:buFont typeface="Arial" panose="020B0604020202020204" pitchFamily="34" charset="0"/>
              <a:buChar char="•"/>
            </a:pPr>
            <a:r>
              <a:rPr lang="en-US" sz="1400" b="1" dirty="0">
                <a:solidFill>
                  <a:srgbClr val="2E3640"/>
                </a:solidFill>
                <a:latin typeface="Open Sans"/>
              </a:rPr>
              <a:t>Simulation answer</a:t>
            </a:r>
            <a:r>
              <a:rPr lang="en-US" sz="1400" dirty="0">
                <a:solidFill>
                  <a:srgbClr val="2E3640"/>
                </a:solidFill>
                <a:latin typeface="Open Sans"/>
              </a:rPr>
              <a:t>: 41 out of 2,000 samples (~2%)</a:t>
            </a:r>
          </a:p>
          <a:p>
            <a:pPr marL="285750" indent="-285750">
              <a:spcAft>
                <a:spcPts val="200"/>
              </a:spcAft>
              <a:buFont typeface="Arial" panose="020B0604020202020204" pitchFamily="34" charset="0"/>
              <a:buChar char="•"/>
            </a:pPr>
            <a:r>
              <a:rPr lang="en-US" sz="1400" b="1" dirty="0">
                <a:solidFill>
                  <a:srgbClr val="2E3640"/>
                </a:solidFill>
                <a:latin typeface="Open Sans"/>
              </a:rPr>
              <a:t>Theoretical answer (how it’s actually done)</a:t>
            </a:r>
            <a:r>
              <a:rPr lang="en-US" sz="1400" dirty="0">
                <a:solidFill>
                  <a:srgbClr val="2E3640"/>
                </a:solidFill>
                <a:latin typeface="Open Sans"/>
              </a:rPr>
              <a:t>: using a t-distribution with </a:t>
            </a:r>
            <a:r>
              <a:rPr lang="en-US" sz="1400" dirty="0" err="1">
                <a:solidFill>
                  <a:srgbClr val="2E3640"/>
                </a:solidFill>
                <a:latin typeface="Open Sans"/>
              </a:rPr>
              <a:t>df</a:t>
            </a:r>
            <a:r>
              <a:rPr lang="en-US" sz="1400" dirty="0">
                <a:solidFill>
                  <a:srgbClr val="2E3640"/>
                </a:solidFill>
                <a:latin typeface="Open Sans"/>
              </a:rPr>
              <a:t> = n - 2 = 6, we get p = 0.0172 (1.7%)</a:t>
            </a:r>
          </a:p>
          <a:p>
            <a:pPr marL="742950" lvl="1" indent="-285750">
              <a:spcAft>
                <a:spcPts val="200"/>
              </a:spcAft>
              <a:buFont typeface="Arial" panose="020B0604020202020204" pitchFamily="34" charset="0"/>
              <a:buChar char="•"/>
            </a:pPr>
            <a:r>
              <a:rPr lang="en-US" sz="1400" dirty="0">
                <a:solidFill>
                  <a:srgbClr val="2E3640"/>
                </a:solidFill>
                <a:latin typeface="Open Sans"/>
              </a:rPr>
              <a:t>T to p conversion depends on </a:t>
            </a:r>
            <a:r>
              <a:rPr lang="en-US" sz="1400" dirty="0" err="1">
                <a:solidFill>
                  <a:srgbClr val="2E3640"/>
                </a:solidFill>
                <a:latin typeface="Open Sans"/>
              </a:rPr>
              <a:t>df</a:t>
            </a:r>
            <a:r>
              <a:rPr lang="en-US" sz="1400" dirty="0">
                <a:solidFill>
                  <a:srgbClr val="2E3640"/>
                </a:solidFill>
                <a:latin typeface="Open Sans"/>
              </a:rPr>
              <a:t>. Software handles this. Roughly, |</a:t>
            </a:r>
            <a:r>
              <a:rPr lang="en-US" sz="1400" dirty="0" err="1">
                <a:solidFill>
                  <a:srgbClr val="2E3640"/>
                </a:solidFill>
                <a:latin typeface="Open Sans"/>
              </a:rPr>
              <a:t>t|statistic</a:t>
            </a:r>
            <a:r>
              <a:rPr lang="en-US" sz="1400" dirty="0">
                <a:solidFill>
                  <a:srgbClr val="2E3640"/>
                </a:solidFill>
                <a:latin typeface="Open Sans"/>
              </a:rPr>
              <a:t> above 2 ≃ p-value below 0.05 for samples &gt; 30</a:t>
            </a:r>
          </a:p>
          <a:p>
            <a:pPr marL="285750" indent="-285750">
              <a:spcAft>
                <a:spcPts val="200"/>
              </a:spcAft>
              <a:buFont typeface="Arial" panose="020B0604020202020204" pitchFamily="34" charset="0"/>
              <a:buChar char="•"/>
            </a:pPr>
            <a:r>
              <a:rPr lang="en-GB" sz="1400" b="1" dirty="0"/>
              <a:t>Conclusion:</a:t>
            </a:r>
            <a:r>
              <a:rPr lang="en-GB" sz="1400" dirty="0"/>
              <a:t> the "no relationship" world is not a good explanation of our data. We reject the null hypothesis.</a:t>
            </a:r>
            <a:endParaRPr lang="en-US" sz="1400" dirty="0">
              <a:solidFill>
                <a:srgbClr val="2E3640"/>
              </a:solidFill>
              <a:latin typeface="Open Sans"/>
            </a:endParaRPr>
          </a:p>
        </p:txBody>
      </p:sp>
      <p:grpSp>
        <p:nvGrpSpPr>
          <p:cNvPr id="3" name="Group 2">
            <a:extLst>
              <a:ext uri="{FF2B5EF4-FFF2-40B4-BE49-F238E27FC236}">
                <a16:creationId xmlns:a16="http://schemas.microsoft.com/office/drawing/2014/main" id="{BC51C0A0-0D63-F787-5DB8-6E78E13E1DBE}"/>
              </a:ext>
            </a:extLst>
          </p:cNvPr>
          <p:cNvGrpSpPr/>
          <p:nvPr/>
        </p:nvGrpSpPr>
        <p:grpSpPr>
          <a:xfrm>
            <a:off x="5869865" y="739837"/>
            <a:ext cx="5618493" cy="1055444"/>
            <a:chOff x="1170927" y="731593"/>
            <a:chExt cx="5618493" cy="1055444"/>
          </a:xfrm>
        </p:grpSpPr>
        <p:pic>
          <p:nvPicPr>
            <p:cNvPr id="4" name="Picture 3" descr="A screenshot of a computer program&#10;&#10;AI-generated content may be incorrect.">
              <a:extLst>
                <a:ext uri="{FF2B5EF4-FFF2-40B4-BE49-F238E27FC236}">
                  <a16:creationId xmlns:a16="http://schemas.microsoft.com/office/drawing/2014/main" id="{A0BF31F0-0872-C744-E10F-F2689F4AC379}"/>
                </a:ext>
              </a:extLst>
            </p:cNvPr>
            <p:cNvPicPr>
              <a:picLocks noChangeAspect="1"/>
            </p:cNvPicPr>
            <p:nvPr/>
          </p:nvPicPr>
          <p:blipFill>
            <a:blip r:embed="rId3"/>
            <a:srcRect t="41659" r="19746" b="33576"/>
            <a:stretch>
              <a:fillRect/>
            </a:stretch>
          </p:blipFill>
          <p:spPr>
            <a:xfrm>
              <a:off x="1170927" y="731593"/>
              <a:ext cx="5618493" cy="1055444"/>
            </a:xfrm>
            <a:prstGeom prst="rect">
              <a:avLst/>
            </a:prstGeom>
            <a:ln w="1905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8631932C-864B-1E02-C155-3F9863C08EB2}"/>
                </a:ext>
              </a:extLst>
            </p:cNvPr>
            <p:cNvPicPr>
              <a:picLocks noChangeAspect="1"/>
            </p:cNvPicPr>
            <p:nvPr/>
          </p:nvPicPr>
          <p:blipFill>
            <a:blip r:embed="rId4"/>
            <a:srcRect r="73226" b="95733"/>
            <a:stretch>
              <a:fillRect/>
            </a:stretch>
          </p:blipFill>
          <p:spPr>
            <a:xfrm>
              <a:off x="1170927" y="780895"/>
              <a:ext cx="1728960" cy="212245"/>
            </a:xfrm>
            <a:prstGeom prst="rect">
              <a:avLst/>
            </a:prstGeom>
            <a:ln w="19050" cap="sq">
              <a:noFill/>
              <a:prstDash val="solid"/>
              <a:miter lim="800000"/>
            </a:ln>
            <a:effectLst/>
          </p:spPr>
        </p:pic>
      </p:grpSp>
      <p:grpSp>
        <p:nvGrpSpPr>
          <p:cNvPr id="25" name="Group 24">
            <a:extLst>
              <a:ext uri="{FF2B5EF4-FFF2-40B4-BE49-F238E27FC236}">
                <a16:creationId xmlns:a16="http://schemas.microsoft.com/office/drawing/2014/main" id="{A582C319-A52A-3810-50A5-625CC4F6F8BE}"/>
              </a:ext>
            </a:extLst>
          </p:cNvPr>
          <p:cNvGrpSpPr/>
          <p:nvPr/>
        </p:nvGrpSpPr>
        <p:grpSpPr>
          <a:xfrm>
            <a:off x="6732883" y="2489434"/>
            <a:ext cx="4572772" cy="1651182"/>
            <a:chOff x="5918028" y="2326448"/>
            <a:chExt cx="4811930" cy="1961041"/>
          </a:xfrm>
        </p:grpSpPr>
        <p:sp>
          <p:nvSpPr>
            <p:cNvPr id="8" name="Rounded Rectangle 7">
              <a:extLst>
                <a:ext uri="{FF2B5EF4-FFF2-40B4-BE49-F238E27FC236}">
                  <a16:creationId xmlns:a16="http://schemas.microsoft.com/office/drawing/2014/main" id="{2DB8E8E5-19F4-171E-CAB6-0980FA95A3F1}"/>
                </a:ext>
              </a:extLst>
            </p:cNvPr>
            <p:cNvSpPr/>
            <p:nvPr/>
          </p:nvSpPr>
          <p:spPr>
            <a:xfrm>
              <a:off x="5918028" y="2326448"/>
              <a:ext cx="4811930" cy="214021"/>
            </a:xfrm>
            <a:prstGeom prst="roundRect">
              <a:avLst/>
            </a:prstGeom>
            <a:solidFill>
              <a:srgbClr val="2E6B7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dirty="0">
                  <a:solidFill>
                    <a:srgbClr val="FFFFFF"/>
                  </a:solidFill>
                </a:rPr>
                <a:t>Star codes</a:t>
              </a:r>
            </a:p>
          </p:txBody>
        </p:sp>
        <p:sp>
          <p:nvSpPr>
            <p:cNvPr id="9" name="Rounded Rectangle 8">
              <a:extLst>
                <a:ext uri="{FF2B5EF4-FFF2-40B4-BE49-F238E27FC236}">
                  <a16:creationId xmlns:a16="http://schemas.microsoft.com/office/drawing/2014/main" id="{E27FEA1E-75C8-4FB1-93FC-6560173CAAFC}"/>
                </a:ext>
              </a:extLst>
            </p:cNvPr>
            <p:cNvSpPr/>
            <p:nvPr/>
          </p:nvSpPr>
          <p:spPr>
            <a:xfrm>
              <a:off x="5918028" y="2620604"/>
              <a:ext cx="525403" cy="294156"/>
            </a:xfrm>
            <a:prstGeom prst="roundRect">
              <a:avLst/>
            </a:prstGeom>
            <a:solidFill>
              <a:srgbClr val="1A5C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a:solidFill>
                    <a:srgbClr val="FFFFFF"/>
                  </a:solidFill>
                </a:rPr>
                <a:t>***</a:t>
              </a:r>
            </a:p>
          </p:txBody>
        </p:sp>
        <p:sp>
          <p:nvSpPr>
            <p:cNvPr id="10" name="Rounded Rectangle 9">
              <a:extLst>
                <a:ext uri="{FF2B5EF4-FFF2-40B4-BE49-F238E27FC236}">
                  <a16:creationId xmlns:a16="http://schemas.microsoft.com/office/drawing/2014/main" id="{222CB1FB-4757-FA0F-F6A9-71B6D4A7FC39}"/>
                </a:ext>
              </a:extLst>
            </p:cNvPr>
            <p:cNvSpPr/>
            <p:nvPr/>
          </p:nvSpPr>
          <p:spPr>
            <a:xfrm>
              <a:off x="6482836" y="2620604"/>
              <a:ext cx="919455" cy="294156"/>
            </a:xfrm>
            <a:prstGeom prst="roundRect">
              <a:avLst/>
            </a:prstGeom>
            <a:solidFill>
              <a:srgbClr val="E8F4F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a:solidFill>
                    <a:srgbClr val="1A5C64"/>
                  </a:solidFill>
                </a:rPr>
                <a:t>p &lt; 0.001</a:t>
              </a:r>
            </a:p>
          </p:txBody>
        </p:sp>
        <p:sp>
          <p:nvSpPr>
            <p:cNvPr id="11" name="Rounded Rectangle 10">
              <a:extLst>
                <a:ext uri="{FF2B5EF4-FFF2-40B4-BE49-F238E27FC236}">
                  <a16:creationId xmlns:a16="http://schemas.microsoft.com/office/drawing/2014/main" id="{9C427E4C-9EB2-3194-EBE1-D939D5CEF367}"/>
                </a:ext>
              </a:extLst>
            </p:cNvPr>
            <p:cNvSpPr/>
            <p:nvPr/>
          </p:nvSpPr>
          <p:spPr>
            <a:xfrm>
              <a:off x="7441697" y="2620604"/>
              <a:ext cx="3288261" cy="294156"/>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dirty="0">
                  <a:solidFill>
                    <a:srgbClr val="2E3640"/>
                  </a:solidFill>
                </a:rPr>
                <a:t>Very strong evidence against the null</a:t>
              </a:r>
            </a:p>
          </p:txBody>
        </p:sp>
        <p:sp>
          <p:nvSpPr>
            <p:cNvPr id="12" name="Rounded Rectangle 11">
              <a:extLst>
                <a:ext uri="{FF2B5EF4-FFF2-40B4-BE49-F238E27FC236}">
                  <a16:creationId xmlns:a16="http://schemas.microsoft.com/office/drawing/2014/main" id="{050040A5-528F-EB7B-E297-E5E5959CFD0B}"/>
                </a:ext>
              </a:extLst>
            </p:cNvPr>
            <p:cNvSpPr/>
            <p:nvPr/>
          </p:nvSpPr>
          <p:spPr>
            <a:xfrm>
              <a:off x="5918028" y="2963786"/>
              <a:ext cx="525403" cy="294156"/>
            </a:xfrm>
            <a:prstGeom prst="roundRect">
              <a:avLst/>
            </a:prstGeom>
            <a:solidFill>
              <a:srgbClr val="2E6B7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a:solidFill>
                    <a:srgbClr val="FFFFFF"/>
                  </a:solidFill>
                </a:rPr>
                <a:t>**</a:t>
              </a:r>
            </a:p>
          </p:txBody>
        </p:sp>
        <p:sp>
          <p:nvSpPr>
            <p:cNvPr id="13" name="Rounded Rectangle 12">
              <a:extLst>
                <a:ext uri="{FF2B5EF4-FFF2-40B4-BE49-F238E27FC236}">
                  <a16:creationId xmlns:a16="http://schemas.microsoft.com/office/drawing/2014/main" id="{513F7B74-16C3-E539-4D32-A55C93580D22}"/>
                </a:ext>
              </a:extLst>
            </p:cNvPr>
            <p:cNvSpPr/>
            <p:nvPr/>
          </p:nvSpPr>
          <p:spPr>
            <a:xfrm>
              <a:off x="6482836" y="2963786"/>
              <a:ext cx="919455" cy="294156"/>
            </a:xfrm>
            <a:prstGeom prst="roundRect">
              <a:avLst/>
            </a:prstGeom>
            <a:solidFill>
              <a:srgbClr val="E8F4F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a:solidFill>
                    <a:srgbClr val="2E6B75"/>
                  </a:solidFill>
                </a:rPr>
                <a:t>p &lt; 0.01</a:t>
              </a:r>
            </a:p>
          </p:txBody>
        </p:sp>
        <p:sp>
          <p:nvSpPr>
            <p:cNvPr id="14" name="Rounded Rectangle 13">
              <a:extLst>
                <a:ext uri="{FF2B5EF4-FFF2-40B4-BE49-F238E27FC236}">
                  <a16:creationId xmlns:a16="http://schemas.microsoft.com/office/drawing/2014/main" id="{C817D188-F392-14FD-BAD2-795ED0652A5D}"/>
                </a:ext>
              </a:extLst>
            </p:cNvPr>
            <p:cNvSpPr/>
            <p:nvPr/>
          </p:nvSpPr>
          <p:spPr>
            <a:xfrm>
              <a:off x="7441697" y="2963786"/>
              <a:ext cx="3288261" cy="294156"/>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dirty="0">
                  <a:solidFill>
                    <a:srgbClr val="2E3640"/>
                  </a:solidFill>
                </a:rPr>
                <a:t>Strong evidence against the null</a:t>
              </a:r>
            </a:p>
          </p:txBody>
        </p:sp>
        <p:sp>
          <p:nvSpPr>
            <p:cNvPr id="15" name="Rounded Rectangle 14">
              <a:extLst>
                <a:ext uri="{FF2B5EF4-FFF2-40B4-BE49-F238E27FC236}">
                  <a16:creationId xmlns:a16="http://schemas.microsoft.com/office/drawing/2014/main" id="{F5FFDC35-B328-3443-1829-AD722E41F825}"/>
                </a:ext>
              </a:extLst>
            </p:cNvPr>
            <p:cNvSpPr/>
            <p:nvPr/>
          </p:nvSpPr>
          <p:spPr>
            <a:xfrm>
              <a:off x="5918028" y="3306969"/>
              <a:ext cx="525403" cy="294156"/>
            </a:xfrm>
            <a:prstGeom prst="roundRect">
              <a:avLst/>
            </a:prstGeom>
            <a:solidFill>
              <a:srgbClr val="1E7D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dirty="0">
                  <a:solidFill>
                    <a:srgbClr val="FFFFFF"/>
                  </a:solidFill>
                </a:rPr>
                <a:t>* </a:t>
              </a:r>
            </a:p>
          </p:txBody>
        </p:sp>
        <p:sp>
          <p:nvSpPr>
            <p:cNvPr id="16" name="Rounded Rectangle 15">
              <a:extLst>
                <a:ext uri="{FF2B5EF4-FFF2-40B4-BE49-F238E27FC236}">
                  <a16:creationId xmlns:a16="http://schemas.microsoft.com/office/drawing/2014/main" id="{5DFFB147-AB0C-00AD-E9FA-A806B4EB8D69}"/>
                </a:ext>
              </a:extLst>
            </p:cNvPr>
            <p:cNvSpPr/>
            <p:nvPr/>
          </p:nvSpPr>
          <p:spPr>
            <a:xfrm>
              <a:off x="6482836" y="3306969"/>
              <a:ext cx="919455" cy="294156"/>
            </a:xfrm>
            <a:prstGeom prst="roundRect">
              <a:avLst/>
            </a:prstGeom>
            <a:solidFill>
              <a:srgbClr val="E8F4F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a:solidFill>
                    <a:srgbClr val="1E7D45"/>
                  </a:solidFill>
                </a:rPr>
                <a:t>p &lt; 0.05</a:t>
              </a:r>
            </a:p>
          </p:txBody>
        </p:sp>
        <p:sp>
          <p:nvSpPr>
            <p:cNvPr id="17" name="Rounded Rectangle 16">
              <a:extLst>
                <a:ext uri="{FF2B5EF4-FFF2-40B4-BE49-F238E27FC236}">
                  <a16:creationId xmlns:a16="http://schemas.microsoft.com/office/drawing/2014/main" id="{655FF11D-35A9-7D1A-3CBE-96544CBB3453}"/>
                </a:ext>
              </a:extLst>
            </p:cNvPr>
            <p:cNvSpPr/>
            <p:nvPr/>
          </p:nvSpPr>
          <p:spPr>
            <a:xfrm>
              <a:off x="7441697" y="3306968"/>
              <a:ext cx="3288261" cy="294156"/>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dirty="0">
                  <a:solidFill>
                    <a:srgbClr val="2E3640"/>
                  </a:solidFill>
                </a:rPr>
                <a:t>Moderate evidence  (our result: p = 0.017)</a:t>
              </a:r>
            </a:p>
          </p:txBody>
        </p:sp>
        <p:sp>
          <p:nvSpPr>
            <p:cNvPr id="18" name="Rounded Rectangle 17">
              <a:extLst>
                <a:ext uri="{FF2B5EF4-FFF2-40B4-BE49-F238E27FC236}">
                  <a16:creationId xmlns:a16="http://schemas.microsoft.com/office/drawing/2014/main" id="{E61F0023-C36C-A9EB-2F95-BBEE67AF8BD1}"/>
                </a:ext>
              </a:extLst>
            </p:cNvPr>
            <p:cNvSpPr/>
            <p:nvPr/>
          </p:nvSpPr>
          <p:spPr>
            <a:xfrm>
              <a:off x="5918028" y="3650151"/>
              <a:ext cx="525403" cy="294156"/>
            </a:xfrm>
            <a:prstGeom prst="roundRect">
              <a:avLst/>
            </a:prstGeom>
            <a:solidFill>
              <a:srgbClr val="D495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a:solidFill>
                    <a:srgbClr val="FFFFFF"/>
                  </a:solidFill>
                </a:rPr>
                <a:t> .</a:t>
              </a:r>
            </a:p>
          </p:txBody>
        </p:sp>
        <p:sp>
          <p:nvSpPr>
            <p:cNvPr id="19" name="Rounded Rectangle 18">
              <a:extLst>
                <a:ext uri="{FF2B5EF4-FFF2-40B4-BE49-F238E27FC236}">
                  <a16:creationId xmlns:a16="http://schemas.microsoft.com/office/drawing/2014/main" id="{94A8EA8E-0E4D-852E-173C-305B02970A11}"/>
                </a:ext>
              </a:extLst>
            </p:cNvPr>
            <p:cNvSpPr/>
            <p:nvPr/>
          </p:nvSpPr>
          <p:spPr>
            <a:xfrm>
              <a:off x="6482836" y="3650151"/>
              <a:ext cx="919455" cy="294156"/>
            </a:xfrm>
            <a:prstGeom prst="roundRect">
              <a:avLst/>
            </a:prstGeom>
            <a:solidFill>
              <a:srgbClr val="E8F4F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a:solidFill>
                    <a:srgbClr val="D4952B"/>
                  </a:solidFill>
                </a:rPr>
                <a:t>p &lt; 0.10</a:t>
              </a:r>
            </a:p>
          </p:txBody>
        </p:sp>
        <p:sp>
          <p:nvSpPr>
            <p:cNvPr id="20" name="Rounded Rectangle 19">
              <a:extLst>
                <a:ext uri="{FF2B5EF4-FFF2-40B4-BE49-F238E27FC236}">
                  <a16:creationId xmlns:a16="http://schemas.microsoft.com/office/drawing/2014/main" id="{D8166761-909C-B44F-C6EB-35CFA4AB69B6}"/>
                </a:ext>
              </a:extLst>
            </p:cNvPr>
            <p:cNvSpPr/>
            <p:nvPr/>
          </p:nvSpPr>
          <p:spPr>
            <a:xfrm>
              <a:off x="7441697" y="3650151"/>
              <a:ext cx="3288261" cy="294156"/>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a:solidFill>
                    <a:srgbClr val="2E3640"/>
                  </a:solidFill>
                </a:rPr>
                <a:t>Weak / suggestive</a:t>
              </a:r>
            </a:p>
          </p:txBody>
        </p:sp>
        <p:sp>
          <p:nvSpPr>
            <p:cNvPr id="21" name="Rounded Rectangle 20">
              <a:extLst>
                <a:ext uri="{FF2B5EF4-FFF2-40B4-BE49-F238E27FC236}">
                  <a16:creationId xmlns:a16="http://schemas.microsoft.com/office/drawing/2014/main" id="{90B48C47-7F3E-AA33-1D2D-BD58960D707F}"/>
                </a:ext>
              </a:extLst>
            </p:cNvPr>
            <p:cNvSpPr/>
            <p:nvPr/>
          </p:nvSpPr>
          <p:spPr>
            <a:xfrm>
              <a:off x="5918028" y="3993333"/>
              <a:ext cx="525403" cy="294156"/>
            </a:xfrm>
            <a:prstGeom prst="roundRect">
              <a:avLst/>
            </a:prstGeom>
            <a:solidFill>
              <a:srgbClr val="88888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endParaRPr lang="en-US" sz="1050" b="1" dirty="0">
                <a:solidFill>
                  <a:srgbClr val="FFFFFF"/>
                </a:solidFill>
              </a:endParaRPr>
            </a:p>
          </p:txBody>
        </p:sp>
        <p:sp>
          <p:nvSpPr>
            <p:cNvPr id="22" name="Rounded Rectangle 21">
              <a:extLst>
                <a:ext uri="{FF2B5EF4-FFF2-40B4-BE49-F238E27FC236}">
                  <a16:creationId xmlns:a16="http://schemas.microsoft.com/office/drawing/2014/main" id="{2E1862B3-21EA-3120-FF40-57EF7D702526}"/>
                </a:ext>
              </a:extLst>
            </p:cNvPr>
            <p:cNvSpPr/>
            <p:nvPr/>
          </p:nvSpPr>
          <p:spPr>
            <a:xfrm>
              <a:off x="6482836" y="3993333"/>
              <a:ext cx="919455" cy="294156"/>
            </a:xfrm>
            <a:prstGeom prst="roundRect">
              <a:avLst/>
            </a:prstGeom>
            <a:solidFill>
              <a:srgbClr val="E8F4F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a:solidFill>
                    <a:srgbClr val="888888"/>
                  </a:solidFill>
                </a:rPr>
                <a:t>p ≥ 0.10</a:t>
              </a:r>
            </a:p>
          </p:txBody>
        </p:sp>
        <p:sp>
          <p:nvSpPr>
            <p:cNvPr id="23" name="Rounded Rectangle 22">
              <a:extLst>
                <a:ext uri="{FF2B5EF4-FFF2-40B4-BE49-F238E27FC236}">
                  <a16:creationId xmlns:a16="http://schemas.microsoft.com/office/drawing/2014/main" id="{2F0B6FE5-18D0-DA37-69B1-ADA930169836}"/>
                </a:ext>
              </a:extLst>
            </p:cNvPr>
            <p:cNvSpPr/>
            <p:nvPr/>
          </p:nvSpPr>
          <p:spPr>
            <a:xfrm>
              <a:off x="7441697" y="3993333"/>
              <a:ext cx="3288261" cy="294156"/>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dirty="0">
                  <a:solidFill>
                    <a:srgbClr val="2E3640"/>
                  </a:solidFill>
                </a:rPr>
                <a:t>Very weak</a:t>
              </a:r>
            </a:p>
          </p:txBody>
        </p:sp>
      </p:grpSp>
      <p:pic>
        <p:nvPicPr>
          <p:cNvPr id="26" name="Picture 25" descr="A screenshot of a computer program&#10;&#10;AI-generated content may be incorrect.">
            <a:extLst>
              <a:ext uri="{FF2B5EF4-FFF2-40B4-BE49-F238E27FC236}">
                <a16:creationId xmlns:a16="http://schemas.microsoft.com/office/drawing/2014/main" id="{83F8F6F5-E585-FB7A-A17E-BEABF346F3B1}"/>
              </a:ext>
            </a:extLst>
          </p:cNvPr>
          <p:cNvPicPr>
            <a:picLocks noChangeAspect="1"/>
          </p:cNvPicPr>
          <p:nvPr/>
        </p:nvPicPr>
        <p:blipFill>
          <a:blip r:embed="rId3"/>
          <a:srcRect t="67114" r="2147" b="20819"/>
          <a:stretch>
            <a:fillRect/>
          </a:stretch>
        </p:blipFill>
        <p:spPr>
          <a:xfrm>
            <a:off x="5555331" y="1899754"/>
            <a:ext cx="6249242" cy="469152"/>
          </a:xfrm>
          <a:prstGeom prst="rect">
            <a:avLst/>
          </a:prstGeom>
          <a:ln w="38100" cap="sq">
            <a:solidFill>
              <a:schemeClr val="bg1">
                <a:lumMod val="65000"/>
              </a:schemeClr>
            </a:solidFill>
            <a:prstDash val="solid"/>
            <a:miter lim="800000"/>
          </a:ln>
          <a:effectLst>
            <a:outerShdw blurRad="50800" dist="38100" dir="2700000" algn="tl" rotWithShape="0">
              <a:srgbClr val="000000">
                <a:alpha val="43000"/>
              </a:srgbClr>
            </a:outerShdw>
          </a:effectLst>
        </p:spPr>
      </p:pic>
      <p:sp>
        <p:nvSpPr>
          <p:cNvPr id="28" name="Rounded Rectangle 27">
            <a:extLst>
              <a:ext uri="{FF2B5EF4-FFF2-40B4-BE49-F238E27FC236}">
                <a16:creationId xmlns:a16="http://schemas.microsoft.com/office/drawing/2014/main" id="{4B2F4AF8-441C-4CE9-8EB9-77F9A8321ED8}"/>
              </a:ext>
            </a:extLst>
          </p:cNvPr>
          <p:cNvSpPr/>
          <p:nvPr/>
        </p:nvSpPr>
        <p:spPr>
          <a:xfrm>
            <a:off x="9491828" y="4756392"/>
            <a:ext cx="2493706" cy="311647"/>
          </a:xfrm>
          <a:prstGeom prst="roundRect">
            <a:avLst/>
          </a:prstGeom>
          <a:solidFill>
            <a:schemeClr val="accent2">
              <a:lumMod val="20000"/>
              <a:lumOff val="80000"/>
            </a:schemeClr>
          </a:solidFill>
          <a:ln w="6350" cap="flat" cmpd="sng" algn="ctr">
            <a:solidFill>
              <a:schemeClr val="accent2">
                <a:lumMod val="50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rmAutofit/>
          </a:bodyPr>
          <a:lstStyle/>
          <a:p>
            <a:r>
              <a:rPr lang="en-US" sz="1100" dirty="0">
                <a:solidFill>
                  <a:srgbClr val="2E3640"/>
                </a:solidFill>
              </a:rPr>
              <a:t>p-value = 0.86% * 2 = 1.72%</a:t>
            </a:r>
          </a:p>
        </p:txBody>
      </p:sp>
      <p:cxnSp>
        <p:nvCxnSpPr>
          <p:cNvPr id="29" name="DotLine">
            <a:extLst>
              <a:ext uri="{FF2B5EF4-FFF2-40B4-BE49-F238E27FC236}">
                <a16:creationId xmlns:a16="http://schemas.microsoft.com/office/drawing/2014/main" id="{380194E3-B94F-578D-C353-B66B143AA283}"/>
              </a:ext>
            </a:extLst>
          </p:cNvPr>
          <p:cNvCxnSpPr>
            <a:cxnSpLocks/>
          </p:cNvCxnSpPr>
          <p:nvPr/>
        </p:nvCxnSpPr>
        <p:spPr>
          <a:xfrm flipH="1">
            <a:off x="9205860" y="5081157"/>
            <a:ext cx="318716" cy="515795"/>
          </a:xfrm>
          <a:prstGeom prst="line">
            <a:avLst/>
          </a:prstGeom>
          <a:ln w="19050">
            <a:solidFill>
              <a:schemeClr val="accent5">
                <a:lumMod val="75000"/>
              </a:schemeClr>
            </a:solidFill>
            <a:prstDash val="solid"/>
            <a:headEnd type="none" w="med" len="med"/>
            <a:tailEnd type="triangle" w="med" len="med"/>
          </a:ln>
        </p:spPr>
      </p:cxnSp>
      <p:sp>
        <p:nvSpPr>
          <p:cNvPr id="32" name="TLabel">
            <a:extLst>
              <a:ext uri="{FF2B5EF4-FFF2-40B4-BE49-F238E27FC236}">
                <a16:creationId xmlns:a16="http://schemas.microsoft.com/office/drawing/2014/main" id="{34C35AE0-EA84-94C4-61CB-48848A0B7447}"/>
              </a:ext>
            </a:extLst>
          </p:cNvPr>
          <p:cNvSpPr/>
          <p:nvPr/>
        </p:nvSpPr>
        <p:spPr>
          <a:xfrm>
            <a:off x="6744099" y="5018733"/>
            <a:ext cx="2285125" cy="237320"/>
          </a:xfrm>
          <a:prstGeom prst="homePlate">
            <a:avLst/>
          </a:prstGeom>
          <a:solidFill>
            <a:srgbClr val="FFFFFF"/>
          </a:solidFill>
          <a:ln w="12700">
            <a:solidFill>
              <a:srgbClr val="2C8B2C"/>
            </a:solidFill>
          </a:ln>
        </p:spPr>
        <p:txBody>
          <a:bodyPr wrap="none" lIns="36000" tIns="0" rIns="36000" bIns="0" anchor="ctr"/>
          <a:lstStyle/>
          <a:p>
            <a:pPr algn="ctr"/>
            <a:r>
              <a:rPr lang="en-US" sz="1000" b="1" dirty="0">
                <a:solidFill>
                  <a:srgbClr val="2C8B2C"/>
                </a:solidFill>
                <a:latin typeface="Open Sans"/>
              </a:rPr>
              <a:t>t = b</a:t>
            </a:r>
            <a:r>
              <a:rPr lang="en-US" sz="1000" b="1" baseline="-25000" dirty="0">
                <a:solidFill>
                  <a:srgbClr val="2C8B2C"/>
                </a:solidFill>
                <a:latin typeface="Open Sans"/>
              </a:rPr>
              <a:t>1</a:t>
            </a:r>
            <a:r>
              <a:rPr lang="en-US" sz="1000" b="1" dirty="0">
                <a:solidFill>
                  <a:srgbClr val="2C8B2C"/>
                </a:solidFill>
                <a:latin typeface="Open Sans"/>
              </a:rPr>
              <a:t> / SE = 0.386 / 0.118 = 3.26</a:t>
            </a:r>
          </a:p>
        </p:txBody>
      </p:sp>
      <p:sp>
        <p:nvSpPr>
          <p:cNvPr id="3229" name="CILVal7">
            <a:extLst>
              <a:ext uri="{FF2B5EF4-FFF2-40B4-BE49-F238E27FC236}">
                <a16:creationId xmlns:a16="http://schemas.microsoft.com/office/drawing/2014/main" id="{A367E909-BB6D-108D-E979-E71C20570744}"/>
              </a:ext>
            </a:extLst>
          </p:cNvPr>
          <p:cNvSpPr/>
          <p:nvPr/>
        </p:nvSpPr>
        <p:spPr>
          <a:xfrm>
            <a:off x="7326307" y="5959054"/>
            <a:ext cx="448620" cy="186468"/>
          </a:xfrm>
          <a:prstGeom prst="rect">
            <a:avLst/>
          </a:prstGeom>
          <a:noFill/>
          <a:ln>
            <a:noFill/>
          </a:ln>
        </p:spPr>
        <p:txBody>
          <a:bodyPr wrap="none" lIns="0" tIns="0" rIns="0" bIns="0" anchor="t"/>
          <a:lstStyle/>
          <a:p>
            <a:pPr algn="ctr"/>
            <a:r>
              <a:rPr lang="en-US" sz="1000" b="1" dirty="0">
                <a:solidFill>
                  <a:srgbClr val="2B6CB0"/>
                </a:solidFill>
                <a:latin typeface="Open Sans"/>
              </a:rPr>
              <a:t>0.096</a:t>
            </a:r>
          </a:p>
        </p:txBody>
      </p:sp>
      <p:sp>
        <p:nvSpPr>
          <p:cNvPr id="3230" name="CIRVal7">
            <a:extLst>
              <a:ext uri="{FF2B5EF4-FFF2-40B4-BE49-F238E27FC236}">
                <a16:creationId xmlns:a16="http://schemas.microsoft.com/office/drawing/2014/main" id="{AF6D5FAA-04F7-2C98-1C28-B9F9F2D99658}"/>
              </a:ext>
            </a:extLst>
          </p:cNvPr>
          <p:cNvSpPr/>
          <p:nvPr/>
        </p:nvSpPr>
        <p:spPr>
          <a:xfrm>
            <a:off x="10314634" y="5971044"/>
            <a:ext cx="448620" cy="186468"/>
          </a:xfrm>
          <a:prstGeom prst="rect">
            <a:avLst/>
          </a:prstGeom>
          <a:noFill/>
          <a:ln>
            <a:noFill/>
          </a:ln>
        </p:spPr>
        <p:txBody>
          <a:bodyPr wrap="none" lIns="0" tIns="0" rIns="0" bIns="0" anchor="t"/>
          <a:lstStyle/>
          <a:p>
            <a:pPr algn="ctr"/>
            <a:r>
              <a:rPr lang="en-US" sz="1000" b="1" dirty="0">
                <a:solidFill>
                  <a:srgbClr val="2B6CB0"/>
                </a:solidFill>
                <a:latin typeface="Open Sans"/>
              </a:rPr>
              <a:t>0.676</a:t>
            </a:r>
          </a:p>
        </p:txBody>
      </p:sp>
      <p:sp>
        <p:nvSpPr>
          <p:cNvPr id="3231" name="CIBar7">
            <a:extLst>
              <a:ext uri="{FF2B5EF4-FFF2-40B4-BE49-F238E27FC236}">
                <a16:creationId xmlns:a16="http://schemas.microsoft.com/office/drawing/2014/main" id="{0B73020D-C24A-FDA0-B98B-A0A90E2E2391}"/>
              </a:ext>
            </a:extLst>
          </p:cNvPr>
          <p:cNvSpPr/>
          <p:nvPr/>
        </p:nvSpPr>
        <p:spPr>
          <a:xfrm>
            <a:off x="7332951" y="6284168"/>
            <a:ext cx="3436947" cy="429809"/>
          </a:xfrm>
          <a:prstGeom prst="rect">
            <a:avLst/>
          </a:prstGeom>
          <a:solidFill>
            <a:srgbClr val="F1F4FF"/>
          </a:solidFill>
          <a:ln>
            <a:solidFill>
              <a:srgbClr val="0070C0"/>
            </a:solidFill>
          </a:ln>
        </p:spPr>
        <p:txBody>
          <a:bodyPr anchor="ctr"/>
          <a:lstStyle/>
          <a:p>
            <a:pPr algn="ctr"/>
            <a:r>
              <a:rPr lang="en-US" sz="1050" b="1" dirty="0">
                <a:solidFill>
                  <a:srgbClr val="2B6CB0"/>
                </a:solidFill>
                <a:latin typeface="Open Sans"/>
              </a:rPr>
              <a:t>True slope’s plausible region: ± 2.45 SE</a:t>
            </a:r>
          </a:p>
          <a:p>
            <a:pPr algn="ctr"/>
            <a:r>
              <a:rPr lang="en-US" sz="1050" b="1" dirty="0">
                <a:solidFill>
                  <a:srgbClr val="2B6CB0"/>
                </a:solidFill>
                <a:latin typeface="Open Sans"/>
              </a:rPr>
              <a:t>95% Confidence Interval</a:t>
            </a:r>
          </a:p>
        </p:txBody>
      </p:sp>
      <p:grpSp>
        <p:nvGrpSpPr>
          <p:cNvPr id="3251" name="Group 3250">
            <a:extLst>
              <a:ext uri="{FF2B5EF4-FFF2-40B4-BE49-F238E27FC236}">
                <a16:creationId xmlns:a16="http://schemas.microsoft.com/office/drawing/2014/main" id="{CB7D9C1E-44DE-1900-D85A-FD68EB179AEE}"/>
              </a:ext>
            </a:extLst>
          </p:cNvPr>
          <p:cNvGrpSpPr/>
          <p:nvPr/>
        </p:nvGrpSpPr>
        <p:grpSpPr>
          <a:xfrm>
            <a:off x="7319661" y="5639970"/>
            <a:ext cx="3450237" cy="1157961"/>
            <a:chOff x="7319661" y="5639970"/>
            <a:chExt cx="3450237" cy="1505529"/>
          </a:xfrm>
        </p:grpSpPr>
        <p:sp>
          <p:nvSpPr>
            <p:cNvPr id="3228" name="CILW7">
              <a:extLst>
                <a:ext uri="{FF2B5EF4-FFF2-40B4-BE49-F238E27FC236}">
                  <a16:creationId xmlns:a16="http://schemas.microsoft.com/office/drawing/2014/main" id="{27522E69-DB82-8F41-DC34-B39929DBDA27}"/>
                </a:ext>
              </a:extLst>
            </p:cNvPr>
            <p:cNvSpPr/>
            <p:nvPr/>
          </p:nvSpPr>
          <p:spPr>
            <a:xfrm>
              <a:off x="7319661" y="5656439"/>
              <a:ext cx="6646" cy="1489060"/>
            </a:xfrm>
            <a:prstGeom prst="line">
              <a:avLst/>
            </a:prstGeom>
            <a:ln w="15875">
              <a:solidFill>
                <a:srgbClr val="2B6CB0"/>
              </a:solidFill>
              <a:prstDash val="sysDash"/>
            </a:ln>
          </p:spPr>
          <p:txBody>
            <a:bodyPr/>
            <a:lstStyle/>
            <a:p>
              <a:endParaRPr lang="en-US" sz="2000"/>
            </a:p>
          </p:txBody>
        </p:sp>
        <p:sp>
          <p:nvSpPr>
            <p:cNvPr id="3232" name="CIRW7">
              <a:extLst>
                <a:ext uri="{FF2B5EF4-FFF2-40B4-BE49-F238E27FC236}">
                  <a16:creationId xmlns:a16="http://schemas.microsoft.com/office/drawing/2014/main" id="{08EF447E-6774-338C-24F6-15765E21A65F}"/>
                </a:ext>
              </a:extLst>
            </p:cNvPr>
            <p:cNvSpPr/>
            <p:nvPr/>
          </p:nvSpPr>
          <p:spPr>
            <a:xfrm flipH="1">
              <a:off x="10763252" y="5639970"/>
              <a:ext cx="6646" cy="1489061"/>
            </a:xfrm>
            <a:prstGeom prst="line">
              <a:avLst/>
            </a:prstGeom>
            <a:ln w="15875">
              <a:solidFill>
                <a:srgbClr val="2B6CB0"/>
              </a:solidFill>
              <a:prstDash val="sysDash"/>
            </a:ln>
          </p:spPr>
          <p:txBody>
            <a:bodyPr/>
            <a:lstStyle/>
            <a:p>
              <a:endParaRPr lang="en-US" sz="2000"/>
            </a:p>
          </p:txBody>
        </p:sp>
      </p:grpSp>
      <p:grpSp>
        <p:nvGrpSpPr>
          <p:cNvPr id="3233" name="Group 3232">
            <a:extLst>
              <a:ext uri="{FF2B5EF4-FFF2-40B4-BE49-F238E27FC236}">
                <a16:creationId xmlns:a16="http://schemas.microsoft.com/office/drawing/2014/main" id="{AE05B909-F245-0B36-2AB4-FD42EA8C949B}"/>
              </a:ext>
            </a:extLst>
          </p:cNvPr>
          <p:cNvGrpSpPr/>
          <p:nvPr/>
        </p:nvGrpSpPr>
        <p:grpSpPr>
          <a:xfrm>
            <a:off x="7342945" y="6153014"/>
            <a:ext cx="3436941" cy="139778"/>
            <a:chOff x="7674600" y="4901590"/>
            <a:chExt cx="3052621" cy="124385"/>
          </a:xfrm>
        </p:grpSpPr>
        <p:sp>
          <p:nvSpPr>
            <p:cNvPr id="3235" name="CIBar7">
              <a:extLst>
                <a:ext uri="{FF2B5EF4-FFF2-40B4-BE49-F238E27FC236}">
                  <a16:creationId xmlns:a16="http://schemas.microsoft.com/office/drawing/2014/main" id="{A50E71EC-8AB8-B657-BDD2-ADDE9DA9A208}"/>
                </a:ext>
              </a:extLst>
            </p:cNvPr>
            <p:cNvSpPr/>
            <p:nvPr/>
          </p:nvSpPr>
          <p:spPr>
            <a:xfrm>
              <a:off x="9202825" y="4916652"/>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36" name="CILW7">
              <a:extLst>
                <a:ext uri="{FF2B5EF4-FFF2-40B4-BE49-F238E27FC236}">
                  <a16:creationId xmlns:a16="http://schemas.microsoft.com/office/drawing/2014/main" id="{2368EB50-C7FD-8C65-B118-7145E5AE1F1C}"/>
                </a:ext>
              </a:extLst>
            </p:cNvPr>
            <p:cNvSpPr/>
            <p:nvPr/>
          </p:nvSpPr>
          <p:spPr>
            <a:xfrm>
              <a:off x="9196928" y="4901590"/>
              <a:ext cx="0" cy="120753"/>
            </a:xfrm>
            <a:prstGeom prst="line">
              <a:avLst/>
            </a:prstGeom>
            <a:ln w="15875">
              <a:solidFill>
                <a:srgbClr val="2B6CB0"/>
              </a:solidFill>
            </a:ln>
          </p:spPr>
          <p:txBody>
            <a:bodyPr anchor="ctr"/>
            <a:lstStyle/>
            <a:p>
              <a:endParaRPr lang="en-US" sz="2000"/>
            </a:p>
          </p:txBody>
        </p:sp>
        <p:sp>
          <p:nvSpPr>
            <p:cNvPr id="3237" name="CILW7">
              <a:extLst>
                <a:ext uri="{FF2B5EF4-FFF2-40B4-BE49-F238E27FC236}">
                  <a16:creationId xmlns:a16="http://schemas.microsoft.com/office/drawing/2014/main" id="{A26B6B39-13A4-B561-37DB-6215F4CFED29}"/>
                </a:ext>
              </a:extLst>
            </p:cNvPr>
            <p:cNvSpPr/>
            <p:nvPr/>
          </p:nvSpPr>
          <p:spPr>
            <a:xfrm>
              <a:off x="9822879" y="4901590"/>
              <a:ext cx="0" cy="120753"/>
            </a:xfrm>
            <a:prstGeom prst="line">
              <a:avLst/>
            </a:prstGeom>
            <a:ln w="15875">
              <a:solidFill>
                <a:srgbClr val="2B6CB0"/>
              </a:solidFill>
            </a:ln>
          </p:spPr>
          <p:txBody>
            <a:bodyPr anchor="ctr"/>
            <a:lstStyle/>
            <a:p>
              <a:endParaRPr lang="en-US" sz="2000"/>
            </a:p>
          </p:txBody>
        </p:sp>
        <p:sp>
          <p:nvSpPr>
            <p:cNvPr id="3238" name="CIBar7">
              <a:extLst>
                <a:ext uri="{FF2B5EF4-FFF2-40B4-BE49-F238E27FC236}">
                  <a16:creationId xmlns:a16="http://schemas.microsoft.com/office/drawing/2014/main" id="{E1911DD1-A065-AEC5-44BA-A56198931B82}"/>
                </a:ext>
              </a:extLst>
            </p:cNvPr>
            <p:cNvSpPr/>
            <p:nvPr/>
          </p:nvSpPr>
          <p:spPr>
            <a:xfrm>
              <a:off x="9828775" y="4919212"/>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39" name="CILW7">
              <a:extLst>
                <a:ext uri="{FF2B5EF4-FFF2-40B4-BE49-F238E27FC236}">
                  <a16:creationId xmlns:a16="http://schemas.microsoft.com/office/drawing/2014/main" id="{7F82F254-80E8-5A59-347A-90F01F18D8C4}"/>
                </a:ext>
              </a:extLst>
            </p:cNvPr>
            <p:cNvSpPr/>
            <p:nvPr/>
          </p:nvSpPr>
          <p:spPr>
            <a:xfrm>
              <a:off x="9822878" y="4904150"/>
              <a:ext cx="0" cy="120753"/>
            </a:xfrm>
            <a:prstGeom prst="line">
              <a:avLst/>
            </a:prstGeom>
            <a:ln w="15875">
              <a:solidFill>
                <a:srgbClr val="2B6CB0"/>
              </a:solidFill>
            </a:ln>
          </p:spPr>
          <p:txBody>
            <a:bodyPr anchor="ctr"/>
            <a:lstStyle/>
            <a:p>
              <a:endParaRPr lang="en-US" sz="2000"/>
            </a:p>
          </p:txBody>
        </p:sp>
        <p:sp>
          <p:nvSpPr>
            <p:cNvPr id="3240" name="CILW7">
              <a:extLst>
                <a:ext uri="{FF2B5EF4-FFF2-40B4-BE49-F238E27FC236}">
                  <a16:creationId xmlns:a16="http://schemas.microsoft.com/office/drawing/2014/main" id="{5F9F481E-2F2C-21A3-89F4-0FF90F671213}"/>
                </a:ext>
              </a:extLst>
            </p:cNvPr>
            <p:cNvSpPr/>
            <p:nvPr/>
          </p:nvSpPr>
          <p:spPr>
            <a:xfrm>
              <a:off x="10448828" y="4904150"/>
              <a:ext cx="0" cy="120753"/>
            </a:xfrm>
            <a:prstGeom prst="line">
              <a:avLst/>
            </a:prstGeom>
            <a:ln w="15875">
              <a:solidFill>
                <a:srgbClr val="2B6CB0"/>
              </a:solidFill>
            </a:ln>
          </p:spPr>
          <p:txBody>
            <a:bodyPr anchor="ctr"/>
            <a:lstStyle/>
            <a:p>
              <a:endParaRPr lang="en-US" sz="2000"/>
            </a:p>
          </p:txBody>
        </p:sp>
        <p:sp>
          <p:nvSpPr>
            <p:cNvPr id="3241" name="CIBar7">
              <a:extLst>
                <a:ext uri="{FF2B5EF4-FFF2-40B4-BE49-F238E27FC236}">
                  <a16:creationId xmlns:a16="http://schemas.microsoft.com/office/drawing/2014/main" id="{DCBFA6F1-F3BC-A308-83CB-749C2A8BA0D3}"/>
                </a:ext>
              </a:extLst>
            </p:cNvPr>
            <p:cNvSpPr/>
            <p:nvPr/>
          </p:nvSpPr>
          <p:spPr>
            <a:xfrm>
              <a:off x="10454724" y="4917724"/>
              <a:ext cx="272497" cy="89924"/>
            </a:xfrm>
            <a:prstGeom prst="rect">
              <a:avLst/>
            </a:prstGeom>
            <a:solidFill>
              <a:srgbClr val="B8D4E8">
                <a:alpha val="34902"/>
              </a:srgbClr>
            </a:solidFill>
            <a:ln>
              <a:noFill/>
            </a:ln>
          </p:spPr>
          <p:txBody>
            <a:bodyPr lIns="0" rIns="0" anchor="ctr"/>
            <a:lstStyle/>
            <a:p>
              <a:pPr algn="ctr"/>
              <a:endParaRPr lang="en-US" sz="900" dirty="0"/>
            </a:p>
          </p:txBody>
        </p:sp>
        <p:sp>
          <p:nvSpPr>
            <p:cNvPr id="3242" name="CILW7">
              <a:extLst>
                <a:ext uri="{FF2B5EF4-FFF2-40B4-BE49-F238E27FC236}">
                  <a16:creationId xmlns:a16="http://schemas.microsoft.com/office/drawing/2014/main" id="{84DC99BF-2EBC-2FB2-A548-B005489BFF73}"/>
                </a:ext>
              </a:extLst>
            </p:cNvPr>
            <p:cNvSpPr/>
            <p:nvPr/>
          </p:nvSpPr>
          <p:spPr>
            <a:xfrm>
              <a:off x="10448826" y="4902662"/>
              <a:ext cx="0" cy="120753"/>
            </a:xfrm>
            <a:prstGeom prst="line">
              <a:avLst/>
            </a:prstGeom>
            <a:ln w="15875">
              <a:solidFill>
                <a:srgbClr val="2B6CB0"/>
              </a:solidFill>
            </a:ln>
          </p:spPr>
          <p:txBody>
            <a:bodyPr anchor="ctr"/>
            <a:lstStyle/>
            <a:p>
              <a:endParaRPr lang="en-US" sz="2000"/>
            </a:p>
          </p:txBody>
        </p:sp>
        <p:sp>
          <p:nvSpPr>
            <p:cNvPr id="3243" name="CIBar7">
              <a:extLst>
                <a:ext uri="{FF2B5EF4-FFF2-40B4-BE49-F238E27FC236}">
                  <a16:creationId xmlns:a16="http://schemas.microsoft.com/office/drawing/2014/main" id="{2C411EC4-1B40-4032-2502-452C7E377EAD}"/>
                </a:ext>
              </a:extLst>
            </p:cNvPr>
            <p:cNvSpPr/>
            <p:nvPr/>
          </p:nvSpPr>
          <p:spPr>
            <a:xfrm>
              <a:off x="7674600" y="4917724"/>
              <a:ext cx="272102" cy="89924"/>
            </a:xfrm>
            <a:prstGeom prst="rect">
              <a:avLst/>
            </a:prstGeom>
            <a:solidFill>
              <a:srgbClr val="B8D4E8">
                <a:alpha val="34902"/>
              </a:srgbClr>
            </a:solidFill>
            <a:ln>
              <a:noFill/>
            </a:ln>
          </p:spPr>
          <p:txBody>
            <a:bodyPr lIns="0" rIns="0" anchor="ctr"/>
            <a:lstStyle/>
            <a:p>
              <a:pPr algn="ctr"/>
              <a:endParaRPr lang="en-US" sz="900" dirty="0"/>
            </a:p>
          </p:txBody>
        </p:sp>
        <p:sp>
          <p:nvSpPr>
            <p:cNvPr id="3244" name="CILW7">
              <a:extLst>
                <a:ext uri="{FF2B5EF4-FFF2-40B4-BE49-F238E27FC236}">
                  <a16:creationId xmlns:a16="http://schemas.microsoft.com/office/drawing/2014/main" id="{D30FD025-8BDF-B57C-ADA5-4827B0464CB4}"/>
                </a:ext>
              </a:extLst>
            </p:cNvPr>
            <p:cNvSpPr/>
            <p:nvPr/>
          </p:nvSpPr>
          <p:spPr>
            <a:xfrm>
              <a:off x="7947981" y="4902662"/>
              <a:ext cx="0" cy="120753"/>
            </a:xfrm>
            <a:prstGeom prst="line">
              <a:avLst/>
            </a:prstGeom>
            <a:ln w="15875">
              <a:solidFill>
                <a:srgbClr val="2B6CB0"/>
              </a:solidFill>
            </a:ln>
          </p:spPr>
          <p:txBody>
            <a:bodyPr anchor="ctr"/>
            <a:lstStyle/>
            <a:p>
              <a:endParaRPr lang="en-US" sz="2000"/>
            </a:p>
          </p:txBody>
        </p:sp>
        <p:sp>
          <p:nvSpPr>
            <p:cNvPr id="3245" name="CIBar7">
              <a:extLst>
                <a:ext uri="{FF2B5EF4-FFF2-40B4-BE49-F238E27FC236}">
                  <a16:creationId xmlns:a16="http://schemas.microsoft.com/office/drawing/2014/main" id="{26DA810E-EE29-0B5B-4C7A-E4544BDE1DC4}"/>
                </a:ext>
              </a:extLst>
            </p:cNvPr>
            <p:cNvSpPr/>
            <p:nvPr/>
          </p:nvSpPr>
          <p:spPr>
            <a:xfrm>
              <a:off x="7953878" y="4920284"/>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46" name="CILW7">
              <a:extLst>
                <a:ext uri="{FF2B5EF4-FFF2-40B4-BE49-F238E27FC236}">
                  <a16:creationId xmlns:a16="http://schemas.microsoft.com/office/drawing/2014/main" id="{AD7F92A2-E18E-8E25-3A5D-F34F8F9E4C10}"/>
                </a:ext>
              </a:extLst>
            </p:cNvPr>
            <p:cNvSpPr/>
            <p:nvPr/>
          </p:nvSpPr>
          <p:spPr>
            <a:xfrm>
              <a:off x="7947980" y="4905222"/>
              <a:ext cx="0" cy="120753"/>
            </a:xfrm>
            <a:prstGeom prst="line">
              <a:avLst/>
            </a:prstGeom>
            <a:ln w="15875">
              <a:solidFill>
                <a:srgbClr val="2B6CB0"/>
              </a:solidFill>
            </a:ln>
          </p:spPr>
          <p:txBody>
            <a:bodyPr anchor="ctr"/>
            <a:lstStyle/>
            <a:p>
              <a:endParaRPr lang="en-US" sz="2000"/>
            </a:p>
          </p:txBody>
        </p:sp>
        <p:sp>
          <p:nvSpPr>
            <p:cNvPr id="3247" name="CILW7">
              <a:extLst>
                <a:ext uri="{FF2B5EF4-FFF2-40B4-BE49-F238E27FC236}">
                  <a16:creationId xmlns:a16="http://schemas.microsoft.com/office/drawing/2014/main" id="{FCC24A30-FDA3-95E5-2D6E-22E799CAEF48}"/>
                </a:ext>
              </a:extLst>
            </p:cNvPr>
            <p:cNvSpPr/>
            <p:nvPr/>
          </p:nvSpPr>
          <p:spPr>
            <a:xfrm>
              <a:off x="8573931" y="4905222"/>
              <a:ext cx="0" cy="120753"/>
            </a:xfrm>
            <a:prstGeom prst="line">
              <a:avLst/>
            </a:prstGeom>
            <a:ln w="15875">
              <a:solidFill>
                <a:srgbClr val="2B6CB0"/>
              </a:solidFill>
            </a:ln>
          </p:spPr>
          <p:txBody>
            <a:bodyPr anchor="ctr"/>
            <a:lstStyle/>
            <a:p>
              <a:endParaRPr lang="en-US" sz="2000"/>
            </a:p>
          </p:txBody>
        </p:sp>
        <p:sp>
          <p:nvSpPr>
            <p:cNvPr id="3248" name="CIBar7">
              <a:extLst>
                <a:ext uri="{FF2B5EF4-FFF2-40B4-BE49-F238E27FC236}">
                  <a16:creationId xmlns:a16="http://schemas.microsoft.com/office/drawing/2014/main" id="{E3357A38-38AD-A993-8D78-0C7619495096}"/>
                </a:ext>
              </a:extLst>
            </p:cNvPr>
            <p:cNvSpPr/>
            <p:nvPr/>
          </p:nvSpPr>
          <p:spPr>
            <a:xfrm>
              <a:off x="8579827" y="4918796"/>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49" name="CILW7">
              <a:extLst>
                <a:ext uri="{FF2B5EF4-FFF2-40B4-BE49-F238E27FC236}">
                  <a16:creationId xmlns:a16="http://schemas.microsoft.com/office/drawing/2014/main" id="{33C26A38-5793-FE1A-448E-86DD043CC3EE}"/>
                </a:ext>
              </a:extLst>
            </p:cNvPr>
            <p:cNvSpPr/>
            <p:nvPr/>
          </p:nvSpPr>
          <p:spPr>
            <a:xfrm>
              <a:off x="8573929" y="4903734"/>
              <a:ext cx="0" cy="120753"/>
            </a:xfrm>
            <a:prstGeom prst="line">
              <a:avLst/>
            </a:prstGeom>
            <a:ln w="15875">
              <a:solidFill>
                <a:srgbClr val="2B6CB0"/>
              </a:solidFill>
            </a:ln>
          </p:spPr>
          <p:txBody>
            <a:bodyPr anchor="ctr"/>
            <a:lstStyle/>
            <a:p>
              <a:endParaRPr lang="en-US" sz="2000"/>
            </a:p>
          </p:txBody>
        </p:sp>
        <p:sp>
          <p:nvSpPr>
            <p:cNvPr id="3250" name="CILW7">
              <a:extLst>
                <a:ext uri="{FF2B5EF4-FFF2-40B4-BE49-F238E27FC236}">
                  <a16:creationId xmlns:a16="http://schemas.microsoft.com/office/drawing/2014/main" id="{D3D58649-28F8-DB10-CC9F-4133847120F2}"/>
                </a:ext>
              </a:extLst>
            </p:cNvPr>
            <p:cNvSpPr/>
            <p:nvPr/>
          </p:nvSpPr>
          <p:spPr>
            <a:xfrm>
              <a:off x="9199880" y="4903734"/>
              <a:ext cx="0" cy="120753"/>
            </a:xfrm>
            <a:prstGeom prst="line">
              <a:avLst/>
            </a:prstGeom>
            <a:ln w="15875">
              <a:solidFill>
                <a:srgbClr val="2B6CB0"/>
              </a:solidFill>
            </a:ln>
          </p:spPr>
          <p:txBody>
            <a:bodyPr anchor="ctr"/>
            <a:lstStyle/>
            <a:p>
              <a:endParaRPr lang="en-US" sz="2000"/>
            </a:p>
          </p:txBody>
        </p:sp>
      </p:grpSp>
    </p:spTree>
    <p:extLst>
      <p:ext uri="{BB962C8B-B14F-4D97-AF65-F5344CB8AC3E}">
        <p14:creationId xmlns:p14="http://schemas.microsoft.com/office/powerpoint/2010/main" val="862173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223" grpId="0" animBg="1"/>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629F1-88C4-7B80-F1D0-4269B018A5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19B294-D06E-7138-433D-3AA2B9DF2E53}"/>
              </a:ext>
            </a:extLst>
          </p:cNvPr>
          <p:cNvSpPr txBox="1"/>
          <p:nvPr/>
        </p:nvSpPr>
        <p:spPr>
          <a:xfrm>
            <a:off x="241300" y="228600"/>
            <a:ext cx="11709400" cy="400110"/>
          </a:xfrm>
          <a:prstGeom prst="rect">
            <a:avLst/>
          </a:prstGeom>
          <a:noFill/>
          <a:ln>
            <a:noFill/>
          </a:ln>
        </p:spPr>
        <p:txBody>
          <a:bodyPr wrap="square" lIns="36000" tIns="0" rIns="36000" bIns="0" anchor="ctr"/>
          <a:lstStyle>
            <a:defPPr>
              <a:defRPr lang="en-US"/>
            </a:defPPr>
            <a:lvl1pPr>
              <a:defRPr sz="2000" b="1">
                <a:solidFill>
                  <a:srgbClr val="2E6B75"/>
                </a:solidFill>
                <a:latin typeface="Montserrat"/>
              </a:defRPr>
            </a:lvl1pPr>
          </a:lstStyle>
          <a:p>
            <a:r>
              <a:rPr lang="en-US" dirty="0"/>
              <a:t>Practice: Understanding the null hypothesis and the p-value</a:t>
            </a:r>
          </a:p>
        </p:txBody>
      </p:sp>
      <p:sp>
        <p:nvSpPr>
          <p:cNvPr id="3" name="Rounded Rectangle 2">
            <a:extLst>
              <a:ext uri="{FF2B5EF4-FFF2-40B4-BE49-F238E27FC236}">
                <a16:creationId xmlns:a16="http://schemas.microsoft.com/office/drawing/2014/main" id="{8148A8A1-A025-4CA9-6318-09E0633F2715}"/>
              </a:ext>
            </a:extLst>
          </p:cNvPr>
          <p:cNvSpPr/>
          <p:nvPr/>
        </p:nvSpPr>
        <p:spPr>
          <a:xfrm>
            <a:off x="241300" y="787400"/>
            <a:ext cx="5753100" cy="825500"/>
          </a:xfrm>
          <a:prstGeom prst="roundRect">
            <a:avLst/>
          </a:prstGeom>
          <a:solidFill>
            <a:srgbClr val="2E6B7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r>
              <a:rPr lang="en-US" sz="1400" b="1" dirty="0">
                <a:solidFill>
                  <a:srgbClr val="FFFFFF"/>
                </a:solidFill>
              </a:rPr>
              <a:t>Q1: Under the null hypothesis in this lesson, which statement is true?</a:t>
            </a:r>
          </a:p>
        </p:txBody>
      </p:sp>
      <p:sp>
        <p:nvSpPr>
          <p:cNvPr id="4" name="Rounded Rectangle 3">
            <a:extLst>
              <a:ext uri="{FF2B5EF4-FFF2-40B4-BE49-F238E27FC236}">
                <a16:creationId xmlns:a16="http://schemas.microsoft.com/office/drawing/2014/main" id="{BF4A7987-E552-8745-B38B-93037BBA2230}"/>
              </a:ext>
            </a:extLst>
          </p:cNvPr>
          <p:cNvSpPr/>
          <p:nvPr/>
        </p:nvSpPr>
        <p:spPr>
          <a:xfrm>
            <a:off x="444500" y="1701800"/>
            <a:ext cx="5549900" cy="406400"/>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r>
              <a:rPr lang="en-US" sz="1300" dirty="0">
                <a:solidFill>
                  <a:srgbClr val="2E3640"/>
                </a:solidFill>
              </a:rPr>
              <a:t>A) All sample slopes will be zero, but the true slope may be non-zero</a:t>
            </a:r>
          </a:p>
        </p:txBody>
      </p:sp>
      <p:sp>
        <p:nvSpPr>
          <p:cNvPr id="5" name="Rounded Rectangle 4">
            <a:extLst>
              <a:ext uri="{FF2B5EF4-FFF2-40B4-BE49-F238E27FC236}">
                <a16:creationId xmlns:a16="http://schemas.microsoft.com/office/drawing/2014/main" id="{0C4498B2-B4CE-1DBC-D46A-5FA2CC3B1A9A}"/>
              </a:ext>
            </a:extLst>
          </p:cNvPr>
          <p:cNvSpPr/>
          <p:nvPr/>
        </p:nvSpPr>
        <p:spPr>
          <a:xfrm>
            <a:off x="444500" y="2184400"/>
            <a:ext cx="5549900" cy="406400"/>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clip" horzOverflow="clip" vert="horz" wrap="square" lIns="91440" tIns="45720" rIns="91440" bIns="45720" numCol="1" spcCol="0" rtlCol="0" fromWordArt="0" anchor="ctr" anchorCtr="0" forceAA="0" compatLnSpc="1">
            <a:prstTxWarp prst="textNoShape">
              <a:avLst/>
            </a:prstTxWarp>
            <a:noAutofit/>
          </a:bodyPr>
          <a:lstStyle/>
          <a:p>
            <a:r>
              <a:rPr lang="en-US" sz="1300" dirty="0">
                <a:solidFill>
                  <a:srgbClr val="2E3640"/>
                </a:solidFill>
              </a:rPr>
              <a:t>B) The true slope is zero, but sample slopes will vary by chance</a:t>
            </a:r>
          </a:p>
        </p:txBody>
      </p:sp>
      <p:sp>
        <p:nvSpPr>
          <p:cNvPr id="7" name="Rounded Rectangle 6">
            <a:extLst>
              <a:ext uri="{FF2B5EF4-FFF2-40B4-BE49-F238E27FC236}">
                <a16:creationId xmlns:a16="http://schemas.microsoft.com/office/drawing/2014/main" id="{F9DFB9A0-68C8-5DCA-5EB1-211909ED17F0}"/>
              </a:ext>
            </a:extLst>
          </p:cNvPr>
          <p:cNvSpPr/>
          <p:nvPr/>
        </p:nvSpPr>
        <p:spPr>
          <a:xfrm>
            <a:off x="241300" y="3149600"/>
            <a:ext cx="5753100" cy="1866900"/>
          </a:xfrm>
          <a:prstGeom prst="roundRect">
            <a:avLst/>
          </a:prstGeom>
          <a:solidFill>
            <a:srgbClr val="E8F4F5"/>
          </a:solidFill>
          <a:ln w="12700" cap="flat" cmpd="sng" algn="ctr">
            <a:solidFill>
              <a:srgbClr val="2E6B7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r>
              <a:rPr lang="en-US" sz="1400" dirty="0">
                <a:solidFill>
                  <a:srgbClr val="2E3640"/>
                </a:solidFill>
              </a:rPr>
              <a:t>Answer: B
Even if the true slope is 0, random samples will usually give slightly positive or negative slopes just from chance.</a:t>
            </a:r>
          </a:p>
          <a:p>
            <a:endParaRPr lang="en-US" sz="1400" dirty="0">
              <a:solidFill>
                <a:srgbClr val="2E3640"/>
              </a:solidFill>
            </a:endParaRPr>
          </a:p>
          <a:p>
            <a:r>
              <a:rPr lang="en-US" sz="1400" dirty="0">
                <a:solidFill>
                  <a:srgbClr val="2E3640"/>
                </a:solidFill>
              </a:rPr>
              <a:t>This variability gives rise to the t-distribution under the null</a:t>
            </a:r>
          </a:p>
        </p:txBody>
      </p:sp>
      <p:sp>
        <p:nvSpPr>
          <p:cNvPr id="8" name="Rounded Rectangle 7">
            <a:extLst>
              <a:ext uri="{FF2B5EF4-FFF2-40B4-BE49-F238E27FC236}">
                <a16:creationId xmlns:a16="http://schemas.microsoft.com/office/drawing/2014/main" id="{3FBCCE7F-0E5C-8668-DE0F-84987938C051}"/>
              </a:ext>
            </a:extLst>
          </p:cNvPr>
          <p:cNvSpPr/>
          <p:nvPr/>
        </p:nvSpPr>
        <p:spPr>
          <a:xfrm>
            <a:off x="6197600" y="787400"/>
            <a:ext cx="5753100" cy="825500"/>
          </a:xfrm>
          <a:prstGeom prst="roundRect">
            <a:avLst/>
          </a:prstGeom>
          <a:solidFill>
            <a:srgbClr val="2E6B7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r>
              <a:rPr lang="en-US" sz="1400" b="1" dirty="0">
                <a:solidFill>
                  <a:srgbClr val="FFFFFF"/>
                </a:solidFill>
              </a:rPr>
              <a:t>Q2: In the simulation, only 41 out of 2,000 null-world samples had a t-statistic at least as extreme as ours. What does that suggest?</a:t>
            </a:r>
          </a:p>
        </p:txBody>
      </p:sp>
      <p:sp>
        <p:nvSpPr>
          <p:cNvPr id="9" name="Rounded Rectangle 8">
            <a:extLst>
              <a:ext uri="{FF2B5EF4-FFF2-40B4-BE49-F238E27FC236}">
                <a16:creationId xmlns:a16="http://schemas.microsoft.com/office/drawing/2014/main" id="{71576583-D876-DC6A-86F0-4BA676F0BCFF}"/>
              </a:ext>
            </a:extLst>
          </p:cNvPr>
          <p:cNvSpPr/>
          <p:nvPr/>
        </p:nvSpPr>
        <p:spPr>
          <a:xfrm>
            <a:off x="6400800" y="1701800"/>
            <a:ext cx="5549900" cy="406400"/>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r>
              <a:rPr lang="en-US" sz="1300" dirty="0">
                <a:solidFill>
                  <a:srgbClr val="2E3640"/>
                </a:solidFill>
              </a:rPr>
              <a:t>A) Our result would be unusual if the true slope were 0</a:t>
            </a:r>
            <a:br>
              <a:rPr lang="en-US" sz="1300" dirty="0">
                <a:solidFill>
                  <a:srgbClr val="2E3640"/>
                </a:solidFill>
              </a:rPr>
            </a:br>
            <a:endParaRPr lang="en-US" sz="1300" dirty="0">
              <a:solidFill>
                <a:srgbClr val="2E3640"/>
              </a:solidFill>
            </a:endParaRPr>
          </a:p>
        </p:txBody>
      </p:sp>
      <p:sp>
        <p:nvSpPr>
          <p:cNvPr id="10" name="Rounded Rectangle 9">
            <a:extLst>
              <a:ext uri="{FF2B5EF4-FFF2-40B4-BE49-F238E27FC236}">
                <a16:creationId xmlns:a16="http://schemas.microsoft.com/office/drawing/2014/main" id="{6B155C20-F78B-36B2-022C-FF79C46CD9F3}"/>
              </a:ext>
            </a:extLst>
          </p:cNvPr>
          <p:cNvSpPr/>
          <p:nvPr/>
        </p:nvSpPr>
        <p:spPr>
          <a:xfrm>
            <a:off x="6400800" y="2197100"/>
            <a:ext cx="5549900" cy="406401"/>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clip" horzOverflow="clip" vert="horz" wrap="square" lIns="91440" tIns="45720" rIns="91440" bIns="45720" numCol="1" spcCol="0" rtlCol="0" fromWordArt="0" anchor="ctr" anchorCtr="0" forceAA="0" compatLnSpc="1">
            <a:prstTxWarp prst="textNoShape">
              <a:avLst/>
            </a:prstTxWarp>
            <a:noAutofit/>
          </a:bodyPr>
          <a:lstStyle/>
          <a:p>
            <a:r>
              <a:rPr lang="en-US" sz="1300" dirty="0">
                <a:solidFill>
                  <a:srgbClr val="2E3640"/>
                </a:solidFill>
              </a:rPr>
              <a:t>B) The null hypothesis is a good explanation of the data</a:t>
            </a:r>
          </a:p>
        </p:txBody>
      </p:sp>
      <p:sp>
        <p:nvSpPr>
          <p:cNvPr id="11" name="Rounded Rectangle 10">
            <a:extLst>
              <a:ext uri="{FF2B5EF4-FFF2-40B4-BE49-F238E27FC236}">
                <a16:creationId xmlns:a16="http://schemas.microsoft.com/office/drawing/2014/main" id="{28D8F273-364A-7B9F-7469-8BE6944CFC88}"/>
              </a:ext>
            </a:extLst>
          </p:cNvPr>
          <p:cNvSpPr/>
          <p:nvPr/>
        </p:nvSpPr>
        <p:spPr>
          <a:xfrm>
            <a:off x="6197600" y="3149600"/>
            <a:ext cx="5753100" cy="1866900"/>
          </a:xfrm>
          <a:prstGeom prst="roundRect">
            <a:avLst>
              <a:gd name="adj" fmla="val 10373"/>
            </a:avLst>
          </a:prstGeom>
          <a:solidFill>
            <a:srgbClr val="E8F4F5"/>
          </a:solidFill>
          <a:ln w="12700" cap="flat" cmpd="sng" algn="ctr">
            <a:solidFill>
              <a:srgbClr val="2E6B7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r>
              <a:rPr lang="en-US" sz="1400" dirty="0">
                <a:solidFill>
                  <a:srgbClr val="2E3640"/>
                </a:solidFill>
              </a:rPr>
              <a:t>Answer: A
If only a small fraction of null-world samples produce a result this extreme, then our observed data do not fit very well with the null world. That is why the result counts as evidence against the null hypothesis, or evidence in favor of there being a real effect.</a:t>
            </a:r>
          </a:p>
        </p:txBody>
      </p:sp>
      <p:pic>
        <p:nvPicPr>
          <p:cNvPr id="12" name="Picture 11">
            <a:extLst>
              <a:ext uri="{FF2B5EF4-FFF2-40B4-BE49-F238E27FC236}">
                <a16:creationId xmlns:a16="http://schemas.microsoft.com/office/drawing/2014/main" id="{4BCDF246-48EA-8B27-F796-DED951228A63}"/>
              </a:ext>
            </a:extLst>
          </p:cNvPr>
          <p:cNvPicPr>
            <a:picLocks noChangeAspect="1"/>
          </p:cNvPicPr>
          <p:nvPr/>
        </p:nvPicPr>
        <p:blipFill>
          <a:blip r:embed="rId2"/>
          <a:stretch>
            <a:fillRect/>
          </a:stretch>
        </p:blipFill>
        <p:spPr>
          <a:xfrm>
            <a:off x="7136483" y="4427997"/>
            <a:ext cx="3863090" cy="2269203"/>
          </a:xfrm>
          <a:prstGeom prst="rect">
            <a:avLst/>
          </a:prstGeom>
        </p:spPr>
      </p:pic>
    </p:spTree>
    <p:extLst>
      <p:ext uri="{BB962C8B-B14F-4D97-AF65-F5344CB8AC3E}">
        <p14:creationId xmlns:p14="http://schemas.microsoft.com/office/powerpoint/2010/main" val="2877179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AF473C9-7FF0-0442-9DFE-A73790C348EA}"/>
              </a:ext>
            </a:extLst>
          </p:cNvPr>
          <p:cNvSpPr/>
          <p:nvPr/>
        </p:nvSpPr>
        <p:spPr>
          <a:xfrm>
            <a:off x="241300" y="787400"/>
            <a:ext cx="8532586" cy="1052830"/>
          </a:xfrm>
          <a:prstGeom prst="roundRect">
            <a:avLst>
              <a:gd name="adj" fmla="val 9067"/>
            </a:avLst>
          </a:prstGeom>
          <a:solidFill>
            <a:srgbClr val="EBF7EE"/>
          </a:solidFill>
          <a:ln w="19050" cap="flat" cmpd="sng" algn="ctr">
            <a:solidFill>
              <a:srgbClr val="1E7D4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500" dirty="0">
                <a:solidFill>
                  <a:srgbClr val="1A3A1A"/>
                </a:solidFill>
              </a:rPr>
              <a:t>✓ CORRECT: "If the null hypothesis were true, there is a 1.72% chance of seeing a test statistic as extreme as 3.26 in a sample of 8."</a:t>
            </a:r>
          </a:p>
        </p:txBody>
      </p:sp>
      <p:sp>
        <p:nvSpPr>
          <p:cNvPr id="4" name="TextBox 3">
            <a:extLst>
              <a:ext uri="{FF2B5EF4-FFF2-40B4-BE49-F238E27FC236}">
                <a16:creationId xmlns:a16="http://schemas.microsoft.com/office/drawing/2014/main" id="{D2A4A02F-312A-B046-BBEB-1B09E20C4CB2}"/>
              </a:ext>
            </a:extLst>
          </p:cNvPr>
          <p:cNvSpPr txBox="1"/>
          <p:nvPr/>
        </p:nvSpPr>
        <p:spPr>
          <a:xfrm>
            <a:off x="241300" y="2015331"/>
            <a:ext cx="8143900" cy="338554"/>
          </a:xfrm>
          <a:prstGeom prst="rect">
            <a:avLst/>
          </a:prstGeom>
          <a:noFill/>
        </p:spPr>
        <p:txBody>
          <a:bodyPr vertOverflow="overflow" vert="horz" wrap="square" rtlCol="0" anchor="t">
            <a:spAutoFit/>
          </a:bodyPr>
          <a:lstStyle/>
          <a:p>
            <a:pPr algn="l"/>
            <a:r>
              <a:rPr lang="en-US" sz="1600" b="1">
                <a:solidFill>
                  <a:srgbClr val="D94535"/>
                </a:solidFill>
              </a:rPr>
              <a:t>Common Misinterpretations</a:t>
            </a:r>
          </a:p>
        </p:txBody>
      </p:sp>
      <p:sp>
        <p:nvSpPr>
          <p:cNvPr id="7" name="Rounded Rectangle 6">
            <a:extLst>
              <a:ext uri="{FF2B5EF4-FFF2-40B4-BE49-F238E27FC236}">
                <a16:creationId xmlns:a16="http://schemas.microsoft.com/office/drawing/2014/main" id="{FD79D8F2-F433-9246-88D9-E0192A23574B}"/>
              </a:ext>
            </a:extLst>
          </p:cNvPr>
          <p:cNvSpPr/>
          <p:nvPr/>
        </p:nvSpPr>
        <p:spPr>
          <a:xfrm>
            <a:off x="241300" y="2370931"/>
            <a:ext cx="8143900" cy="784545"/>
          </a:xfrm>
          <a:prstGeom prst="roundRect">
            <a:avLst/>
          </a:prstGeom>
          <a:solidFill>
            <a:srgbClr val="FFF0EE"/>
          </a:solidFill>
          <a:ln w="12700" cap="flat" cmpd="sng" algn="ctr">
            <a:solidFill>
              <a:srgbClr val="E8A09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300" dirty="0">
                <a:solidFill>
                  <a:srgbClr val="7A1A1A"/>
                </a:solidFill>
              </a:rPr>
              <a:t>✗ A small p value means ”the effect is large”. </a:t>
            </a:r>
          </a:p>
          <a:p>
            <a:pPr algn="l"/>
            <a:r>
              <a:rPr lang="en-US" sz="1300" b="1" dirty="0">
                <a:solidFill>
                  <a:srgbClr val="7A1A1A"/>
                </a:solidFill>
              </a:rPr>
              <a:t>Wrong</a:t>
            </a:r>
            <a:r>
              <a:rPr lang="en-US" sz="1300" dirty="0">
                <a:solidFill>
                  <a:srgbClr val="7A1A1A"/>
                </a:solidFill>
              </a:rPr>
              <a:t>: a small p only says the effect is unlikely to be zero, not that it is big</a:t>
            </a:r>
          </a:p>
        </p:txBody>
      </p:sp>
      <p:sp>
        <p:nvSpPr>
          <p:cNvPr id="17" name="Title 1">
            <a:extLst>
              <a:ext uri="{FF2B5EF4-FFF2-40B4-BE49-F238E27FC236}">
                <a16:creationId xmlns:a16="http://schemas.microsoft.com/office/drawing/2014/main" id="{3A7D7FC9-C06E-9C7D-CED6-8604BA374A0C}"/>
              </a:ext>
            </a:extLst>
          </p:cNvPr>
          <p:cNvSpPr/>
          <p:nvPr/>
        </p:nvSpPr>
        <p:spPr>
          <a:xfrm>
            <a:off x="241300" y="177800"/>
            <a:ext cx="11709400" cy="482600"/>
          </a:xfrm>
          <a:prstGeom prst="rect">
            <a:avLst/>
          </a:prstGeom>
          <a:noFill/>
          <a:ln>
            <a:noFill/>
          </a:ln>
        </p:spPr>
        <p:txBody>
          <a:bodyPr wrap="square" lIns="36000" tIns="0" rIns="36000" bIns="0" anchor="ctr"/>
          <a:lstStyle/>
          <a:p>
            <a:r>
              <a:rPr lang="en-US" sz="2000" b="1" dirty="0">
                <a:solidFill>
                  <a:srgbClr val="2E6B75"/>
                </a:solidFill>
                <a:latin typeface="Montserrat"/>
              </a:rPr>
              <a:t>Avoiding misinterpretations of the p-Value</a:t>
            </a:r>
          </a:p>
        </p:txBody>
      </p:sp>
      <p:grpSp>
        <p:nvGrpSpPr>
          <p:cNvPr id="18" name="Group 17">
            <a:extLst>
              <a:ext uri="{FF2B5EF4-FFF2-40B4-BE49-F238E27FC236}">
                <a16:creationId xmlns:a16="http://schemas.microsoft.com/office/drawing/2014/main" id="{96EFCCB7-34F9-681B-40C1-58328541E7B0}"/>
              </a:ext>
            </a:extLst>
          </p:cNvPr>
          <p:cNvGrpSpPr/>
          <p:nvPr/>
        </p:nvGrpSpPr>
        <p:grpSpPr>
          <a:xfrm>
            <a:off x="3528509" y="4343194"/>
            <a:ext cx="6519132" cy="1274366"/>
            <a:chOff x="4466388" y="3307830"/>
            <a:chExt cx="5403901" cy="1274366"/>
          </a:xfrm>
        </p:grpSpPr>
        <p:sp>
          <p:nvSpPr>
            <p:cNvPr id="19" name="Bell">
              <a:extLst>
                <a:ext uri="{FF2B5EF4-FFF2-40B4-BE49-F238E27FC236}">
                  <a16:creationId xmlns:a16="http://schemas.microsoft.com/office/drawing/2014/main" id="{0C9A6721-2A7B-E615-91DE-2199FD7EBD85}"/>
                </a:ext>
              </a:extLst>
            </p:cNvPr>
            <p:cNvSpPr/>
            <p:nvPr/>
          </p:nvSpPr>
          <p:spPr>
            <a:xfrm>
              <a:off x="4466388" y="3307830"/>
              <a:ext cx="5403901" cy="1274366"/>
            </a:xfrm>
            <a:custGeom>
              <a:avLst/>
              <a:gdLst/>
              <a:ahLst/>
              <a:cxnLst/>
              <a:rect l="0" t="0" r="7033846" b="2540000"/>
              <a:pathLst>
                <a:path w="7033846" h="2540000">
                  <a:moveTo>
                    <a:pt x="0" y="2538235"/>
                  </a:moveTo>
                  <a:lnTo>
                    <a:pt x="117231" y="2537157"/>
                  </a:lnTo>
                  <a:lnTo>
                    <a:pt x="234462" y="2535493"/>
                  </a:lnTo>
                  <a:lnTo>
                    <a:pt x="351693" y="2532972"/>
                  </a:lnTo>
                  <a:lnTo>
                    <a:pt x="468923" y="2529215"/>
                  </a:lnTo>
                  <a:lnTo>
                    <a:pt x="586154" y="2523716"/>
                  </a:lnTo>
                  <a:lnTo>
                    <a:pt x="703385" y="2515806"/>
                  </a:lnTo>
                  <a:lnTo>
                    <a:pt x="820616" y="2504631"/>
                  </a:lnTo>
                  <a:lnTo>
                    <a:pt x="937846" y="2489123"/>
                  </a:lnTo>
                  <a:lnTo>
                    <a:pt x="1055077" y="2467988"/>
                  </a:lnTo>
                  <a:lnTo>
                    <a:pt x="1172308" y="2439708"/>
                  </a:lnTo>
                  <a:lnTo>
                    <a:pt x="1289539" y="2402559"/>
                  </a:lnTo>
                  <a:lnTo>
                    <a:pt x="1406769" y="2354670"/>
                  </a:lnTo>
                  <a:lnTo>
                    <a:pt x="1524000" y="2294101"/>
                  </a:lnTo>
                  <a:lnTo>
                    <a:pt x="1641231" y="2218966"/>
                  </a:lnTo>
                  <a:lnTo>
                    <a:pt x="1758462" y="2127591"/>
                  </a:lnTo>
                  <a:lnTo>
                    <a:pt x="1875693" y="2018702"/>
                  </a:lnTo>
                  <a:lnTo>
                    <a:pt x="1992923" y="1891624"/>
                  </a:lnTo>
                  <a:lnTo>
                    <a:pt x="2110154" y="1746494"/>
                  </a:lnTo>
                  <a:lnTo>
                    <a:pt x="2227385" y="1584446"/>
                  </a:lnTo>
                  <a:lnTo>
                    <a:pt x="2344616" y="1407750"/>
                  </a:lnTo>
                  <a:lnTo>
                    <a:pt x="2461846" y="1219885"/>
                  </a:lnTo>
                  <a:lnTo>
                    <a:pt x="2579077" y="1025521"/>
                  </a:lnTo>
                  <a:lnTo>
                    <a:pt x="2696308" y="830391"/>
                  </a:lnTo>
                  <a:lnTo>
                    <a:pt x="2813539" y="641053"/>
                  </a:lnTo>
                  <a:lnTo>
                    <a:pt x="2930769" y="464557"/>
                  </a:lnTo>
                  <a:lnTo>
                    <a:pt x="3048000" y="308016"/>
                  </a:lnTo>
                  <a:lnTo>
                    <a:pt x="3165231" y="178144"/>
                  </a:lnTo>
                  <a:lnTo>
                    <a:pt x="3282462" y="80776"/>
                  </a:lnTo>
                  <a:lnTo>
                    <a:pt x="3399693" y="20439"/>
                  </a:lnTo>
                  <a:lnTo>
                    <a:pt x="3516923" y="0"/>
                  </a:lnTo>
                  <a:lnTo>
                    <a:pt x="3634154" y="20439"/>
                  </a:lnTo>
                  <a:lnTo>
                    <a:pt x="3751385" y="80776"/>
                  </a:lnTo>
                  <a:lnTo>
                    <a:pt x="3868616" y="178144"/>
                  </a:lnTo>
                  <a:lnTo>
                    <a:pt x="3985846" y="308016"/>
                  </a:lnTo>
                  <a:lnTo>
                    <a:pt x="4103077" y="464557"/>
                  </a:lnTo>
                  <a:lnTo>
                    <a:pt x="4220308" y="641053"/>
                  </a:lnTo>
                  <a:lnTo>
                    <a:pt x="4337539" y="830391"/>
                  </a:lnTo>
                  <a:lnTo>
                    <a:pt x="4454769" y="1025521"/>
                  </a:lnTo>
                  <a:lnTo>
                    <a:pt x="4572000" y="1219885"/>
                  </a:lnTo>
                  <a:lnTo>
                    <a:pt x="4689231" y="1407750"/>
                  </a:lnTo>
                  <a:lnTo>
                    <a:pt x="4806462" y="1584446"/>
                  </a:lnTo>
                  <a:lnTo>
                    <a:pt x="4923693" y="1746494"/>
                  </a:lnTo>
                  <a:lnTo>
                    <a:pt x="5040923" y="1891624"/>
                  </a:lnTo>
                  <a:lnTo>
                    <a:pt x="5158154" y="2018702"/>
                  </a:lnTo>
                  <a:lnTo>
                    <a:pt x="5275385" y="2127591"/>
                  </a:lnTo>
                  <a:lnTo>
                    <a:pt x="5392616" y="2218966"/>
                  </a:lnTo>
                  <a:lnTo>
                    <a:pt x="5509846" y="2294101"/>
                  </a:lnTo>
                  <a:lnTo>
                    <a:pt x="5627077" y="2354670"/>
                  </a:lnTo>
                  <a:lnTo>
                    <a:pt x="5744308" y="2402559"/>
                  </a:lnTo>
                  <a:lnTo>
                    <a:pt x="5861539" y="2439708"/>
                  </a:lnTo>
                  <a:lnTo>
                    <a:pt x="5978769" y="2467988"/>
                  </a:lnTo>
                  <a:lnTo>
                    <a:pt x="6096000" y="2489123"/>
                  </a:lnTo>
                  <a:lnTo>
                    <a:pt x="6213231" y="2504631"/>
                  </a:lnTo>
                  <a:lnTo>
                    <a:pt x="6330462" y="2515806"/>
                  </a:lnTo>
                  <a:lnTo>
                    <a:pt x="6447693" y="2523716"/>
                  </a:lnTo>
                  <a:lnTo>
                    <a:pt x="6564923" y="2529215"/>
                  </a:lnTo>
                  <a:lnTo>
                    <a:pt x="6682154" y="2532972"/>
                  </a:lnTo>
                  <a:lnTo>
                    <a:pt x="6799385" y="2535493"/>
                  </a:lnTo>
                  <a:lnTo>
                    <a:pt x="6916616" y="2537157"/>
                  </a:lnTo>
                  <a:lnTo>
                    <a:pt x="7033846" y="2538235"/>
                  </a:lnTo>
                  <a:lnTo>
                    <a:pt x="7033846" y="2540000"/>
                  </a:lnTo>
                  <a:lnTo>
                    <a:pt x="0" y="2540000"/>
                  </a:lnTo>
                  <a:close/>
                </a:path>
              </a:pathLst>
            </a:custGeom>
            <a:solidFill>
              <a:srgbClr val="F5C451">
                <a:alpha val="20000"/>
              </a:srgbClr>
            </a:solidFill>
            <a:ln w="3175" cap="rnd">
              <a:solidFill>
                <a:srgbClr val="F5C451"/>
              </a:solidFill>
            </a:ln>
          </p:spPr>
          <p:txBody>
            <a:bodyPr/>
            <a:lstStyle/>
            <a:p>
              <a:endParaRPr lang="en-US" dirty="0"/>
            </a:p>
          </p:txBody>
        </p:sp>
        <p:sp>
          <p:nvSpPr>
            <p:cNvPr id="20" name="Right Triangle 19">
              <a:extLst>
                <a:ext uri="{FF2B5EF4-FFF2-40B4-BE49-F238E27FC236}">
                  <a16:creationId xmlns:a16="http://schemas.microsoft.com/office/drawing/2014/main" id="{A3554834-6F2A-4E6D-AC1D-CFD187DB42CA}"/>
                </a:ext>
              </a:extLst>
            </p:cNvPr>
            <p:cNvSpPr/>
            <p:nvPr/>
          </p:nvSpPr>
          <p:spPr>
            <a:xfrm flipH="1">
              <a:off x="4774577" y="4525817"/>
              <a:ext cx="755951" cy="51854"/>
            </a:xfrm>
            <a:prstGeom prst="rtTriangle">
              <a:avLst/>
            </a:prstGeom>
            <a:solidFill>
              <a:schemeClr val="accent5">
                <a:lumMod val="50000"/>
                <a:alpha val="60000"/>
              </a:scheme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grpSp>
      <p:sp>
        <p:nvSpPr>
          <p:cNvPr id="21" name="NL6">
            <a:extLst>
              <a:ext uri="{FF2B5EF4-FFF2-40B4-BE49-F238E27FC236}">
                <a16:creationId xmlns:a16="http://schemas.microsoft.com/office/drawing/2014/main" id="{E39581E1-DE27-ABF8-69E3-1FCBC2B07C0F}"/>
              </a:ext>
            </a:extLst>
          </p:cNvPr>
          <p:cNvSpPr/>
          <p:nvPr/>
        </p:nvSpPr>
        <p:spPr>
          <a:xfrm>
            <a:off x="6755305" y="5626035"/>
            <a:ext cx="4755374" cy="0"/>
          </a:xfrm>
          <a:prstGeom prst="line">
            <a:avLst/>
          </a:prstGeom>
          <a:ln w="15875">
            <a:solidFill>
              <a:srgbClr val="2E3640"/>
            </a:solidFill>
          </a:ln>
        </p:spPr>
        <p:txBody>
          <a:bodyPr/>
          <a:lstStyle/>
          <a:p>
            <a:endParaRPr lang="en-US" sz="2000"/>
          </a:p>
        </p:txBody>
      </p:sp>
      <p:sp>
        <p:nvSpPr>
          <p:cNvPr id="22" name="NL6Tk0">
            <a:extLst>
              <a:ext uri="{FF2B5EF4-FFF2-40B4-BE49-F238E27FC236}">
                <a16:creationId xmlns:a16="http://schemas.microsoft.com/office/drawing/2014/main" id="{E2A20C4A-7432-8ADB-1520-3C1BD88E1764}"/>
              </a:ext>
            </a:extLst>
          </p:cNvPr>
          <p:cNvSpPr/>
          <p:nvPr/>
        </p:nvSpPr>
        <p:spPr>
          <a:xfrm>
            <a:off x="6761951" y="5556109"/>
            <a:ext cx="0" cy="139852"/>
          </a:xfrm>
          <a:prstGeom prst="line">
            <a:avLst/>
          </a:prstGeom>
          <a:ln w="12700">
            <a:solidFill>
              <a:srgbClr val="2E3640"/>
            </a:solidFill>
          </a:ln>
        </p:spPr>
        <p:txBody>
          <a:bodyPr/>
          <a:lstStyle/>
          <a:p>
            <a:endParaRPr lang="en-US" sz="2000"/>
          </a:p>
        </p:txBody>
      </p:sp>
      <p:sp>
        <p:nvSpPr>
          <p:cNvPr id="23" name="NL6TL0">
            <a:extLst>
              <a:ext uri="{FF2B5EF4-FFF2-40B4-BE49-F238E27FC236}">
                <a16:creationId xmlns:a16="http://schemas.microsoft.com/office/drawing/2014/main" id="{CF7DA5CC-FCAF-D3AC-9E24-94C4354DFB8B}"/>
              </a:ext>
            </a:extLst>
          </p:cNvPr>
          <p:cNvSpPr/>
          <p:nvPr/>
        </p:nvSpPr>
        <p:spPr>
          <a:xfrm>
            <a:off x="6564558"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0.0</a:t>
            </a:r>
          </a:p>
        </p:txBody>
      </p:sp>
      <p:sp>
        <p:nvSpPr>
          <p:cNvPr id="24" name="NL6Tk0.1">
            <a:extLst>
              <a:ext uri="{FF2B5EF4-FFF2-40B4-BE49-F238E27FC236}">
                <a16:creationId xmlns:a16="http://schemas.microsoft.com/office/drawing/2014/main" id="{141314CC-D90A-1E93-0122-017075DE5E05}"/>
              </a:ext>
            </a:extLst>
          </p:cNvPr>
          <p:cNvSpPr/>
          <p:nvPr/>
        </p:nvSpPr>
        <p:spPr>
          <a:xfrm>
            <a:off x="7349727" y="5591072"/>
            <a:ext cx="0" cy="69925"/>
          </a:xfrm>
          <a:prstGeom prst="line">
            <a:avLst/>
          </a:prstGeom>
          <a:ln w="12700">
            <a:solidFill>
              <a:srgbClr val="2E3640"/>
            </a:solidFill>
          </a:ln>
        </p:spPr>
        <p:txBody>
          <a:bodyPr/>
          <a:lstStyle/>
          <a:p>
            <a:endParaRPr lang="en-US" sz="2000"/>
          </a:p>
        </p:txBody>
      </p:sp>
      <p:sp>
        <p:nvSpPr>
          <p:cNvPr id="25" name="NL6Tk0.2">
            <a:extLst>
              <a:ext uri="{FF2B5EF4-FFF2-40B4-BE49-F238E27FC236}">
                <a16:creationId xmlns:a16="http://schemas.microsoft.com/office/drawing/2014/main" id="{B09A6E41-C780-CCF0-B2B7-94DD80B83721}"/>
              </a:ext>
            </a:extLst>
          </p:cNvPr>
          <p:cNvSpPr/>
          <p:nvPr/>
        </p:nvSpPr>
        <p:spPr>
          <a:xfrm>
            <a:off x="7944149" y="5556109"/>
            <a:ext cx="0" cy="139852"/>
          </a:xfrm>
          <a:prstGeom prst="line">
            <a:avLst/>
          </a:prstGeom>
          <a:ln w="12700">
            <a:solidFill>
              <a:srgbClr val="2E3640"/>
            </a:solidFill>
          </a:ln>
        </p:spPr>
        <p:txBody>
          <a:bodyPr/>
          <a:lstStyle/>
          <a:p>
            <a:endParaRPr lang="en-US" sz="2000"/>
          </a:p>
        </p:txBody>
      </p:sp>
      <p:sp>
        <p:nvSpPr>
          <p:cNvPr id="26" name="NL6TL0.2">
            <a:extLst>
              <a:ext uri="{FF2B5EF4-FFF2-40B4-BE49-F238E27FC236}">
                <a16:creationId xmlns:a16="http://schemas.microsoft.com/office/drawing/2014/main" id="{64A5D188-9A34-9D19-EFAD-715ACAACC708}"/>
              </a:ext>
            </a:extLst>
          </p:cNvPr>
          <p:cNvSpPr/>
          <p:nvPr/>
        </p:nvSpPr>
        <p:spPr>
          <a:xfrm>
            <a:off x="7746756"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0.2</a:t>
            </a:r>
          </a:p>
        </p:txBody>
      </p:sp>
      <p:sp>
        <p:nvSpPr>
          <p:cNvPr id="27" name="NL6Tk0.3">
            <a:extLst>
              <a:ext uri="{FF2B5EF4-FFF2-40B4-BE49-F238E27FC236}">
                <a16:creationId xmlns:a16="http://schemas.microsoft.com/office/drawing/2014/main" id="{20EF4805-47B6-974E-D916-2621E1619FED}"/>
              </a:ext>
            </a:extLst>
          </p:cNvPr>
          <p:cNvSpPr/>
          <p:nvPr/>
        </p:nvSpPr>
        <p:spPr>
          <a:xfrm>
            <a:off x="8538570" y="5591072"/>
            <a:ext cx="0" cy="69925"/>
          </a:xfrm>
          <a:prstGeom prst="line">
            <a:avLst/>
          </a:prstGeom>
          <a:ln w="12700">
            <a:solidFill>
              <a:srgbClr val="2E3640"/>
            </a:solidFill>
          </a:ln>
        </p:spPr>
        <p:txBody>
          <a:bodyPr/>
          <a:lstStyle/>
          <a:p>
            <a:endParaRPr lang="en-US" sz="2000"/>
          </a:p>
        </p:txBody>
      </p:sp>
      <p:sp>
        <p:nvSpPr>
          <p:cNvPr id="28" name="NL6Tk0.4">
            <a:extLst>
              <a:ext uri="{FF2B5EF4-FFF2-40B4-BE49-F238E27FC236}">
                <a16:creationId xmlns:a16="http://schemas.microsoft.com/office/drawing/2014/main" id="{C9A7388A-74AD-3DE5-1406-06E35FEDF7D6}"/>
              </a:ext>
            </a:extLst>
          </p:cNvPr>
          <p:cNvSpPr/>
          <p:nvPr/>
        </p:nvSpPr>
        <p:spPr>
          <a:xfrm>
            <a:off x="9132993" y="5556109"/>
            <a:ext cx="0" cy="139852"/>
          </a:xfrm>
          <a:prstGeom prst="line">
            <a:avLst/>
          </a:prstGeom>
          <a:ln w="12700">
            <a:solidFill>
              <a:srgbClr val="2E3640"/>
            </a:solidFill>
          </a:ln>
        </p:spPr>
        <p:txBody>
          <a:bodyPr/>
          <a:lstStyle/>
          <a:p>
            <a:endParaRPr lang="en-US" sz="2000"/>
          </a:p>
        </p:txBody>
      </p:sp>
      <p:sp>
        <p:nvSpPr>
          <p:cNvPr id="29" name="NL6TL0.4">
            <a:extLst>
              <a:ext uri="{FF2B5EF4-FFF2-40B4-BE49-F238E27FC236}">
                <a16:creationId xmlns:a16="http://schemas.microsoft.com/office/drawing/2014/main" id="{66ADFF60-5260-8201-440B-121869933740}"/>
              </a:ext>
            </a:extLst>
          </p:cNvPr>
          <p:cNvSpPr/>
          <p:nvPr/>
        </p:nvSpPr>
        <p:spPr>
          <a:xfrm>
            <a:off x="8935599"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0.4</a:t>
            </a:r>
          </a:p>
        </p:txBody>
      </p:sp>
      <p:sp>
        <p:nvSpPr>
          <p:cNvPr id="30" name="NL6Tk0.5">
            <a:extLst>
              <a:ext uri="{FF2B5EF4-FFF2-40B4-BE49-F238E27FC236}">
                <a16:creationId xmlns:a16="http://schemas.microsoft.com/office/drawing/2014/main" id="{08DC7EDC-B633-56CF-7FD8-D9D2806DDE8A}"/>
              </a:ext>
            </a:extLst>
          </p:cNvPr>
          <p:cNvSpPr/>
          <p:nvPr/>
        </p:nvSpPr>
        <p:spPr>
          <a:xfrm>
            <a:off x="9727414" y="5591072"/>
            <a:ext cx="0" cy="69925"/>
          </a:xfrm>
          <a:prstGeom prst="line">
            <a:avLst/>
          </a:prstGeom>
          <a:ln w="12700">
            <a:solidFill>
              <a:srgbClr val="2E3640"/>
            </a:solidFill>
          </a:ln>
        </p:spPr>
        <p:txBody>
          <a:bodyPr/>
          <a:lstStyle/>
          <a:p>
            <a:endParaRPr lang="en-US" sz="2000"/>
          </a:p>
        </p:txBody>
      </p:sp>
      <p:sp>
        <p:nvSpPr>
          <p:cNvPr id="31" name="NL6Tk0.6">
            <a:extLst>
              <a:ext uri="{FF2B5EF4-FFF2-40B4-BE49-F238E27FC236}">
                <a16:creationId xmlns:a16="http://schemas.microsoft.com/office/drawing/2014/main" id="{6E7CDD6B-B78B-345C-9F9F-E3DB3A52E0BA}"/>
              </a:ext>
            </a:extLst>
          </p:cNvPr>
          <p:cNvSpPr/>
          <p:nvPr/>
        </p:nvSpPr>
        <p:spPr>
          <a:xfrm>
            <a:off x="10321835" y="5556109"/>
            <a:ext cx="0" cy="139852"/>
          </a:xfrm>
          <a:prstGeom prst="line">
            <a:avLst/>
          </a:prstGeom>
          <a:ln w="12700">
            <a:solidFill>
              <a:srgbClr val="2E3640"/>
            </a:solidFill>
          </a:ln>
        </p:spPr>
        <p:txBody>
          <a:bodyPr/>
          <a:lstStyle/>
          <a:p>
            <a:endParaRPr lang="en-US" sz="2000"/>
          </a:p>
        </p:txBody>
      </p:sp>
      <p:sp>
        <p:nvSpPr>
          <p:cNvPr id="32" name="NL6TL0.6">
            <a:extLst>
              <a:ext uri="{FF2B5EF4-FFF2-40B4-BE49-F238E27FC236}">
                <a16:creationId xmlns:a16="http://schemas.microsoft.com/office/drawing/2014/main" id="{A0A1FD4E-0B5A-D48A-2CE7-2121CE1C5B30}"/>
              </a:ext>
            </a:extLst>
          </p:cNvPr>
          <p:cNvSpPr/>
          <p:nvPr/>
        </p:nvSpPr>
        <p:spPr>
          <a:xfrm>
            <a:off x="10124443"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0.6</a:t>
            </a:r>
          </a:p>
        </p:txBody>
      </p:sp>
      <p:sp>
        <p:nvSpPr>
          <p:cNvPr id="33" name="NL6Tk0.7">
            <a:extLst>
              <a:ext uri="{FF2B5EF4-FFF2-40B4-BE49-F238E27FC236}">
                <a16:creationId xmlns:a16="http://schemas.microsoft.com/office/drawing/2014/main" id="{B992F22B-0952-4B40-2B3F-A4AF4BF4265C}"/>
              </a:ext>
            </a:extLst>
          </p:cNvPr>
          <p:cNvSpPr/>
          <p:nvPr/>
        </p:nvSpPr>
        <p:spPr>
          <a:xfrm>
            <a:off x="10916257" y="5591072"/>
            <a:ext cx="0" cy="69925"/>
          </a:xfrm>
          <a:prstGeom prst="line">
            <a:avLst/>
          </a:prstGeom>
          <a:ln w="12700">
            <a:solidFill>
              <a:srgbClr val="2E3640"/>
            </a:solidFill>
          </a:ln>
        </p:spPr>
        <p:txBody>
          <a:bodyPr/>
          <a:lstStyle/>
          <a:p>
            <a:endParaRPr lang="en-US" sz="2000"/>
          </a:p>
        </p:txBody>
      </p:sp>
      <p:sp>
        <p:nvSpPr>
          <p:cNvPr id="34" name="NL6Tk0.8">
            <a:extLst>
              <a:ext uri="{FF2B5EF4-FFF2-40B4-BE49-F238E27FC236}">
                <a16:creationId xmlns:a16="http://schemas.microsoft.com/office/drawing/2014/main" id="{BE8579BD-D844-12DF-A704-01A12C3E23BF}"/>
              </a:ext>
            </a:extLst>
          </p:cNvPr>
          <p:cNvSpPr/>
          <p:nvPr/>
        </p:nvSpPr>
        <p:spPr>
          <a:xfrm>
            <a:off x="11510679" y="5556109"/>
            <a:ext cx="0" cy="139852"/>
          </a:xfrm>
          <a:prstGeom prst="line">
            <a:avLst/>
          </a:prstGeom>
          <a:ln w="12700">
            <a:solidFill>
              <a:srgbClr val="2E3640"/>
            </a:solidFill>
          </a:ln>
        </p:spPr>
        <p:txBody>
          <a:bodyPr/>
          <a:lstStyle/>
          <a:p>
            <a:endParaRPr lang="en-US" sz="2000"/>
          </a:p>
        </p:txBody>
      </p:sp>
      <p:sp>
        <p:nvSpPr>
          <p:cNvPr id="35" name="NL6TL0.8">
            <a:extLst>
              <a:ext uri="{FF2B5EF4-FFF2-40B4-BE49-F238E27FC236}">
                <a16:creationId xmlns:a16="http://schemas.microsoft.com/office/drawing/2014/main" id="{171A002F-325B-72D5-644E-1A9A100C6265}"/>
              </a:ext>
            </a:extLst>
          </p:cNvPr>
          <p:cNvSpPr/>
          <p:nvPr/>
        </p:nvSpPr>
        <p:spPr>
          <a:xfrm>
            <a:off x="11313286"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0.8</a:t>
            </a:r>
          </a:p>
        </p:txBody>
      </p:sp>
      <p:sp>
        <p:nvSpPr>
          <p:cNvPr id="36" name="B1Dot6">
            <a:extLst>
              <a:ext uri="{FF2B5EF4-FFF2-40B4-BE49-F238E27FC236}">
                <a16:creationId xmlns:a16="http://schemas.microsoft.com/office/drawing/2014/main" id="{CFE5BDD3-642F-4C04-9936-A98F8BC2153B}"/>
              </a:ext>
            </a:extLst>
          </p:cNvPr>
          <p:cNvSpPr/>
          <p:nvPr/>
        </p:nvSpPr>
        <p:spPr>
          <a:xfrm>
            <a:off x="8977995" y="5545119"/>
            <a:ext cx="143559" cy="163160"/>
          </a:xfrm>
          <a:prstGeom prst="ellipse">
            <a:avLst/>
          </a:prstGeom>
          <a:solidFill>
            <a:srgbClr val="FFFFFF"/>
          </a:solidFill>
          <a:ln w="19050">
            <a:solidFill>
              <a:srgbClr val="D94535"/>
            </a:solidFill>
          </a:ln>
        </p:spPr>
        <p:txBody>
          <a:bodyPr/>
          <a:lstStyle/>
          <a:p>
            <a:endParaRPr lang="en-US" sz="2000"/>
          </a:p>
        </p:txBody>
      </p:sp>
      <p:grpSp>
        <p:nvGrpSpPr>
          <p:cNvPr id="37" name="Group 36">
            <a:extLst>
              <a:ext uri="{FF2B5EF4-FFF2-40B4-BE49-F238E27FC236}">
                <a16:creationId xmlns:a16="http://schemas.microsoft.com/office/drawing/2014/main" id="{134241C6-9D9B-38C9-7AE1-A9912384CD96}"/>
              </a:ext>
            </a:extLst>
          </p:cNvPr>
          <p:cNvGrpSpPr/>
          <p:nvPr/>
        </p:nvGrpSpPr>
        <p:grpSpPr>
          <a:xfrm>
            <a:off x="6758096" y="5283029"/>
            <a:ext cx="2261173" cy="152651"/>
            <a:chOff x="7182260" y="4223241"/>
            <a:chExt cx="2008328" cy="313966"/>
          </a:xfrm>
        </p:grpSpPr>
        <p:sp>
          <p:nvSpPr>
            <p:cNvPr id="38" name="CIBar7">
              <a:extLst>
                <a:ext uri="{FF2B5EF4-FFF2-40B4-BE49-F238E27FC236}">
                  <a16:creationId xmlns:a16="http://schemas.microsoft.com/office/drawing/2014/main" id="{45CA4DD1-1BAA-FEF1-B4D9-27D664CA944B}"/>
                </a:ext>
              </a:extLst>
            </p:cNvPr>
            <p:cNvSpPr/>
            <p:nvPr/>
          </p:nvSpPr>
          <p:spPr>
            <a:xfrm>
              <a:off x="8437132" y="4261261"/>
              <a:ext cx="618774" cy="226982"/>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9" name="CILW7">
              <a:extLst>
                <a:ext uri="{FF2B5EF4-FFF2-40B4-BE49-F238E27FC236}">
                  <a16:creationId xmlns:a16="http://schemas.microsoft.com/office/drawing/2014/main" id="{6F1433AA-590D-B7E4-FF89-DFEFC26230B2}"/>
                </a:ext>
              </a:extLst>
            </p:cNvPr>
            <p:cNvSpPr/>
            <p:nvPr/>
          </p:nvSpPr>
          <p:spPr>
            <a:xfrm>
              <a:off x="8431235" y="4223241"/>
              <a:ext cx="0" cy="304800"/>
            </a:xfrm>
            <a:prstGeom prst="line">
              <a:avLst/>
            </a:prstGeom>
            <a:ln w="15875">
              <a:solidFill>
                <a:srgbClr val="2B6CB0"/>
              </a:solidFill>
            </a:ln>
          </p:spPr>
          <p:txBody>
            <a:bodyPr anchor="ctr"/>
            <a:lstStyle/>
            <a:p>
              <a:endParaRPr lang="en-US" sz="2000"/>
            </a:p>
          </p:txBody>
        </p:sp>
        <p:sp>
          <p:nvSpPr>
            <p:cNvPr id="40" name="CILW7">
              <a:extLst>
                <a:ext uri="{FF2B5EF4-FFF2-40B4-BE49-F238E27FC236}">
                  <a16:creationId xmlns:a16="http://schemas.microsoft.com/office/drawing/2014/main" id="{C994B9D9-8E19-4A93-9406-CDE8B88017EA}"/>
                </a:ext>
              </a:extLst>
            </p:cNvPr>
            <p:cNvSpPr/>
            <p:nvPr/>
          </p:nvSpPr>
          <p:spPr>
            <a:xfrm>
              <a:off x="9057186" y="4223241"/>
              <a:ext cx="0" cy="304800"/>
            </a:xfrm>
            <a:prstGeom prst="line">
              <a:avLst/>
            </a:prstGeom>
            <a:ln w="15875">
              <a:solidFill>
                <a:srgbClr val="2B6CB0"/>
              </a:solidFill>
            </a:ln>
          </p:spPr>
          <p:txBody>
            <a:bodyPr anchor="ctr"/>
            <a:lstStyle/>
            <a:p>
              <a:endParaRPr lang="en-US" sz="2000"/>
            </a:p>
          </p:txBody>
        </p:sp>
        <p:sp>
          <p:nvSpPr>
            <p:cNvPr id="41" name="CIBar7">
              <a:extLst>
                <a:ext uri="{FF2B5EF4-FFF2-40B4-BE49-F238E27FC236}">
                  <a16:creationId xmlns:a16="http://schemas.microsoft.com/office/drawing/2014/main" id="{C9ECB24D-4074-EA22-1AAB-86C76A76E503}"/>
                </a:ext>
              </a:extLst>
            </p:cNvPr>
            <p:cNvSpPr/>
            <p:nvPr/>
          </p:nvSpPr>
          <p:spPr>
            <a:xfrm>
              <a:off x="9063082" y="4267722"/>
              <a:ext cx="127506" cy="220919"/>
            </a:xfrm>
            <a:prstGeom prst="rect">
              <a:avLst/>
            </a:prstGeom>
            <a:solidFill>
              <a:srgbClr val="B8D4E8">
                <a:alpha val="34902"/>
              </a:srgbClr>
            </a:solidFill>
            <a:ln>
              <a:noFill/>
            </a:ln>
          </p:spPr>
          <p:txBody>
            <a:bodyPr lIns="0" rIns="0" anchor="ctr"/>
            <a:lstStyle/>
            <a:p>
              <a:pPr algn="ctr"/>
              <a:endParaRPr lang="en-US" sz="900" dirty="0"/>
            </a:p>
          </p:txBody>
        </p:sp>
        <p:sp>
          <p:nvSpPr>
            <p:cNvPr id="42" name="CILW7">
              <a:extLst>
                <a:ext uri="{FF2B5EF4-FFF2-40B4-BE49-F238E27FC236}">
                  <a16:creationId xmlns:a16="http://schemas.microsoft.com/office/drawing/2014/main" id="{72F3351F-C72E-A693-F5E7-D532DC6BDD54}"/>
                </a:ext>
              </a:extLst>
            </p:cNvPr>
            <p:cNvSpPr/>
            <p:nvPr/>
          </p:nvSpPr>
          <p:spPr>
            <a:xfrm>
              <a:off x="9057185" y="4229702"/>
              <a:ext cx="0" cy="304800"/>
            </a:xfrm>
            <a:prstGeom prst="line">
              <a:avLst/>
            </a:prstGeom>
            <a:ln w="15875">
              <a:solidFill>
                <a:srgbClr val="2B6CB0"/>
              </a:solidFill>
            </a:ln>
          </p:spPr>
          <p:txBody>
            <a:bodyPr anchor="ctr"/>
            <a:lstStyle/>
            <a:p>
              <a:endParaRPr lang="en-US" sz="2000"/>
            </a:p>
          </p:txBody>
        </p:sp>
        <p:grpSp>
          <p:nvGrpSpPr>
            <p:cNvPr id="43" name="Group 42">
              <a:extLst>
                <a:ext uri="{FF2B5EF4-FFF2-40B4-BE49-F238E27FC236}">
                  <a16:creationId xmlns:a16="http://schemas.microsoft.com/office/drawing/2014/main" id="{CF60F404-3C19-8A87-0839-83883FBD956E}"/>
                </a:ext>
              </a:extLst>
            </p:cNvPr>
            <p:cNvGrpSpPr/>
            <p:nvPr/>
          </p:nvGrpSpPr>
          <p:grpSpPr>
            <a:xfrm>
              <a:off x="7182260" y="4225946"/>
              <a:ext cx="1251897" cy="311261"/>
              <a:chOff x="9852940" y="4192417"/>
              <a:chExt cx="1216344" cy="311261"/>
            </a:xfrm>
          </p:grpSpPr>
          <p:sp>
            <p:nvSpPr>
              <p:cNvPr id="44" name="CILW7">
                <a:extLst>
                  <a:ext uri="{FF2B5EF4-FFF2-40B4-BE49-F238E27FC236}">
                    <a16:creationId xmlns:a16="http://schemas.microsoft.com/office/drawing/2014/main" id="{4B2C7F43-C13A-0F09-D03E-08E394890F47}"/>
                  </a:ext>
                </a:extLst>
              </p:cNvPr>
              <p:cNvSpPr/>
              <p:nvPr/>
            </p:nvSpPr>
            <p:spPr>
              <a:xfrm>
                <a:off x="9852941" y="4192417"/>
                <a:ext cx="0" cy="304800"/>
              </a:xfrm>
              <a:prstGeom prst="line">
                <a:avLst/>
              </a:prstGeom>
              <a:ln w="15875">
                <a:solidFill>
                  <a:srgbClr val="2B6CB0"/>
                </a:solidFill>
              </a:ln>
            </p:spPr>
            <p:txBody>
              <a:bodyPr anchor="ctr"/>
              <a:lstStyle/>
              <a:p>
                <a:endParaRPr lang="en-US" sz="2000"/>
              </a:p>
            </p:txBody>
          </p:sp>
          <p:sp>
            <p:nvSpPr>
              <p:cNvPr id="45" name="CIBar7">
                <a:extLst>
                  <a:ext uri="{FF2B5EF4-FFF2-40B4-BE49-F238E27FC236}">
                    <a16:creationId xmlns:a16="http://schemas.microsoft.com/office/drawing/2014/main" id="{446A0B7F-EB41-D2B0-D618-B2BE78E07783}"/>
                  </a:ext>
                </a:extLst>
              </p:cNvPr>
              <p:cNvSpPr/>
              <p:nvPr/>
            </p:nvSpPr>
            <p:spPr>
              <a:xfrm>
                <a:off x="9858670" y="4236898"/>
                <a:ext cx="601200" cy="226982"/>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46" name="CILW7">
                <a:extLst>
                  <a:ext uri="{FF2B5EF4-FFF2-40B4-BE49-F238E27FC236}">
                    <a16:creationId xmlns:a16="http://schemas.microsoft.com/office/drawing/2014/main" id="{2F543D60-3A3D-D0FE-AE8F-7D33697AA2F2}"/>
                  </a:ext>
                </a:extLst>
              </p:cNvPr>
              <p:cNvSpPr/>
              <p:nvPr/>
            </p:nvSpPr>
            <p:spPr>
              <a:xfrm>
                <a:off x="9852940" y="4198878"/>
                <a:ext cx="0" cy="304800"/>
              </a:xfrm>
              <a:prstGeom prst="line">
                <a:avLst/>
              </a:prstGeom>
              <a:ln w="15875">
                <a:solidFill>
                  <a:srgbClr val="2B6CB0"/>
                </a:solidFill>
              </a:ln>
            </p:spPr>
            <p:txBody>
              <a:bodyPr anchor="ctr"/>
              <a:lstStyle/>
              <a:p>
                <a:endParaRPr lang="en-US" sz="2000"/>
              </a:p>
            </p:txBody>
          </p:sp>
          <p:sp>
            <p:nvSpPr>
              <p:cNvPr id="47" name="CILW7">
                <a:extLst>
                  <a:ext uri="{FF2B5EF4-FFF2-40B4-BE49-F238E27FC236}">
                    <a16:creationId xmlns:a16="http://schemas.microsoft.com/office/drawing/2014/main" id="{6E670F86-0717-373D-83FB-5674CC8F93EC}"/>
                  </a:ext>
                </a:extLst>
              </p:cNvPr>
              <p:cNvSpPr/>
              <p:nvPr/>
            </p:nvSpPr>
            <p:spPr>
              <a:xfrm>
                <a:off x="10461113" y="4198878"/>
                <a:ext cx="0" cy="304800"/>
              </a:xfrm>
              <a:prstGeom prst="line">
                <a:avLst/>
              </a:prstGeom>
              <a:ln w="15875">
                <a:solidFill>
                  <a:srgbClr val="2B6CB0"/>
                </a:solidFill>
              </a:ln>
            </p:spPr>
            <p:txBody>
              <a:bodyPr anchor="ctr"/>
              <a:lstStyle/>
              <a:p>
                <a:endParaRPr lang="en-US" sz="2000"/>
              </a:p>
            </p:txBody>
          </p:sp>
          <p:sp>
            <p:nvSpPr>
              <p:cNvPr id="48" name="CIBar7">
                <a:extLst>
                  <a:ext uri="{FF2B5EF4-FFF2-40B4-BE49-F238E27FC236}">
                    <a16:creationId xmlns:a16="http://schemas.microsoft.com/office/drawing/2014/main" id="{F8A598CB-6D4D-91F7-F953-4E857B0BB84C}"/>
                  </a:ext>
                </a:extLst>
              </p:cNvPr>
              <p:cNvSpPr/>
              <p:nvPr/>
            </p:nvSpPr>
            <p:spPr>
              <a:xfrm>
                <a:off x="10466841" y="4233142"/>
                <a:ext cx="601200" cy="226982"/>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49" name="CILW7">
                <a:extLst>
                  <a:ext uri="{FF2B5EF4-FFF2-40B4-BE49-F238E27FC236}">
                    <a16:creationId xmlns:a16="http://schemas.microsoft.com/office/drawing/2014/main" id="{ABD674A7-A63F-C932-B4C0-408BA03880D9}"/>
                  </a:ext>
                </a:extLst>
              </p:cNvPr>
              <p:cNvSpPr/>
              <p:nvPr/>
            </p:nvSpPr>
            <p:spPr>
              <a:xfrm>
                <a:off x="10461111" y="4195122"/>
                <a:ext cx="0" cy="304800"/>
              </a:xfrm>
              <a:prstGeom prst="line">
                <a:avLst/>
              </a:prstGeom>
              <a:ln w="15875">
                <a:solidFill>
                  <a:srgbClr val="2B6CB0"/>
                </a:solidFill>
              </a:ln>
            </p:spPr>
            <p:txBody>
              <a:bodyPr anchor="ctr"/>
              <a:lstStyle/>
              <a:p>
                <a:endParaRPr lang="en-US" sz="2000"/>
              </a:p>
            </p:txBody>
          </p:sp>
          <p:sp>
            <p:nvSpPr>
              <p:cNvPr id="50" name="CILW7">
                <a:extLst>
                  <a:ext uri="{FF2B5EF4-FFF2-40B4-BE49-F238E27FC236}">
                    <a16:creationId xmlns:a16="http://schemas.microsoft.com/office/drawing/2014/main" id="{C2C74DF6-2D56-1FF0-AFC4-392A5093808F}"/>
                  </a:ext>
                </a:extLst>
              </p:cNvPr>
              <p:cNvSpPr/>
              <p:nvPr/>
            </p:nvSpPr>
            <p:spPr>
              <a:xfrm>
                <a:off x="11069284" y="4195122"/>
                <a:ext cx="0" cy="304800"/>
              </a:xfrm>
              <a:prstGeom prst="line">
                <a:avLst/>
              </a:prstGeom>
              <a:ln w="15875">
                <a:solidFill>
                  <a:srgbClr val="2B6CB0"/>
                </a:solidFill>
              </a:ln>
            </p:spPr>
            <p:txBody>
              <a:bodyPr anchor="ctr"/>
              <a:lstStyle/>
              <a:p>
                <a:endParaRPr lang="en-US" sz="2000"/>
              </a:p>
            </p:txBody>
          </p:sp>
        </p:grpSp>
      </p:grpSp>
      <p:cxnSp>
        <p:nvCxnSpPr>
          <p:cNvPr id="51" name="DotLine">
            <a:extLst>
              <a:ext uri="{FF2B5EF4-FFF2-40B4-BE49-F238E27FC236}">
                <a16:creationId xmlns:a16="http://schemas.microsoft.com/office/drawing/2014/main" id="{A6E45A9E-E01D-BC1C-8099-050DBEF4C7DE}"/>
              </a:ext>
            </a:extLst>
          </p:cNvPr>
          <p:cNvCxnSpPr>
            <a:cxnSpLocks/>
            <a:stCxn id="52" idx="2"/>
          </p:cNvCxnSpPr>
          <p:nvPr/>
        </p:nvCxnSpPr>
        <p:spPr>
          <a:xfrm flipH="1">
            <a:off x="9039179" y="4449220"/>
            <a:ext cx="1251" cy="947063"/>
          </a:xfrm>
          <a:prstGeom prst="line">
            <a:avLst/>
          </a:prstGeom>
          <a:ln w="19050">
            <a:solidFill>
              <a:srgbClr val="D94535"/>
            </a:solidFill>
            <a:prstDash val="dash"/>
          </a:ln>
        </p:spPr>
      </p:cxnSp>
      <p:sp>
        <p:nvSpPr>
          <p:cNvPr id="52" name="BLabel">
            <a:extLst>
              <a:ext uri="{FF2B5EF4-FFF2-40B4-BE49-F238E27FC236}">
                <a16:creationId xmlns:a16="http://schemas.microsoft.com/office/drawing/2014/main" id="{06FD2787-27A1-DB66-F089-855F34080BC9}"/>
              </a:ext>
            </a:extLst>
          </p:cNvPr>
          <p:cNvSpPr/>
          <p:nvPr/>
        </p:nvSpPr>
        <p:spPr>
          <a:xfrm>
            <a:off x="8516755" y="4263660"/>
            <a:ext cx="1047349" cy="185560"/>
          </a:xfrm>
          <a:prstGeom prst="roundRect">
            <a:avLst>
              <a:gd name="adj" fmla="val 16667"/>
            </a:avLst>
          </a:prstGeom>
          <a:solidFill>
            <a:srgbClr val="D94535"/>
          </a:solidFill>
          <a:ln>
            <a:noFill/>
          </a:ln>
        </p:spPr>
        <p:txBody>
          <a:bodyPr wrap="none" lIns="36000" tIns="0" rIns="36000" bIns="0" anchor="ctr"/>
          <a:lstStyle/>
          <a:p>
            <a:pPr algn="ctr"/>
            <a:r>
              <a:rPr lang="en-US" sz="1000" b="1" dirty="0">
                <a:solidFill>
                  <a:srgbClr val="FFFFFF"/>
                </a:solidFill>
                <a:latin typeface="Open Sans"/>
              </a:rPr>
              <a:t>b₁ = 0.386</a:t>
            </a:r>
          </a:p>
        </p:txBody>
      </p:sp>
      <p:sp>
        <p:nvSpPr>
          <p:cNvPr id="53" name="Right Triangle 52">
            <a:extLst>
              <a:ext uri="{FF2B5EF4-FFF2-40B4-BE49-F238E27FC236}">
                <a16:creationId xmlns:a16="http://schemas.microsoft.com/office/drawing/2014/main" id="{24CDF296-5C88-35E5-90C9-A589D7F1BCBB}"/>
              </a:ext>
            </a:extLst>
          </p:cNvPr>
          <p:cNvSpPr/>
          <p:nvPr/>
        </p:nvSpPr>
        <p:spPr>
          <a:xfrm>
            <a:off x="9104239" y="5561180"/>
            <a:ext cx="611736" cy="83627"/>
          </a:xfrm>
          <a:prstGeom prst="rtTriangle">
            <a:avLst/>
          </a:prstGeom>
          <a:solidFill>
            <a:schemeClr val="accent5">
              <a:lumMod val="50000"/>
              <a:alpha val="60000"/>
            </a:scheme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4" name="Rounded Rectangle 53">
            <a:extLst>
              <a:ext uri="{FF2B5EF4-FFF2-40B4-BE49-F238E27FC236}">
                <a16:creationId xmlns:a16="http://schemas.microsoft.com/office/drawing/2014/main" id="{08073DDD-0C00-9589-6ADF-2C0B97BB69F6}"/>
              </a:ext>
            </a:extLst>
          </p:cNvPr>
          <p:cNvSpPr/>
          <p:nvPr/>
        </p:nvSpPr>
        <p:spPr>
          <a:xfrm>
            <a:off x="9491828" y="4756392"/>
            <a:ext cx="2493706" cy="311647"/>
          </a:xfrm>
          <a:prstGeom prst="roundRect">
            <a:avLst/>
          </a:prstGeom>
          <a:solidFill>
            <a:schemeClr val="accent2">
              <a:lumMod val="20000"/>
              <a:lumOff val="80000"/>
            </a:schemeClr>
          </a:solidFill>
          <a:ln w="6350" cap="flat" cmpd="sng" algn="ctr">
            <a:solidFill>
              <a:schemeClr val="accent2">
                <a:lumMod val="50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rmAutofit/>
          </a:bodyPr>
          <a:lstStyle/>
          <a:p>
            <a:r>
              <a:rPr lang="en-US" sz="1100" dirty="0">
                <a:solidFill>
                  <a:srgbClr val="2E3640"/>
                </a:solidFill>
              </a:rPr>
              <a:t>p-value = 0.86% * 2 = 1.72%</a:t>
            </a:r>
          </a:p>
        </p:txBody>
      </p:sp>
      <p:cxnSp>
        <p:nvCxnSpPr>
          <p:cNvPr id="55" name="DotLine">
            <a:extLst>
              <a:ext uri="{FF2B5EF4-FFF2-40B4-BE49-F238E27FC236}">
                <a16:creationId xmlns:a16="http://schemas.microsoft.com/office/drawing/2014/main" id="{DC8CA15D-2FFB-22D0-C81C-E9B87FACF8CB}"/>
              </a:ext>
            </a:extLst>
          </p:cNvPr>
          <p:cNvCxnSpPr>
            <a:cxnSpLocks/>
          </p:cNvCxnSpPr>
          <p:nvPr/>
        </p:nvCxnSpPr>
        <p:spPr>
          <a:xfrm flipH="1">
            <a:off x="9205860" y="5081157"/>
            <a:ext cx="318716" cy="515795"/>
          </a:xfrm>
          <a:prstGeom prst="line">
            <a:avLst/>
          </a:prstGeom>
          <a:ln w="19050">
            <a:solidFill>
              <a:schemeClr val="accent5">
                <a:lumMod val="75000"/>
              </a:schemeClr>
            </a:solidFill>
            <a:prstDash val="solid"/>
            <a:headEnd type="none" w="med" len="med"/>
            <a:tailEnd type="triangle" w="med" len="med"/>
          </a:ln>
        </p:spPr>
      </p:cxnSp>
      <p:sp>
        <p:nvSpPr>
          <p:cNvPr id="56" name="TLabel">
            <a:extLst>
              <a:ext uri="{FF2B5EF4-FFF2-40B4-BE49-F238E27FC236}">
                <a16:creationId xmlns:a16="http://schemas.microsoft.com/office/drawing/2014/main" id="{1E8933AF-87EA-7CA4-A248-566DA9741BE4}"/>
              </a:ext>
            </a:extLst>
          </p:cNvPr>
          <p:cNvSpPr/>
          <p:nvPr/>
        </p:nvSpPr>
        <p:spPr>
          <a:xfrm>
            <a:off x="6744099" y="5018733"/>
            <a:ext cx="2285125" cy="237320"/>
          </a:xfrm>
          <a:prstGeom prst="homePlate">
            <a:avLst/>
          </a:prstGeom>
          <a:solidFill>
            <a:srgbClr val="FFFFFF"/>
          </a:solidFill>
          <a:ln w="12700">
            <a:solidFill>
              <a:srgbClr val="2C8B2C"/>
            </a:solidFill>
          </a:ln>
        </p:spPr>
        <p:txBody>
          <a:bodyPr wrap="none" lIns="36000" tIns="0" rIns="36000" bIns="0" anchor="ctr"/>
          <a:lstStyle/>
          <a:p>
            <a:pPr algn="ctr"/>
            <a:r>
              <a:rPr lang="en-US" sz="1000" b="1" dirty="0">
                <a:solidFill>
                  <a:srgbClr val="2C8B2C"/>
                </a:solidFill>
                <a:latin typeface="Open Sans"/>
              </a:rPr>
              <a:t>t = b</a:t>
            </a:r>
            <a:r>
              <a:rPr lang="en-US" sz="1000" b="1" baseline="-25000" dirty="0">
                <a:solidFill>
                  <a:srgbClr val="2C8B2C"/>
                </a:solidFill>
                <a:latin typeface="Open Sans"/>
              </a:rPr>
              <a:t>1</a:t>
            </a:r>
            <a:r>
              <a:rPr lang="en-US" sz="1000" b="1" dirty="0">
                <a:solidFill>
                  <a:srgbClr val="2C8B2C"/>
                </a:solidFill>
                <a:latin typeface="Open Sans"/>
              </a:rPr>
              <a:t> / SE = 0.386 / 0.118 = 3.26</a:t>
            </a:r>
          </a:p>
        </p:txBody>
      </p:sp>
      <p:sp>
        <p:nvSpPr>
          <p:cNvPr id="57" name="CILVal7">
            <a:extLst>
              <a:ext uri="{FF2B5EF4-FFF2-40B4-BE49-F238E27FC236}">
                <a16:creationId xmlns:a16="http://schemas.microsoft.com/office/drawing/2014/main" id="{6CFD4752-6159-EBE2-B058-18603126540C}"/>
              </a:ext>
            </a:extLst>
          </p:cNvPr>
          <p:cNvSpPr/>
          <p:nvPr/>
        </p:nvSpPr>
        <p:spPr>
          <a:xfrm>
            <a:off x="7326307" y="5959054"/>
            <a:ext cx="448620" cy="186468"/>
          </a:xfrm>
          <a:prstGeom prst="rect">
            <a:avLst/>
          </a:prstGeom>
          <a:noFill/>
          <a:ln>
            <a:noFill/>
          </a:ln>
        </p:spPr>
        <p:txBody>
          <a:bodyPr wrap="none" lIns="0" tIns="0" rIns="0" bIns="0" anchor="t"/>
          <a:lstStyle/>
          <a:p>
            <a:pPr algn="ctr"/>
            <a:r>
              <a:rPr lang="en-US" sz="1000" b="1" dirty="0">
                <a:solidFill>
                  <a:srgbClr val="2B6CB0"/>
                </a:solidFill>
                <a:latin typeface="Open Sans"/>
              </a:rPr>
              <a:t>0.096</a:t>
            </a:r>
          </a:p>
        </p:txBody>
      </p:sp>
      <p:sp>
        <p:nvSpPr>
          <p:cNvPr id="58" name="CIRVal7">
            <a:extLst>
              <a:ext uri="{FF2B5EF4-FFF2-40B4-BE49-F238E27FC236}">
                <a16:creationId xmlns:a16="http://schemas.microsoft.com/office/drawing/2014/main" id="{F2BCAC10-EAEF-00A8-5FE0-89A8453A68E1}"/>
              </a:ext>
            </a:extLst>
          </p:cNvPr>
          <p:cNvSpPr/>
          <p:nvPr/>
        </p:nvSpPr>
        <p:spPr>
          <a:xfrm>
            <a:off x="10314634" y="5971044"/>
            <a:ext cx="448620" cy="186468"/>
          </a:xfrm>
          <a:prstGeom prst="rect">
            <a:avLst/>
          </a:prstGeom>
          <a:noFill/>
          <a:ln>
            <a:noFill/>
          </a:ln>
        </p:spPr>
        <p:txBody>
          <a:bodyPr wrap="none" lIns="0" tIns="0" rIns="0" bIns="0" anchor="t"/>
          <a:lstStyle/>
          <a:p>
            <a:pPr algn="ctr"/>
            <a:r>
              <a:rPr lang="en-US" sz="1000" b="1" dirty="0">
                <a:solidFill>
                  <a:srgbClr val="2B6CB0"/>
                </a:solidFill>
                <a:latin typeface="Open Sans"/>
              </a:rPr>
              <a:t>0.676</a:t>
            </a:r>
          </a:p>
        </p:txBody>
      </p:sp>
      <p:sp>
        <p:nvSpPr>
          <p:cNvPr id="59" name="CIBar7">
            <a:extLst>
              <a:ext uri="{FF2B5EF4-FFF2-40B4-BE49-F238E27FC236}">
                <a16:creationId xmlns:a16="http://schemas.microsoft.com/office/drawing/2014/main" id="{454DE751-6199-3DDE-46F7-8DA16E772E12}"/>
              </a:ext>
            </a:extLst>
          </p:cNvPr>
          <p:cNvSpPr/>
          <p:nvPr/>
        </p:nvSpPr>
        <p:spPr>
          <a:xfrm>
            <a:off x="7332951" y="6284168"/>
            <a:ext cx="3436947" cy="429809"/>
          </a:xfrm>
          <a:prstGeom prst="rect">
            <a:avLst/>
          </a:prstGeom>
          <a:solidFill>
            <a:srgbClr val="F1F4FF"/>
          </a:solidFill>
          <a:ln>
            <a:solidFill>
              <a:srgbClr val="0070C0"/>
            </a:solidFill>
          </a:ln>
        </p:spPr>
        <p:txBody>
          <a:bodyPr anchor="ctr"/>
          <a:lstStyle/>
          <a:p>
            <a:pPr algn="ctr"/>
            <a:r>
              <a:rPr lang="en-US" sz="1050" b="1" dirty="0">
                <a:solidFill>
                  <a:srgbClr val="2B6CB0"/>
                </a:solidFill>
                <a:latin typeface="Open Sans"/>
              </a:rPr>
              <a:t>True slope’s plausible region: ± 2.45 SE</a:t>
            </a:r>
          </a:p>
          <a:p>
            <a:pPr algn="ctr"/>
            <a:r>
              <a:rPr lang="en-US" sz="1050" b="1" dirty="0">
                <a:solidFill>
                  <a:srgbClr val="2B6CB0"/>
                </a:solidFill>
                <a:latin typeface="Open Sans"/>
              </a:rPr>
              <a:t>95% Confidence Interval</a:t>
            </a:r>
          </a:p>
        </p:txBody>
      </p:sp>
      <p:grpSp>
        <p:nvGrpSpPr>
          <p:cNvPr id="60" name="Group 59">
            <a:extLst>
              <a:ext uri="{FF2B5EF4-FFF2-40B4-BE49-F238E27FC236}">
                <a16:creationId xmlns:a16="http://schemas.microsoft.com/office/drawing/2014/main" id="{7F973B25-E6CE-A7DC-76FA-CDC9A75CEE64}"/>
              </a:ext>
            </a:extLst>
          </p:cNvPr>
          <p:cNvGrpSpPr/>
          <p:nvPr/>
        </p:nvGrpSpPr>
        <p:grpSpPr>
          <a:xfrm>
            <a:off x="7319661" y="5639970"/>
            <a:ext cx="3450237" cy="1157961"/>
            <a:chOff x="7319661" y="5639970"/>
            <a:chExt cx="3450237" cy="1505529"/>
          </a:xfrm>
        </p:grpSpPr>
        <p:sp>
          <p:nvSpPr>
            <p:cNvPr id="61" name="CILW7">
              <a:extLst>
                <a:ext uri="{FF2B5EF4-FFF2-40B4-BE49-F238E27FC236}">
                  <a16:creationId xmlns:a16="http://schemas.microsoft.com/office/drawing/2014/main" id="{5E7CA22E-3278-FB96-50C8-56CE79614CA0}"/>
                </a:ext>
              </a:extLst>
            </p:cNvPr>
            <p:cNvSpPr/>
            <p:nvPr/>
          </p:nvSpPr>
          <p:spPr>
            <a:xfrm>
              <a:off x="7319661" y="5656439"/>
              <a:ext cx="6646" cy="1489060"/>
            </a:xfrm>
            <a:prstGeom prst="line">
              <a:avLst/>
            </a:prstGeom>
            <a:ln w="15875">
              <a:solidFill>
                <a:srgbClr val="2B6CB0"/>
              </a:solidFill>
              <a:prstDash val="sysDash"/>
            </a:ln>
          </p:spPr>
          <p:txBody>
            <a:bodyPr/>
            <a:lstStyle/>
            <a:p>
              <a:endParaRPr lang="en-US" sz="2000"/>
            </a:p>
          </p:txBody>
        </p:sp>
        <p:sp>
          <p:nvSpPr>
            <p:cNvPr id="62" name="CIRW7">
              <a:extLst>
                <a:ext uri="{FF2B5EF4-FFF2-40B4-BE49-F238E27FC236}">
                  <a16:creationId xmlns:a16="http://schemas.microsoft.com/office/drawing/2014/main" id="{AABE2309-B95B-CB89-FE54-5FCAC6F8B788}"/>
                </a:ext>
              </a:extLst>
            </p:cNvPr>
            <p:cNvSpPr/>
            <p:nvPr/>
          </p:nvSpPr>
          <p:spPr>
            <a:xfrm flipH="1">
              <a:off x="10763252" y="5639970"/>
              <a:ext cx="6646" cy="1489061"/>
            </a:xfrm>
            <a:prstGeom prst="line">
              <a:avLst/>
            </a:prstGeom>
            <a:ln w="15875">
              <a:solidFill>
                <a:srgbClr val="2B6CB0"/>
              </a:solidFill>
              <a:prstDash val="sysDash"/>
            </a:ln>
          </p:spPr>
          <p:txBody>
            <a:bodyPr/>
            <a:lstStyle/>
            <a:p>
              <a:endParaRPr lang="en-US" sz="2000"/>
            </a:p>
          </p:txBody>
        </p:sp>
      </p:grpSp>
      <p:grpSp>
        <p:nvGrpSpPr>
          <p:cNvPr id="63" name="Group 62">
            <a:extLst>
              <a:ext uri="{FF2B5EF4-FFF2-40B4-BE49-F238E27FC236}">
                <a16:creationId xmlns:a16="http://schemas.microsoft.com/office/drawing/2014/main" id="{A87D7287-2A1B-E0A5-F66F-028415CCD435}"/>
              </a:ext>
            </a:extLst>
          </p:cNvPr>
          <p:cNvGrpSpPr/>
          <p:nvPr/>
        </p:nvGrpSpPr>
        <p:grpSpPr>
          <a:xfrm>
            <a:off x="7342945" y="6153014"/>
            <a:ext cx="3436941" cy="139778"/>
            <a:chOff x="7674600" y="4901590"/>
            <a:chExt cx="3052621" cy="124385"/>
          </a:xfrm>
        </p:grpSpPr>
        <p:sp>
          <p:nvSpPr>
            <p:cNvPr id="64" name="CIBar7">
              <a:extLst>
                <a:ext uri="{FF2B5EF4-FFF2-40B4-BE49-F238E27FC236}">
                  <a16:creationId xmlns:a16="http://schemas.microsoft.com/office/drawing/2014/main" id="{75BB6FD2-3313-D93E-B6D3-D587D5F56091}"/>
                </a:ext>
              </a:extLst>
            </p:cNvPr>
            <p:cNvSpPr/>
            <p:nvPr/>
          </p:nvSpPr>
          <p:spPr>
            <a:xfrm>
              <a:off x="9202825" y="4916652"/>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65" name="CILW7">
              <a:extLst>
                <a:ext uri="{FF2B5EF4-FFF2-40B4-BE49-F238E27FC236}">
                  <a16:creationId xmlns:a16="http://schemas.microsoft.com/office/drawing/2014/main" id="{0CD2BD38-C02C-5E1C-A244-2E93F2EE5363}"/>
                </a:ext>
              </a:extLst>
            </p:cNvPr>
            <p:cNvSpPr/>
            <p:nvPr/>
          </p:nvSpPr>
          <p:spPr>
            <a:xfrm>
              <a:off x="9196928" y="4901590"/>
              <a:ext cx="0" cy="120753"/>
            </a:xfrm>
            <a:prstGeom prst="line">
              <a:avLst/>
            </a:prstGeom>
            <a:ln w="15875">
              <a:solidFill>
                <a:srgbClr val="2B6CB0"/>
              </a:solidFill>
            </a:ln>
          </p:spPr>
          <p:txBody>
            <a:bodyPr anchor="ctr"/>
            <a:lstStyle/>
            <a:p>
              <a:endParaRPr lang="en-US" sz="2000"/>
            </a:p>
          </p:txBody>
        </p:sp>
        <p:sp>
          <p:nvSpPr>
            <p:cNvPr id="66" name="CILW7">
              <a:extLst>
                <a:ext uri="{FF2B5EF4-FFF2-40B4-BE49-F238E27FC236}">
                  <a16:creationId xmlns:a16="http://schemas.microsoft.com/office/drawing/2014/main" id="{E09FA3BD-95CB-9C17-A67B-0513D7254147}"/>
                </a:ext>
              </a:extLst>
            </p:cNvPr>
            <p:cNvSpPr/>
            <p:nvPr/>
          </p:nvSpPr>
          <p:spPr>
            <a:xfrm>
              <a:off x="9822879" y="4901590"/>
              <a:ext cx="0" cy="120753"/>
            </a:xfrm>
            <a:prstGeom prst="line">
              <a:avLst/>
            </a:prstGeom>
            <a:ln w="15875">
              <a:solidFill>
                <a:srgbClr val="2B6CB0"/>
              </a:solidFill>
            </a:ln>
          </p:spPr>
          <p:txBody>
            <a:bodyPr anchor="ctr"/>
            <a:lstStyle/>
            <a:p>
              <a:endParaRPr lang="en-US" sz="2000"/>
            </a:p>
          </p:txBody>
        </p:sp>
        <p:sp>
          <p:nvSpPr>
            <p:cNvPr id="67" name="CIBar7">
              <a:extLst>
                <a:ext uri="{FF2B5EF4-FFF2-40B4-BE49-F238E27FC236}">
                  <a16:creationId xmlns:a16="http://schemas.microsoft.com/office/drawing/2014/main" id="{E3BE5697-69C9-24CE-A460-864FA189269C}"/>
                </a:ext>
              </a:extLst>
            </p:cNvPr>
            <p:cNvSpPr/>
            <p:nvPr/>
          </p:nvSpPr>
          <p:spPr>
            <a:xfrm>
              <a:off x="9828775" y="4919212"/>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68" name="CILW7">
              <a:extLst>
                <a:ext uri="{FF2B5EF4-FFF2-40B4-BE49-F238E27FC236}">
                  <a16:creationId xmlns:a16="http://schemas.microsoft.com/office/drawing/2014/main" id="{27F6AA37-54F6-8A4F-C15D-608B6B69F74C}"/>
                </a:ext>
              </a:extLst>
            </p:cNvPr>
            <p:cNvSpPr/>
            <p:nvPr/>
          </p:nvSpPr>
          <p:spPr>
            <a:xfrm>
              <a:off x="9822878" y="4904150"/>
              <a:ext cx="0" cy="120753"/>
            </a:xfrm>
            <a:prstGeom prst="line">
              <a:avLst/>
            </a:prstGeom>
            <a:ln w="15875">
              <a:solidFill>
                <a:srgbClr val="2B6CB0"/>
              </a:solidFill>
            </a:ln>
          </p:spPr>
          <p:txBody>
            <a:bodyPr anchor="ctr"/>
            <a:lstStyle/>
            <a:p>
              <a:endParaRPr lang="en-US" sz="2000"/>
            </a:p>
          </p:txBody>
        </p:sp>
        <p:sp>
          <p:nvSpPr>
            <p:cNvPr id="69" name="CILW7">
              <a:extLst>
                <a:ext uri="{FF2B5EF4-FFF2-40B4-BE49-F238E27FC236}">
                  <a16:creationId xmlns:a16="http://schemas.microsoft.com/office/drawing/2014/main" id="{95FA5B30-7CAB-505A-8FD5-9FD94FA107D0}"/>
                </a:ext>
              </a:extLst>
            </p:cNvPr>
            <p:cNvSpPr/>
            <p:nvPr/>
          </p:nvSpPr>
          <p:spPr>
            <a:xfrm>
              <a:off x="10448828" y="4904150"/>
              <a:ext cx="0" cy="120753"/>
            </a:xfrm>
            <a:prstGeom prst="line">
              <a:avLst/>
            </a:prstGeom>
            <a:ln w="15875">
              <a:solidFill>
                <a:srgbClr val="2B6CB0"/>
              </a:solidFill>
            </a:ln>
          </p:spPr>
          <p:txBody>
            <a:bodyPr anchor="ctr"/>
            <a:lstStyle/>
            <a:p>
              <a:endParaRPr lang="en-US" sz="2000"/>
            </a:p>
          </p:txBody>
        </p:sp>
        <p:sp>
          <p:nvSpPr>
            <p:cNvPr id="70" name="CIBar7">
              <a:extLst>
                <a:ext uri="{FF2B5EF4-FFF2-40B4-BE49-F238E27FC236}">
                  <a16:creationId xmlns:a16="http://schemas.microsoft.com/office/drawing/2014/main" id="{71E319F8-2394-67B8-9343-878461011B0F}"/>
                </a:ext>
              </a:extLst>
            </p:cNvPr>
            <p:cNvSpPr/>
            <p:nvPr/>
          </p:nvSpPr>
          <p:spPr>
            <a:xfrm>
              <a:off x="10454724" y="4917724"/>
              <a:ext cx="272497" cy="89924"/>
            </a:xfrm>
            <a:prstGeom prst="rect">
              <a:avLst/>
            </a:prstGeom>
            <a:solidFill>
              <a:srgbClr val="B8D4E8">
                <a:alpha val="34902"/>
              </a:srgbClr>
            </a:solidFill>
            <a:ln>
              <a:noFill/>
            </a:ln>
          </p:spPr>
          <p:txBody>
            <a:bodyPr lIns="0" rIns="0" anchor="ctr"/>
            <a:lstStyle/>
            <a:p>
              <a:pPr algn="ctr"/>
              <a:endParaRPr lang="en-US" sz="900" dirty="0"/>
            </a:p>
          </p:txBody>
        </p:sp>
        <p:sp>
          <p:nvSpPr>
            <p:cNvPr id="71" name="CILW7">
              <a:extLst>
                <a:ext uri="{FF2B5EF4-FFF2-40B4-BE49-F238E27FC236}">
                  <a16:creationId xmlns:a16="http://schemas.microsoft.com/office/drawing/2014/main" id="{7096BF34-AF06-DC96-878E-24AB3D416ED1}"/>
                </a:ext>
              </a:extLst>
            </p:cNvPr>
            <p:cNvSpPr/>
            <p:nvPr/>
          </p:nvSpPr>
          <p:spPr>
            <a:xfrm>
              <a:off x="10448826" y="4902662"/>
              <a:ext cx="0" cy="120753"/>
            </a:xfrm>
            <a:prstGeom prst="line">
              <a:avLst/>
            </a:prstGeom>
            <a:ln w="15875">
              <a:solidFill>
                <a:srgbClr val="2B6CB0"/>
              </a:solidFill>
            </a:ln>
          </p:spPr>
          <p:txBody>
            <a:bodyPr anchor="ctr"/>
            <a:lstStyle/>
            <a:p>
              <a:endParaRPr lang="en-US" sz="2000"/>
            </a:p>
          </p:txBody>
        </p:sp>
        <p:sp>
          <p:nvSpPr>
            <p:cNvPr id="72" name="CIBar7">
              <a:extLst>
                <a:ext uri="{FF2B5EF4-FFF2-40B4-BE49-F238E27FC236}">
                  <a16:creationId xmlns:a16="http://schemas.microsoft.com/office/drawing/2014/main" id="{E9FB7A80-C912-C9BF-727F-E6252681BFD1}"/>
                </a:ext>
              </a:extLst>
            </p:cNvPr>
            <p:cNvSpPr/>
            <p:nvPr/>
          </p:nvSpPr>
          <p:spPr>
            <a:xfrm>
              <a:off x="7674600" y="4917724"/>
              <a:ext cx="272102" cy="89924"/>
            </a:xfrm>
            <a:prstGeom prst="rect">
              <a:avLst/>
            </a:prstGeom>
            <a:solidFill>
              <a:srgbClr val="B8D4E8">
                <a:alpha val="34902"/>
              </a:srgbClr>
            </a:solidFill>
            <a:ln>
              <a:noFill/>
            </a:ln>
          </p:spPr>
          <p:txBody>
            <a:bodyPr lIns="0" rIns="0" anchor="ctr"/>
            <a:lstStyle/>
            <a:p>
              <a:pPr algn="ctr"/>
              <a:endParaRPr lang="en-US" sz="900" dirty="0"/>
            </a:p>
          </p:txBody>
        </p:sp>
        <p:sp>
          <p:nvSpPr>
            <p:cNvPr id="73" name="CILW7">
              <a:extLst>
                <a:ext uri="{FF2B5EF4-FFF2-40B4-BE49-F238E27FC236}">
                  <a16:creationId xmlns:a16="http://schemas.microsoft.com/office/drawing/2014/main" id="{585E825F-88CD-36B0-F222-64327BE01543}"/>
                </a:ext>
              </a:extLst>
            </p:cNvPr>
            <p:cNvSpPr/>
            <p:nvPr/>
          </p:nvSpPr>
          <p:spPr>
            <a:xfrm>
              <a:off x="7947981" y="4902662"/>
              <a:ext cx="0" cy="120753"/>
            </a:xfrm>
            <a:prstGeom prst="line">
              <a:avLst/>
            </a:prstGeom>
            <a:ln w="15875">
              <a:solidFill>
                <a:srgbClr val="2B6CB0"/>
              </a:solidFill>
            </a:ln>
          </p:spPr>
          <p:txBody>
            <a:bodyPr anchor="ctr"/>
            <a:lstStyle/>
            <a:p>
              <a:endParaRPr lang="en-US" sz="2000"/>
            </a:p>
          </p:txBody>
        </p:sp>
        <p:sp>
          <p:nvSpPr>
            <p:cNvPr id="74" name="CIBar7">
              <a:extLst>
                <a:ext uri="{FF2B5EF4-FFF2-40B4-BE49-F238E27FC236}">
                  <a16:creationId xmlns:a16="http://schemas.microsoft.com/office/drawing/2014/main" id="{F8475C2E-D666-B3B0-80DB-65EB37259A4F}"/>
                </a:ext>
              </a:extLst>
            </p:cNvPr>
            <p:cNvSpPr/>
            <p:nvPr/>
          </p:nvSpPr>
          <p:spPr>
            <a:xfrm>
              <a:off x="7953878" y="4920284"/>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75" name="CILW7">
              <a:extLst>
                <a:ext uri="{FF2B5EF4-FFF2-40B4-BE49-F238E27FC236}">
                  <a16:creationId xmlns:a16="http://schemas.microsoft.com/office/drawing/2014/main" id="{C86622BA-42E2-B377-4941-B777FF8A2C13}"/>
                </a:ext>
              </a:extLst>
            </p:cNvPr>
            <p:cNvSpPr/>
            <p:nvPr/>
          </p:nvSpPr>
          <p:spPr>
            <a:xfrm>
              <a:off x="7947980" y="4905222"/>
              <a:ext cx="0" cy="120753"/>
            </a:xfrm>
            <a:prstGeom prst="line">
              <a:avLst/>
            </a:prstGeom>
            <a:ln w="15875">
              <a:solidFill>
                <a:srgbClr val="2B6CB0"/>
              </a:solidFill>
            </a:ln>
          </p:spPr>
          <p:txBody>
            <a:bodyPr anchor="ctr"/>
            <a:lstStyle/>
            <a:p>
              <a:endParaRPr lang="en-US" sz="2000"/>
            </a:p>
          </p:txBody>
        </p:sp>
        <p:sp>
          <p:nvSpPr>
            <p:cNvPr id="76" name="CILW7">
              <a:extLst>
                <a:ext uri="{FF2B5EF4-FFF2-40B4-BE49-F238E27FC236}">
                  <a16:creationId xmlns:a16="http://schemas.microsoft.com/office/drawing/2014/main" id="{18024726-EFC0-0A80-525A-44D1E6939ECE}"/>
                </a:ext>
              </a:extLst>
            </p:cNvPr>
            <p:cNvSpPr/>
            <p:nvPr/>
          </p:nvSpPr>
          <p:spPr>
            <a:xfrm>
              <a:off x="8573931" y="4905222"/>
              <a:ext cx="0" cy="120753"/>
            </a:xfrm>
            <a:prstGeom prst="line">
              <a:avLst/>
            </a:prstGeom>
            <a:ln w="15875">
              <a:solidFill>
                <a:srgbClr val="2B6CB0"/>
              </a:solidFill>
            </a:ln>
          </p:spPr>
          <p:txBody>
            <a:bodyPr anchor="ctr"/>
            <a:lstStyle/>
            <a:p>
              <a:endParaRPr lang="en-US" sz="2000"/>
            </a:p>
          </p:txBody>
        </p:sp>
        <p:sp>
          <p:nvSpPr>
            <p:cNvPr id="77" name="CIBar7">
              <a:extLst>
                <a:ext uri="{FF2B5EF4-FFF2-40B4-BE49-F238E27FC236}">
                  <a16:creationId xmlns:a16="http://schemas.microsoft.com/office/drawing/2014/main" id="{B2F358FE-D5D4-9AEA-9442-E1B5F3E1B78F}"/>
                </a:ext>
              </a:extLst>
            </p:cNvPr>
            <p:cNvSpPr/>
            <p:nvPr/>
          </p:nvSpPr>
          <p:spPr>
            <a:xfrm>
              <a:off x="8579827" y="4918796"/>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78" name="CILW7">
              <a:extLst>
                <a:ext uri="{FF2B5EF4-FFF2-40B4-BE49-F238E27FC236}">
                  <a16:creationId xmlns:a16="http://schemas.microsoft.com/office/drawing/2014/main" id="{EEFEC69D-2AF1-88E4-8559-34BAAE43B443}"/>
                </a:ext>
              </a:extLst>
            </p:cNvPr>
            <p:cNvSpPr/>
            <p:nvPr/>
          </p:nvSpPr>
          <p:spPr>
            <a:xfrm>
              <a:off x="8573929" y="4903734"/>
              <a:ext cx="0" cy="120753"/>
            </a:xfrm>
            <a:prstGeom prst="line">
              <a:avLst/>
            </a:prstGeom>
            <a:ln w="15875">
              <a:solidFill>
                <a:srgbClr val="2B6CB0"/>
              </a:solidFill>
            </a:ln>
          </p:spPr>
          <p:txBody>
            <a:bodyPr anchor="ctr"/>
            <a:lstStyle/>
            <a:p>
              <a:endParaRPr lang="en-US" sz="2000"/>
            </a:p>
          </p:txBody>
        </p:sp>
        <p:sp>
          <p:nvSpPr>
            <p:cNvPr id="79" name="CILW7">
              <a:extLst>
                <a:ext uri="{FF2B5EF4-FFF2-40B4-BE49-F238E27FC236}">
                  <a16:creationId xmlns:a16="http://schemas.microsoft.com/office/drawing/2014/main" id="{A79A13CA-56EF-C6CE-B164-A756D29D2137}"/>
                </a:ext>
              </a:extLst>
            </p:cNvPr>
            <p:cNvSpPr/>
            <p:nvPr/>
          </p:nvSpPr>
          <p:spPr>
            <a:xfrm>
              <a:off x="9199880" y="4903734"/>
              <a:ext cx="0" cy="120753"/>
            </a:xfrm>
            <a:prstGeom prst="line">
              <a:avLst/>
            </a:prstGeom>
            <a:ln w="15875">
              <a:solidFill>
                <a:srgbClr val="2B6CB0"/>
              </a:solidFill>
            </a:ln>
          </p:spPr>
          <p:txBody>
            <a:bodyPr anchor="ctr"/>
            <a:lstStyle/>
            <a:p>
              <a:endParaRPr lang="en-US" sz="2000"/>
            </a:p>
          </p:txBody>
        </p:sp>
      </p:grpSp>
      <p:sp>
        <p:nvSpPr>
          <p:cNvPr id="80" name="Rounded Rectangle 79">
            <a:extLst>
              <a:ext uri="{FF2B5EF4-FFF2-40B4-BE49-F238E27FC236}">
                <a16:creationId xmlns:a16="http://schemas.microsoft.com/office/drawing/2014/main" id="{43222968-2146-4218-FA3F-948B05A1FB31}"/>
              </a:ext>
            </a:extLst>
          </p:cNvPr>
          <p:cNvSpPr/>
          <p:nvPr/>
        </p:nvSpPr>
        <p:spPr>
          <a:xfrm>
            <a:off x="241300" y="3309255"/>
            <a:ext cx="8143900" cy="784545"/>
          </a:xfrm>
          <a:prstGeom prst="roundRect">
            <a:avLst/>
          </a:prstGeom>
          <a:solidFill>
            <a:srgbClr val="FFF0EE"/>
          </a:solidFill>
          <a:ln w="12700" cap="flat" cmpd="sng" algn="ctr">
            <a:solidFill>
              <a:srgbClr val="E8A09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r>
              <a:rPr lang="en-US" sz="1300" dirty="0">
                <a:solidFill>
                  <a:srgbClr val="7A1A1A"/>
                </a:solidFill>
              </a:rPr>
              <a:t>✗ A p-value &gt; 0.05 proves there is no association</a:t>
            </a:r>
          </a:p>
          <a:p>
            <a:r>
              <a:rPr lang="en-US" sz="1300" b="1" dirty="0">
                <a:solidFill>
                  <a:srgbClr val="7A1A1A"/>
                </a:solidFill>
              </a:rPr>
              <a:t>Wrong</a:t>
            </a:r>
            <a:r>
              <a:rPr lang="en-US" sz="1300" dirty="0">
                <a:solidFill>
                  <a:srgbClr val="7A1A1A"/>
                </a:solidFill>
              </a:rPr>
              <a:t>: It only means your current data is inconclusive. Larger sample size could still capture an association</a:t>
            </a:r>
          </a:p>
        </p:txBody>
      </p:sp>
    </p:spTree>
    <p:extLst>
      <p:ext uri="{BB962C8B-B14F-4D97-AF65-F5344CB8AC3E}">
        <p14:creationId xmlns:p14="http://schemas.microsoft.com/office/powerpoint/2010/main" val="1171166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7" grpId="0" animBg="1"/>
      <p:bldP spid="8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1FBA5-7338-D648-905B-68A5E49564FB}"/>
              </a:ext>
            </a:extLst>
          </p:cNvPr>
          <p:cNvSpPr txBox="1"/>
          <p:nvPr/>
        </p:nvSpPr>
        <p:spPr>
          <a:xfrm>
            <a:off x="241300" y="228600"/>
            <a:ext cx="11709400" cy="400110"/>
          </a:xfrm>
          <a:prstGeom prst="rect">
            <a:avLst/>
          </a:prstGeom>
          <a:noFill/>
          <a:ln>
            <a:noFill/>
          </a:ln>
        </p:spPr>
        <p:txBody>
          <a:bodyPr wrap="square" lIns="36000" tIns="0" rIns="36000" bIns="0" anchor="ctr"/>
          <a:lstStyle>
            <a:defPPr>
              <a:defRPr lang="en-US"/>
            </a:defPPr>
            <a:lvl1pPr>
              <a:defRPr sz="2000" b="1">
                <a:solidFill>
                  <a:srgbClr val="2E6B75"/>
                </a:solidFill>
                <a:latin typeface="Montserrat"/>
              </a:defRPr>
            </a:lvl1pPr>
          </a:lstStyle>
          <a:p>
            <a:r>
              <a:rPr lang="en-US" dirty="0"/>
              <a:t>Practice: Properly interpreting the p-Value</a:t>
            </a:r>
          </a:p>
        </p:txBody>
      </p:sp>
      <p:sp>
        <p:nvSpPr>
          <p:cNvPr id="3" name="Rounded Rectangle 2">
            <a:extLst>
              <a:ext uri="{FF2B5EF4-FFF2-40B4-BE49-F238E27FC236}">
                <a16:creationId xmlns:a16="http://schemas.microsoft.com/office/drawing/2014/main" id="{5071D32B-318F-B44B-8236-CD021457CE0F}"/>
              </a:ext>
            </a:extLst>
          </p:cNvPr>
          <p:cNvSpPr/>
          <p:nvPr/>
        </p:nvSpPr>
        <p:spPr>
          <a:xfrm>
            <a:off x="241300" y="787399"/>
            <a:ext cx="5753100" cy="1333503"/>
          </a:xfrm>
          <a:prstGeom prst="roundRect">
            <a:avLst/>
          </a:prstGeom>
          <a:solidFill>
            <a:srgbClr val="2E6B7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r>
              <a:rPr lang="en-US" sz="1400" b="1" dirty="0">
                <a:solidFill>
                  <a:srgbClr val="FFFFFF"/>
                </a:solidFill>
              </a:rPr>
              <a:t>Q1: A study examines whether hours spent studying predict exam scores. The results show that each additional hour of studying is associated with a 4.2-point increase in exam score (out of 100), with a p-value of 0.03 for the slope. Which interpretation of this p-value is correct?</a:t>
            </a:r>
          </a:p>
        </p:txBody>
      </p:sp>
      <p:sp>
        <p:nvSpPr>
          <p:cNvPr id="4" name="Rounded Rectangle 3">
            <a:extLst>
              <a:ext uri="{FF2B5EF4-FFF2-40B4-BE49-F238E27FC236}">
                <a16:creationId xmlns:a16="http://schemas.microsoft.com/office/drawing/2014/main" id="{0A75C643-C5D7-3042-917E-E25C7BF59AD0}"/>
              </a:ext>
            </a:extLst>
          </p:cNvPr>
          <p:cNvSpPr/>
          <p:nvPr/>
        </p:nvSpPr>
        <p:spPr>
          <a:xfrm>
            <a:off x="444500" y="2181863"/>
            <a:ext cx="5549900" cy="634998"/>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300" dirty="0">
                <a:solidFill>
                  <a:srgbClr val="2E3640"/>
                </a:solidFill>
              </a:rPr>
              <a:t>A)  There is a 3% probability that studying has an effect on scores, and the effect is likely to be large</a:t>
            </a:r>
          </a:p>
        </p:txBody>
      </p:sp>
      <p:sp>
        <p:nvSpPr>
          <p:cNvPr id="5" name="Rounded Rectangle 4">
            <a:extLst>
              <a:ext uri="{FF2B5EF4-FFF2-40B4-BE49-F238E27FC236}">
                <a16:creationId xmlns:a16="http://schemas.microsoft.com/office/drawing/2014/main" id="{1CBB50AB-7469-7F4A-9EB1-6E6A23430E36}"/>
              </a:ext>
            </a:extLst>
          </p:cNvPr>
          <p:cNvSpPr/>
          <p:nvPr/>
        </p:nvSpPr>
        <p:spPr>
          <a:xfrm>
            <a:off x="444500" y="2854962"/>
            <a:ext cx="5549900" cy="634999"/>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clip" horzOverflow="clip" vert="horz" wrap="square" lIns="91440" tIns="45720" rIns="91440" bIns="45720" numCol="1" spcCol="0" rtlCol="0" fromWordArt="0" anchor="ctr" anchorCtr="0" forceAA="0" compatLnSpc="1">
            <a:prstTxWarp prst="textNoShape">
              <a:avLst/>
            </a:prstTxWarp>
            <a:noAutofit/>
          </a:bodyPr>
          <a:lstStyle/>
          <a:p>
            <a:r>
              <a:rPr lang="en-US" sz="1300" dirty="0">
                <a:solidFill>
                  <a:srgbClr val="2E3640"/>
                </a:solidFill>
              </a:rPr>
              <a:t>B)  If studying had no effect on exam scores, we would observe a |slope| 4.2 or larger about 3% of the time </a:t>
            </a:r>
          </a:p>
        </p:txBody>
      </p:sp>
      <p:sp>
        <p:nvSpPr>
          <p:cNvPr id="7" name="Rounded Rectangle 6">
            <a:extLst>
              <a:ext uri="{FF2B5EF4-FFF2-40B4-BE49-F238E27FC236}">
                <a16:creationId xmlns:a16="http://schemas.microsoft.com/office/drawing/2014/main" id="{5982DE6D-69EE-6048-89C2-1309EC277078}"/>
              </a:ext>
            </a:extLst>
          </p:cNvPr>
          <p:cNvSpPr/>
          <p:nvPr/>
        </p:nvSpPr>
        <p:spPr>
          <a:xfrm>
            <a:off x="241300" y="3593737"/>
            <a:ext cx="5753100" cy="1422763"/>
          </a:xfrm>
          <a:prstGeom prst="roundRect">
            <a:avLst/>
          </a:prstGeom>
          <a:solidFill>
            <a:srgbClr val="E8F4F5"/>
          </a:solidFill>
          <a:ln w="12700" cap="flat" cmpd="sng" algn="ctr">
            <a:solidFill>
              <a:srgbClr val="2E6B7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r>
              <a:rPr lang="en-US" sz="1400" dirty="0">
                <a:solidFill>
                  <a:srgbClr val="2E3640"/>
                </a:solidFill>
              </a:rPr>
              <a:t>Answer: B
The p-value describes the probability of observing data this extreme if the null hypothesis is true. </a:t>
            </a:r>
          </a:p>
          <a:p>
            <a:endParaRPr lang="en-US" sz="1400" dirty="0">
              <a:solidFill>
                <a:srgbClr val="2E3640"/>
              </a:solidFill>
            </a:endParaRPr>
          </a:p>
          <a:p>
            <a:r>
              <a:rPr lang="en-US" sz="1400" dirty="0">
                <a:solidFill>
                  <a:srgbClr val="2E3640"/>
                </a:solidFill>
              </a:rPr>
              <a:t>It does not measure the probability of the hypothesis itself (A),</a:t>
            </a:r>
          </a:p>
        </p:txBody>
      </p:sp>
      <p:sp>
        <p:nvSpPr>
          <p:cNvPr id="8" name="Rounded Rectangle 7">
            <a:extLst>
              <a:ext uri="{FF2B5EF4-FFF2-40B4-BE49-F238E27FC236}">
                <a16:creationId xmlns:a16="http://schemas.microsoft.com/office/drawing/2014/main" id="{C441B225-31EC-3943-B374-0649B34A4A2B}"/>
              </a:ext>
            </a:extLst>
          </p:cNvPr>
          <p:cNvSpPr/>
          <p:nvPr/>
        </p:nvSpPr>
        <p:spPr>
          <a:xfrm>
            <a:off x="6197600" y="787400"/>
            <a:ext cx="5753100" cy="825500"/>
          </a:xfrm>
          <a:prstGeom prst="roundRect">
            <a:avLst/>
          </a:prstGeom>
          <a:solidFill>
            <a:srgbClr val="2E6B7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r>
              <a:rPr lang="en-US" sz="1400" b="1" dirty="0">
                <a:solidFill>
                  <a:srgbClr val="FFFFFF"/>
                </a:solidFill>
              </a:rPr>
              <a:t>Q2: In a similar study analyzing the effect of preparation time on SAT scores (n = 50,000), the slope is 0.002 with p &lt; 0.001. Does this indicate a 'large effect'?</a:t>
            </a:r>
          </a:p>
        </p:txBody>
      </p:sp>
      <p:sp>
        <p:nvSpPr>
          <p:cNvPr id="9" name="Rounded Rectangle 8">
            <a:extLst>
              <a:ext uri="{FF2B5EF4-FFF2-40B4-BE49-F238E27FC236}">
                <a16:creationId xmlns:a16="http://schemas.microsoft.com/office/drawing/2014/main" id="{40B092B9-7A4C-D54D-8F00-C8C5E9F4AD1E}"/>
              </a:ext>
            </a:extLst>
          </p:cNvPr>
          <p:cNvSpPr/>
          <p:nvPr/>
        </p:nvSpPr>
        <p:spPr>
          <a:xfrm>
            <a:off x="6400800" y="1701800"/>
            <a:ext cx="5549900" cy="635000"/>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r>
              <a:rPr lang="en-US" sz="1300" dirty="0">
                <a:solidFill>
                  <a:srgbClr val="2E3640"/>
                </a:solidFill>
              </a:rPr>
              <a:t>A) No : the p-value measures evidence against a zero slope, not the size of the effect. </a:t>
            </a:r>
            <a:br>
              <a:rPr lang="en-US" sz="1300" dirty="0">
                <a:solidFill>
                  <a:srgbClr val="2E3640"/>
                </a:solidFill>
              </a:rPr>
            </a:br>
            <a:endParaRPr lang="en-US" sz="1300" dirty="0">
              <a:solidFill>
                <a:srgbClr val="2E3640"/>
              </a:solidFill>
            </a:endParaRPr>
          </a:p>
        </p:txBody>
      </p:sp>
      <p:sp>
        <p:nvSpPr>
          <p:cNvPr id="10" name="Rounded Rectangle 9">
            <a:extLst>
              <a:ext uri="{FF2B5EF4-FFF2-40B4-BE49-F238E27FC236}">
                <a16:creationId xmlns:a16="http://schemas.microsoft.com/office/drawing/2014/main" id="{CE7EF04D-5FD8-5143-9E5A-60F9A0C199D9}"/>
              </a:ext>
            </a:extLst>
          </p:cNvPr>
          <p:cNvSpPr/>
          <p:nvPr/>
        </p:nvSpPr>
        <p:spPr>
          <a:xfrm>
            <a:off x="6400800" y="2438400"/>
            <a:ext cx="5549900" cy="635000"/>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clip" horzOverflow="clip" vert="horz" wrap="square" lIns="91440" tIns="45720" rIns="91440" bIns="45720" numCol="1" spcCol="0" rtlCol="0" fromWordArt="0" anchor="ctr" anchorCtr="0" forceAA="0" compatLnSpc="1">
            <a:prstTxWarp prst="textNoShape">
              <a:avLst/>
            </a:prstTxWarp>
            <a:noAutofit/>
          </a:bodyPr>
          <a:lstStyle/>
          <a:p>
            <a:r>
              <a:rPr lang="en-US" sz="1300" dirty="0">
                <a:solidFill>
                  <a:srgbClr val="2E3640"/>
                </a:solidFill>
              </a:rPr>
              <a:t>B) Yes: because p &lt; 0.001 is an exceptionally strong threshold, it guarantees a substantial impact.</a:t>
            </a:r>
          </a:p>
        </p:txBody>
      </p:sp>
      <p:sp>
        <p:nvSpPr>
          <p:cNvPr id="11" name="Rounded Rectangle 10">
            <a:extLst>
              <a:ext uri="{FF2B5EF4-FFF2-40B4-BE49-F238E27FC236}">
                <a16:creationId xmlns:a16="http://schemas.microsoft.com/office/drawing/2014/main" id="{346D00A5-359D-8946-BCD0-A6EC98ADA3F3}"/>
              </a:ext>
            </a:extLst>
          </p:cNvPr>
          <p:cNvSpPr/>
          <p:nvPr/>
        </p:nvSpPr>
        <p:spPr>
          <a:xfrm>
            <a:off x="6197600" y="3149600"/>
            <a:ext cx="5753100" cy="1866900"/>
          </a:xfrm>
          <a:prstGeom prst="roundRect">
            <a:avLst>
              <a:gd name="adj" fmla="val 10373"/>
            </a:avLst>
          </a:prstGeom>
          <a:solidFill>
            <a:srgbClr val="E8F4F5"/>
          </a:solidFill>
          <a:ln w="12700" cap="flat" cmpd="sng" algn="ctr">
            <a:solidFill>
              <a:srgbClr val="2E6B7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lgn="l"/>
            <a:r>
              <a:rPr lang="en-US" sz="1400" dirty="0">
                <a:solidFill>
                  <a:srgbClr val="2E3640"/>
                </a:solidFill>
              </a:rPr>
              <a:t>Answer: A
No evidence of large effect. The slope is tiny. </a:t>
            </a:r>
          </a:p>
          <a:p>
            <a:pPr algn="l"/>
            <a:endParaRPr lang="en-US" sz="1400" dirty="0">
              <a:solidFill>
                <a:srgbClr val="2E3640"/>
              </a:solidFill>
            </a:endParaRPr>
          </a:p>
          <a:p>
            <a:pPr algn="l"/>
            <a:r>
              <a:rPr lang="en-US" sz="1400" dirty="0">
                <a:solidFill>
                  <a:srgbClr val="2E3640"/>
                </a:solidFill>
              </a:rPr>
              <a:t>But with so many observations, even a small effect can yield a highly significant p-value </a:t>
            </a:r>
          </a:p>
        </p:txBody>
      </p:sp>
    </p:spTree>
    <p:extLst>
      <p:ext uri="{BB962C8B-B14F-4D97-AF65-F5344CB8AC3E}">
        <p14:creationId xmlns:p14="http://schemas.microsoft.com/office/powerpoint/2010/main" val="1609744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AFE18-353F-0829-2D92-B8905EAC190E}"/>
            </a:ext>
          </a:extLst>
        </p:cNvPr>
        <p:cNvGrpSpPr/>
        <p:nvPr/>
      </p:nvGrpSpPr>
      <p:grpSpPr>
        <a:xfrm>
          <a:off x="0" y="0"/>
          <a:ext cx="0" cy="0"/>
          <a:chOff x="0" y="0"/>
          <a:chExt cx="0" cy="0"/>
        </a:xfrm>
      </p:grpSpPr>
      <p:sp>
        <p:nvSpPr>
          <p:cNvPr id="3073" name="TextBox 14">
            <a:extLst>
              <a:ext uri="{FF2B5EF4-FFF2-40B4-BE49-F238E27FC236}">
                <a16:creationId xmlns:a16="http://schemas.microsoft.com/office/drawing/2014/main" id="{336652C2-80D6-E350-2F1E-E5E11DAAD7AC}"/>
              </a:ext>
            </a:extLst>
          </p:cNvPr>
          <p:cNvSpPr txBox="1">
            <a:spLocks noChangeArrowheads="1"/>
          </p:cNvSpPr>
          <p:nvPr/>
        </p:nvSpPr>
        <p:spPr bwMode="auto">
          <a:xfrm>
            <a:off x="241300" y="245417"/>
            <a:ext cx="10515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r>
              <a:rPr lang="en-US" altLang="en-US" sz="2400" b="1" dirty="0">
                <a:solidFill>
                  <a:srgbClr val="2E6B75"/>
                </a:solidFill>
                <a:latin typeface="Montserrat"/>
              </a:rPr>
              <a:t>Learning Objectives | t Values and p Values</a:t>
            </a:r>
          </a:p>
        </p:txBody>
      </p:sp>
      <p:sp>
        <p:nvSpPr>
          <p:cNvPr id="500" name="LO Circle 1"/>
          <p:cNvSpPr/>
          <p:nvPr/>
        </p:nvSpPr>
        <p:spPr>
          <a:xfrm>
            <a:off x="609600" y="1092200"/>
            <a:ext cx="406400" cy="406400"/>
          </a:xfrm>
          <a:prstGeom prst="ellipse">
            <a:avLst/>
          </a:prstGeom>
          <a:solidFill>
            <a:srgbClr val="2E6B75"/>
          </a:solidFill>
          <a:ln>
            <a:noFill/>
          </a:ln>
        </p:spPr>
        <p:txBody>
          <a:bodyPr wrap="none" lIns="0" tIns="0" rIns="0" bIns="0" anchor="ctr" anchorCtr="1"/>
          <a:lstStyle/>
          <a:p>
            <a:pPr algn="ctr"/>
            <a:r>
              <a:rPr lang="en-US" sz="1500" b="1" dirty="0">
                <a:solidFill>
                  <a:srgbClr val="FFFFFF"/>
                </a:solidFill>
                <a:latin typeface="Montserrat"/>
              </a:rPr>
              <a:t>1</a:t>
            </a:r>
          </a:p>
        </p:txBody>
      </p:sp>
      <p:sp>
        <p:nvSpPr>
          <p:cNvPr id="501" name="LO Text 1"/>
          <p:cNvSpPr txBox="1"/>
          <p:nvPr/>
        </p:nvSpPr>
        <p:spPr>
          <a:xfrm>
            <a:off x="1168400" y="1066800"/>
            <a:ext cx="9906000" cy="889000"/>
          </a:xfrm>
          <a:prstGeom prst="rect">
            <a:avLst/>
          </a:prstGeom>
          <a:noFill/>
          <a:ln>
            <a:noFill/>
          </a:ln>
        </p:spPr>
        <p:txBody>
          <a:bodyPr wrap="square" lIns="91440" tIns="45720" rIns="91440" bIns="45720" anchor="t"/>
          <a:lstStyle/>
          <a:p>
            <a:pPr>
              <a:lnSpc>
                <a:spcPts val="1800"/>
              </a:lnSpc>
              <a:spcAft>
                <a:spcPts val="100"/>
              </a:spcAft>
            </a:pPr>
            <a:r>
              <a:rPr lang="en-US" sz="1400" b="1" dirty="0">
                <a:solidFill>
                  <a:srgbClr val="2E3640"/>
                </a:solidFill>
                <a:latin typeface="Montserrat"/>
              </a:rPr>
              <a:t>Compute the t-statistic for a regression slope </a:t>
            </a:r>
            <a:r>
              <a:rPr lang="en-US" sz="2400" b="1" dirty="0">
                <a:solidFill>
                  <a:srgbClr val="2E3640"/>
                </a:solidFill>
                <a:latin typeface="Montserrat"/>
              </a:rPr>
              <a:t>✅</a:t>
            </a:r>
            <a:endParaRPr lang="en-US" sz="1400" b="1" dirty="0">
              <a:solidFill>
                <a:srgbClr val="2E3640"/>
              </a:solidFill>
              <a:latin typeface="Montserrat"/>
            </a:endParaRPr>
          </a:p>
          <a:p>
            <a:pPr>
              <a:lnSpc>
                <a:spcPts val="1600"/>
              </a:lnSpc>
            </a:pPr>
            <a:r>
              <a:rPr lang="en-US" sz="1400" dirty="0">
                <a:solidFill>
                  <a:srgbClr val="7A8694"/>
                </a:solidFill>
                <a:latin typeface="Montserrat"/>
              </a:rPr>
              <a:t>Divide the estimated slope by its standard error to measure how many SEs away from zero the estimate sits</a:t>
            </a:r>
          </a:p>
        </p:txBody>
      </p:sp>
      <p:sp>
        <p:nvSpPr>
          <p:cNvPr id="502" name="LO Circle 2"/>
          <p:cNvSpPr/>
          <p:nvPr/>
        </p:nvSpPr>
        <p:spPr>
          <a:xfrm>
            <a:off x="609600" y="2197100"/>
            <a:ext cx="406400" cy="406400"/>
          </a:xfrm>
          <a:prstGeom prst="ellipse">
            <a:avLst/>
          </a:prstGeom>
          <a:solidFill>
            <a:srgbClr val="2E6B75"/>
          </a:solidFill>
          <a:ln>
            <a:noFill/>
          </a:ln>
        </p:spPr>
        <p:txBody>
          <a:bodyPr wrap="none" lIns="0" tIns="0" rIns="0" bIns="0" anchor="ctr" anchorCtr="1"/>
          <a:lstStyle/>
          <a:p>
            <a:pPr algn="ctr"/>
            <a:r>
              <a:rPr lang="en-US" sz="1500" b="1" dirty="0">
                <a:solidFill>
                  <a:srgbClr val="FFFFFF"/>
                </a:solidFill>
                <a:latin typeface="Montserrat"/>
              </a:rPr>
              <a:t>2</a:t>
            </a:r>
          </a:p>
        </p:txBody>
      </p:sp>
      <p:sp>
        <p:nvSpPr>
          <p:cNvPr id="503" name="LO Text 2"/>
          <p:cNvSpPr txBox="1"/>
          <p:nvPr/>
        </p:nvSpPr>
        <p:spPr>
          <a:xfrm>
            <a:off x="1168400" y="2171700"/>
            <a:ext cx="9906000" cy="889000"/>
          </a:xfrm>
          <a:prstGeom prst="rect">
            <a:avLst/>
          </a:prstGeom>
          <a:noFill/>
          <a:ln>
            <a:noFill/>
          </a:ln>
        </p:spPr>
        <p:txBody>
          <a:bodyPr wrap="square" lIns="91440" tIns="45720" rIns="91440" bIns="45720" anchor="t"/>
          <a:lstStyle/>
          <a:p>
            <a:pPr>
              <a:lnSpc>
                <a:spcPts val="1800"/>
              </a:lnSpc>
              <a:spcAft>
                <a:spcPts val="100"/>
              </a:spcAft>
            </a:pPr>
            <a:r>
              <a:rPr lang="en-US" sz="1400" b="1" dirty="0">
                <a:solidFill>
                  <a:srgbClr val="2E3640"/>
                </a:solidFill>
                <a:latin typeface="Montserrat"/>
              </a:rPr>
              <a:t>Define the null hypothesis, explain how a t-value is used to calculate a p-value, and describe what the p-value represents.</a:t>
            </a:r>
            <a:r>
              <a:rPr lang="en-US" sz="1600" b="1" dirty="0">
                <a:solidFill>
                  <a:srgbClr val="2E3640"/>
                </a:solidFill>
                <a:latin typeface="Montserrat"/>
              </a:rPr>
              <a:t>✅</a:t>
            </a:r>
            <a:endParaRPr lang="en-US" sz="1400" b="1" dirty="0">
              <a:solidFill>
                <a:srgbClr val="2E3640"/>
              </a:solidFill>
              <a:latin typeface="Montserrat"/>
            </a:endParaRPr>
          </a:p>
          <a:p>
            <a:pPr>
              <a:lnSpc>
                <a:spcPts val="1600"/>
              </a:lnSpc>
            </a:pPr>
            <a:r>
              <a:rPr lang="en-US" sz="1400" dirty="0">
                <a:solidFill>
                  <a:srgbClr val="7A8694"/>
                </a:solidFill>
                <a:latin typeface="Montserrat"/>
              </a:rPr>
              <a:t>H₀: β₁ = 0 says x has no linear effect; the p-value is the probability of seeing a test statistic this extreme if H₀ is true</a:t>
            </a:r>
          </a:p>
        </p:txBody>
      </p:sp>
      <p:sp>
        <p:nvSpPr>
          <p:cNvPr id="8" name="LO Circle 4">
            <a:extLst>
              <a:ext uri="{FF2B5EF4-FFF2-40B4-BE49-F238E27FC236}">
                <a16:creationId xmlns:a16="http://schemas.microsoft.com/office/drawing/2014/main" id="{651FDA9D-3044-27F6-859C-B5888C79D252}"/>
              </a:ext>
            </a:extLst>
          </p:cNvPr>
          <p:cNvSpPr/>
          <p:nvPr/>
        </p:nvSpPr>
        <p:spPr>
          <a:xfrm>
            <a:off x="584200" y="3302000"/>
            <a:ext cx="406400" cy="406400"/>
          </a:xfrm>
          <a:prstGeom prst="ellipse">
            <a:avLst/>
          </a:prstGeom>
          <a:solidFill>
            <a:srgbClr val="2E6B75"/>
          </a:solidFill>
          <a:ln>
            <a:noFill/>
          </a:ln>
        </p:spPr>
        <p:txBody>
          <a:bodyPr wrap="none" lIns="0" tIns="0" rIns="0" bIns="0" anchor="ctr" anchorCtr="1"/>
          <a:lstStyle>
            <a:defPPr>
              <a:defRPr lang="en-US"/>
            </a:defPPr>
            <a:lvl1pPr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1pPr>
            <a:lvl2pPr marL="4572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2pPr>
            <a:lvl3pPr marL="9144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3pPr>
            <a:lvl4pPr marL="13716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4pPr>
            <a:lvl5pPr marL="18288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5pPr>
            <a:lvl6pPr marL="2286000" algn="l" defTabSz="914400" rtl="0" eaLnBrk="1" latinLnBrk="0" hangingPunct="1">
              <a:defRPr kern="1200">
                <a:solidFill>
                  <a:schemeClr val="tx1"/>
                </a:solidFill>
                <a:latin typeface="Open Sans" panose="020B0606030504020204" pitchFamily="34" charset="0"/>
                <a:ea typeface="+mn-ea"/>
                <a:cs typeface="+mn-cs"/>
              </a:defRPr>
            </a:lvl6pPr>
            <a:lvl7pPr marL="2743200" algn="l" defTabSz="914400" rtl="0" eaLnBrk="1" latinLnBrk="0" hangingPunct="1">
              <a:defRPr kern="1200">
                <a:solidFill>
                  <a:schemeClr val="tx1"/>
                </a:solidFill>
                <a:latin typeface="Open Sans" panose="020B0606030504020204" pitchFamily="34" charset="0"/>
                <a:ea typeface="+mn-ea"/>
                <a:cs typeface="+mn-cs"/>
              </a:defRPr>
            </a:lvl7pPr>
            <a:lvl8pPr marL="3200400" algn="l" defTabSz="914400" rtl="0" eaLnBrk="1" latinLnBrk="0" hangingPunct="1">
              <a:defRPr kern="1200">
                <a:solidFill>
                  <a:schemeClr val="tx1"/>
                </a:solidFill>
                <a:latin typeface="Open Sans" panose="020B0606030504020204" pitchFamily="34" charset="0"/>
                <a:ea typeface="+mn-ea"/>
                <a:cs typeface="+mn-cs"/>
              </a:defRPr>
            </a:lvl8pPr>
            <a:lvl9pPr marL="3657600" algn="l" defTabSz="914400" rtl="0" eaLnBrk="1" latinLnBrk="0" hangingPunct="1">
              <a:defRPr kern="1200">
                <a:solidFill>
                  <a:schemeClr val="tx1"/>
                </a:solidFill>
                <a:latin typeface="Open Sans" panose="020B0606030504020204" pitchFamily="34" charset="0"/>
                <a:ea typeface="+mn-ea"/>
                <a:cs typeface="+mn-cs"/>
              </a:defRPr>
            </a:lvl9pPr>
          </a:lstStyle>
          <a:p>
            <a:pPr algn="ctr"/>
            <a:r>
              <a:rPr lang="en-US" sz="1500" b="1" dirty="0">
                <a:solidFill>
                  <a:srgbClr val="FFFFFF"/>
                </a:solidFill>
                <a:latin typeface="Montserrat"/>
              </a:rPr>
              <a:t>3</a:t>
            </a:r>
          </a:p>
        </p:txBody>
      </p:sp>
      <p:sp>
        <p:nvSpPr>
          <p:cNvPr id="9" name="LO Text 4">
            <a:extLst>
              <a:ext uri="{FF2B5EF4-FFF2-40B4-BE49-F238E27FC236}">
                <a16:creationId xmlns:a16="http://schemas.microsoft.com/office/drawing/2014/main" id="{C7BA4EF6-8A2E-260D-AF91-B69C724E9E99}"/>
              </a:ext>
            </a:extLst>
          </p:cNvPr>
          <p:cNvSpPr txBox="1"/>
          <p:nvPr/>
        </p:nvSpPr>
        <p:spPr>
          <a:xfrm>
            <a:off x="1143000" y="3276600"/>
            <a:ext cx="9906000" cy="889000"/>
          </a:xfrm>
          <a:prstGeom prst="rect">
            <a:avLst/>
          </a:prstGeom>
          <a:noFill/>
          <a:ln>
            <a:noFill/>
          </a:ln>
        </p:spPr>
        <p:txBody>
          <a:bodyPr wrap="square" lIns="91440" tIns="45720" rIns="91440" bIns="45720" anchor="t"/>
          <a:lstStyle>
            <a:defPPr>
              <a:defRPr lang="en-US"/>
            </a:defPPr>
            <a:lvl1pPr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1pPr>
            <a:lvl2pPr marL="4572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2pPr>
            <a:lvl3pPr marL="9144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3pPr>
            <a:lvl4pPr marL="13716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4pPr>
            <a:lvl5pPr marL="18288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5pPr>
            <a:lvl6pPr marL="2286000" algn="l" defTabSz="914400" rtl="0" eaLnBrk="1" latinLnBrk="0" hangingPunct="1">
              <a:defRPr kern="1200">
                <a:solidFill>
                  <a:schemeClr val="tx1"/>
                </a:solidFill>
                <a:latin typeface="Open Sans" panose="020B0606030504020204" pitchFamily="34" charset="0"/>
                <a:ea typeface="+mn-ea"/>
                <a:cs typeface="+mn-cs"/>
              </a:defRPr>
            </a:lvl6pPr>
            <a:lvl7pPr marL="2743200" algn="l" defTabSz="914400" rtl="0" eaLnBrk="1" latinLnBrk="0" hangingPunct="1">
              <a:defRPr kern="1200">
                <a:solidFill>
                  <a:schemeClr val="tx1"/>
                </a:solidFill>
                <a:latin typeface="Open Sans" panose="020B0606030504020204" pitchFamily="34" charset="0"/>
                <a:ea typeface="+mn-ea"/>
                <a:cs typeface="+mn-cs"/>
              </a:defRPr>
            </a:lvl7pPr>
            <a:lvl8pPr marL="3200400" algn="l" defTabSz="914400" rtl="0" eaLnBrk="1" latinLnBrk="0" hangingPunct="1">
              <a:defRPr kern="1200">
                <a:solidFill>
                  <a:schemeClr val="tx1"/>
                </a:solidFill>
                <a:latin typeface="Open Sans" panose="020B0606030504020204" pitchFamily="34" charset="0"/>
                <a:ea typeface="+mn-ea"/>
                <a:cs typeface="+mn-cs"/>
              </a:defRPr>
            </a:lvl8pPr>
            <a:lvl9pPr marL="3657600" algn="l" defTabSz="914400" rtl="0" eaLnBrk="1" latinLnBrk="0" hangingPunct="1">
              <a:defRPr kern="1200">
                <a:solidFill>
                  <a:schemeClr val="tx1"/>
                </a:solidFill>
                <a:latin typeface="Open Sans" panose="020B0606030504020204" pitchFamily="34" charset="0"/>
                <a:ea typeface="+mn-ea"/>
                <a:cs typeface="+mn-cs"/>
              </a:defRPr>
            </a:lvl9pPr>
          </a:lstStyle>
          <a:p>
            <a:pPr>
              <a:lnSpc>
                <a:spcPts val="1800"/>
              </a:lnSpc>
              <a:spcAft>
                <a:spcPts val="100"/>
              </a:spcAft>
            </a:pPr>
            <a:r>
              <a:rPr lang="en-US" sz="1400" b="1" dirty="0">
                <a:solidFill>
                  <a:srgbClr val="2E3640"/>
                </a:solidFill>
                <a:latin typeface="Montserrat"/>
              </a:rPr>
              <a:t>Connect the CI and p-value as two views of the same test</a:t>
            </a:r>
          </a:p>
          <a:p>
            <a:pPr>
              <a:lnSpc>
                <a:spcPts val="1600"/>
              </a:lnSpc>
            </a:pPr>
            <a:r>
              <a:rPr lang="en-US" sz="1400" dirty="0">
                <a:solidFill>
                  <a:srgbClr val="7A8694"/>
                </a:solidFill>
                <a:latin typeface="Montserrat"/>
              </a:rPr>
              <a:t>The CI excludes zero exactly when the p-value falls below the significance level</a:t>
            </a:r>
          </a:p>
        </p:txBody>
      </p:sp>
    </p:spTree>
    <p:extLst>
      <p:ext uri="{BB962C8B-B14F-4D97-AF65-F5344CB8AC3E}">
        <p14:creationId xmlns:p14="http://schemas.microsoft.com/office/powerpoint/2010/main" val="782059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D9CB9-0D3D-3D37-0ACE-9C0E26FC23B1}"/>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DDAFA94E-F5C5-271A-1BB8-DF4AA0E8A27E}"/>
              </a:ext>
            </a:extLst>
          </p:cNvPr>
          <p:cNvSpPr/>
          <p:nvPr/>
        </p:nvSpPr>
        <p:spPr>
          <a:xfrm>
            <a:off x="241300" y="177800"/>
            <a:ext cx="11709400" cy="482600"/>
          </a:xfrm>
          <a:prstGeom prst="rect">
            <a:avLst/>
          </a:prstGeom>
          <a:noFill/>
          <a:ln>
            <a:noFill/>
          </a:ln>
        </p:spPr>
        <p:txBody>
          <a:bodyPr wrap="square" lIns="36000" tIns="0" rIns="36000" bIns="0" anchor="ctr"/>
          <a:lstStyle/>
          <a:p>
            <a:pPr algn="l"/>
            <a:r>
              <a:rPr lang="en-US" sz="2000" b="1" dirty="0">
                <a:solidFill>
                  <a:srgbClr val="2E6B75"/>
                </a:solidFill>
                <a:latin typeface="Montserrat"/>
              </a:rPr>
              <a:t>From the t statistic to the p-value : Entering the </a:t>
            </a:r>
            <a:r>
              <a:rPr lang="en-US" sz="2000" b="1" dirty="0">
                <a:solidFill>
                  <a:schemeClr val="accent5">
                    <a:lumMod val="75000"/>
                  </a:schemeClr>
                </a:solidFill>
                <a:latin typeface="Montserrat"/>
              </a:rPr>
              <a:t>null world</a:t>
            </a:r>
          </a:p>
        </p:txBody>
      </p:sp>
      <p:sp>
        <p:nvSpPr>
          <p:cNvPr id="5" name="Bell">
            <a:extLst>
              <a:ext uri="{FF2B5EF4-FFF2-40B4-BE49-F238E27FC236}">
                <a16:creationId xmlns:a16="http://schemas.microsoft.com/office/drawing/2014/main" id="{16E7F06C-94F2-BDF1-0D14-FC21660800B9}"/>
              </a:ext>
            </a:extLst>
          </p:cNvPr>
          <p:cNvSpPr/>
          <p:nvPr/>
        </p:nvSpPr>
        <p:spPr>
          <a:xfrm>
            <a:off x="3528509" y="4343194"/>
            <a:ext cx="6519132" cy="1274366"/>
          </a:xfrm>
          <a:custGeom>
            <a:avLst/>
            <a:gdLst/>
            <a:ahLst/>
            <a:cxnLst/>
            <a:rect l="0" t="0" r="7033846" b="2540000"/>
            <a:pathLst>
              <a:path w="7033846" h="2540000">
                <a:moveTo>
                  <a:pt x="0" y="2538235"/>
                </a:moveTo>
                <a:lnTo>
                  <a:pt x="117231" y="2537157"/>
                </a:lnTo>
                <a:lnTo>
                  <a:pt x="234462" y="2535493"/>
                </a:lnTo>
                <a:lnTo>
                  <a:pt x="351693" y="2532972"/>
                </a:lnTo>
                <a:lnTo>
                  <a:pt x="468923" y="2529215"/>
                </a:lnTo>
                <a:lnTo>
                  <a:pt x="586154" y="2523716"/>
                </a:lnTo>
                <a:lnTo>
                  <a:pt x="703385" y="2515806"/>
                </a:lnTo>
                <a:lnTo>
                  <a:pt x="820616" y="2504631"/>
                </a:lnTo>
                <a:lnTo>
                  <a:pt x="937846" y="2489123"/>
                </a:lnTo>
                <a:lnTo>
                  <a:pt x="1055077" y="2467988"/>
                </a:lnTo>
                <a:lnTo>
                  <a:pt x="1172308" y="2439708"/>
                </a:lnTo>
                <a:lnTo>
                  <a:pt x="1289539" y="2402559"/>
                </a:lnTo>
                <a:lnTo>
                  <a:pt x="1406769" y="2354670"/>
                </a:lnTo>
                <a:lnTo>
                  <a:pt x="1524000" y="2294101"/>
                </a:lnTo>
                <a:lnTo>
                  <a:pt x="1641231" y="2218966"/>
                </a:lnTo>
                <a:lnTo>
                  <a:pt x="1758462" y="2127591"/>
                </a:lnTo>
                <a:lnTo>
                  <a:pt x="1875693" y="2018702"/>
                </a:lnTo>
                <a:lnTo>
                  <a:pt x="1992923" y="1891624"/>
                </a:lnTo>
                <a:lnTo>
                  <a:pt x="2110154" y="1746494"/>
                </a:lnTo>
                <a:lnTo>
                  <a:pt x="2227385" y="1584446"/>
                </a:lnTo>
                <a:lnTo>
                  <a:pt x="2344616" y="1407750"/>
                </a:lnTo>
                <a:lnTo>
                  <a:pt x="2461846" y="1219885"/>
                </a:lnTo>
                <a:lnTo>
                  <a:pt x="2579077" y="1025521"/>
                </a:lnTo>
                <a:lnTo>
                  <a:pt x="2696308" y="830391"/>
                </a:lnTo>
                <a:lnTo>
                  <a:pt x="2813539" y="641053"/>
                </a:lnTo>
                <a:lnTo>
                  <a:pt x="2930769" y="464557"/>
                </a:lnTo>
                <a:lnTo>
                  <a:pt x="3048000" y="308016"/>
                </a:lnTo>
                <a:lnTo>
                  <a:pt x="3165231" y="178144"/>
                </a:lnTo>
                <a:lnTo>
                  <a:pt x="3282462" y="80776"/>
                </a:lnTo>
                <a:lnTo>
                  <a:pt x="3399693" y="20439"/>
                </a:lnTo>
                <a:lnTo>
                  <a:pt x="3516923" y="0"/>
                </a:lnTo>
                <a:lnTo>
                  <a:pt x="3634154" y="20439"/>
                </a:lnTo>
                <a:lnTo>
                  <a:pt x="3751385" y="80776"/>
                </a:lnTo>
                <a:lnTo>
                  <a:pt x="3868616" y="178144"/>
                </a:lnTo>
                <a:lnTo>
                  <a:pt x="3985846" y="308016"/>
                </a:lnTo>
                <a:lnTo>
                  <a:pt x="4103077" y="464557"/>
                </a:lnTo>
                <a:lnTo>
                  <a:pt x="4220308" y="641053"/>
                </a:lnTo>
                <a:lnTo>
                  <a:pt x="4337539" y="830391"/>
                </a:lnTo>
                <a:lnTo>
                  <a:pt x="4454769" y="1025521"/>
                </a:lnTo>
                <a:lnTo>
                  <a:pt x="4572000" y="1219885"/>
                </a:lnTo>
                <a:lnTo>
                  <a:pt x="4689231" y="1407750"/>
                </a:lnTo>
                <a:lnTo>
                  <a:pt x="4806462" y="1584446"/>
                </a:lnTo>
                <a:lnTo>
                  <a:pt x="4923693" y="1746494"/>
                </a:lnTo>
                <a:lnTo>
                  <a:pt x="5040923" y="1891624"/>
                </a:lnTo>
                <a:lnTo>
                  <a:pt x="5158154" y="2018702"/>
                </a:lnTo>
                <a:lnTo>
                  <a:pt x="5275385" y="2127591"/>
                </a:lnTo>
                <a:lnTo>
                  <a:pt x="5392616" y="2218966"/>
                </a:lnTo>
                <a:lnTo>
                  <a:pt x="5509846" y="2294101"/>
                </a:lnTo>
                <a:lnTo>
                  <a:pt x="5627077" y="2354670"/>
                </a:lnTo>
                <a:lnTo>
                  <a:pt x="5744308" y="2402559"/>
                </a:lnTo>
                <a:lnTo>
                  <a:pt x="5861539" y="2439708"/>
                </a:lnTo>
                <a:lnTo>
                  <a:pt x="5978769" y="2467988"/>
                </a:lnTo>
                <a:lnTo>
                  <a:pt x="6096000" y="2489123"/>
                </a:lnTo>
                <a:lnTo>
                  <a:pt x="6213231" y="2504631"/>
                </a:lnTo>
                <a:lnTo>
                  <a:pt x="6330462" y="2515806"/>
                </a:lnTo>
                <a:lnTo>
                  <a:pt x="6447693" y="2523716"/>
                </a:lnTo>
                <a:lnTo>
                  <a:pt x="6564923" y="2529215"/>
                </a:lnTo>
                <a:lnTo>
                  <a:pt x="6682154" y="2532972"/>
                </a:lnTo>
                <a:lnTo>
                  <a:pt x="6799385" y="2535493"/>
                </a:lnTo>
                <a:lnTo>
                  <a:pt x="6916616" y="2537157"/>
                </a:lnTo>
                <a:lnTo>
                  <a:pt x="7033846" y="2538235"/>
                </a:lnTo>
                <a:lnTo>
                  <a:pt x="7033846" y="2540000"/>
                </a:lnTo>
                <a:lnTo>
                  <a:pt x="0" y="2540000"/>
                </a:lnTo>
                <a:close/>
              </a:path>
            </a:pathLst>
          </a:custGeom>
          <a:solidFill>
            <a:srgbClr val="F5C451">
              <a:alpha val="20000"/>
            </a:srgbClr>
          </a:solidFill>
          <a:ln w="3175" cap="rnd">
            <a:solidFill>
              <a:srgbClr val="F5C451"/>
            </a:solidFill>
          </a:ln>
        </p:spPr>
        <p:txBody>
          <a:bodyPr/>
          <a:lstStyle/>
          <a:p>
            <a:endParaRPr lang="en-US" dirty="0"/>
          </a:p>
        </p:txBody>
      </p:sp>
      <p:sp>
        <p:nvSpPr>
          <p:cNvPr id="24" name="Right Triangle 23">
            <a:extLst>
              <a:ext uri="{FF2B5EF4-FFF2-40B4-BE49-F238E27FC236}">
                <a16:creationId xmlns:a16="http://schemas.microsoft.com/office/drawing/2014/main" id="{A9A61827-86F6-E613-0DDF-67BFF6922F7E}"/>
              </a:ext>
            </a:extLst>
          </p:cNvPr>
          <p:cNvSpPr/>
          <p:nvPr/>
        </p:nvSpPr>
        <p:spPr>
          <a:xfrm flipH="1">
            <a:off x="3900301" y="5561181"/>
            <a:ext cx="911961" cy="51854"/>
          </a:xfrm>
          <a:prstGeom prst="rtTriangle">
            <a:avLst/>
          </a:prstGeom>
          <a:solidFill>
            <a:schemeClr val="accent5">
              <a:lumMod val="50000"/>
              <a:alpha val="60000"/>
            </a:scheme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89" name="NL6">
            <a:extLst>
              <a:ext uri="{FF2B5EF4-FFF2-40B4-BE49-F238E27FC236}">
                <a16:creationId xmlns:a16="http://schemas.microsoft.com/office/drawing/2014/main" id="{CB2B3B9C-0859-CB5F-7E5F-94FB9D4D0C52}"/>
              </a:ext>
            </a:extLst>
          </p:cNvPr>
          <p:cNvSpPr/>
          <p:nvPr/>
        </p:nvSpPr>
        <p:spPr>
          <a:xfrm>
            <a:off x="6755305" y="5626035"/>
            <a:ext cx="4755374" cy="0"/>
          </a:xfrm>
          <a:prstGeom prst="line">
            <a:avLst/>
          </a:prstGeom>
          <a:ln w="15875">
            <a:solidFill>
              <a:srgbClr val="2E3640"/>
            </a:solidFill>
          </a:ln>
        </p:spPr>
        <p:txBody>
          <a:bodyPr/>
          <a:lstStyle/>
          <a:p>
            <a:endParaRPr lang="en-US" sz="2000"/>
          </a:p>
        </p:txBody>
      </p:sp>
      <p:sp>
        <p:nvSpPr>
          <p:cNvPr id="3090" name="NL6Tk0">
            <a:extLst>
              <a:ext uri="{FF2B5EF4-FFF2-40B4-BE49-F238E27FC236}">
                <a16:creationId xmlns:a16="http://schemas.microsoft.com/office/drawing/2014/main" id="{B39D78E7-3203-2D96-13AE-2777EF780390}"/>
              </a:ext>
            </a:extLst>
          </p:cNvPr>
          <p:cNvSpPr/>
          <p:nvPr/>
        </p:nvSpPr>
        <p:spPr>
          <a:xfrm>
            <a:off x="6761951" y="5556109"/>
            <a:ext cx="0" cy="139852"/>
          </a:xfrm>
          <a:prstGeom prst="line">
            <a:avLst/>
          </a:prstGeom>
          <a:ln w="12700">
            <a:solidFill>
              <a:srgbClr val="2E3640"/>
            </a:solidFill>
          </a:ln>
        </p:spPr>
        <p:txBody>
          <a:bodyPr/>
          <a:lstStyle/>
          <a:p>
            <a:endParaRPr lang="en-US" sz="2000"/>
          </a:p>
        </p:txBody>
      </p:sp>
      <p:sp>
        <p:nvSpPr>
          <p:cNvPr id="3091" name="NL6TL0">
            <a:extLst>
              <a:ext uri="{FF2B5EF4-FFF2-40B4-BE49-F238E27FC236}">
                <a16:creationId xmlns:a16="http://schemas.microsoft.com/office/drawing/2014/main" id="{265DB76C-8607-BCFB-367A-1C2390F2ECAE}"/>
              </a:ext>
            </a:extLst>
          </p:cNvPr>
          <p:cNvSpPr/>
          <p:nvPr/>
        </p:nvSpPr>
        <p:spPr>
          <a:xfrm>
            <a:off x="6564558"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0.0</a:t>
            </a:r>
          </a:p>
        </p:txBody>
      </p:sp>
      <p:sp>
        <p:nvSpPr>
          <p:cNvPr id="3092" name="NL6Tk0.1">
            <a:extLst>
              <a:ext uri="{FF2B5EF4-FFF2-40B4-BE49-F238E27FC236}">
                <a16:creationId xmlns:a16="http://schemas.microsoft.com/office/drawing/2014/main" id="{B995EFAD-11AC-1F6F-0723-A1C0734BCBB5}"/>
              </a:ext>
            </a:extLst>
          </p:cNvPr>
          <p:cNvSpPr/>
          <p:nvPr/>
        </p:nvSpPr>
        <p:spPr>
          <a:xfrm>
            <a:off x="7349727" y="5591072"/>
            <a:ext cx="0" cy="69925"/>
          </a:xfrm>
          <a:prstGeom prst="line">
            <a:avLst/>
          </a:prstGeom>
          <a:ln w="12700">
            <a:solidFill>
              <a:srgbClr val="2E3640"/>
            </a:solidFill>
          </a:ln>
        </p:spPr>
        <p:txBody>
          <a:bodyPr/>
          <a:lstStyle/>
          <a:p>
            <a:endParaRPr lang="en-US" sz="2000"/>
          </a:p>
        </p:txBody>
      </p:sp>
      <p:sp>
        <p:nvSpPr>
          <p:cNvPr id="3093" name="NL6Tk0.2">
            <a:extLst>
              <a:ext uri="{FF2B5EF4-FFF2-40B4-BE49-F238E27FC236}">
                <a16:creationId xmlns:a16="http://schemas.microsoft.com/office/drawing/2014/main" id="{88CB428B-B3E8-D57D-DFA3-A79C39957326}"/>
              </a:ext>
            </a:extLst>
          </p:cNvPr>
          <p:cNvSpPr/>
          <p:nvPr/>
        </p:nvSpPr>
        <p:spPr>
          <a:xfrm>
            <a:off x="7944149" y="5556109"/>
            <a:ext cx="0" cy="139852"/>
          </a:xfrm>
          <a:prstGeom prst="line">
            <a:avLst/>
          </a:prstGeom>
          <a:ln w="12700">
            <a:solidFill>
              <a:srgbClr val="2E3640"/>
            </a:solidFill>
          </a:ln>
        </p:spPr>
        <p:txBody>
          <a:bodyPr/>
          <a:lstStyle/>
          <a:p>
            <a:endParaRPr lang="en-US" sz="2000"/>
          </a:p>
        </p:txBody>
      </p:sp>
      <p:sp>
        <p:nvSpPr>
          <p:cNvPr id="3094" name="NL6TL0.2">
            <a:extLst>
              <a:ext uri="{FF2B5EF4-FFF2-40B4-BE49-F238E27FC236}">
                <a16:creationId xmlns:a16="http://schemas.microsoft.com/office/drawing/2014/main" id="{AC996A7B-B4C9-F6A5-F0B5-2A78AD712242}"/>
              </a:ext>
            </a:extLst>
          </p:cNvPr>
          <p:cNvSpPr/>
          <p:nvPr/>
        </p:nvSpPr>
        <p:spPr>
          <a:xfrm>
            <a:off x="7746756"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0.2</a:t>
            </a:r>
          </a:p>
        </p:txBody>
      </p:sp>
      <p:sp>
        <p:nvSpPr>
          <p:cNvPr id="3095" name="NL6Tk0.3">
            <a:extLst>
              <a:ext uri="{FF2B5EF4-FFF2-40B4-BE49-F238E27FC236}">
                <a16:creationId xmlns:a16="http://schemas.microsoft.com/office/drawing/2014/main" id="{83964A87-878E-D12B-DCEC-8807E63F4BF1}"/>
              </a:ext>
            </a:extLst>
          </p:cNvPr>
          <p:cNvSpPr/>
          <p:nvPr/>
        </p:nvSpPr>
        <p:spPr>
          <a:xfrm>
            <a:off x="8538570" y="5591072"/>
            <a:ext cx="0" cy="69925"/>
          </a:xfrm>
          <a:prstGeom prst="line">
            <a:avLst/>
          </a:prstGeom>
          <a:ln w="12700">
            <a:solidFill>
              <a:srgbClr val="2E3640"/>
            </a:solidFill>
          </a:ln>
        </p:spPr>
        <p:txBody>
          <a:bodyPr/>
          <a:lstStyle/>
          <a:p>
            <a:endParaRPr lang="en-US" sz="2000"/>
          </a:p>
        </p:txBody>
      </p:sp>
      <p:sp>
        <p:nvSpPr>
          <p:cNvPr id="3096" name="NL6Tk0.4">
            <a:extLst>
              <a:ext uri="{FF2B5EF4-FFF2-40B4-BE49-F238E27FC236}">
                <a16:creationId xmlns:a16="http://schemas.microsoft.com/office/drawing/2014/main" id="{12F5EA3E-53ED-E726-866F-E1388F5A4C8B}"/>
              </a:ext>
            </a:extLst>
          </p:cNvPr>
          <p:cNvSpPr/>
          <p:nvPr/>
        </p:nvSpPr>
        <p:spPr>
          <a:xfrm>
            <a:off x="9132993" y="5556109"/>
            <a:ext cx="0" cy="139852"/>
          </a:xfrm>
          <a:prstGeom prst="line">
            <a:avLst/>
          </a:prstGeom>
          <a:ln w="12700">
            <a:solidFill>
              <a:srgbClr val="2E3640"/>
            </a:solidFill>
          </a:ln>
        </p:spPr>
        <p:txBody>
          <a:bodyPr/>
          <a:lstStyle/>
          <a:p>
            <a:endParaRPr lang="en-US" sz="2000"/>
          </a:p>
        </p:txBody>
      </p:sp>
      <p:sp>
        <p:nvSpPr>
          <p:cNvPr id="3097" name="NL6TL0.4">
            <a:extLst>
              <a:ext uri="{FF2B5EF4-FFF2-40B4-BE49-F238E27FC236}">
                <a16:creationId xmlns:a16="http://schemas.microsoft.com/office/drawing/2014/main" id="{AD87EB16-FA6B-3F3F-826A-23FFB6530E35}"/>
              </a:ext>
            </a:extLst>
          </p:cNvPr>
          <p:cNvSpPr/>
          <p:nvPr/>
        </p:nvSpPr>
        <p:spPr>
          <a:xfrm>
            <a:off x="8935599"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0.4</a:t>
            </a:r>
          </a:p>
        </p:txBody>
      </p:sp>
      <p:sp>
        <p:nvSpPr>
          <p:cNvPr id="3098" name="NL6Tk0.5">
            <a:extLst>
              <a:ext uri="{FF2B5EF4-FFF2-40B4-BE49-F238E27FC236}">
                <a16:creationId xmlns:a16="http://schemas.microsoft.com/office/drawing/2014/main" id="{544E4C05-289F-7D41-B1EE-39031B71E253}"/>
              </a:ext>
            </a:extLst>
          </p:cNvPr>
          <p:cNvSpPr/>
          <p:nvPr/>
        </p:nvSpPr>
        <p:spPr>
          <a:xfrm>
            <a:off x="9727414" y="5591072"/>
            <a:ext cx="0" cy="69925"/>
          </a:xfrm>
          <a:prstGeom prst="line">
            <a:avLst/>
          </a:prstGeom>
          <a:ln w="12700">
            <a:solidFill>
              <a:srgbClr val="2E3640"/>
            </a:solidFill>
          </a:ln>
        </p:spPr>
        <p:txBody>
          <a:bodyPr/>
          <a:lstStyle/>
          <a:p>
            <a:endParaRPr lang="en-US" sz="2000"/>
          </a:p>
        </p:txBody>
      </p:sp>
      <p:sp>
        <p:nvSpPr>
          <p:cNvPr id="3099" name="NL6Tk0.6">
            <a:extLst>
              <a:ext uri="{FF2B5EF4-FFF2-40B4-BE49-F238E27FC236}">
                <a16:creationId xmlns:a16="http://schemas.microsoft.com/office/drawing/2014/main" id="{DBEE06A3-F998-C63F-7775-28D3C56CF32E}"/>
              </a:ext>
            </a:extLst>
          </p:cNvPr>
          <p:cNvSpPr/>
          <p:nvPr/>
        </p:nvSpPr>
        <p:spPr>
          <a:xfrm>
            <a:off x="10321835" y="5556109"/>
            <a:ext cx="0" cy="139852"/>
          </a:xfrm>
          <a:prstGeom prst="line">
            <a:avLst/>
          </a:prstGeom>
          <a:ln w="12700">
            <a:solidFill>
              <a:srgbClr val="2E3640"/>
            </a:solidFill>
          </a:ln>
        </p:spPr>
        <p:txBody>
          <a:bodyPr/>
          <a:lstStyle/>
          <a:p>
            <a:endParaRPr lang="en-US" sz="2000"/>
          </a:p>
        </p:txBody>
      </p:sp>
      <p:sp>
        <p:nvSpPr>
          <p:cNvPr id="3100" name="NL6TL0.6">
            <a:extLst>
              <a:ext uri="{FF2B5EF4-FFF2-40B4-BE49-F238E27FC236}">
                <a16:creationId xmlns:a16="http://schemas.microsoft.com/office/drawing/2014/main" id="{B0E77150-6035-CDDC-0371-FB814E3611C1}"/>
              </a:ext>
            </a:extLst>
          </p:cNvPr>
          <p:cNvSpPr/>
          <p:nvPr/>
        </p:nvSpPr>
        <p:spPr>
          <a:xfrm>
            <a:off x="10124443"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0.6</a:t>
            </a:r>
          </a:p>
        </p:txBody>
      </p:sp>
      <p:sp>
        <p:nvSpPr>
          <p:cNvPr id="3101" name="NL6Tk0.7">
            <a:extLst>
              <a:ext uri="{FF2B5EF4-FFF2-40B4-BE49-F238E27FC236}">
                <a16:creationId xmlns:a16="http://schemas.microsoft.com/office/drawing/2014/main" id="{A9E87961-F7D1-3637-7ABE-359F1A85F6EF}"/>
              </a:ext>
            </a:extLst>
          </p:cNvPr>
          <p:cNvSpPr/>
          <p:nvPr/>
        </p:nvSpPr>
        <p:spPr>
          <a:xfrm>
            <a:off x="10916257" y="5591072"/>
            <a:ext cx="0" cy="69925"/>
          </a:xfrm>
          <a:prstGeom prst="line">
            <a:avLst/>
          </a:prstGeom>
          <a:ln w="12700">
            <a:solidFill>
              <a:srgbClr val="2E3640"/>
            </a:solidFill>
          </a:ln>
        </p:spPr>
        <p:txBody>
          <a:bodyPr/>
          <a:lstStyle/>
          <a:p>
            <a:endParaRPr lang="en-US" sz="2000"/>
          </a:p>
        </p:txBody>
      </p:sp>
      <p:sp>
        <p:nvSpPr>
          <p:cNvPr id="3102" name="NL6Tk0.8">
            <a:extLst>
              <a:ext uri="{FF2B5EF4-FFF2-40B4-BE49-F238E27FC236}">
                <a16:creationId xmlns:a16="http://schemas.microsoft.com/office/drawing/2014/main" id="{D7522D56-EC99-697C-271F-2DED9DFA559E}"/>
              </a:ext>
            </a:extLst>
          </p:cNvPr>
          <p:cNvSpPr/>
          <p:nvPr/>
        </p:nvSpPr>
        <p:spPr>
          <a:xfrm>
            <a:off x="11510679" y="5556109"/>
            <a:ext cx="0" cy="139852"/>
          </a:xfrm>
          <a:prstGeom prst="line">
            <a:avLst/>
          </a:prstGeom>
          <a:ln w="12700">
            <a:solidFill>
              <a:srgbClr val="2E3640"/>
            </a:solidFill>
          </a:ln>
        </p:spPr>
        <p:txBody>
          <a:bodyPr/>
          <a:lstStyle/>
          <a:p>
            <a:endParaRPr lang="en-US" sz="2000"/>
          </a:p>
        </p:txBody>
      </p:sp>
      <p:sp>
        <p:nvSpPr>
          <p:cNvPr id="3103" name="NL6TL0.8">
            <a:extLst>
              <a:ext uri="{FF2B5EF4-FFF2-40B4-BE49-F238E27FC236}">
                <a16:creationId xmlns:a16="http://schemas.microsoft.com/office/drawing/2014/main" id="{C1075465-0857-D7BB-55B4-7B149BBD2653}"/>
              </a:ext>
            </a:extLst>
          </p:cNvPr>
          <p:cNvSpPr/>
          <p:nvPr/>
        </p:nvSpPr>
        <p:spPr>
          <a:xfrm>
            <a:off x="11313286" y="5719269"/>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0.8</a:t>
            </a:r>
          </a:p>
        </p:txBody>
      </p:sp>
      <p:sp>
        <p:nvSpPr>
          <p:cNvPr id="3104" name="B1Dot6">
            <a:extLst>
              <a:ext uri="{FF2B5EF4-FFF2-40B4-BE49-F238E27FC236}">
                <a16:creationId xmlns:a16="http://schemas.microsoft.com/office/drawing/2014/main" id="{9DC5887F-4EAB-5269-425A-9BE413687E7F}"/>
              </a:ext>
            </a:extLst>
          </p:cNvPr>
          <p:cNvSpPr/>
          <p:nvPr/>
        </p:nvSpPr>
        <p:spPr>
          <a:xfrm>
            <a:off x="8977995" y="5545119"/>
            <a:ext cx="143559" cy="163160"/>
          </a:xfrm>
          <a:prstGeom prst="ellipse">
            <a:avLst/>
          </a:prstGeom>
          <a:solidFill>
            <a:srgbClr val="FFFFFF"/>
          </a:solidFill>
          <a:ln w="19050">
            <a:solidFill>
              <a:srgbClr val="D94535"/>
            </a:solidFill>
          </a:ln>
        </p:spPr>
        <p:txBody>
          <a:bodyPr/>
          <a:lstStyle/>
          <a:p>
            <a:endParaRPr lang="en-US" sz="2000"/>
          </a:p>
        </p:txBody>
      </p:sp>
      <p:grpSp>
        <p:nvGrpSpPr>
          <p:cNvPr id="3112" name="Group 3111">
            <a:extLst>
              <a:ext uri="{FF2B5EF4-FFF2-40B4-BE49-F238E27FC236}">
                <a16:creationId xmlns:a16="http://schemas.microsoft.com/office/drawing/2014/main" id="{1D467530-6782-4888-B4BB-3F7E8DDB1BAD}"/>
              </a:ext>
            </a:extLst>
          </p:cNvPr>
          <p:cNvGrpSpPr/>
          <p:nvPr/>
        </p:nvGrpSpPr>
        <p:grpSpPr>
          <a:xfrm>
            <a:off x="6758096" y="5283029"/>
            <a:ext cx="2261173" cy="152651"/>
            <a:chOff x="7182260" y="4223241"/>
            <a:chExt cx="2008328" cy="313966"/>
          </a:xfrm>
        </p:grpSpPr>
        <p:sp>
          <p:nvSpPr>
            <p:cNvPr id="3118" name="CIBar7">
              <a:extLst>
                <a:ext uri="{FF2B5EF4-FFF2-40B4-BE49-F238E27FC236}">
                  <a16:creationId xmlns:a16="http://schemas.microsoft.com/office/drawing/2014/main" id="{67FF3738-E11D-8F35-C047-2FE7F2425D86}"/>
                </a:ext>
              </a:extLst>
            </p:cNvPr>
            <p:cNvSpPr/>
            <p:nvPr/>
          </p:nvSpPr>
          <p:spPr>
            <a:xfrm>
              <a:off x="8437132" y="4261261"/>
              <a:ext cx="618774" cy="226982"/>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120" name="CILW7">
              <a:extLst>
                <a:ext uri="{FF2B5EF4-FFF2-40B4-BE49-F238E27FC236}">
                  <a16:creationId xmlns:a16="http://schemas.microsoft.com/office/drawing/2014/main" id="{F9C883AF-B8A3-A166-ACB8-8229AD7F7691}"/>
                </a:ext>
              </a:extLst>
            </p:cNvPr>
            <p:cNvSpPr/>
            <p:nvPr/>
          </p:nvSpPr>
          <p:spPr>
            <a:xfrm>
              <a:off x="8431235" y="4223241"/>
              <a:ext cx="0" cy="304800"/>
            </a:xfrm>
            <a:prstGeom prst="line">
              <a:avLst/>
            </a:prstGeom>
            <a:ln w="15875">
              <a:solidFill>
                <a:srgbClr val="2B6CB0"/>
              </a:solidFill>
            </a:ln>
          </p:spPr>
          <p:txBody>
            <a:bodyPr anchor="ctr"/>
            <a:lstStyle/>
            <a:p>
              <a:endParaRPr lang="en-US" sz="2000"/>
            </a:p>
          </p:txBody>
        </p:sp>
        <p:sp>
          <p:nvSpPr>
            <p:cNvPr id="3122" name="CILW7">
              <a:extLst>
                <a:ext uri="{FF2B5EF4-FFF2-40B4-BE49-F238E27FC236}">
                  <a16:creationId xmlns:a16="http://schemas.microsoft.com/office/drawing/2014/main" id="{47A0FA4E-0300-08D5-C4DD-A0ED1E2AEC44}"/>
                </a:ext>
              </a:extLst>
            </p:cNvPr>
            <p:cNvSpPr/>
            <p:nvPr/>
          </p:nvSpPr>
          <p:spPr>
            <a:xfrm>
              <a:off x="9057186" y="4223241"/>
              <a:ext cx="0" cy="304800"/>
            </a:xfrm>
            <a:prstGeom prst="line">
              <a:avLst/>
            </a:prstGeom>
            <a:ln w="15875">
              <a:solidFill>
                <a:srgbClr val="2B6CB0"/>
              </a:solidFill>
            </a:ln>
          </p:spPr>
          <p:txBody>
            <a:bodyPr anchor="ctr"/>
            <a:lstStyle/>
            <a:p>
              <a:endParaRPr lang="en-US" sz="2000"/>
            </a:p>
          </p:txBody>
        </p:sp>
        <p:sp>
          <p:nvSpPr>
            <p:cNvPr id="3126" name="CIBar7">
              <a:extLst>
                <a:ext uri="{FF2B5EF4-FFF2-40B4-BE49-F238E27FC236}">
                  <a16:creationId xmlns:a16="http://schemas.microsoft.com/office/drawing/2014/main" id="{614A58B7-0E46-E9E5-C135-3DA4F7B9E5CD}"/>
                </a:ext>
              </a:extLst>
            </p:cNvPr>
            <p:cNvSpPr/>
            <p:nvPr/>
          </p:nvSpPr>
          <p:spPr>
            <a:xfrm>
              <a:off x="9063082" y="4267722"/>
              <a:ext cx="127506" cy="220919"/>
            </a:xfrm>
            <a:prstGeom prst="rect">
              <a:avLst/>
            </a:prstGeom>
            <a:solidFill>
              <a:srgbClr val="B8D4E8">
                <a:alpha val="34902"/>
              </a:srgbClr>
            </a:solidFill>
            <a:ln>
              <a:noFill/>
            </a:ln>
          </p:spPr>
          <p:txBody>
            <a:bodyPr lIns="0" rIns="0" anchor="ctr"/>
            <a:lstStyle/>
            <a:p>
              <a:pPr algn="ctr"/>
              <a:endParaRPr lang="en-US" sz="900" dirty="0"/>
            </a:p>
          </p:txBody>
        </p:sp>
        <p:sp>
          <p:nvSpPr>
            <p:cNvPr id="3127" name="CILW7">
              <a:extLst>
                <a:ext uri="{FF2B5EF4-FFF2-40B4-BE49-F238E27FC236}">
                  <a16:creationId xmlns:a16="http://schemas.microsoft.com/office/drawing/2014/main" id="{FB64943B-F3A8-3BCB-E9DB-3FDC41813D52}"/>
                </a:ext>
              </a:extLst>
            </p:cNvPr>
            <p:cNvSpPr/>
            <p:nvPr/>
          </p:nvSpPr>
          <p:spPr>
            <a:xfrm>
              <a:off x="9057185" y="4229702"/>
              <a:ext cx="0" cy="304800"/>
            </a:xfrm>
            <a:prstGeom prst="line">
              <a:avLst/>
            </a:prstGeom>
            <a:ln w="15875">
              <a:solidFill>
                <a:srgbClr val="2B6CB0"/>
              </a:solidFill>
            </a:ln>
          </p:spPr>
          <p:txBody>
            <a:bodyPr anchor="ctr"/>
            <a:lstStyle/>
            <a:p>
              <a:endParaRPr lang="en-US" sz="2000"/>
            </a:p>
          </p:txBody>
        </p:sp>
        <p:grpSp>
          <p:nvGrpSpPr>
            <p:cNvPr id="3133" name="Group 3132">
              <a:extLst>
                <a:ext uri="{FF2B5EF4-FFF2-40B4-BE49-F238E27FC236}">
                  <a16:creationId xmlns:a16="http://schemas.microsoft.com/office/drawing/2014/main" id="{7ABE6778-5F56-17C7-CD0F-7061418BD848}"/>
                </a:ext>
              </a:extLst>
            </p:cNvPr>
            <p:cNvGrpSpPr/>
            <p:nvPr/>
          </p:nvGrpSpPr>
          <p:grpSpPr>
            <a:xfrm>
              <a:off x="7182260" y="4225946"/>
              <a:ext cx="1251897" cy="311261"/>
              <a:chOff x="9852940" y="4192417"/>
              <a:chExt cx="1216344" cy="311261"/>
            </a:xfrm>
          </p:grpSpPr>
          <p:sp>
            <p:nvSpPr>
              <p:cNvPr id="3134" name="CILW7">
                <a:extLst>
                  <a:ext uri="{FF2B5EF4-FFF2-40B4-BE49-F238E27FC236}">
                    <a16:creationId xmlns:a16="http://schemas.microsoft.com/office/drawing/2014/main" id="{69CBF274-2720-E6E2-5422-6912A6B66AB8}"/>
                  </a:ext>
                </a:extLst>
              </p:cNvPr>
              <p:cNvSpPr/>
              <p:nvPr/>
            </p:nvSpPr>
            <p:spPr>
              <a:xfrm>
                <a:off x="9852941" y="4192417"/>
                <a:ext cx="0" cy="304800"/>
              </a:xfrm>
              <a:prstGeom prst="line">
                <a:avLst/>
              </a:prstGeom>
              <a:ln w="15875">
                <a:solidFill>
                  <a:srgbClr val="2B6CB0"/>
                </a:solidFill>
              </a:ln>
            </p:spPr>
            <p:txBody>
              <a:bodyPr anchor="ctr"/>
              <a:lstStyle/>
              <a:p>
                <a:endParaRPr lang="en-US" sz="2000"/>
              </a:p>
            </p:txBody>
          </p:sp>
          <p:sp>
            <p:nvSpPr>
              <p:cNvPr id="3135" name="CIBar7">
                <a:extLst>
                  <a:ext uri="{FF2B5EF4-FFF2-40B4-BE49-F238E27FC236}">
                    <a16:creationId xmlns:a16="http://schemas.microsoft.com/office/drawing/2014/main" id="{14545A49-B4B4-27C8-3037-0D985532241D}"/>
                  </a:ext>
                </a:extLst>
              </p:cNvPr>
              <p:cNvSpPr/>
              <p:nvPr/>
            </p:nvSpPr>
            <p:spPr>
              <a:xfrm>
                <a:off x="9858670" y="4236898"/>
                <a:ext cx="601200" cy="226982"/>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00" name="CILW7">
                <a:extLst>
                  <a:ext uri="{FF2B5EF4-FFF2-40B4-BE49-F238E27FC236}">
                    <a16:creationId xmlns:a16="http://schemas.microsoft.com/office/drawing/2014/main" id="{50AF1FE7-7327-61B2-76DF-8EBD954DB490}"/>
                  </a:ext>
                </a:extLst>
              </p:cNvPr>
              <p:cNvSpPr/>
              <p:nvPr/>
            </p:nvSpPr>
            <p:spPr>
              <a:xfrm>
                <a:off x="9852940" y="4198878"/>
                <a:ext cx="0" cy="304800"/>
              </a:xfrm>
              <a:prstGeom prst="line">
                <a:avLst/>
              </a:prstGeom>
              <a:ln w="15875">
                <a:solidFill>
                  <a:srgbClr val="2B6CB0"/>
                </a:solidFill>
              </a:ln>
            </p:spPr>
            <p:txBody>
              <a:bodyPr anchor="ctr"/>
              <a:lstStyle/>
              <a:p>
                <a:endParaRPr lang="en-US" sz="2000"/>
              </a:p>
            </p:txBody>
          </p:sp>
          <p:sp>
            <p:nvSpPr>
              <p:cNvPr id="3201" name="CILW7">
                <a:extLst>
                  <a:ext uri="{FF2B5EF4-FFF2-40B4-BE49-F238E27FC236}">
                    <a16:creationId xmlns:a16="http://schemas.microsoft.com/office/drawing/2014/main" id="{482A206D-545B-73B5-C828-0C2D1B948489}"/>
                  </a:ext>
                </a:extLst>
              </p:cNvPr>
              <p:cNvSpPr/>
              <p:nvPr/>
            </p:nvSpPr>
            <p:spPr>
              <a:xfrm>
                <a:off x="10461113" y="4198878"/>
                <a:ext cx="0" cy="304800"/>
              </a:xfrm>
              <a:prstGeom prst="line">
                <a:avLst/>
              </a:prstGeom>
              <a:ln w="15875">
                <a:solidFill>
                  <a:srgbClr val="2B6CB0"/>
                </a:solidFill>
              </a:ln>
            </p:spPr>
            <p:txBody>
              <a:bodyPr anchor="ctr"/>
              <a:lstStyle/>
              <a:p>
                <a:endParaRPr lang="en-US" sz="2000"/>
              </a:p>
            </p:txBody>
          </p:sp>
          <p:sp>
            <p:nvSpPr>
              <p:cNvPr id="3202" name="CIBar7">
                <a:extLst>
                  <a:ext uri="{FF2B5EF4-FFF2-40B4-BE49-F238E27FC236}">
                    <a16:creationId xmlns:a16="http://schemas.microsoft.com/office/drawing/2014/main" id="{E8E78E55-21D2-F385-738A-12B67D61F324}"/>
                  </a:ext>
                </a:extLst>
              </p:cNvPr>
              <p:cNvSpPr/>
              <p:nvPr/>
            </p:nvSpPr>
            <p:spPr>
              <a:xfrm>
                <a:off x="10466841" y="4233142"/>
                <a:ext cx="601200" cy="226982"/>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03" name="CILW7">
                <a:extLst>
                  <a:ext uri="{FF2B5EF4-FFF2-40B4-BE49-F238E27FC236}">
                    <a16:creationId xmlns:a16="http://schemas.microsoft.com/office/drawing/2014/main" id="{428EDA04-F83C-6CE0-5E35-0EF221E18E54}"/>
                  </a:ext>
                </a:extLst>
              </p:cNvPr>
              <p:cNvSpPr/>
              <p:nvPr/>
            </p:nvSpPr>
            <p:spPr>
              <a:xfrm>
                <a:off x="10461111" y="4195122"/>
                <a:ext cx="0" cy="304800"/>
              </a:xfrm>
              <a:prstGeom prst="line">
                <a:avLst/>
              </a:prstGeom>
              <a:ln w="15875">
                <a:solidFill>
                  <a:srgbClr val="2B6CB0"/>
                </a:solidFill>
              </a:ln>
            </p:spPr>
            <p:txBody>
              <a:bodyPr anchor="ctr"/>
              <a:lstStyle/>
              <a:p>
                <a:endParaRPr lang="en-US" sz="2000"/>
              </a:p>
            </p:txBody>
          </p:sp>
          <p:sp>
            <p:nvSpPr>
              <p:cNvPr id="3204" name="CILW7">
                <a:extLst>
                  <a:ext uri="{FF2B5EF4-FFF2-40B4-BE49-F238E27FC236}">
                    <a16:creationId xmlns:a16="http://schemas.microsoft.com/office/drawing/2014/main" id="{BEB38818-092D-B5DB-A5ED-C0034EB6632F}"/>
                  </a:ext>
                </a:extLst>
              </p:cNvPr>
              <p:cNvSpPr/>
              <p:nvPr/>
            </p:nvSpPr>
            <p:spPr>
              <a:xfrm>
                <a:off x="11069284" y="4195122"/>
                <a:ext cx="0" cy="304800"/>
              </a:xfrm>
              <a:prstGeom prst="line">
                <a:avLst/>
              </a:prstGeom>
              <a:ln w="15875">
                <a:solidFill>
                  <a:srgbClr val="2B6CB0"/>
                </a:solidFill>
              </a:ln>
            </p:spPr>
            <p:txBody>
              <a:bodyPr anchor="ctr"/>
              <a:lstStyle/>
              <a:p>
                <a:endParaRPr lang="en-US" sz="2000"/>
              </a:p>
            </p:txBody>
          </p:sp>
        </p:grpSp>
      </p:grpSp>
      <p:cxnSp>
        <p:nvCxnSpPr>
          <p:cNvPr id="3113" name="DotLine">
            <a:extLst>
              <a:ext uri="{FF2B5EF4-FFF2-40B4-BE49-F238E27FC236}">
                <a16:creationId xmlns:a16="http://schemas.microsoft.com/office/drawing/2014/main" id="{240AD846-DE9A-578D-A8EA-D0CE8FEF8DAE}"/>
              </a:ext>
            </a:extLst>
          </p:cNvPr>
          <p:cNvCxnSpPr>
            <a:cxnSpLocks/>
            <a:stCxn id="3114" idx="2"/>
          </p:cNvCxnSpPr>
          <p:nvPr/>
        </p:nvCxnSpPr>
        <p:spPr>
          <a:xfrm flipH="1">
            <a:off x="9039179" y="4568965"/>
            <a:ext cx="1251" cy="947063"/>
          </a:xfrm>
          <a:prstGeom prst="line">
            <a:avLst/>
          </a:prstGeom>
          <a:ln w="19050">
            <a:solidFill>
              <a:srgbClr val="D94535"/>
            </a:solidFill>
            <a:prstDash val="dash"/>
          </a:ln>
        </p:spPr>
      </p:cxnSp>
      <p:sp>
        <p:nvSpPr>
          <p:cNvPr id="3114" name="BLabel">
            <a:extLst>
              <a:ext uri="{FF2B5EF4-FFF2-40B4-BE49-F238E27FC236}">
                <a16:creationId xmlns:a16="http://schemas.microsoft.com/office/drawing/2014/main" id="{A9A4F44A-1FC6-183D-B3DF-59A91B89DAC7}"/>
              </a:ext>
            </a:extLst>
          </p:cNvPr>
          <p:cNvSpPr/>
          <p:nvPr/>
        </p:nvSpPr>
        <p:spPr>
          <a:xfrm>
            <a:off x="8516755" y="4383405"/>
            <a:ext cx="1047349" cy="185560"/>
          </a:xfrm>
          <a:prstGeom prst="roundRect">
            <a:avLst>
              <a:gd name="adj" fmla="val 16667"/>
            </a:avLst>
          </a:prstGeom>
          <a:solidFill>
            <a:srgbClr val="D94535"/>
          </a:solidFill>
          <a:ln>
            <a:noFill/>
          </a:ln>
        </p:spPr>
        <p:txBody>
          <a:bodyPr wrap="none" lIns="36000" tIns="0" rIns="36000" bIns="0" anchor="ctr"/>
          <a:lstStyle/>
          <a:p>
            <a:pPr algn="ctr"/>
            <a:r>
              <a:rPr lang="en-US" sz="1000" b="1" dirty="0">
                <a:solidFill>
                  <a:srgbClr val="FFFFFF"/>
                </a:solidFill>
                <a:latin typeface="Open Sans"/>
              </a:rPr>
              <a:t>b₁ = 0.386</a:t>
            </a:r>
          </a:p>
        </p:txBody>
      </p:sp>
      <p:sp>
        <p:nvSpPr>
          <p:cNvPr id="3223" name="Right Triangle 3222">
            <a:extLst>
              <a:ext uri="{FF2B5EF4-FFF2-40B4-BE49-F238E27FC236}">
                <a16:creationId xmlns:a16="http://schemas.microsoft.com/office/drawing/2014/main" id="{F5592D43-B7BD-F452-E262-9737CC5434DB}"/>
              </a:ext>
            </a:extLst>
          </p:cNvPr>
          <p:cNvSpPr/>
          <p:nvPr/>
        </p:nvSpPr>
        <p:spPr>
          <a:xfrm>
            <a:off x="9104239" y="5561180"/>
            <a:ext cx="611736" cy="83627"/>
          </a:xfrm>
          <a:prstGeom prst="rtTriangle">
            <a:avLst/>
          </a:prstGeom>
          <a:solidFill>
            <a:schemeClr val="accent5">
              <a:lumMod val="50000"/>
              <a:alpha val="60000"/>
            </a:scheme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34" name="Rounded Rectangle 3233">
            <a:extLst>
              <a:ext uri="{FF2B5EF4-FFF2-40B4-BE49-F238E27FC236}">
                <a16:creationId xmlns:a16="http://schemas.microsoft.com/office/drawing/2014/main" id="{4A455FF2-7F46-CF6A-036B-6F096B2A38BC}"/>
              </a:ext>
            </a:extLst>
          </p:cNvPr>
          <p:cNvSpPr/>
          <p:nvPr/>
        </p:nvSpPr>
        <p:spPr>
          <a:xfrm>
            <a:off x="242818" y="716433"/>
            <a:ext cx="5185216" cy="4539620"/>
          </a:xfrm>
          <a:prstGeom prst="roundRect">
            <a:avLst>
              <a:gd name="adj" fmla="val 3379"/>
            </a:avLst>
          </a:prstGeom>
          <a:solidFill>
            <a:schemeClr val="accent2">
              <a:lumMod val="20000"/>
              <a:lumOff val="80000"/>
            </a:schemeClr>
          </a:solidFill>
          <a:ln w="12700">
            <a:solidFill>
              <a:schemeClr val="accent5">
                <a:lumMod val="50000"/>
              </a:schemeClr>
            </a:solidFill>
          </a:ln>
        </p:spPr>
        <p:txBody>
          <a:bodyPr vertOverflow="overflow" vert="horz" wrap="square" rtlCol="0" anchor="t">
            <a:noAutofit/>
          </a:bodyPr>
          <a:lstStyle/>
          <a:p>
            <a:pPr marL="285750" indent="-285750">
              <a:spcAft>
                <a:spcPts val="200"/>
              </a:spcAft>
              <a:buFont typeface="Arial" panose="020B0604020202020204" pitchFamily="34" charset="0"/>
              <a:buChar char="•"/>
            </a:pPr>
            <a:r>
              <a:rPr lang="en-US" sz="1400" dirty="0">
                <a:solidFill>
                  <a:srgbClr val="2E3640"/>
                </a:solidFill>
                <a:latin typeface="Open Sans"/>
              </a:rPr>
              <a:t>The </a:t>
            </a:r>
            <a:r>
              <a:rPr lang="en-US" sz="1400" b="1" dirty="0">
                <a:solidFill>
                  <a:srgbClr val="2E3640"/>
                </a:solidFill>
                <a:latin typeface="Open Sans"/>
              </a:rPr>
              <a:t>null hypothesis</a:t>
            </a:r>
            <a:r>
              <a:rPr lang="en-US" sz="1400" dirty="0">
                <a:solidFill>
                  <a:srgbClr val="2E3640"/>
                </a:solidFill>
                <a:latin typeface="Open Sans"/>
              </a:rPr>
              <a:t>: "There is no relationship between x and y.”</a:t>
            </a:r>
          </a:p>
          <a:p>
            <a:pPr marL="285750" indent="-285750">
              <a:spcAft>
                <a:spcPts val="200"/>
              </a:spcAft>
              <a:buFont typeface="Arial" panose="020B0604020202020204" pitchFamily="34" charset="0"/>
              <a:buChar char="•"/>
            </a:pPr>
            <a:r>
              <a:rPr lang="en-US" sz="1400" dirty="0">
                <a:solidFill>
                  <a:srgbClr val="2E3640"/>
                </a:solidFill>
                <a:latin typeface="Open Sans"/>
              </a:rPr>
              <a:t>True </a:t>
            </a:r>
            <a:r>
              <a:rPr lang="en-US" sz="1400" b="1" dirty="0">
                <a:solidFill>
                  <a:srgbClr val="2E3640"/>
                </a:solidFill>
                <a:latin typeface="Open Sans"/>
              </a:rPr>
              <a:t>slope of zero</a:t>
            </a:r>
          </a:p>
          <a:p>
            <a:pPr marL="285750" indent="-285750">
              <a:spcAft>
                <a:spcPts val="200"/>
              </a:spcAft>
              <a:buFont typeface="Arial" panose="020B0604020202020204" pitchFamily="34" charset="0"/>
              <a:buChar char="•"/>
            </a:pPr>
            <a:r>
              <a:rPr lang="en-US" sz="1400" dirty="0">
                <a:solidFill>
                  <a:srgbClr val="2E3640"/>
                </a:solidFill>
                <a:latin typeface="Open Sans"/>
              </a:rPr>
              <a:t>In such a world, </a:t>
            </a:r>
            <a:r>
              <a:rPr lang="en-US" sz="1400" b="1" dirty="0">
                <a:solidFill>
                  <a:srgbClr val="2E3640"/>
                </a:solidFill>
                <a:latin typeface="Open Sans"/>
              </a:rPr>
              <a:t>random samples </a:t>
            </a:r>
            <a:r>
              <a:rPr lang="en-US" sz="1400" dirty="0">
                <a:solidFill>
                  <a:srgbClr val="2E3640"/>
                </a:solidFill>
                <a:latin typeface="Open Sans"/>
              </a:rPr>
              <a:t>of 8 would still produce some slope, and a corresponding t value</a:t>
            </a:r>
          </a:p>
          <a:p>
            <a:pPr marL="285750" indent="-285750">
              <a:spcAft>
                <a:spcPts val="200"/>
              </a:spcAft>
              <a:buFont typeface="Arial" panose="020B0604020202020204" pitchFamily="34" charset="0"/>
              <a:buChar char="•"/>
            </a:pPr>
            <a:r>
              <a:rPr lang="en-US" sz="1400" dirty="0">
                <a:solidFill>
                  <a:srgbClr val="2E3640"/>
                </a:solidFill>
                <a:latin typeface="Open Sans"/>
              </a:rPr>
              <a:t>Forming a </a:t>
            </a:r>
            <a:r>
              <a:rPr lang="en-US" sz="1400" b="1" dirty="0">
                <a:solidFill>
                  <a:srgbClr val="2E3640"/>
                </a:solidFill>
                <a:latin typeface="Open Sans"/>
              </a:rPr>
              <a:t>bell curve around 0</a:t>
            </a:r>
          </a:p>
          <a:p>
            <a:pPr marL="285750" indent="-285750">
              <a:spcAft>
                <a:spcPts val="200"/>
              </a:spcAft>
              <a:buFont typeface="Arial" panose="020B0604020202020204" pitchFamily="34" charset="0"/>
              <a:buChar char="•"/>
            </a:pPr>
            <a:r>
              <a:rPr lang="en-US" sz="1400" dirty="0">
                <a:solidFill>
                  <a:srgbClr val="2E3640"/>
                </a:solidFill>
                <a:latin typeface="Open Sans"/>
              </a:rPr>
              <a:t>The </a:t>
            </a:r>
            <a:r>
              <a:rPr lang="en-US" sz="1400" b="1" dirty="0">
                <a:solidFill>
                  <a:srgbClr val="2E3640"/>
                </a:solidFill>
                <a:latin typeface="Open Sans"/>
              </a:rPr>
              <a:t>null distribution </a:t>
            </a:r>
            <a:r>
              <a:rPr lang="en-US" sz="1400" dirty="0">
                <a:solidFill>
                  <a:srgbClr val="2E3640"/>
                </a:solidFill>
                <a:latin typeface="Open Sans"/>
              </a:rPr>
              <a:t>shows what t-values (signal-to-noise ratios) we'd see</a:t>
            </a:r>
          </a:p>
          <a:p>
            <a:pPr marL="285750" indent="-285750">
              <a:spcAft>
                <a:spcPts val="200"/>
              </a:spcAft>
              <a:buFont typeface="Arial" panose="020B0604020202020204" pitchFamily="34" charset="0"/>
              <a:buChar char="•"/>
            </a:pPr>
            <a:r>
              <a:rPr lang="en-US" sz="1400" b="1" dirty="0">
                <a:solidFill>
                  <a:srgbClr val="2E3640"/>
                </a:solidFill>
                <a:latin typeface="Open Sans"/>
              </a:rPr>
              <a:t>P-value: </a:t>
            </a:r>
            <a:r>
              <a:rPr lang="en-US" sz="1400" dirty="0">
                <a:solidFill>
                  <a:srgbClr val="2E3640"/>
                </a:solidFill>
                <a:latin typeface="Open Sans"/>
              </a:rPr>
              <a:t>in this world, how often would we get a t-value as extreme as 3.26?</a:t>
            </a:r>
          </a:p>
          <a:p>
            <a:pPr marL="285750" indent="-285750">
              <a:spcAft>
                <a:spcPts val="200"/>
              </a:spcAft>
              <a:buFont typeface="Arial" panose="020B0604020202020204" pitchFamily="34" charset="0"/>
              <a:buChar char="•"/>
            </a:pPr>
            <a:r>
              <a:rPr lang="en-US" sz="1400" b="1" dirty="0">
                <a:solidFill>
                  <a:srgbClr val="2E3640"/>
                </a:solidFill>
                <a:latin typeface="Open Sans"/>
              </a:rPr>
              <a:t>Simulation answer</a:t>
            </a:r>
            <a:r>
              <a:rPr lang="en-US" sz="1400" dirty="0">
                <a:solidFill>
                  <a:srgbClr val="2E3640"/>
                </a:solidFill>
                <a:latin typeface="Open Sans"/>
              </a:rPr>
              <a:t>: 41 out of 2,000 samples (~2%)</a:t>
            </a:r>
          </a:p>
          <a:p>
            <a:pPr marL="285750" indent="-285750">
              <a:spcAft>
                <a:spcPts val="200"/>
              </a:spcAft>
              <a:buFont typeface="Arial" panose="020B0604020202020204" pitchFamily="34" charset="0"/>
              <a:buChar char="•"/>
            </a:pPr>
            <a:r>
              <a:rPr lang="en-US" sz="1400" b="1" dirty="0">
                <a:solidFill>
                  <a:srgbClr val="2E3640"/>
                </a:solidFill>
                <a:latin typeface="Open Sans"/>
              </a:rPr>
              <a:t>Theoretical answer (how it’s actually done)</a:t>
            </a:r>
            <a:r>
              <a:rPr lang="en-US" sz="1400" dirty="0">
                <a:solidFill>
                  <a:srgbClr val="2E3640"/>
                </a:solidFill>
                <a:latin typeface="Open Sans"/>
              </a:rPr>
              <a:t>: using a t-distribution with </a:t>
            </a:r>
            <a:r>
              <a:rPr lang="en-US" sz="1400" dirty="0" err="1">
                <a:solidFill>
                  <a:srgbClr val="2E3640"/>
                </a:solidFill>
                <a:latin typeface="Open Sans"/>
              </a:rPr>
              <a:t>df</a:t>
            </a:r>
            <a:r>
              <a:rPr lang="en-US" sz="1400" dirty="0">
                <a:solidFill>
                  <a:srgbClr val="2E3640"/>
                </a:solidFill>
                <a:latin typeface="Open Sans"/>
              </a:rPr>
              <a:t> = n - 2 = 6, we get p = 0.0172 (1.7%)</a:t>
            </a:r>
          </a:p>
          <a:p>
            <a:pPr marL="742950" lvl="1" indent="-285750">
              <a:spcAft>
                <a:spcPts val="200"/>
              </a:spcAft>
              <a:buFont typeface="Arial" panose="020B0604020202020204" pitchFamily="34" charset="0"/>
              <a:buChar char="•"/>
            </a:pPr>
            <a:r>
              <a:rPr lang="en-US" sz="1400" dirty="0">
                <a:solidFill>
                  <a:srgbClr val="2E3640"/>
                </a:solidFill>
                <a:latin typeface="Open Sans"/>
              </a:rPr>
              <a:t>T to p conversion depends on </a:t>
            </a:r>
            <a:r>
              <a:rPr lang="en-US" sz="1400" dirty="0" err="1">
                <a:solidFill>
                  <a:srgbClr val="2E3640"/>
                </a:solidFill>
                <a:latin typeface="Open Sans"/>
              </a:rPr>
              <a:t>df</a:t>
            </a:r>
            <a:r>
              <a:rPr lang="en-US" sz="1400" dirty="0">
                <a:solidFill>
                  <a:srgbClr val="2E3640"/>
                </a:solidFill>
                <a:latin typeface="Open Sans"/>
              </a:rPr>
              <a:t>. Software handles this. Roughly, |</a:t>
            </a:r>
            <a:r>
              <a:rPr lang="en-US" sz="1400" dirty="0" err="1">
                <a:solidFill>
                  <a:srgbClr val="2E3640"/>
                </a:solidFill>
                <a:latin typeface="Open Sans"/>
              </a:rPr>
              <a:t>t|statistic</a:t>
            </a:r>
            <a:r>
              <a:rPr lang="en-US" sz="1400" dirty="0">
                <a:solidFill>
                  <a:srgbClr val="2E3640"/>
                </a:solidFill>
                <a:latin typeface="Open Sans"/>
              </a:rPr>
              <a:t> above 2 ≃ p-value below 0.05 for samples &gt; 30</a:t>
            </a:r>
          </a:p>
          <a:p>
            <a:pPr marL="285750" indent="-285750">
              <a:spcAft>
                <a:spcPts val="200"/>
              </a:spcAft>
              <a:buFont typeface="Arial" panose="020B0604020202020204" pitchFamily="34" charset="0"/>
              <a:buChar char="•"/>
            </a:pPr>
            <a:r>
              <a:rPr lang="en-GB" sz="1400" b="1" dirty="0"/>
              <a:t>Conclusion:</a:t>
            </a:r>
            <a:r>
              <a:rPr lang="en-GB" sz="1400" dirty="0"/>
              <a:t> the "no relationship" world is not a good explanation of our data. We reject the null hypothesis.</a:t>
            </a:r>
            <a:endParaRPr lang="en-US" sz="1400" dirty="0">
              <a:solidFill>
                <a:srgbClr val="2E3640"/>
              </a:solidFill>
              <a:latin typeface="Open Sans"/>
            </a:endParaRPr>
          </a:p>
        </p:txBody>
      </p:sp>
      <p:grpSp>
        <p:nvGrpSpPr>
          <p:cNvPr id="3" name="Group 2">
            <a:extLst>
              <a:ext uri="{FF2B5EF4-FFF2-40B4-BE49-F238E27FC236}">
                <a16:creationId xmlns:a16="http://schemas.microsoft.com/office/drawing/2014/main" id="{8D6DF5EE-55CB-A79A-9878-D6CDF3A55223}"/>
              </a:ext>
            </a:extLst>
          </p:cNvPr>
          <p:cNvGrpSpPr/>
          <p:nvPr/>
        </p:nvGrpSpPr>
        <p:grpSpPr>
          <a:xfrm>
            <a:off x="5869865" y="739837"/>
            <a:ext cx="5618493" cy="1055444"/>
            <a:chOff x="1170927" y="731593"/>
            <a:chExt cx="5618493" cy="1055444"/>
          </a:xfrm>
        </p:grpSpPr>
        <p:pic>
          <p:nvPicPr>
            <p:cNvPr id="4" name="Picture 3" descr="A screenshot of a computer program&#10;&#10;AI-generated content may be incorrect.">
              <a:extLst>
                <a:ext uri="{FF2B5EF4-FFF2-40B4-BE49-F238E27FC236}">
                  <a16:creationId xmlns:a16="http://schemas.microsoft.com/office/drawing/2014/main" id="{65F69207-3C5D-EEB3-B16C-842F8B7A6991}"/>
                </a:ext>
              </a:extLst>
            </p:cNvPr>
            <p:cNvPicPr>
              <a:picLocks noChangeAspect="1"/>
            </p:cNvPicPr>
            <p:nvPr/>
          </p:nvPicPr>
          <p:blipFill>
            <a:blip r:embed="rId3"/>
            <a:srcRect t="41659" r="19746" b="33576"/>
            <a:stretch>
              <a:fillRect/>
            </a:stretch>
          </p:blipFill>
          <p:spPr>
            <a:xfrm>
              <a:off x="1170927" y="731593"/>
              <a:ext cx="5618493" cy="1055444"/>
            </a:xfrm>
            <a:prstGeom prst="rect">
              <a:avLst/>
            </a:prstGeom>
            <a:ln w="1905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E2CFAD71-B44F-E06F-E8D4-770A5F38A7B6}"/>
                </a:ext>
              </a:extLst>
            </p:cNvPr>
            <p:cNvPicPr>
              <a:picLocks noChangeAspect="1"/>
            </p:cNvPicPr>
            <p:nvPr/>
          </p:nvPicPr>
          <p:blipFill>
            <a:blip r:embed="rId4"/>
            <a:srcRect r="73226" b="95733"/>
            <a:stretch>
              <a:fillRect/>
            </a:stretch>
          </p:blipFill>
          <p:spPr>
            <a:xfrm>
              <a:off x="1170927" y="780895"/>
              <a:ext cx="1728960" cy="212245"/>
            </a:xfrm>
            <a:prstGeom prst="rect">
              <a:avLst/>
            </a:prstGeom>
            <a:ln w="19050" cap="sq">
              <a:noFill/>
              <a:prstDash val="solid"/>
              <a:miter lim="800000"/>
            </a:ln>
            <a:effectLst/>
          </p:spPr>
        </p:pic>
      </p:grpSp>
      <p:grpSp>
        <p:nvGrpSpPr>
          <p:cNvPr id="25" name="Group 24">
            <a:extLst>
              <a:ext uri="{FF2B5EF4-FFF2-40B4-BE49-F238E27FC236}">
                <a16:creationId xmlns:a16="http://schemas.microsoft.com/office/drawing/2014/main" id="{EF1BB390-CD0F-73AE-84D9-D47A9299E7CB}"/>
              </a:ext>
            </a:extLst>
          </p:cNvPr>
          <p:cNvGrpSpPr/>
          <p:nvPr/>
        </p:nvGrpSpPr>
        <p:grpSpPr>
          <a:xfrm>
            <a:off x="6732883" y="2489434"/>
            <a:ext cx="4572772" cy="1651182"/>
            <a:chOff x="5918028" y="2326448"/>
            <a:chExt cx="4811930" cy="1961041"/>
          </a:xfrm>
        </p:grpSpPr>
        <p:sp>
          <p:nvSpPr>
            <p:cNvPr id="8" name="Rounded Rectangle 7">
              <a:extLst>
                <a:ext uri="{FF2B5EF4-FFF2-40B4-BE49-F238E27FC236}">
                  <a16:creationId xmlns:a16="http://schemas.microsoft.com/office/drawing/2014/main" id="{2C1305F4-7E08-6E67-9C1A-CAE7425AC8EE}"/>
                </a:ext>
              </a:extLst>
            </p:cNvPr>
            <p:cNvSpPr/>
            <p:nvPr/>
          </p:nvSpPr>
          <p:spPr>
            <a:xfrm>
              <a:off x="5918028" y="2326448"/>
              <a:ext cx="4811930" cy="214021"/>
            </a:xfrm>
            <a:prstGeom prst="roundRect">
              <a:avLst/>
            </a:prstGeom>
            <a:solidFill>
              <a:srgbClr val="2E6B7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dirty="0">
                  <a:solidFill>
                    <a:srgbClr val="FFFFFF"/>
                  </a:solidFill>
                </a:rPr>
                <a:t>Star codes</a:t>
              </a:r>
            </a:p>
          </p:txBody>
        </p:sp>
        <p:sp>
          <p:nvSpPr>
            <p:cNvPr id="9" name="Rounded Rectangle 8">
              <a:extLst>
                <a:ext uri="{FF2B5EF4-FFF2-40B4-BE49-F238E27FC236}">
                  <a16:creationId xmlns:a16="http://schemas.microsoft.com/office/drawing/2014/main" id="{BB7FC2F0-8246-7C87-51F6-4BEFF6116AF9}"/>
                </a:ext>
              </a:extLst>
            </p:cNvPr>
            <p:cNvSpPr/>
            <p:nvPr/>
          </p:nvSpPr>
          <p:spPr>
            <a:xfrm>
              <a:off x="5918028" y="2620604"/>
              <a:ext cx="525403" cy="294156"/>
            </a:xfrm>
            <a:prstGeom prst="roundRect">
              <a:avLst/>
            </a:prstGeom>
            <a:solidFill>
              <a:srgbClr val="1A5C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a:solidFill>
                    <a:srgbClr val="FFFFFF"/>
                  </a:solidFill>
                </a:rPr>
                <a:t>***</a:t>
              </a:r>
            </a:p>
          </p:txBody>
        </p:sp>
        <p:sp>
          <p:nvSpPr>
            <p:cNvPr id="10" name="Rounded Rectangle 9">
              <a:extLst>
                <a:ext uri="{FF2B5EF4-FFF2-40B4-BE49-F238E27FC236}">
                  <a16:creationId xmlns:a16="http://schemas.microsoft.com/office/drawing/2014/main" id="{8C252EAA-55AD-3635-CFF4-63FFFEEB0571}"/>
                </a:ext>
              </a:extLst>
            </p:cNvPr>
            <p:cNvSpPr/>
            <p:nvPr/>
          </p:nvSpPr>
          <p:spPr>
            <a:xfrm>
              <a:off x="6482836" y="2620604"/>
              <a:ext cx="919455" cy="294156"/>
            </a:xfrm>
            <a:prstGeom prst="roundRect">
              <a:avLst/>
            </a:prstGeom>
            <a:solidFill>
              <a:srgbClr val="E8F4F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a:solidFill>
                    <a:srgbClr val="1A5C64"/>
                  </a:solidFill>
                </a:rPr>
                <a:t>p &lt; 0.001</a:t>
              </a:r>
            </a:p>
          </p:txBody>
        </p:sp>
        <p:sp>
          <p:nvSpPr>
            <p:cNvPr id="11" name="Rounded Rectangle 10">
              <a:extLst>
                <a:ext uri="{FF2B5EF4-FFF2-40B4-BE49-F238E27FC236}">
                  <a16:creationId xmlns:a16="http://schemas.microsoft.com/office/drawing/2014/main" id="{DD10650D-6988-AEE6-1545-45D61E26456C}"/>
                </a:ext>
              </a:extLst>
            </p:cNvPr>
            <p:cNvSpPr/>
            <p:nvPr/>
          </p:nvSpPr>
          <p:spPr>
            <a:xfrm>
              <a:off x="7441697" y="2620604"/>
              <a:ext cx="3288261" cy="294156"/>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dirty="0">
                  <a:solidFill>
                    <a:srgbClr val="2E3640"/>
                  </a:solidFill>
                </a:rPr>
                <a:t>Very strong evidence against the null</a:t>
              </a:r>
            </a:p>
          </p:txBody>
        </p:sp>
        <p:sp>
          <p:nvSpPr>
            <p:cNvPr id="12" name="Rounded Rectangle 11">
              <a:extLst>
                <a:ext uri="{FF2B5EF4-FFF2-40B4-BE49-F238E27FC236}">
                  <a16:creationId xmlns:a16="http://schemas.microsoft.com/office/drawing/2014/main" id="{CBC7D5C6-B305-0DB5-76FE-0CBEFDC95BD0}"/>
                </a:ext>
              </a:extLst>
            </p:cNvPr>
            <p:cNvSpPr/>
            <p:nvPr/>
          </p:nvSpPr>
          <p:spPr>
            <a:xfrm>
              <a:off x="5918028" y="2963786"/>
              <a:ext cx="525403" cy="294156"/>
            </a:xfrm>
            <a:prstGeom prst="roundRect">
              <a:avLst/>
            </a:prstGeom>
            <a:solidFill>
              <a:srgbClr val="2E6B7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a:solidFill>
                    <a:srgbClr val="FFFFFF"/>
                  </a:solidFill>
                </a:rPr>
                <a:t>**</a:t>
              </a:r>
            </a:p>
          </p:txBody>
        </p:sp>
        <p:sp>
          <p:nvSpPr>
            <p:cNvPr id="13" name="Rounded Rectangle 12">
              <a:extLst>
                <a:ext uri="{FF2B5EF4-FFF2-40B4-BE49-F238E27FC236}">
                  <a16:creationId xmlns:a16="http://schemas.microsoft.com/office/drawing/2014/main" id="{B3D67463-B94C-2328-220B-8EF044E2AD29}"/>
                </a:ext>
              </a:extLst>
            </p:cNvPr>
            <p:cNvSpPr/>
            <p:nvPr/>
          </p:nvSpPr>
          <p:spPr>
            <a:xfrm>
              <a:off x="6482836" y="2963786"/>
              <a:ext cx="919455" cy="294156"/>
            </a:xfrm>
            <a:prstGeom prst="roundRect">
              <a:avLst/>
            </a:prstGeom>
            <a:solidFill>
              <a:srgbClr val="E8F4F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a:solidFill>
                    <a:srgbClr val="2E6B75"/>
                  </a:solidFill>
                </a:rPr>
                <a:t>p &lt; 0.01</a:t>
              </a:r>
            </a:p>
          </p:txBody>
        </p:sp>
        <p:sp>
          <p:nvSpPr>
            <p:cNvPr id="14" name="Rounded Rectangle 13">
              <a:extLst>
                <a:ext uri="{FF2B5EF4-FFF2-40B4-BE49-F238E27FC236}">
                  <a16:creationId xmlns:a16="http://schemas.microsoft.com/office/drawing/2014/main" id="{E02A0656-8198-DA55-C84F-805A47A71B5E}"/>
                </a:ext>
              </a:extLst>
            </p:cNvPr>
            <p:cNvSpPr/>
            <p:nvPr/>
          </p:nvSpPr>
          <p:spPr>
            <a:xfrm>
              <a:off x="7441697" y="2963786"/>
              <a:ext cx="3288261" cy="294156"/>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dirty="0">
                  <a:solidFill>
                    <a:srgbClr val="2E3640"/>
                  </a:solidFill>
                </a:rPr>
                <a:t>Strong evidence against the null</a:t>
              </a:r>
            </a:p>
          </p:txBody>
        </p:sp>
        <p:sp>
          <p:nvSpPr>
            <p:cNvPr id="15" name="Rounded Rectangle 14">
              <a:extLst>
                <a:ext uri="{FF2B5EF4-FFF2-40B4-BE49-F238E27FC236}">
                  <a16:creationId xmlns:a16="http://schemas.microsoft.com/office/drawing/2014/main" id="{C7D1CF48-DA05-B7F8-3D7C-C8826ED72E2F}"/>
                </a:ext>
              </a:extLst>
            </p:cNvPr>
            <p:cNvSpPr/>
            <p:nvPr/>
          </p:nvSpPr>
          <p:spPr>
            <a:xfrm>
              <a:off x="5918028" y="3306969"/>
              <a:ext cx="525403" cy="294156"/>
            </a:xfrm>
            <a:prstGeom prst="roundRect">
              <a:avLst/>
            </a:prstGeom>
            <a:solidFill>
              <a:srgbClr val="1E7D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dirty="0">
                  <a:solidFill>
                    <a:srgbClr val="FFFFFF"/>
                  </a:solidFill>
                </a:rPr>
                <a:t>* </a:t>
              </a:r>
            </a:p>
          </p:txBody>
        </p:sp>
        <p:sp>
          <p:nvSpPr>
            <p:cNvPr id="16" name="Rounded Rectangle 15">
              <a:extLst>
                <a:ext uri="{FF2B5EF4-FFF2-40B4-BE49-F238E27FC236}">
                  <a16:creationId xmlns:a16="http://schemas.microsoft.com/office/drawing/2014/main" id="{A58909B8-8272-0FE8-0A13-3DA1A520BA7C}"/>
                </a:ext>
              </a:extLst>
            </p:cNvPr>
            <p:cNvSpPr/>
            <p:nvPr/>
          </p:nvSpPr>
          <p:spPr>
            <a:xfrm>
              <a:off x="6482836" y="3306969"/>
              <a:ext cx="919455" cy="294156"/>
            </a:xfrm>
            <a:prstGeom prst="roundRect">
              <a:avLst/>
            </a:prstGeom>
            <a:solidFill>
              <a:srgbClr val="E8F4F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a:solidFill>
                    <a:srgbClr val="1E7D45"/>
                  </a:solidFill>
                </a:rPr>
                <a:t>p &lt; 0.05</a:t>
              </a:r>
            </a:p>
          </p:txBody>
        </p:sp>
        <p:sp>
          <p:nvSpPr>
            <p:cNvPr id="17" name="Rounded Rectangle 16">
              <a:extLst>
                <a:ext uri="{FF2B5EF4-FFF2-40B4-BE49-F238E27FC236}">
                  <a16:creationId xmlns:a16="http://schemas.microsoft.com/office/drawing/2014/main" id="{2AE46493-486C-2004-9C10-EEF31382791C}"/>
                </a:ext>
              </a:extLst>
            </p:cNvPr>
            <p:cNvSpPr/>
            <p:nvPr/>
          </p:nvSpPr>
          <p:spPr>
            <a:xfrm>
              <a:off x="7441697" y="3306968"/>
              <a:ext cx="3288261" cy="294156"/>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dirty="0">
                  <a:solidFill>
                    <a:srgbClr val="2E3640"/>
                  </a:solidFill>
                </a:rPr>
                <a:t>Moderate evidence  (our result: p = 0.017)</a:t>
              </a:r>
            </a:p>
          </p:txBody>
        </p:sp>
        <p:sp>
          <p:nvSpPr>
            <p:cNvPr id="18" name="Rounded Rectangle 17">
              <a:extLst>
                <a:ext uri="{FF2B5EF4-FFF2-40B4-BE49-F238E27FC236}">
                  <a16:creationId xmlns:a16="http://schemas.microsoft.com/office/drawing/2014/main" id="{02FCE0D1-DBFE-0CE8-D48D-3D9F581234C0}"/>
                </a:ext>
              </a:extLst>
            </p:cNvPr>
            <p:cNvSpPr/>
            <p:nvPr/>
          </p:nvSpPr>
          <p:spPr>
            <a:xfrm>
              <a:off x="5918028" y="3650151"/>
              <a:ext cx="525403" cy="294156"/>
            </a:xfrm>
            <a:prstGeom prst="roundRect">
              <a:avLst/>
            </a:prstGeom>
            <a:solidFill>
              <a:srgbClr val="D495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a:solidFill>
                    <a:srgbClr val="FFFFFF"/>
                  </a:solidFill>
                </a:rPr>
                <a:t> .</a:t>
              </a:r>
            </a:p>
          </p:txBody>
        </p:sp>
        <p:sp>
          <p:nvSpPr>
            <p:cNvPr id="19" name="Rounded Rectangle 18">
              <a:extLst>
                <a:ext uri="{FF2B5EF4-FFF2-40B4-BE49-F238E27FC236}">
                  <a16:creationId xmlns:a16="http://schemas.microsoft.com/office/drawing/2014/main" id="{FBBFC516-43C3-CF3F-7B6C-592B5104AA57}"/>
                </a:ext>
              </a:extLst>
            </p:cNvPr>
            <p:cNvSpPr/>
            <p:nvPr/>
          </p:nvSpPr>
          <p:spPr>
            <a:xfrm>
              <a:off x="6482836" y="3650151"/>
              <a:ext cx="919455" cy="294156"/>
            </a:xfrm>
            <a:prstGeom prst="roundRect">
              <a:avLst/>
            </a:prstGeom>
            <a:solidFill>
              <a:srgbClr val="E8F4F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a:solidFill>
                    <a:srgbClr val="D4952B"/>
                  </a:solidFill>
                </a:rPr>
                <a:t>p &lt; 0.10</a:t>
              </a:r>
            </a:p>
          </p:txBody>
        </p:sp>
        <p:sp>
          <p:nvSpPr>
            <p:cNvPr id="20" name="Rounded Rectangle 19">
              <a:extLst>
                <a:ext uri="{FF2B5EF4-FFF2-40B4-BE49-F238E27FC236}">
                  <a16:creationId xmlns:a16="http://schemas.microsoft.com/office/drawing/2014/main" id="{FC1BF1E4-51D3-ED2E-DD40-AC61AFC95CDC}"/>
                </a:ext>
              </a:extLst>
            </p:cNvPr>
            <p:cNvSpPr/>
            <p:nvPr/>
          </p:nvSpPr>
          <p:spPr>
            <a:xfrm>
              <a:off x="7441697" y="3650151"/>
              <a:ext cx="3288261" cy="294156"/>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a:solidFill>
                    <a:srgbClr val="2E3640"/>
                  </a:solidFill>
                </a:rPr>
                <a:t>Weak / suggestive</a:t>
              </a:r>
            </a:p>
          </p:txBody>
        </p:sp>
        <p:sp>
          <p:nvSpPr>
            <p:cNvPr id="21" name="Rounded Rectangle 20">
              <a:extLst>
                <a:ext uri="{FF2B5EF4-FFF2-40B4-BE49-F238E27FC236}">
                  <a16:creationId xmlns:a16="http://schemas.microsoft.com/office/drawing/2014/main" id="{267160FD-F8D7-45F3-FFFE-99CC60F75DEE}"/>
                </a:ext>
              </a:extLst>
            </p:cNvPr>
            <p:cNvSpPr/>
            <p:nvPr/>
          </p:nvSpPr>
          <p:spPr>
            <a:xfrm>
              <a:off x="5918028" y="3993333"/>
              <a:ext cx="525403" cy="294156"/>
            </a:xfrm>
            <a:prstGeom prst="roundRect">
              <a:avLst/>
            </a:prstGeom>
            <a:solidFill>
              <a:srgbClr val="88888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endParaRPr lang="en-US" sz="1050" b="1" dirty="0">
                <a:solidFill>
                  <a:srgbClr val="FFFFFF"/>
                </a:solidFill>
              </a:endParaRPr>
            </a:p>
          </p:txBody>
        </p:sp>
        <p:sp>
          <p:nvSpPr>
            <p:cNvPr id="22" name="Rounded Rectangle 21">
              <a:extLst>
                <a:ext uri="{FF2B5EF4-FFF2-40B4-BE49-F238E27FC236}">
                  <a16:creationId xmlns:a16="http://schemas.microsoft.com/office/drawing/2014/main" id="{53305926-5178-8E8D-1A33-83A6D818B48E}"/>
                </a:ext>
              </a:extLst>
            </p:cNvPr>
            <p:cNvSpPr/>
            <p:nvPr/>
          </p:nvSpPr>
          <p:spPr>
            <a:xfrm>
              <a:off x="6482836" y="3993333"/>
              <a:ext cx="919455" cy="294156"/>
            </a:xfrm>
            <a:prstGeom prst="roundRect">
              <a:avLst/>
            </a:prstGeom>
            <a:solidFill>
              <a:srgbClr val="E8F4F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b="1">
                  <a:solidFill>
                    <a:srgbClr val="888888"/>
                  </a:solidFill>
                </a:rPr>
                <a:t>p ≥ 0.10</a:t>
              </a:r>
            </a:p>
          </p:txBody>
        </p:sp>
        <p:sp>
          <p:nvSpPr>
            <p:cNvPr id="23" name="Rounded Rectangle 22">
              <a:extLst>
                <a:ext uri="{FF2B5EF4-FFF2-40B4-BE49-F238E27FC236}">
                  <a16:creationId xmlns:a16="http://schemas.microsoft.com/office/drawing/2014/main" id="{D9F11F21-3618-393D-9504-2F15F0A3BAD3}"/>
                </a:ext>
              </a:extLst>
            </p:cNvPr>
            <p:cNvSpPr/>
            <p:nvPr/>
          </p:nvSpPr>
          <p:spPr>
            <a:xfrm>
              <a:off x="7441697" y="3993333"/>
              <a:ext cx="3288261" cy="294156"/>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50">
                  <a:solidFill>
                    <a:srgbClr val="2E3640"/>
                  </a:solidFill>
                </a:rPr>
                <a:t>Not significant</a:t>
              </a:r>
            </a:p>
          </p:txBody>
        </p:sp>
      </p:grpSp>
      <p:pic>
        <p:nvPicPr>
          <p:cNvPr id="26" name="Picture 25" descr="A screenshot of a computer program&#10;&#10;AI-generated content may be incorrect.">
            <a:extLst>
              <a:ext uri="{FF2B5EF4-FFF2-40B4-BE49-F238E27FC236}">
                <a16:creationId xmlns:a16="http://schemas.microsoft.com/office/drawing/2014/main" id="{FC89C94A-E2FE-2A17-244A-45FD79BA33D0}"/>
              </a:ext>
            </a:extLst>
          </p:cNvPr>
          <p:cNvPicPr>
            <a:picLocks noChangeAspect="1"/>
          </p:cNvPicPr>
          <p:nvPr/>
        </p:nvPicPr>
        <p:blipFill>
          <a:blip r:embed="rId3"/>
          <a:srcRect t="67114" r="2147" b="20819"/>
          <a:stretch>
            <a:fillRect/>
          </a:stretch>
        </p:blipFill>
        <p:spPr>
          <a:xfrm>
            <a:off x="5555331" y="1899754"/>
            <a:ext cx="6249242" cy="469152"/>
          </a:xfrm>
          <a:prstGeom prst="rect">
            <a:avLst/>
          </a:prstGeom>
          <a:ln w="38100" cap="sq">
            <a:solidFill>
              <a:schemeClr val="bg1">
                <a:lumMod val="65000"/>
              </a:schemeClr>
            </a:solidFill>
            <a:prstDash val="solid"/>
            <a:miter lim="800000"/>
          </a:ln>
          <a:effectLst>
            <a:outerShdw blurRad="50800" dist="38100" dir="2700000" algn="tl" rotWithShape="0">
              <a:srgbClr val="000000">
                <a:alpha val="43000"/>
              </a:srgbClr>
            </a:outerShdw>
          </a:effectLst>
        </p:spPr>
      </p:pic>
      <p:sp>
        <p:nvSpPr>
          <p:cNvPr id="28" name="Rounded Rectangle 27">
            <a:extLst>
              <a:ext uri="{FF2B5EF4-FFF2-40B4-BE49-F238E27FC236}">
                <a16:creationId xmlns:a16="http://schemas.microsoft.com/office/drawing/2014/main" id="{F9D1452E-5A3E-8262-8FC0-8356EE4B33E9}"/>
              </a:ext>
            </a:extLst>
          </p:cNvPr>
          <p:cNvSpPr/>
          <p:nvPr/>
        </p:nvSpPr>
        <p:spPr>
          <a:xfrm>
            <a:off x="9491828" y="4756392"/>
            <a:ext cx="2493706" cy="311647"/>
          </a:xfrm>
          <a:prstGeom prst="roundRect">
            <a:avLst/>
          </a:prstGeom>
          <a:solidFill>
            <a:schemeClr val="accent2">
              <a:lumMod val="20000"/>
              <a:lumOff val="80000"/>
            </a:schemeClr>
          </a:solidFill>
          <a:ln w="6350" cap="flat" cmpd="sng" algn="ctr">
            <a:solidFill>
              <a:schemeClr val="accent2">
                <a:lumMod val="50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rmAutofit/>
          </a:bodyPr>
          <a:lstStyle/>
          <a:p>
            <a:r>
              <a:rPr lang="en-US" sz="1100" dirty="0">
                <a:solidFill>
                  <a:srgbClr val="2E3640"/>
                </a:solidFill>
              </a:rPr>
              <a:t>p-value = 0.86% * 2 = 1.72%</a:t>
            </a:r>
          </a:p>
        </p:txBody>
      </p:sp>
      <p:cxnSp>
        <p:nvCxnSpPr>
          <p:cNvPr id="29" name="DotLine">
            <a:extLst>
              <a:ext uri="{FF2B5EF4-FFF2-40B4-BE49-F238E27FC236}">
                <a16:creationId xmlns:a16="http://schemas.microsoft.com/office/drawing/2014/main" id="{05D4A11B-23E6-5E37-AA1C-1CDABEC8183D}"/>
              </a:ext>
            </a:extLst>
          </p:cNvPr>
          <p:cNvCxnSpPr>
            <a:cxnSpLocks/>
          </p:cNvCxnSpPr>
          <p:nvPr/>
        </p:nvCxnSpPr>
        <p:spPr>
          <a:xfrm flipH="1">
            <a:off x="9205860" y="5081157"/>
            <a:ext cx="318716" cy="515795"/>
          </a:xfrm>
          <a:prstGeom prst="line">
            <a:avLst/>
          </a:prstGeom>
          <a:ln w="19050">
            <a:solidFill>
              <a:schemeClr val="accent5">
                <a:lumMod val="75000"/>
              </a:schemeClr>
            </a:solidFill>
            <a:prstDash val="solid"/>
            <a:headEnd type="none" w="med" len="med"/>
            <a:tailEnd type="triangle" w="med" len="med"/>
          </a:ln>
        </p:spPr>
      </p:cxnSp>
      <p:sp>
        <p:nvSpPr>
          <p:cNvPr id="32" name="TLabel">
            <a:extLst>
              <a:ext uri="{FF2B5EF4-FFF2-40B4-BE49-F238E27FC236}">
                <a16:creationId xmlns:a16="http://schemas.microsoft.com/office/drawing/2014/main" id="{43B91AB2-4A14-C701-800C-0A6E9260314D}"/>
              </a:ext>
            </a:extLst>
          </p:cNvPr>
          <p:cNvSpPr/>
          <p:nvPr/>
        </p:nvSpPr>
        <p:spPr>
          <a:xfrm>
            <a:off x="6744099" y="5018733"/>
            <a:ext cx="2285125" cy="237320"/>
          </a:xfrm>
          <a:prstGeom prst="homePlate">
            <a:avLst/>
          </a:prstGeom>
          <a:solidFill>
            <a:srgbClr val="FFFFFF"/>
          </a:solidFill>
          <a:ln w="12700">
            <a:solidFill>
              <a:srgbClr val="2C8B2C"/>
            </a:solidFill>
          </a:ln>
        </p:spPr>
        <p:txBody>
          <a:bodyPr wrap="none" lIns="36000" tIns="0" rIns="36000" bIns="0" anchor="ctr"/>
          <a:lstStyle/>
          <a:p>
            <a:pPr algn="ctr"/>
            <a:r>
              <a:rPr lang="en-US" sz="1000" b="1" dirty="0">
                <a:solidFill>
                  <a:srgbClr val="2C8B2C"/>
                </a:solidFill>
                <a:latin typeface="Open Sans"/>
              </a:rPr>
              <a:t>t = b</a:t>
            </a:r>
            <a:r>
              <a:rPr lang="en-US" sz="1000" b="1" baseline="-25000" dirty="0">
                <a:solidFill>
                  <a:srgbClr val="2C8B2C"/>
                </a:solidFill>
                <a:latin typeface="Open Sans"/>
              </a:rPr>
              <a:t>1</a:t>
            </a:r>
            <a:r>
              <a:rPr lang="en-US" sz="1000" b="1" dirty="0">
                <a:solidFill>
                  <a:srgbClr val="2C8B2C"/>
                </a:solidFill>
                <a:latin typeface="Open Sans"/>
              </a:rPr>
              <a:t> / SE = 0.386 / 0.118 = 3.26</a:t>
            </a:r>
          </a:p>
        </p:txBody>
      </p:sp>
      <p:sp>
        <p:nvSpPr>
          <p:cNvPr id="3229" name="CILVal7">
            <a:extLst>
              <a:ext uri="{FF2B5EF4-FFF2-40B4-BE49-F238E27FC236}">
                <a16:creationId xmlns:a16="http://schemas.microsoft.com/office/drawing/2014/main" id="{2AD40B23-BCDF-C6DB-976B-63C0E92537A8}"/>
              </a:ext>
            </a:extLst>
          </p:cNvPr>
          <p:cNvSpPr/>
          <p:nvPr/>
        </p:nvSpPr>
        <p:spPr>
          <a:xfrm>
            <a:off x="7326307" y="5959054"/>
            <a:ext cx="448620" cy="186468"/>
          </a:xfrm>
          <a:prstGeom prst="rect">
            <a:avLst/>
          </a:prstGeom>
          <a:noFill/>
          <a:ln>
            <a:noFill/>
          </a:ln>
        </p:spPr>
        <p:txBody>
          <a:bodyPr wrap="none" lIns="0" tIns="0" rIns="0" bIns="0" anchor="t"/>
          <a:lstStyle/>
          <a:p>
            <a:pPr algn="ctr"/>
            <a:r>
              <a:rPr lang="en-US" sz="1000" b="1" dirty="0">
                <a:solidFill>
                  <a:srgbClr val="2B6CB0"/>
                </a:solidFill>
                <a:latin typeface="Open Sans"/>
              </a:rPr>
              <a:t>0.096</a:t>
            </a:r>
          </a:p>
        </p:txBody>
      </p:sp>
      <p:sp>
        <p:nvSpPr>
          <p:cNvPr id="3230" name="CIRVal7">
            <a:extLst>
              <a:ext uri="{FF2B5EF4-FFF2-40B4-BE49-F238E27FC236}">
                <a16:creationId xmlns:a16="http://schemas.microsoft.com/office/drawing/2014/main" id="{E75682F7-D03D-0533-29D7-ABF6681BCCC0}"/>
              </a:ext>
            </a:extLst>
          </p:cNvPr>
          <p:cNvSpPr/>
          <p:nvPr/>
        </p:nvSpPr>
        <p:spPr>
          <a:xfrm>
            <a:off x="10314634" y="5971044"/>
            <a:ext cx="448620" cy="186468"/>
          </a:xfrm>
          <a:prstGeom prst="rect">
            <a:avLst/>
          </a:prstGeom>
          <a:noFill/>
          <a:ln>
            <a:noFill/>
          </a:ln>
        </p:spPr>
        <p:txBody>
          <a:bodyPr wrap="none" lIns="0" tIns="0" rIns="0" bIns="0" anchor="t"/>
          <a:lstStyle/>
          <a:p>
            <a:pPr algn="ctr"/>
            <a:r>
              <a:rPr lang="en-US" sz="1000" b="1" dirty="0">
                <a:solidFill>
                  <a:srgbClr val="2B6CB0"/>
                </a:solidFill>
                <a:latin typeface="Open Sans"/>
              </a:rPr>
              <a:t>0.676</a:t>
            </a:r>
          </a:p>
        </p:txBody>
      </p:sp>
      <p:sp>
        <p:nvSpPr>
          <p:cNvPr id="3231" name="CIBar7">
            <a:extLst>
              <a:ext uri="{FF2B5EF4-FFF2-40B4-BE49-F238E27FC236}">
                <a16:creationId xmlns:a16="http://schemas.microsoft.com/office/drawing/2014/main" id="{1C1C2964-6775-BAEF-1124-4CADC9C73885}"/>
              </a:ext>
            </a:extLst>
          </p:cNvPr>
          <p:cNvSpPr/>
          <p:nvPr/>
        </p:nvSpPr>
        <p:spPr>
          <a:xfrm>
            <a:off x="7332951" y="6284168"/>
            <a:ext cx="3436947" cy="429809"/>
          </a:xfrm>
          <a:prstGeom prst="rect">
            <a:avLst/>
          </a:prstGeom>
          <a:solidFill>
            <a:srgbClr val="F1F4FF"/>
          </a:solidFill>
          <a:ln>
            <a:solidFill>
              <a:srgbClr val="0070C0"/>
            </a:solidFill>
          </a:ln>
        </p:spPr>
        <p:txBody>
          <a:bodyPr anchor="ctr"/>
          <a:lstStyle/>
          <a:p>
            <a:pPr algn="ctr"/>
            <a:r>
              <a:rPr lang="en-US" sz="1050" b="1" dirty="0">
                <a:solidFill>
                  <a:srgbClr val="2B6CB0"/>
                </a:solidFill>
                <a:latin typeface="Open Sans"/>
              </a:rPr>
              <a:t>True slope’s plausible region: ± 2.45 SE</a:t>
            </a:r>
          </a:p>
          <a:p>
            <a:pPr algn="ctr"/>
            <a:r>
              <a:rPr lang="en-US" sz="1050" b="1" dirty="0">
                <a:solidFill>
                  <a:srgbClr val="2B6CB0"/>
                </a:solidFill>
                <a:latin typeface="Open Sans"/>
              </a:rPr>
              <a:t>95% Confidence Interval</a:t>
            </a:r>
          </a:p>
        </p:txBody>
      </p:sp>
      <p:grpSp>
        <p:nvGrpSpPr>
          <p:cNvPr id="3251" name="Group 3250">
            <a:extLst>
              <a:ext uri="{FF2B5EF4-FFF2-40B4-BE49-F238E27FC236}">
                <a16:creationId xmlns:a16="http://schemas.microsoft.com/office/drawing/2014/main" id="{F1A2D504-8CBA-474E-AAF6-69B5E88F2DAE}"/>
              </a:ext>
            </a:extLst>
          </p:cNvPr>
          <p:cNvGrpSpPr/>
          <p:nvPr/>
        </p:nvGrpSpPr>
        <p:grpSpPr>
          <a:xfrm>
            <a:off x="7319661" y="5639970"/>
            <a:ext cx="3450237" cy="1157961"/>
            <a:chOff x="7319661" y="5639970"/>
            <a:chExt cx="3450237" cy="1505529"/>
          </a:xfrm>
        </p:grpSpPr>
        <p:sp>
          <p:nvSpPr>
            <p:cNvPr id="3228" name="CILW7">
              <a:extLst>
                <a:ext uri="{FF2B5EF4-FFF2-40B4-BE49-F238E27FC236}">
                  <a16:creationId xmlns:a16="http://schemas.microsoft.com/office/drawing/2014/main" id="{5023D411-1624-2E3F-2C56-4EAA0364592A}"/>
                </a:ext>
              </a:extLst>
            </p:cNvPr>
            <p:cNvSpPr/>
            <p:nvPr/>
          </p:nvSpPr>
          <p:spPr>
            <a:xfrm>
              <a:off x="7319661" y="5656439"/>
              <a:ext cx="6646" cy="1489060"/>
            </a:xfrm>
            <a:prstGeom prst="line">
              <a:avLst/>
            </a:prstGeom>
            <a:ln w="15875">
              <a:solidFill>
                <a:srgbClr val="2B6CB0"/>
              </a:solidFill>
              <a:prstDash val="sysDash"/>
            </a:ln>
          </p:spPr>
          <p:txBody>
            <a:bodyPr/>
            <a:lstStyle/>
            <a:p>
              <a:endParaRPr lang="en-US" sz="2000"/>
            </a:p>
          </p:txBody>
        </p:sp>
        <p:sp>
          <p:nvSpPr>
            <p:cNvPr id="3232" name="CIRW7">
              <a:extLst>
                <a:ext uri="{FF2B5EF4-FFF2-40B4-BE49-F238E27FC236}">
                  <a16:creationId xmlns:a16="http://schemas.microsoft.com/office/drawing/2014/main" id="{E9576B35-46EF-D072-7F8D-B3D6BCE23523}"/>
                </a:ext>
              </a:extLst>
            </p:cNvPr>
            <p:cNvSpPr/>
            <p:nvPr/>
          </p:nvSpPr>
          <p:spPr>
            <a:xfrm flipH="1">
              <a:off x="10763252" y="5639970"/>
              <a:ext cx="6646" cy="1489061"/>
            </a:xfrm>
            <a:prstGeom prst="line">
              <a:avLst/>
            </a:prstGeom>
            <a:ln w="15875">
              <a:solidFill>
                <a:srgbClr val="2B6CB0"/>
              </a:solidFill>
              <a:prstDash val="sysDash"/>
            </a:ln>
          </p:spPr>
          <p:txBody>
            <a:bodyPr/>
            <a:lstStyle/>
            <a:p>
              <a:endParaRPr lang="en-US" sz="2000"/>
            </a:p>
          </p:txBody>
        </p:sp>
      </p:grpSp>
      <p:grpSp>
        <p:nvGrpSpPr>
          <p:cNvPr id="3233" name="Group 3232">
            <a:extLst>
              <a:ext uri="{FF2B5EF4-FFF2-40B4-BE49-F238E27FC236}">
                <a16:creationId xmlns:a16="http://schemas.microsoft.com/office/drawing/2014/main" id="{5215461F-E800-D38F-D82A-761455DAE56C}"/>
              </a:ext>
            </a:extLst>
          </p:cNvPr>
          <p:cNvGrpSpPr/>
          <p:nvPr/>
        </p:nvGrpSpPr>
        <p:grpSpPr>
          <a:xfrm>
            <a:off x="7342945" y="6153014"/>
            <a:ext cx="3436941" cy="139778"/>
            <a:chOff x="7674600" y="4901590"/>
            <a:chExt cx="3052621" cy="124385"/>
          </a:xfrm>
        </p:grpSpPr>
        <p:sp>
          <p:nvSpPr>
            <p:cNvPr id="3235" name="CIBar7">
              <a:extLst>
                <a:ext uri="{FF2B5EF4-FFF2-40B4-BE49-F238E27FC236}">
                  <a16:creationId xmlns:a16="http://schemas.microsoft.com/office/drawing/2014/main" id="{25C165BC-F9E4-1FB6-C492-8D2AD35007E6}"/>
                </a:ext>
              </a:extLst>
            </p:cNvPr>
            <p:cNvSpPr/>
            <p:nvPr/>
          </p:nvSpPr>
          <p:spPr>
            <a:xfrm>
              <a:off x="9202825" y="4916652"/>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36" name="CILW7">
              <a:extLst>
                <a:ext uri="{FF2B5EF4-FFF2-40B4-BE49-F238E27FC236}">
                  <a16:creationId xmlns:a16="http://schemas.microsoft.com/office/drawing/2014/main" id="{7BE0D7CB-4000-089B-C8B9-B0276F8CA5E8}"/>
                </a:ext>
              </a:extLst>
            </p:cNvPr>
            <p:cNvSpPr/>
            <p:nvPr/>
          </p:nvSpPr>
          <p:spPr>
            <a:xfrm>
              <a:off x="9196928" y="4901590"/>
              <a:ext cx="0" cy="120753"/>
            </a:xfrm>
            <a:prstGeom prst="line">
              <a:avLst/>
            </a:prstGeom>
            <a:ln w="15875">
              <a:solidFill>
                <a:srgbClr val="2B6CB0"/>
              </a:solidFill>
            </a:ln>
          </p:spPr>
          <p:txBody>
            <a:bodyPr anchor="ctr"/>
            <a:lstStyle/>
            <a:p>
              <a:endParaRPr lang="en-US" sz="2000"/>
            </a:p>
          </p:txBody>
        </p:sp>
        <p:sp>
          <p:nvSpPr>
            <p:cNvPr id="3237" name="CILW7">
              <a:extLst>
                <a:ext uri="{FF2B5EF4-FFF2-40B4-BE49-F238E27FC236}">
                  <a16:creationId xmlns:a16="http://schemas.microsoft.com/office/drawing/2014/main" id="{18E710C0-14EC-B149-1FC6-2972FF1C248E}"/>
                </a:ext>
              </a:extLst>
            </p:cNvPr>
            <p:cNvSpPr/>
            <p:nvPr/>
          </p:nvSpPr>
          <p:spPr>
            <a:xfrm>
              <a:off x="9822879" y="4901590"/>
              <a:ext cx="0" cy="120753"/>
            </a:xfrm>
            <a:prstGeom prst="line">
              <a:avLst/>
            </a:prstGeom>
            <a:ln w="15875">
              <a:solidFill>
                <a:srgbClr val="2B6CB0"/>
              </a:solidFill>
            </a:ln>
          </p:spPr>
          <p:txBody>
            <a:bodyPr anchor="ctr"/>
            <a:lstStyle/>
            <a:p>
              <a:endParaRPr lang="en-US" sz="2000"/>
            </a:p>
          </p:txBody>
        </p:sp>
        <p:sp>
          <p:nvSpPr>
            <p:cNvPr id="3238" name="CIBar7">
              <a:extLst>
                <a:ext uri="{FF2B5EF4-FFF2-40B4-BE49-F238E27FC236}">
                  <a16:creationId xmlns:a16="http://schemas.microsoft.com/office/drawing/2014/main" id="{D47788ED-36A9-2713-428F-A226AF3EA082}"/>
                </a:ext>
              </a:extLst>
            </p:cNvPr>
            <p:cNvSpPr/>
            <p:nvPr/>
          </p:nvSpPr>
          <p:spPr>
            <a:xfrm>
              <a:off x="9828775" y="4919212"/>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39" name="CILW7">
              <a:extLst>
                <a:ext uri="{FF2B5EF4-FFF2-40B4-BE49-F238E27FC236}">
                  <a16:creationId xmlns:a16="http://schemas.microsoft.com/office/drawing/2014/main" id="{5772E8FE-AADF-F3D5-71AC-D155244A94C0}"/>
                </a:ext>
              </a:extLst>
            </p:cNvPr>
            <p:cNvSpPr/>
            <p:nvPr/>
          </p:nvSpPr>
          <p:spPr>
            <a:xfrm>
              <a:off x="9822878" y="4904150"/>
              <a:ext cx="0" cy="120753"/>
            </a:xfrm>
            <a:prstGeom prst="line">
              <a:avLst/>
            </a:prstGeom>
            <a:ln w="15875">
              <a:solidFill>
                <a:srgbClr val="2B6CB0"/>
              </a:solidFill>
            </a:ln>
          </p:spPr>
          <p:txBody>
            <a:bodyPr anchor="ctr"/>
            <a:lstStyle/>
            <a:p>
              <a:endParaRPr lang="en-US" sz="2000"/>
            </a:p>
          </p:txBody>
        </p:sp>
        <p:sp>
          <p:nvSpPr>
            <p:cNvPr id="3240" name="CILW7">
              <a:extLst>
                <a:ext uri="{FF2B5EF4-FFF2-40B4-BE49-F238E27FC236}">
                  <a16:creationId xmlns:a16="http://schemas.microsoft.com/office/drawing/2014/main" id="{7A36BB40-A689-DD7A-4924-F185ACAB2836}"/>
                </a:ext>
              </a:extLst>
            </p:cNvPr>
            <p:cNvSpPr/>
            <p:nvPr/>
          </p:nvSpPr>
          <p:spPr>
            <a:xfrm>
              <a:off x="10448828" y="4904150"/>
              <a:ext cx="0" cy="120753"/>
            </a:xfrm>
            <a:prstGeom prst="line">
              <a:avLst/>
            </a:prstGeom>
            <a:ln w="15875">
              <a:solidFill>
                <a:srgbClr val="2B6CB0"/>
              </a:solidFill>
            </a:ln>
          </p:spPr>
          <p:txBody>
            <a:bodyPr anchor="ctr"/>
            <a:lstStyle/>
            <a:p>
              <a:endParaRPr lang="en-US" sz="2000"/>
            </a:p>
          </p:txBody>
        </p:sp>
        <p:sp>
          <p:nvSpPr>
            <p:cNvPr id="3241" name="CIBar7">
              <a:extLst>
                <a:ext uri="{FF2B5EF4-FFF2-40B4-BE49-F238E27FC236}">
                  <a16:creationId xmlns:a16="http://schemas.microsoft.com/office/drawing/2014/main" id="{230CFAF5-46F1-F7A8-C584-0F3D88902F07}"/>
                </a:ext>
              </a:extLst>
            </p:cNvPr>
            <p:cNvSpPr/>
            <p:nvPr/>
          </p:nvSpPr>
          <p:spPr>
            <a:xfrm>
              <a:off x="10454724" y="4917724"/>
              <a:ext cx="272497" cy="89924"/>
            </a:xfrm>
            <a:prstGeom prst="rect">
              <a:avLst/>
            </a:prstGeom>
            <a:solidFill>
              <a:srgbClr val="B8D4E8">
                <a:alpha val="34902"/>
              </a:srgbClr>
            </a:solidFill>
            <a:ln>
              <a:noFill/>
            </a:ln>
          </p:spPr>
          <p:txBody>
            <a:bodyPr lIns="0" rIns="0" anchor="ctr"/>
            <a:lstStyle/>
            <a:p>
              <a:pPr algn="ctr"/>
              <a:endParaRPr lang="en-US" sz="900" dirty="0"/>
            </a:p>
          </p:txBody>
        </p:sp>
        <p:sp>
          <p:nvSpPr>
            <p:cNvPr id="3242" name="CILW7">
              <a:extLst>
                <a:ext uri="{FF2B5EF4-FFF2-40B4-BE49-F238E27FC236}">
                  <a16:creationId xmlns:a16="http://schemas.microsoft.com/office/drawing/2014/main" id="{6DA2EF37-DA56-2947-2C39-29279262C07F}"/>
                </a:ext>
              </a:extLst>
            </p:cNvPr>
            <p:cNvSpPr/>
            <p:nvPr/>
          </p:nvSpPr>
          <p:spPr>
            <a:xfrm>
              <a:off x="10448826" y="4902662"/>
              <a:ext cx="0" cy="120753"/>
            </a:xfrm>
            <a:prstGeom prst="line">
              <a:avLst/>
            </a:prstGeom>
            <a:ln w="15875">
              <a:solidFill>
                <a:srgbClr val="2B6CB0"/>
              </a:solidFill>
            </a:ln>
          </p:spPr>
          <p:txBody>
            <a:bodyPr anchor="ctr"/>
            <a:lstStyle/>
            <a:p>
              <a:endParaRPr lang="en-US" sz="2000"/>
            </a:p>
          </p:txBody>
        </p:sp>
        <p:sp>
          <p:nvSpPr>
            <p:cNvPr id="3243" name="CIBar7">
              <a:extLst>
                <a:ext uri="{FF2B5EF4-FFF2-40B4-BE49-F238E27FC236}">
                  <a16:creationId xmlns:a16="http://schemas.microsoft.com/office/drawing/2014/main" id="{D77DA0B7-E9B8-5ED8-8F6F-1FC1BBA3558E}"/>
                </a:ext>
              </a:extLst>
            </p:cNvPr>
            <p:cNvSpPr/>
            <p:nvPr/>
          </p:nvSpPr>
          <p:spPr>
            <a:xfrm>
              <a:off x="7674600" y="4917724"/>
              <a:ext cx="272102" cy="89924"/>
            </a:xfrm>
            <a:prstGeom prst="rect">
              <a:avLst/>
            </a:prstGeom>
            <a:solidFill>
              <a:srgbClr val="B8D4E8">
                <a:alpha val="34902"/>
              </a:srgbClr>
            </a:solidFill>
            <a:ln>
              <a:noFill/>
            </a:ln>
          </p:spPr>
          <p:txBody>
            <a:bodyPr lIns="0" rIns="0" anchor="ctr"/>
            <a:lstStyle/>
            <a:p>
              <a:pPr algn="ctr"/>
              <a:endParaRPr lang="en-US" sz="900" dirty="0"/>
            </a:p>
          </p:txBody>
        </p:sp>
        <p:sp>
          <p:nvSpPr>
            <p:cNvPr id="3244" name="CILW7">
              <a:extLst>
                <a:ext uri="{FF2B5EF4-FFF2-40B4-BE49-F238E27FC236}">
                  <a16:creationId xmlns:a16="http://schemas.microsoft.com/office/drawing/2014/main" id="{4F59448E-A314-6C0F-73D5-FE65B1F38DF0}"/>
                </a:ext>
              </a:extLst>
            </p:cNvPr>
            <p:cNvSpPr/>
            <p:nvPr/>
          </p:nvSpPr>
          <p:spPr>
            <a:xfrm>
              <a:off x="7947981" y="4902662"/>
              <a:ext cx="0" cy="120753"/>
            </a:xfrm>
            <a:prstGeom prst="line">
              <a:avLst/>
            </a:prstGeom>
            <a:ln w="15875">
              <a:solidFill>
                <a:srgbClr val="2B6CB0"/>
              </a:solidFill>
            </a:ln>
          </p:spPr>
          <p:txBody>
            <a:bodyPr anchor="ctr"/>
            <a:lstStyle/>
            <a:p>
              <a:endParaRPr lang="en-US" sz="2000"/>
            </a:p>
          </p:txBody>
        </p:sp>
        <p:sp>
          <p:nvSpPr>
            <p:cNvPr id="3245" name="CIBar7">
              <a:extLst>
                <a:ext uri="{FF2B5EF4-FFF2-40B4-BE49-F238E27FC236}">
                  <a16:creationId xmlns:a16="http://schemas.microsoft.com/office/drawing/2014/main" id="{7D2796D5-B38D-8EB8-6EE8-5F3DFFF637E2}"/>
                </a:ext>
              </a:extLst>
            </p:cNvPr>
            <p:cNvSpPr/>
            <p:nvPr/>
          </p:nvSpPr>
          <p:spPr>
            <a:xfrm>
              <a:off x="7953878" y="4920284"/>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46" name="CILW7">
              <a:extLst>
                <a:ext uri="{FF2B5EF4-FFF2-40B4-BE49-F238E27FC236}">
                  <a16:creationId xmlns:a16="http://schemas.microsoft.com/office/drawing/2014/main" id="{C033FE1D-2BBB-C968-7DC7-EE47E50BFA2B}"/>
                </a:ext>
              </a:extLst>
            </p:cNvPr>
            <p:cNvSpPr/>
            <p:nvPr/>
          </p:nvSpPr>
          <p:spPr>
            <a:xfrm>
              <a:off x="7947980" y="4905222"/>
              <a:ext cx="0" cy="120753"/>
            </a:xfrm>
            <a:prstGeom prst="line">
              <a:avLst/>
            </a:prstGeom>
            <a:ln w="15875">
              <a:solidFill>
                <a:srgbClr val="2B6CB0"/>
              </a:solidFill>
            </a:ln>
          </p:spPr>
          <p:txBody>
            <a:bodyPr anchor="ctr"/>
            <a:lstStyle/>
            <a:p>
              <a:endParaRPr lang="en-US" sz="2000"/>
            </a:p>
          </p:txBody>
        </p:sp>
        <p:sp>
          <p:nvSpPr>
            <p:cNvPr id="3247" name="CILW7">
              <a:extLst>
                <a:ext uri="{FF2B5EF4-FFF2-40B4-BE49-F238E27FC236}">
                  <a16:creationId xmlns:a16="http://schemas.microsoft.com/office/drawing/2014/main" id="{6CB92284-1BC7-A109-9BC4-BD004783E4BD}"/>
                </a:ext>
              </a:extLst>
            </p:cNvPr>
            <p:cNvSpPr/>
            <p:nvPr/>
          </p:nvSpPr>
          <p:spPr>
            <a:xfrm>
              <a:off x="8573931" y="4905222"/>
              <a:ext cx="0" cy="120753"/>
            </a:xfrm>
            <a:prstGeom prst="line">
              <a:avLst/>
            </a:prstGeom>
            <a:ln w="15875">
              <a:solidFill>
                <a:srgbClr val="2B6CB0"/>
              </a:solidFill>
            </a:ln>
          </p:spPr>
          <p:txBody>
            <a:bodyPr anchor="ctr"/>
            <a:lstStyle/>
            <a:p>
              <a:endParaRPr lang="en-US" sz="2000"/>
            </a:p>
          </p:txBody>
        </p:sp>
        <p:sp>
          <p:nvSpPr>
            <p:cNvPr id="3248" name="CIBar7">
              <a:extLst>
                <a:ext uri="{FF2B5EF4-FFF2-40B4-BE49-F238E27FC236}">
                  <a16:creationId xmlns:a16="http://schemas.microsoft.com/office/drawing/2014/main" id="{EACC053A-3026-1086-DA5E-1813F8337FA3}"/>
                </a:ext>
              </a:extLst>
            </p:cNvPr>
            <p:cNvSpPr/>
            <p:nvPr/>
          </p:nvSpPr>
          <p:spPr>
            <a:xfrm>
              <a:off x="8579827" y="4918796"/>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3249" name="CILW7">
              <a:extLst>
                <a:ext uri="{FF2B5EF4-FFF2-40B4-BE49-F238E27FC236}">
                  <a16:creationId xmlns:a16="http://schemas.microsoft.com/office/drawing/2014/main" id="{9BE236A1-6B2D-1BED-9926-A75764A2CA5F}"/>
                </a:ext>
              </a:extLst>
            </p:cNvPr>
            <p:cNvSpPr/>
            <p:nvPr/>
          </p:nvSpPr>
          <p:spPr>
            <a:xfrm>
              <a:off x="8573929" y="4903734"/>
              <a:ext cx="0" cy="120753"/>
            </a:xfrm>
            <a:prstGeom prst="line">
              <a:avLst/>
            </a:prstGeom>
            <a:ln w="15875">
              <a:solidFill>
                <a:srgbClr val="2B6CB0"/>
              </a:solidFill>
            </a:ln>
          </p:spPr>
          <p:txBody>
            <a:bodyPr anchor="ctr"/>
            <a:lstStyle/>
            <a:p>
              <a:endParaRPr lang="en-US" sz="2000"/>
            </a:p>
          </p:txBody>
        </p:sp>
        <p:sp>
          <p:nvSpPr>
            <p:cNvPr id="3250" name="CILW7">
              <a:extLst>
                <a:ext uri="{FF2B5EF4-FFF2-40B4-BE49-F238E27FC236}">
                  <a16:creationId xmlns:a16="http://schemas.microsoft.com/office/drawing/2014/main" id="{765F57BB-FDC5-B342-98B2-A78BEDD225DD}"/>
                </a:ext>
              </a:extLst>
            </p:cNvPr>
            <p:cNvSpPr/>
            <p:nvPr/>
          </p:nvSpPr>
          <p:spPr>
            <a:xfrm>
              <a:off x="9199880" y="4903734"/>
              <a:ext cx="0" cy="120753"/>
            </a:xfrm>
            <a:prstGeom prst="line">
              <a:avLst/>
            </a:prstGeom>
            <a:ln w="15875">
              <a:solidFill>
                <a:srgbClr val="2B6CB0"/>
              </a:solidFill>
            </a:ln>
          </p:spPr>
          <p:txBody>
            <a:bodyPr anchor="ctr"/>
            <a:lstStyle/>
            <a:p>
              <a:endParaRPr lang="en-US" sz="2000"/>
            </a:p>
          </p:txBody>
        </p:sp>
      </p:grpSp>
    </p:spTree>
    <p:extLst>
      <p:ext uri="{BB962C8B-B14F-4D97-AF65-F5344CB8AC3E}">
        <p14:creationId xmlns:p14="http://schemas.microsoft.com/office/powerpoint/2010/main" val="3655743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DCFAE-0B09-BCD3-10B0-812E5C494E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3336A0-0AB0-F91F-BA2A-31F6F93859CE}"/>
              </a:ext>
            </a:extLst>
          </p:cNvPr>
          <p:cNvSpPr>
            <a:spLocks noGrp="1"/>
          </p:cNvSpPr>
          <p:nvPr>
            <p:ph type="title"/>
          </p:nvPr>
        </p:nvSpPr>
        <p:spPr>
          <a:xfrm>
            <a:off x="241300" y="127000"/>
            <a:ext cx="10930261" cy="699587"/>
          </a:xfrm>
        </p:spPr>
        <p:txBody>
          <a:bodyPr anchor="ctr" anchorCtr="0">
            <a:normAutofit fontScale="90000"/>
          </a:bodyPr>
          <a:lstStyle/>
          <a:p>
            <a:r>
              <a:rPr lang="en-US" dirty="0"/>
              <a:t>The CI and p-Value Tell the Same Story, but Reporting the CI is preferred</a:t>
            </a:r>
          </a:p>
        </p:txBody>
      </p:sp>
      <p:sp>
        <p:nvSpPr>
          <p:cNvPr id="16" name="Rounded Rectangle 15">
            <a:extLst>
              <a:ext uri="{FF2B5EF4-FFF2-40B4-BE49-F238E27FC236}">
                <a16:creationId xmlns:a16="http://schemas.microsoft.com/office/drawing/2014/main" id="{459745C6-E07D-679C-CC00-595D3D0365A5}"/>
              </a:ext>
            </a:extLst>
          </p:cNvPr>
          <p:cNvSpPr/>
          <p:nvPr/>
        </p:nvSpPr>
        <p:spPr>
          <a:xfrm>
            <a:off x="457200" y="919819"/>
            <a:ext cx="5638800" cy="2233243"/>
          </a:xfrm>
          <a:prstGeom prst="roundRect">
            <a:avLst>
              <a:gd name="adj" fmla="val 3859"/>
            </a:avLst>
          </a:prstGeom>
          <a:solidFill>
            <a:srgbClr val="F0F4FF"/>
          </a:solidFill>
          <a:ln w="12700" cap="flat" cmpd="sng" algn="ctr">
            <a:solidFill>
              <a:srgbClr val="2B6CB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tIns="144000" rtlCol="0" anchor="t">
            <a:normAutofit/>
          </a:bodyPr>
          <a:lstStyle/>
          <a:p>
            <a:pPr>
              <a:spcAft>
                <a:spcPts val="400"/>
              </a:spcAft>
            </a:pPr>
            <a:r>
              <a:rPr lang="en-US" sz="1200" b="1" dirty="0">
                <a:solidFill>
                  <a:srgbClr val="2B6CB0"/>
                </a:solidFill>
              </a:rPr>
              <a:t>Question: </a:t>
            </a:r>
            <a:r>
              <a:rPr lang="en-US" sz="1200" dirty="0">
                <a:solidFill>
                  <a:srgbClr val="2E3640"/>
                </a:solidFill>
              </a:rPr>
              <a:t>Does the 95% CI (± 2.45 SE) around the slope contain zero?</a:t>
            </a:r>
          </a:p>
          <a:p>
            <a:pPr>
              <a:spcAft>
                <a:spcPts val="400"/>
              </a:spcAft>
            </a:pPr>
            <a:r>
              <a:rPr lang="en-US" sz="1200" b="1" dirty="0">
                <a:solidFill>
                  <a:srgbClr val="2B6CB0"/>
                </a:solidFill>
              </a:rPr>
              <a:t>Zero in CI? </a:t>
            </a:r>
            <a:r>
              <a:rPr lang="en-US" sz="1200" b="1" dirty="0">
                <a:solidFill>
                  <a:srgbClr val="2D8B2D"/>
                </a:solidFill>
              </a:rPr>
              <a:t>No ✔. </a:t>
            </a:r>
            <a:r>
              <a:rPr lang="en-US" sz="1200" dirty="0">
                <a:solidFill>
                  <a:srgbClr val="2E3640"/>
                </a:solidFill>
              </a:rPr>
              <a:t>Significant at </a:t>
            </a:r>
            <a:r>
              <a:rPr lang="el-GR" sz="1200" dirty="0">
                <a:solidFill>
                  <a:srgbClr val="2E3640"/>
                </a:solidFill>
              </a:rPr>
              <a:t>α = 0.05</a:t>
            </a:r>
            <a:endParaRPr lang="en-US" sz="1200" i="1" dirty="0">
              <a:solidFill>
                <a:srgbClr val="2E3640"/>
              </a:solidFill>
              <a:latin typeface="Open Sans"/>
            </a:endParaRPr>
          </a:p>
          <a:p>
            <a:pPr>
              <a:spcAft>
                <a:spcPts val="500"/>
              </a:spcAft>
            </a:pPr>
            <a:r>
              <a:rPr lang="en-US" sz="1200" b="1" dirty="0">
                <a:solidFill>
                  <a:srgbClr val="2B6CB0"/>
                </a:solidFill>
              </a:rPr>
              <a:t>Reporting: </a:t>
            </a:r>
            <a:r>
              <a:rPr lang="en-US" sz="1200" i="1" dirty="0">
                <a:solidFill>
                  <a:srgbClr val="2E3640"/>
                </a:solidFill>
                <a:latin typeface="Open Sans"/>
              </a:rPr>
              <a:t>“Birth weight increased by 0.39 kgs per gestational week (95% CI: 0.10, 0.68).”</a:t>
            </a:r>
          </a:p>
          <a:p>
            <a:pPr>
              <a:spcAft>
                <a:spcPts val="500"/>
              </a:spcAft>
            </a:pPr>
            <a:r>
              <a:rPr lang="en-US" sz="1200" b="1" dirty="0">
                <a:solidFill>
                  <a:srgbClr val="2B6CB0"/>
                </a:solidFill>
              </a:rPr>
              <a:t>What it shows:</a:t>
            </a:r>
            <a:endParaRPr lang="en-US" sz="1200" i="1" dirty="0">
              <a:solidFill>
                <a:srgbClr val="2E3640"/>
              </a:solidFill>
              <a:latin typeface="Open Sans"/>
            </a:endParaRPr>
          </a:p>
          <a:p>
            <a:r>
              <a:rPr lang="en-US" sz="1200" dirty="0">
                <a:solidFill>
                  <a:srgbClr val="2E3640"/>
                </a:solidFill>
                <a:latin typeface="Open Sans"/>
              </a:rPr>
              <a:t>☑️The size of the effect </a:t>
            </a:r>
          </a:p>
          <a:p>
            <a:r>
              <a:rPr lang="en-US" sz="1200" dirty="0">
                <a:solidFill>
                  <a:srgbClr val="2E3640"/>
                </a:solidFill>
              </a:rPr>
              <a:t>☑️ Significance (CI doesn’t include zero)</a:t>
            </a:r>
            <a:endParaRPr lang="en-US" sz="1200" dirty="0">
              <a:solidFill>
                <a:srgbClr val="2E3640"/>
              </a:solidFill>
              <a:latin typeface="Open Sans"/>
            </a:endParaRPr>
          </a:p>
          <a:p>
            <a:r>
              <a:rPr lang="en-US" sz="1200" dirty="0">
                <a:solidFill>
                  <a:srgbClr val="2E3640"/>
                </a:solidFill>
              </a:rPr>
              <a:t>✅ The </a:t>
            </a:r>
            <a:r>
              <a:rPr lang="en-US" sz="1200" dirty="0">
                <a:solidFill>
                  <a:srgbClr val="2E3640"/>
                </a:solidFill>
                <a:latin typeface="Open Sans"/>
              </a:rPr>
              <a:t>precision of the estimate (range 0.10 to 0.68)</a:t>
            </a:r>
          </a:p>
          <a:p>
            <a:endParaRPr lang="en-US" sz="1200" dirty="0">
              <a:solidFill>
                <a:srgbClr val="2E3640"/>
              </a:solidFill>
              <a:latin typeface="Open Sans"/>
            </a:endParaRPr>
          </a:p>
        </p:txBody>
      </p:sp>
      <p:sp>
        <p:nvSpPr>
          <p:cNvPr id="17" name="Rounded Rectangle 16">
            <a:extLst>
              <a:ext uri="{FF2B5EF4-FFF2-40B4-BE49-F238E27FC236}">
                <a16:creationId xmlns:a16="http://schemas.microsoft.com/office/drawing/2014/main" id="{CCC09A3F-01FF-BB71-337D-E3283471B671}"/>
              </a:ext>
            </a:extLst>
          </p:cNvPr>
          <p:cNvSpPr/>
          <p:nvPr/>
        </p:nvSpPr>
        <p:spPr>
          <a:xfrm>
            <a:off x="457200" y="857446"/>
            <a:ext cx="2794000" cy="222816"/>
          </a:xfrm>
          <a:prstGeom prst="roundRect">
            <a:avLst/>
          </a:prstGeom>
          <a:solidFill>
            <a:srgbClr val="2B6CB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900" b="1" dirty="0">
                <a:solidFill>
                  <a:srgbClr val="FFFFFF"/>
                </a:solidFill>
                <a:latin typeface="Montserrat"/>
              </a:rPr>
              <a:t>OPTION A: ESTIMATE + CI (PREFERRED)</a:t>
            </a:r>
          </a:p>
        </p:txBody>
      </p:sp>
      <p:sp>
        <p:nvSpPr>
          <p:cNvPr id="19" name="Rounded Rectangle 18">
            <a:extLst>
              <a:ext uri="{FF2B5EF4-FFF2-40B4-BE49-F238E27FC236}">
                <a16:creationId xmlns:a16="http://schemas.microsoft.com/office/drawing/2014/main" id="{C0E14B8F-FDF1-9F30-B856-17AE078C761D}"/>
              </a:ext>
            </a:extLst>
          </p:cNvPr>
          <p:cNvSpPr/>
          <p:nvPr/>
        </p:nvSpPr>
        <p:spPr>
          <a:xfrm>
            <a:off x="6248400" y="919820"/>
            <a:ext cx="5797826" cy="2233258"/>
          </a:xfrm>
          <a:prstGeom prst="roundRect">
            <a:avLst>
              <a:gd name="adj" fmla="val 4898"/>
            </a:avLst>
          </a:prstGeom>
          <a:solidFill>
            <a:schemeClr val="accent2">
              <a:lumMod val="20000"/>
              <a:lumOff val="80000"/>
            </a:schemeClr>
          </a:solidFill>
          <a:ln w="12700" cap="flat" cmpd="sng" algn="ctr">
            <a:solidFill>
              <a:schemeClr val="accent2">
                <a:lumMod val="50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tIns="144000" rtlCol="0" anchor="t">
            <a:normAutofit/>
          </a:bodyPr>
          <a:lstStyle/>
          <a:p>
            <a:pPr>
              <a:spcAft>
                <a:spcPts val="400"/>
              </a:spcAft>
            </a:pPr>
            <a:r>
              <a:rPr lang="en-US" sz="1200" b="1" dirty="0">
                <a:solidFill>
                  <a:schemeClr val="accent5">
                    <a:lumMod val="75000"/>
                  </a:schemeClr>
                </a:solidFill>
              </a:rPr>
              <a:t>Question: </a:t>
            </a:r>
            <a:r>
              <a:rPr lang="en-US" sz="1200" dirty="0">
                <a:solidFill>
                  <a:srgbClr val="2E3640"/>
                </a:solidFill>
              </a:rPr>
              <a:t>Is p-value &lt; 0.05? (Does 0 ± 2.45 SE contain the estimate)</a:t>
            </a:r>
          </a:p>
          <a:p>
            <a:pPr>
              <a:spcAft>
                <a:spcPts val="400"/>
              </a:spcAft>
            </a:pPr>
            <a:r>
              <a:rPr lang="en-US" sz="1200" b="1" dirty="0">
                <a:solidFill>
                  <a:schemeClr val="accent5">
                    <a:lumMod val="75000"/>
                  </a:schemeClr>
                </a:solidFill>
              </a:rPr>
              <a:t>p &lt; 0.05? </a:t>
            </a:r>
            <a:r>
              <a:rPr lang="en-US" sz="1200" b="1" dirty="0">
                <a:solidFill>
                  <a:srgbClr val="2D8B2D"/>
                </a:solidFill>
              </a:rPr>
              <a:t>Yes ✔ </a:t>
            </a:r>
            <a:r>
              <a:rPr lang="en-US" sz="1200" dirty="0">
                <a:solidFill>
                  <a:srgbClr val="2E3640"/>
                </a:solidFill>
              </a:rPr>
              <a:t>Significant at </a:t>
            </a:r>
            <a:r>
              <a:rPr lang="el-GR" sz="1200" dirty="0">
                <a:solidFill>
                  <a:srgbClr val="2E3640"/>
                </a:solidFill>
              </a:rPr>
              <a:t>α = 0.05</a:t>
            </a:r>
            <a:endParaRPr lang="en-US" sz="1200" b="1" dirty="0">
              <a:solidFill>
                <a:srgbClr val="2D8B2D"/>
              </a:solidFill>
            </a:endParaRPr>
          </a:p>
          <a:p>
            <a:pPr>
              <a:spcAft>
                <a:spcPts val="500"/>
              </a:spcAft>
            </a:pPr>
            <a:r>
              <a:rPr lang="en-US" sz="1200" b="1" dirty="0" err="1">
                <a:solidFill>
                  <a:schemeClr val="accent5">
                    <a:lumMod val="75000"/>
                  </a:schemeClr>
                </a:solidFill>
              </a:rPr>
              <a:t>Reporting:</a:t>
            </a:r>
            <a:r>
              <a:rPr lang="en-US" sz="1200" i="1" dirty="0" err="1">
                <a:solidFill>
                  <a:srgbClr val="2E3640"/>
                </a:solidFill>
                <a:latin typeface="Open Sans"/>
              </a:rPr>
              <a:t>“Birth</a:t>
            </a:r>
            <a:r>
              <a:rPr lang="en-US" sz="1200" i="1" dirty="0">
                <a:solidFill>
                  <a:srgbClr val="2E3640"/>
                </a:solidFill>
                <a:latin typeface="Open Sans"/>
              </a:rPr>
              <a:t> weight increased by 0.39 kgs per gestational week (p = 0.017).”</a:t>
            </a:r>
          </a:p>
          <a:p>
            <a:pPr>
              <a:spcAft>
                <a:spcPts val="500"/>
              </a:spcAft>
            </a:pPr>
            <a:r>
              <a:rPr lang="en-US" sz="1200" b="1" dirty="0">
                <a:solidFill>
                  <a:schemeClr val="accent5">
                    <a:lumMod val="75000"/>
                  </a:schemeClr>
                </a:solidFill>
                <a:latin typeface="Open Sans"/>
              </a:rPr>
              <a:t>What it shows:</a:t>
            </a:r>
          </a:p>
          <a:p>
            <a:r>
              <a:rPr lang="en-US" sz="1200" dirty="0">
                <a:solidFill>
                  <a:srgbClr val="2E3640"/>
                </a:solidFill>
              </a:rPr>
              <a:t>☑️ The size of the effect </a:t>
            </a:r>
          </a:p>
          <a:p>
            <a:r>
              <a:rPr lang="en-US" sz="1200" dirty="0">
                <a:solidFill>
                  <a:srgbClr val="2E3640"/>
                </a:solidFill>
              </a:rPr>
              <a:t>☑️ Significance (below critical value)</a:t>
            </a:r>
          </a:p>
          <a:p>
            <a:pPr>
              <a:buFont typeface="Arial"/>
              <a:buChar char="•"/>
            </a:pPr>
            <a:endParaRPr lang="en-US" sz="1200" dirty="0">
              <a:solidFill>
                <a:srgbClr val="2E3640"/>
              </a:solidFill>
            </a:endParaRPr>
          </a:p>
        </p:txBody>
      </p:sp>
      <p:sp>
        <p:nvSpPr>
          <p:cNvPr id="20" name="Rounded Rectangle 19">
            <a:extLst>
              <a:ext uri="{FF2B5EF4-FFF2-40B4-BE49-F238E27FC236}">
                <a16:creationId xmlns:a16="http://schemas.microsoft.com/office/drawing/2014/main" id="{AA3D51F3-5794-6FE1-24F2-787368F44A7A}"/>
              </a:ext>
            </a:extLst>
          </p:cNvPr>
          <p:cNvSpPr/>
          <p:nvPr/>
        </p:nvSpPr>
        <p:spPr>
          <a:xfrm>
            <a:off x="6206536" y="837361"/>
            <a:ext cx="3175000" cy="222816"/>
          </a:xfrm>
          <a:prstGeom prst="roundRect">
            <a:avLst/>
          </a:prstGeom>
          <a:solidFill>
            <a:schemeClr val="accent5">
              <a:lumMod val="75000"/>
            </a:scheme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900" b="1" dirty="0">
                <a:solidFill>
                  <a:srgbClr val="FFFFFF"/>
                </a:solidFill>
                <a:latin typeface="Montserrat"/>
              </a:rPr>
              <a:t>OPTION B: ESTIMATE + P-VALUE</a:t>
            </a:r>
          </a:p>
        </p:txBody>
      </p:sp>
      <p:cxnSp>
        <p:nvCxnSpPr>
          <p:cNvPr id="59" name="Straight Arrow Connector 58">
            <a:extLst>
              <a:ext uri="{FF2B5EF4-FFF2-40B4-BE49-F238E27FC236}">
                <a16:creationId xmlns:a16="http://schemas.microsoft.com/office/drawing/2014/main" id="{D5DED4C4-6F03-791E-80F9-AFB4FB0201B3}"/>
              </a:ext>
            </a:extLst>
          </p:cNvPr>
          <p:cNvCxnSpPr>
            <a:cxnSpLocks/>
          </p:cNvCxnSpPr>
          <p:nvPr/>
        </p:nvCxnSpPr>
        <p:spPr>
          <a:xfrm>
            <a:off x="444500" y="3295345"/>
            <a:ext cx="11303000" cy="0"/>
          </a:xfrm>
          <a:prstGeom prst="straightConnector1">
            <a:avLst/>
          </a:prstGeom>
          <a:ln w="12700" cap="flat" cmpd="sng" algn="ctr">
            <a:solidFill>
              <a:srgbClr val="D0D8DC"/>
            </a:solidFill>
            <a:prstDash val="dash"/>
            <a:miter lim="800000"/>
          </a:ln>
        </p:spPr>
        <p:style>
          <a:lnRef idx="2">
            <a:schemeClr val="accent1"/>
          </a:lnRef>
          <a:fillRef idx="0">
            <a:schemeClr val="accent1"/>
          </a:fillRef>
          <a:effectRef idx="1">
            <a:schemeClr val="accent1"/>
          </a:effectRef>
          <a:fontRef idx="minor">
            <a:schemeClr val="tx1"/>
          </a:fontRef>
        </p:style>
      </p:cxnSp>
      <p:sp>
        <p:nvSpPr>
          <p:cNvPr id="244" name="Bell">
            <a:extLst>
              <a:ext uri="{FF2B5EF4-FFF2-40B4-BE49-F238E27FC236}">
                <a16:creationId xmlns:a16="http://schemas.microsoft.com/office/drawing/2014/main" id="{D5F07B0C-695D-C946-CEA0-391B7BB13C9A}"/>
              </a:ext>
            </a:extLst>
          </p:cNvPr>
          <p:cNvSpPr/>
          <p:nvPr/>
        </p:nvSpPr>
        <p:spPr>
          <a:xfrm>
            <a:off x="1760669" y="3824338"/>
            <a:ext cx="6519132" cy="1274366"/>
          </a:xfrm>
          <a:custGeom>
            <a:avLst/>
            <a:gdLst/>
            <a:ahLst/>
            <a:cxnLst/>
            <a:rect l="0" t="0" r="7033846" b="2540000"/>
            <a:pathLst>
              <a:path w="7033846" h="2540000">
                <a:moveTo>
                  <a:pt x="0" y="2538235"/>
                </a:moveTo>
                <a:lnTo>
                  <a:pt x="117231" y="2537157"/>
                </a:lnTo>
                <a:lnTo>
                  <a:pt x="234462" y="2535493"/>
                </a:lnTo>
                <a:lnTo>
                  <a:pt x="351693" y="2532972"/>
                </a:lnTo>
                <a:lnTo>
                  <a:pt x="468923" y="2529215"/>
                </a:lnTo>
                <a:lnTo>
                  <a:pt x="586154" y="2523716"/>
                </a:lnTo>
                <a:lnTo>
                  <a:pt x="703385" y="2515806"/>
                </a:lnTo>
                <a:lnTo>
                  <a:pt x="820616" y="2504631"/>
                </a:lnTo>
                <a:lnTo>
                  <a:pt x="937846" y="2489123"/>
                </a:lnTo>
                <a:lnTo>
                  <a:pt x="1055077" y="2467988"/>
                </a:lnTo>
                <a:lnTo>
                  <a:pt x="1172308" y="2439708"/>
                </a:lnTo>
                <a:lnTo>
                  <a:pt x="1289539" y="2402559"/>
                </a:lnTo>
                <a:lnTo>
                  <a:pt x="1406769" y="2354670"/>
                </a:lnTo>
                <a:lnTo>
                  <a:pt x="1524000" y="2294101"/>
                </a:lnTo>
                <a:lnTo>
                  <a:pt x="1641231" y="2218966"/>
                </a:lnTo>
                <a:lnTo>
                  <a:pt x="1758462" y="2127591"/>
                </a:lnTo>
                <a:lnTo>
                  <a:pt x="1875693" y="2018702"/>
                </a:lnTo>
                <a:lnTo>
                  <a:pt x="1992923" y="1891624"/>
                </a:lnTo>
                <a:lnTo>
                  <a:pt x="2110154" y="1746494"/>
                </a:lnTo>
                <a:lnTo>
                  <a:pt x="2227385" y="1584446"/>
                </a:lnTo>
                <a:lnTo>
                  <a:pt x="2344616" y="1407750"/>
                </a:lnTo>
                <a:lnTo>
                  <a:pt x="2461846" y="1219885"/>
                </a:lnTo>
                <a:lnTo>
                  <a:pt x="2579077" y="1025521"/>
                </a:lnTo>
                <a:lnTo>
                  <a:pt x="2696308" y="830391"/>
                </a:lnTo>
                <a:lnTo>
                  <a:pt x="2813539" y="641053"/>
                </a:lnTo>
                <a:lnTo>
                  <a:pt x="2930769" y="464557"/>
                </a:lnTo>
                <a:lnTo>
                  <a:pt x="3048000" y="308016"/>
                </a:lnTo>
                <a:lnTo>
                  <a:pt x="3165231" y="178144"/>
                </a:lnTo>
                <a:lnTo>
                  <a:pt x="3282462" y="80776"/>
                </a:lnTo>
                <a:lnTo>
                  <a:pt x="3399693" y="20439"/>
                </a:lnTo>
                <a:lnTo>
                  <a:pt x="3516923" y="0"/>
                </a:lnTo>
                <a:lnTo>
                  <a:pt x="3634154" y="20439"/>
                </a:lnTo>
                <a:lnTo>
                  <a:pt x="3751385" y="80776"/>
                </a:lnTo>
                <a:lnTo>
                  <a:pt x="3868616" y="178144"/>
                </a:lnTo>
                <a:lnTo>
                  <a:pt x="3985846" y="308016"/>
                </a:lnTo>
                <a:lnTo>
                  <a:pt x="4103077" y="464557"/>
                </a:lnTo>
                <a:lnTo>
                  <a:pt x="4220308" y="641053"/>
                </a:lnTo>
                <a:lnTo>
                  <a:pt x="4337539" y="830391"/>
                </a:lnTo>
                <a:lnTo>
                  <a:pt x="4454769" y="1025521"/>
                </a:lnTo>
                <a:lnTo>
                  <a:pt x="4572000" y="1219885"/>
                </a:lnTo>
                <a:lnTo>
                  <a:pt x="4689231" y="1407750"/>
                </a:lnTo>
                <a:lnTo>
                  <a:pt x="4806462" y="1584446"/>
                </a:lnTo>
                <a:lnTo>
                  <a:pt x="4923693" y="1746494"/>
                </a:lnTo>
                <a:lnTo>
                  <a:pt x="5040923" y="1891624"/>
                </a:lnTo>
                <a:lnTo>
                  <a:pt x="5158154" y="2018702"/>
                </a:lnTo>
                <a:lnTo>
                  <a:pt x="5275385" y="2127591"/>
                </a:lnTo>
                <a:lnTo>
                  <a:pt x="5392616" y="2218966"/>
                </a:lnTo>
                <a:lnTo>
                  <a:pt x="5509846" y="2294101"/>
                </a:lnTo>
                <a:lnTo>
                  <a:pt x="5627077" y="2354670"/>
                </a:lnTo>
                <a:lnTo>
                  <a:pt x="5744308" y="2402559"/>
                </a:lnTo>
                <a:lnTo>
                  <a:pt x="5861539" y="2439708"/>
                </a:lnTo>
                <a:lnTo>
                  <a:pt x="5978769" y="2467988"/>
                </a:lnTo>
                <a:lnTo>
                  <a:pt x="6096000" y="2489123"/>
                </a:lnTo>
                <a:lnTo>
                  <a:pt x="6213231" y="2504631"/>
                </a:lnTo>
                <a:lnTo>
                  <a:pt x="6330462" y="2515806"/>
                </a:lnTo>
                <a:lnTo>
                  <a:pt x="6447693" y="2523716"/>
                </a:lnTo>
                <a:lnTo>
                  <a:pt x="6564923" y="2529215"/>
                </a:lnTo>
                <a:lnTo>
                  <a:pt x="6682154" y="2532972"/>
                </a:lnTo>
                <a:lnTo>
                  <a:pt x="6799385" y="2535493"/>
                </a:lnTo>
                <a:lnTo>
                  <a:pt x="6916616" y="2537157"/>
                </a:lnTo>
                <a:lnTo>
                  <a:pt x="7033846" y="2538235"/>
                </a:lnTo>
                <a:lnTo>
                  <a:pt x="7033846" y="2540000"/>
                </a:lnTo>
                <a:lnTo>
                  <a:pt x="0" y="2540000"/>
                </a:lnTo>
                <a:close/>
              </a:path>
            </a:pathLst>
          </a:custGeom>
          <a:solidFill>
            <a:srgbClr val="F5C451">
              <a:alpha val="20000"/>
            </a:srgbClr>
          </a:solidFill>
          <a:ln w="3175" cap="rnd">
            <a:solidFill>
              <a:srgbClr val="F5C451"/>
            </a:solidFill>
          </a:ln>
        </p:spPr>
        <p:txBody>
          <a:bodyPr/>
          <a:lstStyle/>
          <a:p>
            <a:endParaRPr lang="en-US" dirty="0"/>
          </a:p>
        </p:txBody>
      </p:sp>
      <p:sp>
        <p:nvSpPr>
          <p:cNvPr id="245" name="Right Triangle 244">
            <a:extLst>
              <a:ext uri="{FF2B5EF4-FFF2-40B4-BE49-F238E27FC236}">
                <a16:creationId xmlns:a16="http://schemas.microsoft.com/office/drawing/2014/main" id="{1BD56EEB-E2D9-B9F9-9E74-F7929A6BCFBB}"/>
              </a:ext>
            </a:extLst>
          </p:cNvPr>
          <p:cNvSpPr/>
          <p:nvPr/>
        </p:nvSpPr>
        <p:spPr>
          <a:xfrm flipH="1">
            <a:off x="2132461" y="5042325"/>
            <a:ext cx="911961" cy="51854"/>
          </a:xfrm>
          <a:prstGeom prst="rtTriangle">
            <a:avLst/>
          </a:prstGeom>
          <a:solidFill>
            <a:schemeClr val="accent5">
              <a:lumMod val="50000"/>
              <a:alpha val="60000"/>
            </a:scheme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grpSp>
        <p:nvGrpSpPr>
          <p:cNvPr id="21" name="Group 20">
            <a:extLst>
              <a:ext uri="{FF2B5EF4-FFF2-40B4-BE49-F238E27FC236}">
                <a16:creationId xmlns:a16="http://schemas.microsoft.com/office/drawing/2014/main" id="{FA81E1E5-9E17-FFF7-CC0E-E33412032AF3}"/>
              </a:ext>
            </a:extLst>
          </p:cNvPr>
          <p:cNvGrpSpPr/>
          <p:nvPr/>
        </p:nvGrpSpPr>
        <p:grpSpPr>
          <a:xfrm>
            <a:off x="4796718" y="5037253"/>
            <a:ext cx="5143514" cy="372937"/>
            <a:chOff x="4796718" y="5037253"/>
            <a:chExt cx="5143514" cy="372937"/>
          </a:xfrm>
        </p:grpSpPr>
        <p:sp>
          <p:nvSpPr>
            <p:cNvPr id="184" name="NL6TL0">
              <a:extLst>
                <a:ext uri="{FF2B5EF4-FFF2-40B4-BE49-F238E27FC236}">
                  <a16:creationId xmlns:a16="http://schemas.microsoft.com/office/drawing/2014/main" id="{0284AF34-BE3F-F588-FA52-2CB5A033503D}"/>
                </a:ext>
              </a:extLst>
            </p:cNvPr>
            <p:cNvSpPr/>
            <p:nvPr/>
          </p:nvSpPr>
          <p:spPr>
            <a:xfrm>
              <a:off x="4796718" y="5200413"/>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0.0</a:t>
              </a:r>
            </a:p>
          </p:txBody>
        </p:sp>
        <p:sp>
          <p:nvSpPr>
            <p:cNvPr id="187" name="NL6TL0.2">
              <a:extLst>
                <a:ext uri="{FF2B5EF4-FFF2-40B4-BE49-F238E27FC236}">
                  <a16:creationId xmlns:a16="http://schemas.microsoft.com/office/drawing/2014/main" id="{4A99F980-07DD-AB97-9899-DE9ED7C9AE70}"/>
                </a:ext>
              </a:extLst>
            </p:cNvPr>
            <p:cNvSpPr/>
            <p:nvPr/>
          </p:nvSpPr>
          <p:spPr>
            <a:xfrm>
              <a:off x="5978916" y="5200413"/>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0.2</a:t>
              </a:r>
            </a:p>
          </p:txBody>
        </p:sp>
        <p:sp>
          <p:nvSpPr>
            <p:cNvPr id="190" name="NL6TL0.4">
              <a:extLst>
                <a:ext uri="{FF2B5EF4-FFF2-40B4-BE49-F238E27FC236}">
                  <a16:creationId xmlns:a16="http://schemas.microsoft.com/office/drawing/2014/main" id="{E02E0174-56F7-AD2B-86E6-E099E4E05127}"/>
                </a:ext>
              </a:extLst>
            </p:cNvPr>
            <p:cNvSpPr/>
            <p:nvPr/>
          </p:nvSpPr>
          <p:spPr>
            <a:xfrm>
              <a:off x="7167759" y="5200413"/>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0.4</a:t>
              </a:r>
            </a:p>
          </p:txBody>
        </p:sp>
        <p:sp>
          <p:nvSpPr>
            <p:cNvPr id="193" name="NL6TL0.6">
              <a:extLst>
                <a:ext uri="{FF2B5EF4-FFF2-40B4-BE49-F238E27FC236}">
                  <a16:creationId xmlns:a16="http://schemas.microsoft.com/office/drawing/2014/main" id="{D35045EC-B400-A2E8-31A0-1F70ED5C6452}"/>
                </a:ext>
              </a:extLst>
            </p:cNvPr>
            <p:cNvSpPr/>
            <p:nvPr/>
          </p:nvSpPr>
          <p:spPr>
            <a:xfrm>
              <a:off x="8356603" y="5200413"/>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0.6</a:t>
              </a:r>
            </a:p>
          </p:txBody>
        </p:sp>
        <p:grpSp>
          <p:nvGrpSpPr>
            <p:cNvPr id="3" name="Group 2">
              <a:extLst>
                <a:ext uri="{FF2B5EF4-FFF2-40B4-BE49-F238E27FC236}">
                  <a16:creationId xmlns:a16="http://schemas.microsoft.com/office/drawing/2014/main" id="{570F518B-C6C1-8A84-2F45-EEF0289F2179}"/>
                </a:ext>
              </a:extLst>
            </p:cNvPr>
            <p:cNvGrpSpPr/>
            <p:nvPr/>
          </p:nvGrpSpPr>
          <p:grpSpPr>
            <a:xfrm>
              <a:off x="4987465" y="5037253"/>
              <a:ext cx="4755374" cy="139852"/>
              <a:chOff x="4987465" y="5037253"/>
              <a:chExt cx="4755374" cy="139852"/>
            </a:xfrm>
          </p:grpSpPr>
          <p:sp>
            <p:nvSpPr>
              <p:cNvPr id="182" name="NL6">
                <a:extLst>
                  <a:ext uri="{FF2B5EF4-FFF2-40B4-BE49-F238E27FC236}">
                    <a16:creationId xmlns:a16="http://schemas.microsoft.com/office/drawing/2014/main" id="{C4927F9D-AF44-7792-039C-844475AB8919}"/>
                  </a:ext>
                </a:extLst>
              </p:cNvPr>
              <p:cNvSpPr/>
              <p:nvPr/>
            </p:nvSpPr>
            <p:spPr>
              <a:xfrm>
                <a:off x="4987465" y="5107179"/>
                <a:ext cx="4755374" cy="0"/>
              </a:xfrm>
              <a:prstGeom prst="line">
                <a:avLst/>
              </a:prstGeom>
              <a:ln w="15875">
                <a:solidFill>
                  <a:srgbClr val="2E3640"/>
                </a:solidFill>
              </a:ln>
            </p:spPr>
            <p:txBody>
              <a:bodyPr/>
              <a:lstStyle/>
              <a:p>
                <a:endParaRPr lang="en-US" sz="2000"/>
              </a:p>
            </p:txBody>
          </p:sp>
          <p:sp>
            <p:nvSpPr>
              <p:cNvPr id="183" name="NL6Tk0">
                <a:extLst>
                  <a:ext uri="{FF2B5EF4-FFF2-40B4-BE49-F238E27FC236}">
                    <a16:creationId xmlns:a16="http://schemas.microsoft.com/office/drawing/2014/main" id="{83E3201E-5649-02CF-A5EC-8AF5B720D549}"/>
                  </a:ext>
                </a:extLst>
              </p:cNvPr>
              <p:cNvSpPr/>
              <p:nvPr/>
            </p:nvSpPr>
            <p:spPr>
              <a:xfrm>
                <a:off x="4994111" y="5037253"/>
                <a:ext cx="0" cy="139852"/>
              </a:xfrm>
              <a:prstGeom prst="line">
                <a:avLst/>
              </a:prstGeom>
              <a:ln w="12700">
                <a:solidFill>
                  <a:srgbClr val="2E3640"/>
                </a:solidFill>
              </a:ln>
            </p:spPr>
            <p:txBody>
              <a:bodyPr/>
              <a:lstStyle/>
              <a:p>
                <a:endParaRPr lang="en-US" sz="2000"/>
              </a:p>
            </p:txBody>
          </p:sp>
          <p:sp>
            <p:nvSpPr>
              <p:cNvPr id="185" name="NL6Tk0.1">
                <a:extLst>
                  <a:ext uri="{FF2B5EF4-FFF2-40B4-BE49-F238E27FC236}">
                    <a16:creationId xmlns:a16="http://schemas.microsoft.com/office/drawing/2014/main" id="{F7EC5406-4ABD-6A44-B3A5-52B3D5F0EA8C}"/>
                  </a:ext>
                </a:extLst>
              </p:cNvPr>
              <p:cNvSpPr/>
              <p:nvPr/>
            </p:nvSpPr>
            <p:spPr>
              <a:xfrm>
                <a:off x="5581887" y="5072216"/>
                <a:ext cx="0" cy="69925"/>
              </a:xfrm>
              <a:prstGeom prst="line">
                <a:avLst/>
              </a:prstGeom>
              <a:ln w="12700">
                <a:solidFill>
                  <a:srgbClr val="2E3640"/>
                </a:solidFill>
              </a:ln>
            </p:spPr>
            <p:txBody>
              <a:bodyPr/>
              <a:lstStyle/>
              <a:p>
                <a:endParaRPr lang="en-US" sz="2000"/>
              </a:p>
            </p:txBody>
          </p:sp>
          <p:sp>
            <p:nvSpPr>
              <p:cNvPr id="186" name="NL6Tk0.2">
                <a:extLst>
                  <a:ext uri="{FF2B5EF4-FFF2-40B4-BE49-F238E27FC236}">
                    <a16:creationId xmlns:a16="http://schemas.microsoft.com/office/drawing/2014/main" id="{5CEC4219-1EC2-0C0C-E9A9-809EC1145472}"/>
                  </a:ext>
                </a:extLst>
              </p:cNvPr>
              <p:cNvSpPr/>
              <p:nvPr/>
            </p:nvSpPr>
            <p:spPr>
              <a:xfrm>
                <a:off x="6176309" y="5037253"/>
                <a:ext cx="0" cy="139852"/>
              </a:xfrm>
              <a:prstGeom prst="line">
                <a:avLst/>
              </a:prstGeom>
              <a:ln w="12700">
                <a:solidFill>
                  <a:srgbClr val="2E3640"/>
                </a:solidFill>
              </a:ln>
            </p:spPr>
            <p:txBody>
              <a:bodyPr/>
              <a:lstStyle/>
              <a:p>
                <a:endParaRPr lang="en-US" sz="2000"/>
              </a:p>
            </p:txBody>
          </p:sp>
          <p:sp>
            <p:nvSpPr>
              <p:cNvPr id="188" name="NL6Tk0.3">
                <a:extLst>
                  <a:ext uri="{FF2B5EF4-FFF2-40B4-BE49-F238E27FC236}">
                    <a16:creationId xmlns:a16="http://schemas.microsoft.com/office/drawing/2014/main" id="{E27F9B11-8FDF-2BD6-2861-92E50072B469}"/>
                  </a:ext>
                </a:extLst>
              </p:cNvPr>
              <p:cNvSpPr/>
              <p:nvPr/>
            </p:nvSpPr>
            <p:spPr>
              <a:xfrm>
                <a:off x="6770730" y="5072216"/>
                <a:ext cx="0" cy="69925"/>
              </a:xfrm>
              <a:prstGeom prst="line">
                <a:avLst/>
              </a:prstGeom>
              <a:ln w="12700">
                <a:solidFill>
                  <a:srgbClr val="2E3640"/>
                </a:solidFill>
              </a:ln>
            </p:spPr>
            <p:txBody>
              <a:bodyPr/>
              <a:lstStyle/>
              <a:p>
                <a:endParaRPr lang="en-US" sz="2000"/>
              </a:p>
            </p:txBody>
          </p:sp>
          <p:sp>
            <p:nvSpPr>
              <p:cNvPr id="189" name="NL6Tk0.4">
                <a:extLst>
                  <a:ext uri="{FF2B5EF4-FFF2-40B4-BE49-F238E27FC236}">
                    <a16:creationId xmlns:a16="http://schemas.microsoft.com/office/drawing/2014/main" id="{9EA8A148-7651-FB5E-F3D3-93B5378B4636}"/>
                  </a:ext>
                </a:extLst>
              </p:cNvPr>
              <p:cNvSpPr/>
              <p:nvPr/>
            </p:nvSpPr>
            <p:spPr>
              <a:xfrm>
                <a:off x="7365153" y="5037253"/>
                <a:ext cx="0" cy="139852"/>
              </a:xfrm>
              <a:prstGeom prst="line">
                <a:avLst/>
              </a:prstGeom>
              <a:ln w="12700">
                <a:solidFill>
                  <a:srgbClr val="2E3640"/>
                </a:solidFill>
              </a:ln>
            </p:spPr>
            <p:txBody>
              <a:bodyPr/>
              <a:lstStyle/>
              <a:p>
                <a:endParaRPr lang="en-US" sz="2000"/>
              </a:p>
            </p:txBody>
          </p:sp>
          <p:sp>
            <p:nvSpPr>
              <p:cNvPr id="191" name="NL6Tk0.5">
                <a:extLst>
                  <a:ext uri="{FF2B5EF4-FFF2-40B4-BE49-F238E27FC236}">
                    <a16:creationId xmlns:a16="http://schemas.microsoft.com/office/drawing/2014/main" id="{C4F9E495-08AA-926E-E0F6-BCF1961A1DCE}"/>
                  </a:ext>
                </a:extLst>
              </p:cNvPr>
              <p:cNvSpPr/>
              <p:nvPr/>
            </p:nvSpPr>
            <p:spPr>
              <a:xfrm>
                <a:off x="7959574" y="5072216"/>
                <a:ext cx="0" cy="69925"/>
              </a:xfrm>
              <a:prstGeom prst="line">
                <a:avLst/>
              </a:prstGeom>
              <a:ln w="12700">
                <a:solidFill>
                  <a:srgbClr val="2E3640"/>
                </a:solidFill>
              </a:ln>
            </p:spPr>
            <p:txBody>
              <a:bodyPr/>
              <a:lstStyle/>
              <a:p>
                <a:endParaRPr lang="en-US" sz="2000"/>
              </a:p>
            </p:txBody>
          </p:sp>
          <p:sp>
            <p:nvSpPr>
              <p:cNvPr id="192" name="NL6Tk0.6">
                <a:extLst>
                  <a:ext uri="{FF2B5EF4-FFF2-40B4-BE49-F238E27FC236}">
                    <a16:creationId xmlns:a16="http://schemas.microsoft.com/office/drawing/2014/main" id="{F41D355A-FF0C-E63A-F122-93001879F637}"/>
                  </a:ext>
                </a:extLst>
              </p:cNvPr>
              <p:cNvSpPr/>
              <p:nvPr/>
            </p:nvSpPr>
            <p:spPr>
              <a:xfrm>
                <a:off x="8553995" y="5037253"/>
                <a:ext cx="0" cy="139852"/>
              </a:xfrm>
              <a:prstGeom prst="line">
                <a:avLst/>
              </a:prstGeom>
              <a:ln w="12700">
                <a:solidFill>
                  <a:srgbClr val="2E3640"/>
                </a:solidFill>
              </a:ln>
            </p:spPr>
            <p:txBody>
              <a:bodyPr/>
              <a:lstStyle/>
              <a:p>
                <a:endParaRPr lang="en-US" sz="2000"/>
              </a:p>
            </p:txBody>
          </p:sp>
          <p:sp>
            <p:nvSpPr>
              <p:cNvPr id="194" name="NL6Tk0.7">
                <a:extLst>
                  <a:ext uri="{FF2B5EF4-FFF2-40B4-BE49-F238E27FC236}">
                    <a16:creationId xmlns:a16="http://schemas.microsoft.com/office/drawing/2014/main" id="{3408307D-6B8A-D11B-C6CF-96E6A2EF4EA3}"/>
                  </a:ext>
                </a:extLst>
              </p:cNvPr>
              <p:cNvSpPr/>
              <p:nvPr/>
            </p:nvSpPr>
            <p:spPr>
              <a:xfrm>
                <a:off x="9148417" y="5072216"/>
                <a:ext cx="0" cy="69925"/>
              </a:xfrm>
              <a:prstGeom prst="line">
                <a:avLst/>
              </a:prstGeom>
              <a:ln w="12700">
                <a:solidFill>
                  <a:srgbClr val="2E3640"/>
                </a:solidFill>
              </a:ln>
            </p:spPr>
            <p:txBody>
              <a:bodyPr/>
              <a:lstStyle/>
              <a:p>
                <a:endParaRPr lang="en-US" sz="2000"/>
              </a:p>
            </p:txBody>
          </p:sp>
          <p:sp>
            <p:nvSpPr>
              <p:cNvPr id="195" name="NL6Tk0.8">
                <a:extLst>
                  <a:ext uri="{FF2B5EF4-FFF2-40B4-BE49-F238E27FC236}">
                    <a16:creationId xmlns:a16="http://schemas.microsoft.com/office/drawing/2014/main" id="{D99A1A97-5EC5-BB25-215C-588F5E37AB00}"/>
                  </a:ext>
                </a:extLst>
              </p:cNvPr>
              <p:cNvSpPr/>
              <p:nvPr/>
            </p:nvSpPr>
            <p:spPr>
              <a:xfrm>
                <a:off x="9742839" y="5037253"/>
                <a:ext cx="0" cy="139852"/>
              </a:xfrm>
              <a:prstGeom prst="line">
                <a:avLst/>
              </a:prstGeom>
              <a:ln w="12700">
                <a:solidFill>
                  <a:srgbClr val="2E3640"/>
                </a:solidFill>
              </a:ln>
            </p:spPr>
            <p:txBody>
              <a:bodyPr/>
              <a:lstStyle/>
              <a:p>
                <a:endParaRPr lang="en-US" sz="2000"/>
              </a:p>
            </p:txBody>
          </p:sp>
        </p:grpSp>
        <p:sp>
          <p:nvSpPr>
            <p:cNvPr id="196" name="NL6TL0.8">
              <a:extLst>
                <a:ext uri="{FF2B5EF4-FFF2-40B4-BE49-F238E27FC236}">
                  <a16:creationId xmlns:a16="http://schemas.microsoft.com/office/drawing/2014/main" id="{F93CE336-1316-C3B1-7467-5212198459BE}"/>
                </a:ext>
              </a:extLst>
            </p:cNvPr>
            <p:cNvSpPr/>
            <p:nvPr/>
          </p:nvSpPr>
          <p:spPr>
            <a:xfrm>
              <a:off x="9545446" y="5200413"/>
              <a:ext cx="394786" cy="209777"/>
            </a:xfrm>
            <a:prstGeom prst="rect">
              <a:avLst/>
            </a:prstGeom>
            <a:noFill/>
            <a:ln>
              <a:noFill/>
            </a:ln>
          </p:spPr>
          <p:txBody>
            <a:bodyPr wrap="none" lIns="0" tIns="0" rIns="0" bIns="0" anchor="t"/>
            <a:lstStyle/>
            <a:p>
              <a:pPr algn="ctr"/>
              <a:r>
                <a:rPr lang="en-US" sz="1050" dirty="0">
                  <a:solidFill>
                    <a:srgbClr val="2E3640"/>
                  </a:solidFill>
                  <a:latin typeface="Open Sans"/>
                </a:rPr>
                <a:t>0.8</a:t>
              </a:r>
            </a:p>
          </p:txBody>
        </p:sp>
      </p:grpSp>
      <p:sp>
        <p:nvSpPr>
          <p:cNvPr id="197" name="B1Dot6">
            <a:extLst>
              <a:ext uri="{FF2B5EF4-FFF2-40B4-BE49-F238E27FC236}">
                <a16:creationId xmlns:a16="http://schemas.microsoft.com/office/drawing/2014/main" id="{9F05C497-E79E-E6D0-24E7-6D2E735A26A8}"/>
              </a:ext>
            </a:extLst>
          </p:cNvPr>
          <p:cNvSpPr/>
          <p:nvPr/>
        </p:nvSpPr>
        <p:spPr>
          <a:xfrm>
            <a:off x="7210155" y="5026263"/>
            <a:ext cx="143559" cy="163160"/>
          </a:xfrm>
          <a:prstGeom prst="ellipse">
            <a:avLst/>
          </a:prstGeom>
          <a:solidFill>
            <a:srgbClr val="FFFFFF"/>
          </a:solidFill>
          <a:ln w="19050">
            <a:solidFill>
              <a:srgbClr val="D94535"/>
            </a:solidFill>
          </a:ln>
        </p:spPr>
        <p:txBody>
          <a:bodyPr/>
          <a:lstStyle/>
          <a:p>
            <a:endParaRPr lang="en-US" sz="2000"/>
          </a:p>
        </p:txBody>
      </p:sp>
      <p:sp>
        <p:nvSpPr>
          <p:cNvPr id="203" name="Right Triangle 202">
            <a:extLst>
              <a:ext uri="{FF2B5EF4-FFF2-40B4-BE49-F238E27FC236}">
                <a16:creationId xmlns:a16="http://schemas.microsoft.com/office/drawing/2014/main" id="{21E7103C-C7F1-F4B3-1E17-A22D4F6DEEDA}"/>
              </a:ext>
            </a:extLst>
          </p:cNvPr>
          <p:cNvSpPr/>
          <p:nvPr/>
        </p:nvSpPr>
        <p:spPr>
          <a:xfrm>
            <a:off x="7336399" y="5042324"/>
            <a:ext cx="611736" cy="83627"/>
          </a:xfrm>
          <a:prstGeom prst="rtTriangle">
            <a:avLst/>
          </a:prstGeom>
          <a:solidFill>
            <a:schemeClr val="accent5">
              <a:lumMod val="50000"/>
              <a:alpha val="60000"/>
            </a:scheme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grpSp>
        <p:nvGrpSpPr>
          <p:cNvPr id="23" name="Group 22">
            <a:extLst>
              <a:ext uri="{FF2B5EF4-FFF2-40B4-BE49-F238E27FC236}">
                <a16:creationId xmlns:a16="http://schemas.microsoft.com/office/drawing/2014/main" id="{D4C6E0A4-EB05-CE28-7301-875D341B5627}"/>
              </a:ext>
            </a:extLst>
          </p:cNvPr>
          <p:cNvGrpSpPr/>
          <p:nvPr/>
        </p:nvGrpSpPr>
        <p:grpSpPr>
          <a:xfrm>
            <a:off x="3680434" y="5112742"/>
            <a:ext cx="7062928" cy="1522000"/>
            <a:chOff x="3680434" y="5090708"/>
            <a:chExt cx="7062928" cy="1522000"/>
          </a:xfrm>
        </p:grpSpPr>
        <p:sp>
          <p:nvSpPr>
            <p:cNvPr id="22" name="Bell">
              <a:extLst>
                <a:ext uri="{FF2B5EF4-FFF2-40B4-BE49-F238E27FC236}">
                  <a16:creationId xmlns:a16="http://schemas.microsoft.com/office/drawing/2014/main" id="{EB431FE0-C10D-87CF-02A5-0267728D2078}"/>
                </a:ext>
              </a:extLst>
            </p:cNvPr>
            <p:cNvSpPr/>
            <p:nvPr/>
          </p:nvSpPr>
          <p:spPr>
            <a:xfrm flipV="1">
              <a:off x="3680434" y="5090708"/>
              <a:ext cx="7062928" cy="1414555"/>
            </a:xfrm>
            <a:custGeom>
              <a:avLst/>
              <a:gdLst/>
              <a:ahLst/>
              <a:cxnLst/>
              <a:rect l="0" t="0" r="7033846" b="2540000"/>
              <a:pathLst>
                <a:path w="7033846" h="2540000">
                  <a:moveTo>
                    <a:pt x="0" y="2538235"/>
                  </a:moveTo>
                  <a:lnTo>
                    <a:pt x="117231" y="2537157"/>
                  </a:lnTo>
                  <a:lnTo>
                    <a:pt x="234462" y="2535493"/>
                  </a:lnTo>
                  <a:lnTo>
                    <a:pt x="351693" y="2532972"/>
                  </a:lnTo>
                  <a:lnTo>
                    <a:pt x="468923" y="2529215"/>
                  </a:lnTo>
                  <a:lnTo>
                    <a:pt x="586154" y="2523716"/>
                  </a:lnTo>
                  <a:lnTo>
                    <a:pt x="703385" y="2515806"/>
                  </a:lnTo>
                  <a:lnTo>
                    <a:pt x="820616" y="2504631"/>
                  </a:lnTo>
                  <a:lnTo>
                    <a:pt x="937846" y="2489123"/>
                  </a:lnTo>
                  <a:lnTo>
                    <a:pt x="1055077" y="2467988"/>
                  </a:lnTo>
                  <a:lnTo>
                    <a:pt x="1172308" y="2439708"/>
                  </a:lnTo>
                  <a:lnTo>
                    <a:pt x="1289539" y="2402559"/>
                  </a:lnTo>
                  <a:lnTo>
                    <a:pt x="1406769" y="2354670"/>
                  </a:lnTo>
                  <a:lnTo>
                    <a:pt x="1524000" y="2294101"/>
                  </a:lnTo>
                  <a:lnTo>
                    <a:pt x="1641231" y="2218966"/>
                  </a:lnTo>
                  <a:lnTo>
                    <a:pt x="1758462" y="2127591"/>
                  </a:lnTo>
                  <a:lnTo>
                    <a:pt x="1875693" y="2018702"/>
                  </a:lnTo>
                  <a:lnTo>
                    <a:pt x="1992923" y="1891624"/>
                  </a:lnTo>
                  <a:lnTo>
                    <a:pt x="2110154" y="1746494"/>
                  </a:lnTo>
                  <a:lnTo>
                    <a:pt x="2227385" y="1584446"/>
                  </a:lnTo>
                  <a:lnTo>
                    <a:pt x="2344616" y="1407750"/>
                  </a:lnTo>
                  <a:lnTo>
                    <a:pt x="2461846" y="1219885"/>
                  </a:lnTo>
                  <a:lnTo>
                    <a:pt x="2579077" y="1025521"/>
                  </a:lnTo>
                  <a:lnTo>
                    <a:pt x="2696308" y="830391"/>
                  </a:lnTo>
                  <a:lnTo>
                    <a:pt x="2813539" y="641053"/>
                  </a:lnTo>
                  <a:lnTo>
                    <a:pt x="2930769" y="464557"/>
                  </a:lnTo>
                  <a:lnTo>
                    <a:pt x="3048000" y="308016"/>
                  </a:lnTo>
                  <a:lnTo>
                    <a:pt x="3165231" y="178144"/>
                  </a:lnTo>
                  <a:lnTo>
                    <a:pt x="3282462" y="80776"/>
                  </a:lnTo>
                  <a:lnTo>
                    <a:pt x="3399693" y="20439"/>
                  </a:lnTo>
                  <a:lnTo>
                    <a:pt x="3516923" y="0"/>
                  </a:lnTo>
                  <a:lnTo>
                    <a:pt x="3634154" y="20439"/>
                  </a:lnTo>
                  <a:lnTo>
                    <a:pt x="3751385" y="80776"/>
                  </a:lnTo>
                  <a:lnTo>
                    <a:pt x="3868616" y="178144"/>
                  </a:lnTo>
                  <a:lnTo>
                    <a:pt x="3985846" y="308016"/>
                  </a:lnTo>
                  <a:lnTo>
                    <a:pt x="4103077" y="464557"/>
                  </a:lnTo>
                  <a:lnTo>
                    <a:pt x="4220308" y="641053"/>
                  </a:lnTo>
                  <a:lnTo>
                    <a:pt x="4337539" y="830391"/>
                  </a:lnTo>
                  <a:lnTo>
                    <a:pt x="4454769" y="1025521"/>
                  </a:lnTo>
                  <a:lnTo>
                    <a:pt x="4572000" y="1219885"/>
                  </a:lnTo>
                  <a:lnTo>
                    <a:pt x="4689231" y="1407750"/>
                  </a:lnTo>
                  <a:lnTo>
                    <a:pt x="4806462" y="1584446"/>
                  </a:lnTo>
                  <a:lnTo>
                    <a:pt x="4923693" y="1746494"/>
                  </a:lnTo>
                  <a:lnTo>
                    <a:pt x="5040923" y="1891624"/>
                  </a:lnTo>
                  <a:lnTo>
                    <a:pt x="5158154" y="2018702"/>
                  </a:lnTo>
                  <a:lnTo>
                    <a:pt x="5275385" y="2127591"/>
                  </a:lnTo>
                  <a:lnTo>
                    <a:pt x="5392616" y="2218966"/>
                  </a:lnTo>
                  <a:lnTo>
                    <a:pt x="5509846" y="2294101"/>
                  </a:lnTo>
                  <a:lnTo>
                    <a:pt x="5627077" y="2354670"/>
                  </a:lnTo>
                  <a:lnTo>
                    <a:pt x="5744308" y="2402559"/>
                  </a:lnTo>
                  <a:lnTo>
                    <a:pt x="5861539" y="2439708"/>
                  </a:lnTo>
                  <a:lnTo>
                    <a:pt x="5978769" y="2467988"/>
                  </a:lnTo>
                  <a:lnTo>
                    <a:pt x="6096000" y="2489123"/>
                  </a:lnTo>
                  <a:lnTo>
                    <a:pt x="6213231" y="2504631"/>
                  </a:lnTo>
                  <a:lnTo>
                    <a:pt x="6330462" y="2515806"/>
                  </a:lnTo>
                  <a:lnTo>
                    <a:pt x="6447693" y="2523716"/>
                  </a:lnTo>
                  <a:lnTo>
                    <a:pt x="6564923" y="2529215"/>
                  </a:lnTo>
                  <a:lnTo>
                    <a:pt x="6682154" y="2532972"/>
                  </a:lnTo>
                  <a:lnTo>
                    <a:pt x="6799385" y="2535493"/>
                  </a:lnTo>
                  <a:lnTo>
                    <a:pt x="6916616" y="2537157"/>
                  </a:lnTo>
                  <a:lnTo>
                    <a:pt x="7033846" y="2538235"/>
                  </a:lnTo>
                  <a:lnTo>
                    <a:pt x="7033846" y="2540000"/>
                  </a:lnTo>
                  <a:lnTo>
                    <a:pt x="0" y="2540000"/>
                  </a:lnTo>
                  <a:close/>
                </a:path>
              </a:pathLst>
            </a:custGeom>
            <a:solidFill>
              <a:schemeClr val="accent6">
                <a:lumMod val="40000"/>
                <a:lumOff val="60000"/>
                <a:alpha val="20000"/>
              </a:schemeClr>
            </a:solidFill>
            <a:ln w="3175" cap="rnd">
              <a:solidFill>
                <a:srgbClr val="2B6CB0"/>
              </a:solidFill>
            </a:ln>
          </p:spPr>
          <p:txBody>
            <a:bodyPr/>
            <a:lstStyle/>
            <a:p>
              <a:endParaRPr lang="en-US" dirty="0"/>
            </a:p>
          </p:txBody>
        </p:sp>
        <p:grpSp>
          <p:nvGrpSpPr>
            <p:cNvPr id="13" name="Group 12">
              <a:extLst>
                <a:ext uri="{FF2B5EF4-FFF2-40B4-BE49-F238E27FC236}">
                  <a16:creationId xmlns:a16="http://schemas.microsoft.com/office/drawing/2014/main" id="{55F47599-CA5D-091E-1A1C-9A072AB07C8E}"/>
                </a:ext>
              </a:extLst>
            </p:cNvPr>
            <p:cNvGrpSpPr/>
            <p:nvPr/>
          </p:nvGrpSpPr>
          <p:grpSpPr>
            <a:xfrm>
              <a:off x="5568595" y="5107179"/>
              <a:ext cx="3460225" cy="1505529"/>
              <a:chOff x="5568595" y="5107179"/>
              <a:chExt cx="3460225" cy="1505529"/>
            </a:xfrm>
          </p:grpSpPr>
          <p:sp>
            <p:nvSpPr>
              <p:cNvPr id="198" name="CILW7">
                <a:extLst>
                  <a:ext uri="{FF2B5EF4-FFF2-40B4-BE49-F238E27FC236}">
                    <a16:creationId xmlns:a16="http://schemas.microsoft.com/office/drawing/2014/main" id="{A02DFFD5-F090-92A3-562D-D928CAEB9C38}"/>
                  </a:ext>
                </a:extLst>
              </p:cNvPr>
              <p:cNvSpPr/>
              <p:nvPr/>
            </p:nvSpPr>
            <p:spPr>
              <a:xfrm>
                <a:off x="5568595" y="5123648"/>
                <a:ext cx="6646" cy="1489060"/>
              </a:xfrm>
              <a:prstGeom prst="line">
                <a:avLst/>
              </a:prstGeom>
              <a:ln w="15875">
                <a:solidFill>
                  <a:srgbClr val="2B6CB0"/>
                </a:solidFill>
                <a:prstDash val="sysDash"/>
              </a:ln>
            </p:spPr>
            <p:txBody>
              <a:bodyPr/>
              <a:lstStyle/>
              <a:p>
                <a:endParaRPr lang="en-US" sz="2000"/>
              </a:p>
            </p:txBody>
          </p:sp>
          <p:sp>
            <p:nvSpPr>
              <p:cNvPr id="199" name="CILVal7">
                <a:extLst>
                  <a:ext uri="{FF2B5EF4-FFF2-40B4-BE49-F238E27FC236}">
                    <a16:creationId xmlns:a16="http://schemas.microsoft.com/office/drawing/2014/main" id="{BBA90A04-A5B0-928F-FCC5-1C65F62A5F6F}"/>
                  </a:ext>
                </a:extLst>
              </p:cNvPr>
              <p:cNvSpPr/>
              <p:nvPr/>
            </p:nvSpPr>
            <p:spPr>
              <a:xfrm>
                <a:off x="5575241" y="5785187"/>
                <a:ext cx="448620" cy="186468"/>
              </a:xfrm>
              <a:prstGeom prst="rect">
                <a:avLst/>
              </a:prstGeom>
              <a:noFill/>
              <a:ln>
                <a:noFill/>
              </a:ln>
            </p:spPr>
            <p:txBody>
              <a:bodyPr wrap="none" lIns="0" tIns="0" rIns="0" bIns="0" anchor="t"/>
              <a:lstStyle/>
              <a:p>
                <a:pPr algn="ctr"/>
                <a:r>
                  <a:rPr lang="en-US" sz="1000" b="1" dirty="0">
                    <a:solidFill>
                      <a:srgbClr val="2B6CB0"/>
                    </a:solidFill>
                    <a:latin typeface="Open Sans"/>
                  </a:rPr>
                  <a:t>0.096</a:t>
                </a:r>
              </a:p>
            </p:txBody>
          </p:sp>
          <p:sp>
            <p:nvSpPr>
              <p:cNvPr id="200" name="CIRVal7">
                <a:extLst>
                  <a:ext uri="{FF2B5EF4-FFF2-40B4-BE49-F238E27FC236}">
                    <a16:creationId xmlns:a16="http://schemas.microsoft.com/office/drawing/2014/main" id="{848B757A-53EA-FD26-7AEE-18FE7BD80F54}"/>
                  </a:ext>
                </a:extLst>
              </p:cNvPr>
              <p:cNvSpPr/>
              <p:nvPr/>
            </p:nvSpPr>
            <p:spPr>
              <a:xfrm>
                <a:off x="8563568" y="5797177"/>
                <a:ext cx="448620" cy="186468"/>
              </a:xfrm>
              <a:prstGeom prst="rect">
                <a:avLst/>
              </a:prstGeom>
              <a:noFill/>
              <a:ln>
                <a:noFill/>
              </a:ln>
            </p:spPr>
            <p:txBody>
              <a:bodyPr wrap="none" lIns="0" tIns="0" rIns="0" bIns="0" anchor="t"/>
              <a:lstStyle/>
              <a:p>
                <a:pPr algn="ctr"/>
                <a:r>
                  <a:rPr lang="en-US" sz="1000" b="1" dirty="0">
                    <a:solidFill>
                      <a:srgbClr val="2B6CB0"/>
                    </a:solidFill>
                    <a:latin typeface="Open Sans"/>
                  </a:rPr>
                  <a:t>0.676</a:t>
                </a:r>
              </a:p>
            </p:txBody>
          </p:sp>
          <p:sp>
            <p:nvSpPr>
              <p:cNvPr id="206" name="CIBar7">
                <a:extLst>
                  <a:ext uri="{FF2B5EF4-FFF2-40B4-BE49-F238E27FC236}">
                    <a16:creationId xmlns:a16="http://schemas.microsoft.com/office/drawing/2014/main" id="{D15090CC-0D3F-F959-AAF6-3B57B4D55112}"/>
                  </a:ext>
                </a:extLst>
              </p:cNvPr>
              <p:cNvSpPr/>
              <p:nvPr/>
            </p:nvSpPr>
            <p:spPr>
              <a:xfrm>
                <a:off x="5581887" y="6182898"/>
                <a:ext cx="3436947" cy="429809"/>
              </a:xfrm>
              <a:prstGeom prst="rect">
                <a:avLst/>
              </a:prstGeom>
              <a:solidFill>
                <a:srgbClr val="F1F4FF"/>
              </a:solidFill>
              <a:ln>
                <a:solidFill>
                  <a:srgbClr val="0070C0"/>
                </a:solidFill>
              </a:ln>
            </p:spPr>
            <p:txBody>
              <a:bodyPr anchor="ctr"/>
              <a:lstStyle/>
              <a:p>
                <a:pPr algn="ctr"/>
                <a:r>
                  <a:rPr lang="en-US" sz="1050" b="1" dirty="0">
                    <a:solidFill>
                      <a:srgbClr val="2B6CB0"/>
                    </a:solidFill>
                    <a:latin typeface="Open Sans"/>
                  </a:rPr>
                  <a:t>True slope’s plausible region: ± 2.45 SE</a:t>
                </a:r>
              </a:p>
              <a:p>
                <a:pPr algn="ctr"/>
                <a:r>
                  <a:rPr lang="en-US" sz="1050" b="1" dirty="0">
                    <a:solidFill>
                      <a:srgbClr val="2B6CB0"/>
                    </a:solidFill>
                    <a:latin typeface="Open Sans"/>
                  </a:rPr>
                  <a:t>95% Confidence Interval</a:t>
                </a:r>
              </a:p>
            </p:txBody>
          </p:sp>
          <p:sp>
            <p:nvSpPr>
              <p:cNvPr id="207" name="CIRW7">
                <a:extLst>
                  <a:ext uri="{FF2B5EF4-FFF2-40B4-BE49-F238E27FC236}">
                    <a16:creationId xmlns:a16="http://schemas.microsoft.com/office/drawing/2014/main" id="{15CE0BB7-551A-D963-37DC-63F37CA7EE84}"/>
                  </a:ext>
                </a:extLst>
              </p:cNvPr>
              <p:cNvSpPr/>
              <p:nvPr/>
            </p:nvSpPr>
            <p:spPr>
              <a:xfrm flipH="1">
                <a:off x="9012186" y="5107179"/>
                <a:ext cx="6646" cy="1489061"/>
              </a:xfrm>
              <a:prstGeom prst="line">
                <a:avLst/>
              </a:prstGeom>
              <a:ln w="15875">
                <a:solidFill>
                  <a:srgbClr val="2B6CB0"/>
                </a:solidFill>
                <a:prstDash val="sysDash"/>
              </a:ln>
            </p:spPr>
            <p:txBody>
              <a:bodyPr/>
              <a:lstStyle/>
              <a:p>
                <a:endParaRPr lang="en-US" sz="2000"/>
              </a:p>
            </p:txBody>
          </p:sp>
          <p:grpSp>
            <p:nvGrpSpPr>
              <p:cNvPr id="210" name="Group 209">
                <a:extLst>
                  <a:ext uri="{FF2B5EF4-FFF2-40B4-BE49-F238E27FC236}">
                    <a16:creationId xmlns:a16="http://schemas.microsoft.com/office/drawing/2014/main" id="{BDC61DCF-279C-1CFB-32DC-BD5DAC5EF0D0}"/>
                  </a:ext>
                </a:extLst>
              </p:cNvPr>
              <p:cNvGrpSpPr/>
              <p:nvPr/>
            </p:nvGrpSpPr>
            <p:grpSpPr>
              <a:xfrm>
                <a:off x="5591879" y="6050267"/>
                <a:ext cx="3436941" cy="139778"/>
                <a:chOff x="7674600" y="4901590"/>
                <a:chExt cx="3052621" cy="124385"/>
              </a:xfrm>
            </p:grpSpPr>
            <p:sp>
              <p:nvSpPr>
                <p:cNvPr id="228" name="CIBar7">
                  <a:extLst>
                    <a:ext uri="{FF2B5EF4-FFF2-40B4-BE49-F238E27FC236}">
                      <a16:creationId xmlns:a16="http://schemas.microsoft.com/office/drawing/2014/main" id="{CADEA212-7D4E-5B70-49F3-624CD2CBC6E8}"/>
                    </a:ext>
                  </a:extLst>
                </p:cNvPr>
                <p:cNvSpPr/>
                <p:nvPr/>
              </p:nvSpPr>
              <p:spPr>
                <a:xfrm>
                  <a:off x="9202825" y="4916652"/>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229" name="CILW7">
                  <a:extLst>
                    <a:ext uri="{FF2B5EF4-FFF2-40B4-BE49-F238E27FC236}">
                      <a16:creationId xmlns:a16="http://schemas.microsoft.com/office/drawing/2014/main" id="{D57FE687-3FC4-54F4-DBEF-95461B462799}"/>
                    </a:ext>
                  </a:extLst>
                </p:cNvPr>
                <p:cNvSpPr/>
                <p:nvPr/>
              </p:nvSpPr>
              <p:spPr>
                <a:xfrm>
                  <a:off x="9196928" y="4901590"/>
                  <a:ext cx="0" cy="120753"/>
                </a:xfrm>
                <a:prstGeom prst="line">
                  <a:avLst/>
                </a:prstGeom>
                <a:ln w="15875">
                  <a:solidFill>
                    <a:srgbClr val="2B6CB0"/>
                  </a:solidFill>
                </a:ln>
              </p:spPr>
              <p:txBody>
                <a:bodyPr anchor="ctr"/>
                <a:lstStyle/>
                <a:p>
                  <a:endParaRPr lang="en-US" sz="2000"/>
                </a:p>
              </p:txBody>
            </p:sp>
            <p:sp>
              <p:nvSpPr>
                <p:cNvPr id="230" name="CILW7">
                  <a:extLst>
                    <a:ext uri="{FF2B5EF4-FFF2-40B4-BE49-F238E27FC236}">
                      <a16:creationId xmlns:a16="http://schemas.microsoft.com/office/drawing/2014/main" id="{072C8644-3FE9-8CE3-49A9-11D23F36DF0C}"/>
                    </a:ext>
                  </a:extLst>
                </p:cNvPr>
                <p:cNvSpPr/>
                <p:nvPr/>
              </p:nvSpPr>
              <p:spPr>
                <a:xfrm>
                  <a:off x="9822879" y="4901590"/>
                  <a:ext cx="0" cy="120753"/>
                </a:xfrm>
                <a:prstGeom prst="line">
                  <a:avLst/>
                </a:prstGeom>
                <a:ln w="15875">
                  <a:solidFill>
                    <a:srgbClr val="2B6CB0"/>
                  </a:solidFill>
                </a:ln>
              </p:spPr>
              <p:txBody>
                <a:bodyPr anchor="ctr"/>
                <a:lstStyle/>
                <a:p>
                  <a:endParaRPr lang="en-US" sz="2000"/>
                </a:p>
              </p:txBody>
            </p:sp>
            <p:sp>
              <p:nvSpPr>
                <p:cNvPr id="231" name="CIBar7">
                  <a:extLst>
                    <a:ext uri="{FF2B5EF4-FFF2-40B4-BE49-F238E27FC236}">
                      <a16:creationId xmlns:a16="http://schemas.microsoft.com/office/drawing/2014/main" id="{30F3D557-2846-02C4-7FBD-11C762DCB345}"/>
                    </a:ext>
                  </a:extLst>
                </p:cNvPr>
                <p:cNvSpPr/>
                <p:nvPr/>
              </p:nvSpPr>
              <p:spPr>
                <a:xfrm>
                  <a:off x="9828775" y="4919212"/>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232" name="CILW7">
                  <a:extLst>
                    <a:ext uri="{FF2B5EF4-FFF2-40B4-BE49-F238E27FC236}">
                      <a16:creationId xmlns:a16="http://schemas.microsoft.com/office/drawing/2014/main" id="{76843153-482D-4C02-4A8C-9FFAE787C442}"/>
                    </a:ext>
                  </a:extLst>
                </p:cNvPr>
                <p:cNvSpPr/>
                <p:nvPr/>
              </p:nvSpPr>
              <p:spPr>
                <a:xfrm>
                  <a:off x="9822878" y="4904150"/>
                  <a:ext cx="0" cy="120753"/>
                </a:xfrm>
                <a:prstGeom prst="line">
                  <a:avLst/>
                </a:prstGeom>
                <a:ln w="15875">
                  <a:solidFill>
                    <a:srgbClr val="2B6CB0"/>
                  </a:solidFill>
                </a:ln>
              </p:spPr>
              <p:txBody>
                <a:bodyPr anchor="ctr"/>
                <a:lstStyle/>
                <a:p>
                  <a:endParaRPr lang="en-US" sz="2000"/>
                </a:p>
              </p:txBody>
            </p:sp>
            <p:sp>
              <p:nvSpPr>
                <p:cNvPr id="233" name="CILW7">
                  <a:extLst>
                    <a:ext uri="{FF2B5EF4-FFF2-40B4-BE49-F238E27FC236}">
                      <a16:creationId xmlns:a16="http://schemas.microsoft.com/office/drawing/2014/main" id="{5F79A2D5-986C-6B5C-8E7D-C39961F267B8}"/>
                    </a:ext>
                  </a:extLst>
                </p:cNvPr>
                <p:cNvSpPr/>
                <p:nvPr/>
              </p:nvSpPr>
              <p:spPr>
                <a:xfrm>
                  <a:off x="10448828" y="4904150"/>
                  <a:ext cx="0" cy="120753"/>
                </a:xfrm>
                <a:prstGeom prst="line">
                  <a:avLst/>
                </a:prstGeom>
                <a:ln w="15875">
                  <a:solidFill>
                    <a:srgbClr val="2B6CB0"/>
                  </a:solidFill>
                </a:ln>
              </p:spPr>
              <p:txBody>
                <a:bodyPr anchor="ctr"/>
                <a:lstStyle/>
                <a:p>
                  <a:endParaRPr lang="en-US" sz="2000"/>
                </a:p>
              </p:txBody>
            </p:sp>
            <p:sp>
              <p:nvSpPr>
                <p:cNvPr id="234" name="CIBar7">
                  <a:extLst>
                    <a:ext uri="{FF2B5EF4-FFF2-40B4-BE49-F238E27FC236}">
                      <a16:creationId xmlns:a16="http://schemas.microsoft.com/office/drawing/2014/main" id="{E60D5E6D-5268-38BC-E9D7-F140FAEBAC2F}"/>
                    </a:ext>
                  </a:extLst>
                </p:cNvPr>
                <p:cNvSpPr/>
                <p:nvPr/>
              </p:nvSpPr>
              <p:spPr>
                <a:xfrm>
                  <a:off x="10454724" y="4917724"/>
                  <a:ext cx="272497" cy="89924"/>
                </a:xfrm>
                <a:prstGeom prst="rect">
                  <a:avLst/>
                </a:prstGeom>
                <a:solidFill>
                  <a:srgbClr val="B8D4E8">
                    <a:alpha val="34902"/>
                  </a:srgbClr>
                </a:solidFill>
                <a:ln>
                  <a:noFill/>
                </a:ln>
              </p:spPr>
              <p:txBody>
                <a:bodyPr lIns="0" rIns="0" anchor="ctr"/>
                <a:lstStyle/>
                <a:p>
                  <a:pPr algn="ctr"/>
                  <a:endParaRPr lang="en-US" sz="900" dirty="0"/>
                </a:p>
              </p:txBody>
            </p:sp>
            <p:sp>
              <p:nvSpPr>
                <p:cNvPr id="235" name="CILW7">
                  <a:extLst>
                    <a:ext uri="{FF2B5EF4-FFF2-40B4-BE49-F238E27FC236}">
                      <a16:creationId xmlns:a16="http://schemas.microsoft.com/office/drawing/2014/main" id="{7A62C32D-9E51-7A7C-BE17-A8AA6E9D6CA6}"/>
                    </a:ext>
                  </a:extLst>
                </p:cNvPr>
                <p:cNvSpPr/>
                <p:nvPr/>
              </p:nvSpPr>
              <p:spPr>
                <a:xfrm>
                  <a:off x="10448826" y="4902662"/>
                  <a:ext cx="0" cy="120753"/>
                </a:xfrm>
                <a:prstGeom prst="line">
                  <a:avLst/>
                </a:prstGeom>
                <a:ln w="15875">
                  <a:solidFill>
                    <a:srgbClr val="2B6CB0"/>
                  </a:solidFill>
                </a:ln>
              </p:spPr>
              <p:txBody>
                <a:bodyPr anchor="ctr"/>
                <a:lstStyle/>
                <a:p>
                  <a:endParaRPr lang="en-US" sz="2000"/>
                </a:p>
              </p:txBody>
            </p:sp>
            <p:sp>
              <p:nvSpPr>
                <p:cNvPr id="236" name="CIBar7">
                  <a:extLst>
                    <a:ext uri="{FF2B5EF4-FFF2-40B4-BE49-F238E27FC236}">
                      <a16:creationId xmlns:a16="http://schemas.microsoft.com/office/drawing/2014/main" id="{8D96962E-31DF-92F9-4617-A4451306899D}"/>
                    </a:ext>
                  </a:extLst>
                </p:cNvPr>
                <p:cNvSpPr/>
                <p:nvPr/>
              </p:nvSpPr>
              <p:spPr>
                <a:xfrm>
                  <a:off x="7674600" y="4917724"/>
                  <a:ext cx="272102" cy="89924"/>
                </a:xfrm>
                <a:prstGeom prst="rect">
                  <a:avLst/>
                </a:prstGeom>
                <a:solidFill>
                  <a:srgbClr val="B8D4E8">
                    <a:alpha val="34902"/>
                  </a:srgbClr>
                </a:solidFill>
                <a:ln>
                  <a:noFill/>
                </a:ln>
              </p:spPr>
              <p:txBody>
                <a:bodyPr lIns="0" rIns="0" anchor="ctr"/>
                <a:lstStyle/>
                <a:p>
                  <a:pPr algn="ctr"/>
                  <a:endParaRPr lang="en-US" sz="900" dirty="0"/>
                </a:p>
              </p:txBody>
            </p:sp>
            <p:sp>
              <p:nvSpPr>
                <p:cNvPr id="237" name="CILW7">
                  <a:extLst>
                    <a:ext uri="{FF2B5EF4-FFF2-40B4-BE49-F238E27FC236}">
                      <a16:creationId xmlns:a16="http://schemas.microsoft.com/office/drawing/2014/main" id="{10E68CD2-EBB8-A2C7-E689-76E8F33B33BE}"/>
                    </a:ext>
                  </a:extLst>
                </p:cNvPr>
                <p:cNvSpPr/>
                <p:nvPr/>
              </p:nvSpPr>
              <p:spPr>
                <a:xfrm>
                  <a:off x="7947981" y="4902662"/>
                  <a:ext cx="0" cy="120753"/>
                </a:xfrm>
                <a:prstGeom prst="line">
                  <a:avLst/>
                </a:prstGeom>
                <a:ln w="15875">
                  <a:solidFill>
                    <a:srgbClr val="2B6CB0"/>
                  </a:solidFill>
                </a:ln>
              </p:spPr>
              <p:txBody>
                <a:bodyPr anchor="ctr"/>
                <a:lstStyle/>
                <a:p>
                  <a:endParaRPr lang="en-US" sz="2000"/>
                </a:p>
              </p:txBody>
            </p:sp>
            <p:sp>
              <p:nvSpPr>
                <p:cNvPr id="238" name="CIBar7">
                  <a:extLst>
                    <a:ext uri="{FF2B5EF4-FFF2-40B4-BE49-F238E27FC236}">
                      <a16:creationId xmlns:a16="http://schemas.microsoft.com/office/drawing/2014/main" id="{1FD6D251-E720-284B-F5FC-67FB59B9C0F2}"/>
                    </a:ext>
                  </a:extLst>
                </p:cNvPr>
                <p:cNvSpPr/>
                <p:nvPr/>
              </p:nvSpPr>
              <p:spPr>
                <a:xfrm>
                  <a:off x="7953878" y="4920284"/>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239" name="CILW7">
                  <a:extLst>
                    <a:ext uri="{FF2B5EF4-FFF2-40B4-BE49-F238E27FC236}">
                      <a16:creationId xmlns:a16="http://schemas.microsoft.com/office/drawing/2014/main" id="{7F84EEFA-20E3-2CF1-549E-AFCB4A9A1A39}"/>
                    </a:ext>
                  </a:extLst>
                </p:cNvPr>
                <p:cNvSpPr/>
                <p:nvPr/>
              </p:nvSpPr>
              <p:spPr>
                <a:xfrm>
                  <a:off x="7947980" y="4905222"/>
                  <a:ext cx="0" cy="120753"/>
                </a:xfrm>
                <a:prstGeom prst="line">
                  <a:avLst/>
                </a:prstGeom>
                <a:ln w="15875">
                  <a:solidFill>
                    <a:srgbClr val="2B6CB0"/>
                  </a:solidFill>
                </a:ln>
              </p:spPr>
              <p:txBody>
                <a:bodyPr anchor="ctr"/>
                <a:lstStyle/>
                <a:p>
                  <a:endParaRPr lang="en-US" sz="2000"/>
                </a:p>
              </p:txBody>
            </p:sp>
            <p:sp>
              <p:nvSpPr>
                <p:cNvPr id="240" name="CILW7">
                  <a:extLst>
                    <a:ext uri="{FF2B5EF4-FFF2-40B4-BE49-F238E27FC236}">
                      <a16:creationId xmlns:a16="http://schemas.microsoft.com/office/drawing/2014/main" id="{7328265B-037B-CBDB-3992-3D85880DAB04}"/>
                    </a:ext>
                  </a:extLst>
                </p:cNvPr>
                <p:cNvSpPr/>
                <p:nvPr/>
              </p:nvSpPr>
              <p:spPr>
                <a:xfrm>
                  <a:off x="8573931" y="4905222"/>
                  <a:ext cx="0" cy="120753"/>
                </a:xfrm>
                <a:prstGeom prst="line">
                  <a:avLst/>
                </a:prstGeom>
                <a:ln w="15875">
                  <a:solidFill>
                    <a:srgbClr val="2B6CB0"/>
                  </a:solidFill>
                </a:ln>
              </p:spPr>
              <p:txBody>
                <a:bodyPr anchor="ctr"/>
                <a:lstStyle/>
                <a:p>
                  <a:endParaRPr lang="en-US" sz="2000"/>
                </a:p>
              </p:txBody>
            </p:sp>
            <p:sp>
              <p:nvSpPr>
                <p:cNvPr id="241" name="CIBar7">
                  <a:extLst>
                    <a:ext uri="{FF2B5EF4-FFF2-40B4-BE49-F238E27FC236}">
                      <a16:creationId xmlns:a16="http://schemas.microsoft.com/office/drawing/2014/main" id="{B81E217E-631F-D4BF-37A2-8719226D739D}"/>
                    </a:ext>
                  </a:extLst>
                </p:cNvPr>
                <p:cNvSpPr/>
                <p:nvPr/>
              </p:nvSpPr>
              <p:spPr>
                <a:xfrm>
                  <a:off x="8579827" y="4918796"/>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242" name="CILW7">
                  <a:extLst>
                    <a:ext uri="{FF2B5EF4-FFF2-40B4-BE49-F238E27FC236}">
                      <a16:creationId xmlns:a16="http://schemas.microsoft.com/office/drawing/2014/main" id="{6DD381AD-FC7C-87A2-6B29-A62C5AE100B3}"/>
                    </a:ext>
                  </a:extLst>
                </p:cNvPr>
                <p:cNvSpPr/>
                <p:nvPr/>
              </p:nvSpPr>
              <p:spPr>
                <a:xfrm>
                  <a:off x="8573929" y="4903734"/>
                  <a:ext cx="0" cy="120753"/>
                </a:xfrm>
                <a:prstGeom prst="line">
                  <a:avLst/>
                </a:prstGeom>
                <a:ln w="15875">
                  <a:solidFill>
                    <a:srgbClr val="2B6CB0"/>
                  </a:solidFill>
                </a:ln>
              </p:spPr>
              <p:txBody>
                <a:bodyPr anchor="ctr"/>
                <a:lstStyle/>
                <a:p>
                  <a:endParaRPr lang="en-US" sz="2000"/>
                </a:p>
              </p:txBody>
            </p:sp>
            <p:sp>
              <p:nvSpPr>
                <p:cNvPr id="243" name="CILW7">
                  <a:extLst>
                    <a:ext uri="{FF2B5EF4-FFF2-40B4-BE49-F238E27FC236}">
                      <a16:creationId xmlns:a16="http://schemas.microsoft.com/office/drawing/2014/main" id="{3F468113-CDCC-7A95-6FB7-38307F5020BA}"/>
                    </a:ext>
                  </a:extLst>
                </p:cNvPr>
                <p:cNvSpPr/>
                <p:nvPr/>
              </p:nvSpPr>
              <p:spPr>
                <a:xfrm>
                  <a:off x="9199880" y="4903734"/>
                  <a:ext cx="0" cy="120753"/>
                </a:xfrm>
                <a:prstGeom prst="line">
                  <a:avLst/>
                </a:prstGeom>
                <a:ln w="15875">
                  <a:solidFill>
                    <a:srgbClr val="2B6CB0"/>
                  </a:solidFill>
                </a:ln>
              </p:spPr>
              <p:txBody>
                <a:bodyPr anchor="ctr"/>
                <a:lstStyle/>
                <a:p>
                  <a:endParaRPr lang="en-US" sz="2000"/>
                </a:p>
              </p:txBody>
            </p:sp>
          </p:grpSp>
        </p:grpSp>
      </p:grpSp>
      <p:grpSp>
        <p:nvGrpSpPr>
          <p:cNvPr id="18" name="Group 17">
            <a:extLst>
              <a:ext uri="{FF2B5EF4-FFF2-40B4-BE49-F238E27FC236}">
                <a16:creationId xmlns:a16="http://schemas.microsoft.com/office/drawing/2014/main" id="{D746BB0A-E3C7-02A7-FB80-F059EAE44D97}"/>
              </a:ext>
            </a:extLst>
          </p:cNvPr>
          <p:cNvGrpSpPr/>
          <p:nvPr/>
        </p:nvGrpSpPr>
        <p:grpSpPr>
          <a:xfrm>
            <a:off x="3274386" y="3298685"/>
            <a:ext cx="3474529" cy="1845345"/>
            <a:chOff x="3274386" y="3298685"/>
            <a:chExt cx="3474529" cy="1845345"/>
          </a:xfrm>
        </p:grpSpPr>
        <p:cxnSp>
          <p:nvCxnSpPr>
            <p:cNvPr id="179" name="DotLine">
              <a:extLst>
                <a:ext uri="{FF2B5EF4-FFF2-40B4-BE49-F238E27FC236}">
                  <a16:creationId xmlns:a16="http://schemas.microsoft.com/office/drawing/2014/main" id="{02521EE1-A926-1A5F-22FF-B53A68ADFFFE}"/>
                </a:ext>
              </a:extLst>
            </p:cNvPr>
            <p:cNvCxnSpPr>
              <a:cxnSpLocks/>
            </p:cNvCxnSpPr>
            <p:nvPr/>
          </p:nvCxnSpPr>
          <p:spPr>
            <a:xfrm>
              <a:off x="3292058" y="3298685"/>
              <a:ext cx="0" cy="1836782"/>
            </a:xfrm>
            <a:prstGeom prst="line">
              <a:avLst/>
            </a:prstGeom>
            <a:ln w="19050">
              <a:solidFill>
                <a:schemeClr val="accent5">
                  <a:lumMod val="75000"/>
                </a:schemeClr>
              </a:solidFill>
              <a:prstDash val="sysDash"/>
            </a:ln>
          </p:spPr>
        </p:cxnSp>
        <p:cxnSp>
          <p:nvCxnSpPr>
            <p:cNvPr id="180" name="DotLine">
              <a:extLst>
                <a:ext uri="{FF2B5EF4-FFF2-40B4-BE49-F238E27FC236}">
                  <a16:creationId xmlns:a16="http://schemas.microsoft.com/office/drawing/2014/main" id="{9E639A4F-FA26-7CB9-25F0-FC706C3A1F74}"/>
                </a:ext>
              </a:extLst>
            </p:cNvPr>
            <p:cNvCxnSpPr>
              <a:cxnSpLocks/>
            </p:cNvCxnSpPr>
            <p:nvPr/>
          </p:nvCxnSpPr>
          <p:spPr>
            <a:xfrm>
              <a:off x="6729005" y="3298685"/>
              <a:ext cx="19910" cy="1845345"/>
            </a:xfrm>
            <a:prstGeom prst="line">
              <a:avLst/>
            </a:prstGeom>
            <a:ln w="19050">
              <a:solidFill>
                <a:schemeClr val="accent5">
                  <a:lumMod val="75000"/>
                </a:schemeClr>
              </a:solidFill>
              <a:prstDash val="sysDash"/>
            </a:ln>
          </p:spPr>
        </p:cxnSp>
        <p:grpSp>
          <p:nvGrpSpPr>
            <p:cNvPr id="15" name="Group 14">
              <a:extLst>
                <a:ext uri="{FF2B5EF4-FFF2-40B4-BE49-F238E27FC236}">
                  <a16:creationId xmlns:a16="http://schemas.microsoft.com/office/drawing/2014/main" id="{F3AC9E1D-3193-4996-55E9-97BE76F80385}"/>
                </a:ext>
              </a:extLst>
            </p:cNvPr>
            <p:cNvGrpSpPr/>
            <p:nvPr/>
          </p:nvGrpSpPr>
          <p:grpSpPr>
            <a:xfrm>
              <a:off x="3274386" y="3298686"/>
              <a:ext cx="3454619" cy="503529"/>
              <a:chOff x="3274386" y="3298686"/>
              <a:chExt cx="3454619" cy="503529"/>
            </a:xfrm>
          </p:grpSpPr>
          <p:sp>
            <p:nvSpPr>
              <p:cNvPr id="205" name="CIBar7">
                <a:extLst>
                  <a:ext uri="{FF2B5EF4-FFF2-40B4-BE49-F238E27FC236}">
                    <a16:creationId xmlns:a16="http://schemas.microsoft.com/office/drawing/2014/main" id="{99AE7741-1C60-E5DB-A7E8-4D4688FF35C1}"/>
                  </a:ext>
                </a:extLst>
              </p:cNvPr>
              <p:cNvSpPr/>
              <p:nvPr/>
            </p:nvSpPr>
            <p:spPr>
              <a:xfrm>
                <a:off x="3292058" y="3298686"/>
                <a:ext cx="3436947" cy="343868"/>
              </a:xfrm>
              <a:prstGeom prst="rect">
                <a:avLst/>
              </a:prstGeom>
              <a:solidFill>
                <a:schemeClr val="accent5">
                  <a:lumMod val="40000"/>
                  <a:lumOff val="60000"/>
                  <a:alpha val="34902"/>
                </a:schemeClr>
              </a:solidFill>
              <a:ln>
                <a:noFill/>
              </a:ln>
            </p:spPr>
            <p:txBody>
              <a:bodyPr anchor="ctr"/>
              <a:lstStyle/>
              <a:p>
                <a:pPr algn="ctr"/>
                <a:r>
                  <a:rPr lang="en-US" sz="1000" b="1" dirty="0">
                    <a:solidFill>
                      <a:srgbClr val="D5952A"/>
                    </a:solidFill>
                    <a:latin typeface="Open Sans"/>
                  </a:rPr>
                  <a:t>Null’s plausible region: ± 2.45 SE</a:t>
                </a:r>
              </a:p>
              <a:p>
                <a:pPr algn="ctr"/>
                <a:r>
                  <a:rPr lang="en-US" sz="1000" b="1" dirty="0">
                    <a:solidFill>
                      <a:srgbClr val="D5952A"/>
                    </a:solidFill>
                    <a:latin typeface="Open Sans"/>
                  </a:rPr>
                  <a:t>Middle 95% of Null’s distribution</a:t>
                </a:r>
              </a:p>
            </p:txBody>
          </p:sp>
          <p:grpSp>
            <p:nvGrpSpPr>
              <p:cNvPr id="211" name="Group 210">
                <a:extLst>
                  <a:ext uri="{FF2B5EF4-FFF2-40B4-BE49-F238E27FC236}">
                    <a16:creationId xmlns:a16="http://schemas.microsoft.com/office/drawing/2014/main" id="{EE7FE489-5986-EDE2-6F82-CF1608D0C8BF}"/>
                  </a:ext>
                </a:extLst>
              </p:cNvPr>
              <p:cNvGrpSpPr/>
              <p:nvPr/>
            </p:nvGrpSpPr>
            <p:grpSpPr>
              <a:xfrm>
                <a:off x="3274386" y="3662437"/>
                <a:ext cx="3436941" cy="139778"/>
                <a:chOff x="7674600" y="4901590"/>
                <a:chExt cx="3052621" cy="124385"/>
              </a:xfrm>
            </p:grpSpPr>
            <p:sp>
              <p:nvSpPr>
                <p:cNvPr id="212" name="CIBar7">
                  <a:extLst>
                    <a:ext uri="{FF2B5EF4-FFF2-40B4-BE49-F238E27FC236}">
                      <a16:creationId xmlns:a16="http://schemas.microsoft.com/office/drawing/2014/main" id="{09157A3E-FB0F-D321-3AB0-36DB4801F2D6}"/>
                    </a:ext>
                  </a:extLst>
                </p:cNvPr>
                <p:cNvSpPr/>
                <p:nvPr/>
              </p:nvSpPr>
              <p:spPr>
                <a:xfrm>
                  <a:off x="9202825" y="4916652"/>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213" name="CILW7">
                  <a:extLst>
                    <a:ext uri="{FF2B5EF4-FFF2-40B4-BE49-F238E27FC236}">
                      <a16:creationId xmlns:a16="http://schemas.microsoft.com/office/drawing/2014/main" id="{79FC5F8A-7503-68A8-0BA5-9815F32AF80F}"/>
                    </a:ext>
                  </a:extLst>
                </p:cNvPr>
                <p:cNvSpPr/>
                <p:nvPr/>
              </p:nvSpPr>
              <p:spPr>
                <a:xfrm>
                  <a:off x="9196928" y="4901590"/>
                  <a:ext cx="0" cy="120753"/>
                </a:xfrm>
                <a:prstGeom prst="line">
                  <a:avLst/>
                </a:prstGeom>
                <a:ln w="15875">
                  <a:solidFill>
                    <a:srgbClr val="2B6CB0"/>
                  </a:solidFill>
                </a:ln>
              </p:spPr>
              <p:txBody>
                <a:bodyPr anchor="ctr"/>
                <a:lstStyle/>
                <a:p>
                  <a:endParaRPr lang="en-US" sz="2000"/>
                </a:p>
              </p:txBody>
            </p:sp>
            <p:sp>
              <p:nvSpPr>
                <p:cNvPr id="214" name="CILW7">
                  <a:extLst>
                    <a:ext uri="{FF2B5EF4-FFF2-40B4-BE49-F238E27FC236}">
                      <a16:creationId xmlns:a16="http://schemas.microsoft.com/office/drawing/2014/main" id="{996C8F72-B6E3-070C-1344-43BDFA96C8F1}"/>
                    </a:ext>
                  </a:extLst>
                </p:cNvPr>
                <p:cNvSpPr/>
                <p:nvPr/>
              </p:nvSpPr>
              <p:spPr>
                <a:xfrm>
                  <a:off x="9822879" y="4901590"/>
                  <a:ext cx="0" cy="120753"/>
                </a:xfrm>
                <a:prstGeom prst="line">
                  <a:avLst/>
                </a:prstGeom>
                <a:ln w="15875">
                  <a:solidFill>
                    <a:srgbClr val="2B6CB0"/>
                  </a:solidFill>
                </a:ln>
              </p:spPr>
              <p:txBody>
                <a:bodyPr anchor="ctr"/>
                <a:lstStyle/>
                <a:p>
                  <a:endParaRPr lang="en-US" sz="2000"/>
                </a:p>
              </p:txBody>
            </p:sp>
            <p:sp>
              <p:nvSpPr>
                <p:cNvPr id="215" name="CIBar7">
                  <a:extLst>
                    <a:ext uri="{FF2B5EF4-FFF2-40B4-BE49-F238E27FC236}">
                      <a16:creationId xmlns:a16="http://schemas.microsoft.com/office/drawing/2014/main" id="{7337F881-444B-2249-2A57-AB742BD8FF00}"/>
                    </a:ext>
                  </a:extLst>
                </p:cNvPr>
                <p:cNvSpPr/>
                <p:nvPr/>
              </p:nvSpPr>
              <p:spPr>
                <a:xfrm>
                  <a:off x="9828775" y="4919212"/>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216" name="CILW7">
                  <a:extLst>
                    <a:ext uri="{FF2B5EF4-FFF2-40B4-BE49-F238E27FC236}">
                      <a16:creationId xmlns:a16="http://schemas.microsoft.com/office/drawing/2014/main" id="{FFD9EF10-9FD9-5290-8CD8-945C23DA4AFC}"/>
                    </a:ext>
                  </a:extLst>
                </p:cNvPr>
                <p:cNvSpPr/>
                <p:nvPr/>
              </p:nvSpPr>
              <p:spPr>
                <a:xfrm>
                  <a:off x="9822878" y="4904150"/>
                  <a:ext cx="0" cy="120753"/>
                </a:xfrm>
                <a:prstGeom prst="line">
                  <a:avLst/>
                </a:prstGeom>
                <a:ln w="15875">
                  <a:solidFill>
                    <a:srgbClr val="2B6CB0"/>
                  </a:solidFill>
                </a:ln>
              </p:spPr>
              <p:txBody>
                <a:bodyPr anchor="ctr"/>
                <a:lstStyle/>
                <a:p>
                  <a:endParaRPr lang="en-US" sz="2000"/>
                </a:p>
              </p:txBody>
            </p:sp>
            <p:sp>
              <p:nvSpPr>
                <p:cNvPr id="217" name="CILW7">
                  <a:extLst>
                    <a:ext uri="{FF2B5EF4-FFF2-40B4-BE49-F238E27FC236}">
                      <a16:creationId xmlns:a16="http://schemas.microsoft.com/office/drawing/2014/main" id="{CC2C6BF2-E239-464E-523B-72C8458292FD}"/>
                    </a:ext>
                  </a:extLst>
                </p:cNvPr>
                <p:cNvSpPr/>
                <p:nvPr/>
              </p:nvSpPr>
              <p:spPr>
                <a:xfrm>
                  <a:off x="10448828" y="4904150"/>
                  <a:ext cx="0" cy="120753"/>
                </a:xfrm>
                <a:prstGeom prst="line">
                  <a:avLst/>
                </a:prstGeom>
                <a:ln w="15875">
                  <a:solidFill>
                    <a:srgbClr val="2B6CB0"/>
                  </a:solidFill>
                </a:ln>
              </p:spPr>
              <p:txBody>
                <a:bodyPr anchor="ctr"/>
                <a:lstStyle/>
                <a:p>
                  <a:endParaRPr lang="en-US" sz="2000"/>
                </a:p>
              </p:txBody>
            </p:sp>
            <p:sp>
              <p:nvSpPr>
                <p:cNvPr id="218" name="CIBar7">
                  <a:extLst>
                    <a:ext uri="{FF2B5EF4-FFF2-40B4-BE49-F238E27FC236}">
                      <a16:creationId xmlns:a16="http://schemas.microsoft.com/office/drawing/2014/main" id="{B410B5ED-176C-BC22-ED04-E728299351B2}"/>
                    </a:ext>
                  </a:extLst>
                </p:cNvPr>
                <p:cNvSpPr/>
                <p:nvPr/>
              </p:nvSpPr>
              <p:spPr>
                <a:xfrm>
                  <a:off x="10454724" y="4917724"/>
                  <a:ext cx="272497" cy="89924"/>
                </a:xfrm>
                <a:prstGeom prst="rect">
                  <a:avLst/>
                </a:prstGeom>
                <a:solidFill>
                  <a:srgbClr val="B8D4E8">
                    <a:alpha val="34902"/>
                  </a:srgbClr>
                </a:solidFill>
                <a:ln>
                  <a:noFill/>
                </a:ln>
              </p:spPr>
              <p:txBody>
                <a:bodyPr lIns="0" rIns="0" anchor="ctr"/>
                <a:lstStyle/>
                <a:p>
                  <a:pPr algn="ctr"/>
                  <a:endParaRPr lang="en-US" sz="900" dirty="0"/>
                </a:p>
              </p:txBody>
            </p:sp>
            <p:sp>
              <p:nvSpPr>
                <p:cNvPr id="219" name="CILW7">
                  <a:extLst>
                    <a:ext uri="{FF2B5EF4-FFF2-40B4-BE49-F238E27FC236}">
                      <a16:creationId xmlns:a16="http://schemas.microsoft.com/office/drawing/2014/main" id="{F437FAED-5DEA-4E38-97E3-B7347A0CF875}"/>
                    </a:ext>
                  </a:extLst>
                </p:cNvPr>
                <p:cNvSpPr/>
                <p:nvPr/>
              </p:nvSpPr>
              <p:spPr>
                <a:xfrm>
                  <a:off x="10448826" y="4902662"/>
                  <a:ext cx="0" cy="120753"/>
                </a:xfrm>
                <a:prstGeom prst="line">
                  <a:avLst/>
                </a:prstGeom>
                <a:ln w="15875">
                  <a:solidFill>
                    <a:srgbClr val="2B6CB0"/>
                  </a:solidFill>
                </a:ln>
              </p:spPr>
              <p:txBody>
                <a:bodyPr anchor="ctr"/>
                <a:lstStyle/>
                <a:p>
                  <a:endParaRPr lang="en-US" sz="2000"/>
                </a:p>
              </p:txBody>
            </p:sp>
            <p:sp>
              <p:nvSpPr>
                <p:cNvPr id="220" name="CIBar7">
                  <a:extLst>
                    <a:ext uri="{FF2B5EF4-FFF2-40B4-BE49-F238E27FC236}">
                      <a16:creationId xmlns:a16="http://schemas.microsoft.com/office/drawing/2014/main" id="{901607A6-F8E1-61AE-49F8-E55B62D31F90}"/>
                    </a:ext>
                  </a:extLst>
                </p:cNvPr>
                <p:cNvSpPr/>
                <p:nvPr/>
              </p:nvSpPr>
              <p:spPr>
                <a:xfrm>
                  <a:off x="7674600" y="4917724"/>
                  <a:ext cx="272102" cy="89924"/>
                </a:xfrm>
                <a:prstGeom prst="rect">
                  <a:avLst/>
                </a:prstGeom>
                <a:solidFill>
                  <a:srgbClr val="B8D4E8">
                    <a:alpha val="34902"/>
                  </a:srgbClr>
                </a:solidFill>
                <a:ln>
                  <a:noFill/>
                </a:ln>
              </p:spPr>
              <p:txBody>
                <a:bodyPr lIns="0" rIns="0" anchor="ctr"/>
                <a:lstStyle/>
                <a:p>
                  <a:pPr algn="ctr"/>
                  <a:endParaRPr lang="en-US" sz="900" dirty="0"/>
                </a:p>
              </p:txBody>
            </p:sp>
            <p:sp>
              <p:nvSpPr>
                <p:cNvPr id="221" name="CILW7">
                  <a:extLst>
                    <a:ext uri="{FF2B5EF4-FFF2-40B4-BE49-F238E27FC236}">
                      <a16:creationId xmlns:a16="http://schemas.microsoft.com/office/drawing/2014/main" id="{D1B391AD-B8A1-42DB-7573-9E5DD97FB65E}"/>
                    </a:ext>
                  </a:extLst>
                </p:cNvPr>
                <p:cNvSpPr/>
                <p:nvPr/>
              </p:nvSpPr>
              <p:spPr>
                <a:xfrm>
                  <a:off x="7947981" y="4902662"/>
                  <a:ext cx="0" cy="120753"/>
                </a:xfrm>
                <a:prstGeom prst="line">
                  <a:avLst/>
                </a:prstGeom>
                <a:ln w="15875">
                  <a:solidFill>
                    <a:srgbClr val="2B6CB0"/>
                  </a:solidFill>
                </a:ln>
              </p:spPr>
              <p:txBody>
                <a:bodyPr anchor="ctr"/>
                <a:lstStyle/>
                <a:p>
                  <a:endParaRPr lang="en-US" sz="2000"/>
                </a:p>
              </p:txBody>
            </p:sp>
            <p:sp>
              <p:nvSpPr>
                <p:cNvPr id="222" name="CIBar7">
                  <a:extLst>
                    <a:ext uri="{FF2B5EF4-FFF2-40B4-BE49-F238E27FC236}">
                      <a16:creationId xmlns:a16="http://schemas.microsoft.com/office/drawing/2014/main" id="{95AD54FD-749C-EA21-0D26-A195329E9A7E}"/>
                    </a:ext>
                  </a:extLst>
                </p:cNvPr>
                <p:cNvSpPr/>
                <p:nvPr/>
              </p:nvSpPr>
              <p:spPr>
                <a:xfrm>
                  <a:off x="7953878" y="4920284"/>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223" name="CILW7">
                  <a:extLst>
                    <a:ext uri="{FF2B5EF4-FFF2-40B4-BE49-F238E27FC236}">
                      <a16:creationId xmlns:a16="http://schemas.microsoft.com/office/drawing/2014/main" id="{AA7324A5-5A28-CF62-4D48-2192781AB18B}"/>
                    </a:ext>
                  </a:extLst>
                </p:cNvPr>
                <p:cNvSpPr/>
                <p:nvPr/>
              </p:nvSpPr>
              <p:spPr>
                <a:xfrm>
                  <a:off x="7947980" y="4905222"/>
                  <a:ext cx="0" cy="120753"/>
                </a:xfrm>
                <a:prstGeom prst="line">
                  <a:avLst/>
                </a:prstGeom>
                <a:ln w="15875">
                  <a:solidFill>
                    <a:srgbClr val="2B6CB0"/>
                  </a:solidFill>
                </a:ln>
              </p:spPr>
              <p:txBody>
                <a:bodyPr anchor="ctr"/>
                <a:lstStyle/>
                <a:p>
                  <a:endParaRPr lang="en-US" sz="2000"/>
                </a:p>
              </p:txBody>
            </p:sp>
            <p:sp>
              <p:nvSpPr>
                <p:cNvPr id="224" name="CILW7">
                  <a:extLst>
                    <a:ext uri="{FF2B5EF4-FFF2-40B4-BE49-F238E27FC236}">
                      <a16:creationId xmlns:a16="http://schemas.microsoft.com/office/drawing/2014/main" id="{1FF30CEC-C7EC-D100-D003-457D517A74C4}"/>
                    </a:ext>
                  </a:extLst>
                </p:cNvPr>
                <p:cNvSpPr/>
                <p:nvPr/>
              </p:nvSpPr>
              <p:spPr>
                <a:xfrm>
                  <a:off x="8573931" y="4905222"/>
                  <a:ext cx="0" cy="120753"/>
                </a:xfrm>
                <a:prstGeom prst="line">
                  <a:avLst/>
                </a:prstGeom>
                <a:ln w="15875">
                  <a:solidFill>
                    <a:srgbClr val="2B6CB0"/>
                  </a:solidFill>
                </a:ln>
              </p:spPr>
              <p:txBody>
                <a:bodyPr anchor="ctr"/>
                <a:lstStyle/>
                <a:p>
                  <a:endParaRPr lang="en-US" sz="2000"/>
                </a:p>
              </p:txBody>
            </p:sp>
            <p:sp>
              <p:nvSpPr>
                <p:cNvPr id="225" name="CIBar7">
                  <a:extLst>
                    <a:ext uri="{FF2B5EF4-FFF2-40B4-BE49-F238E27FC236}">
                      <a16:creationId xmlns:a16="http://schemas.microsoft.com/office/drawing/2014/main" id="{11A323A8-8074-BD3C-03E2-12EA64B59651}"/>
                    </a:ext>
                  </a:extLst>
                </p:cNvPr>
                <p:cNvSpPr/>
                <p:nvPr/>
              </p:nvSpPr>
              <p:spPr>
                <a:xfrm>
                  <a:off x="8579827" y="4918796"/>
                  <a:ext cx="618774" cy="89924"/>
                </a:xfrm>
                <a:prstGeom prst="rect">
                  <a:avLst/>
                </a:prstGeom>
                <a:solidFill>
                  <a:srgbClr val="B8D4E8">
                    <a:alpha val="34902"/>
                  </a:srgbClr>
                </a:solidFill>
                <a:ln>
                  <a:noFill/>
                </a:ln>
              </p:spPr>
              <p:txBody>
                <a:bodyPr lIns="0" rIns="0" anchor="ctr"/>
                <a:lstStyle/>
                <a:p>
                  <a:pPr algn="ctr"/>
                  <a:r>
                    <a:rPr lang="en-US" sz="900" b="1" dirty="0">
                      <a:solidFill>
                        <a:srgbClr val="2B6CB0"/>
                      </a:solidFill>
                      <a:latin typeface="Open Sans"/>
                    </a:rPr>
                    <a:t>1SE</a:t>
                  </a:r>
                  <a:endParaRPr lang="en-US" sz="900" dirty="0"/>
                </a:p>
              </p:txBody>
            </p:sp>
            <p:sp>
              <p:nvSpPr>
                <p:cNvPr id="226" name="CILW7">
                  <a:extLst>
                    <a:ext uri="{FF2B5EF4-FFF2-40B4-BE49-F238E27FC236}">
                      <a16:creationId xmlns:a16="http://schemas.microsoft.com/office/drawing/2014/main" id="{0A4B9462-9305-1A44-9705-3D69954E028B}"/>
                    </a:ext>
                  </a:extLst>
                </p:cNvPr>
                <p:cNvSpPr/>
                <p:nvPr/>
              </p:nvSpPr>
              <p:spPr>
                <a:xfrm>
                  <a:off x="8573929" y="4903734"/>
                  <a:ext cx="0" cy="120753"/>
                </a:xfrm>
                <a:prstGeom prst="line">
                  <a:avLst/>
                </a:prstGeom>
                <a:ln w="15875">
                  <a:solidFill>
                    <a:srgbClr val="2B6CB0"/>
                  </a:solidFill>
                </a:ln>
              </p:spPr>
              <p:txBody>
                <a:bodyPr anchor="ctr"/>
                <a:lstStyle/>
                <a:p>
                  <a:endParaRPr lang="en-US" sz="2000"/>
                </a:p>
              </p:txBody>
            </p:sp>
            <p:sp>
              <p:nvSpPr>
                <p:cNvPr id="227" name="CILW7">
                  <a:extLst>
                    <a:ext uri="{FF2B5EF4-FFF2-40B4-BE49-F238E27FC236}">
                      <a16:creationId xmlns:a16="http://schemas.microsoft.com/office/drawing/2014/main" id="{5211BBA8-7AF7-8A59-90F5-BAF99286A9BC}"/>
                    </a:ext>
                  </a:extLst>
                </p:cNvPr>
                <p:cNvSpPr/>
                <p:nvPr/>
              </p:nvSpPr>
              <p:spPr>
                <a:xfrm>
                  <a:off x="9199880" y="4903734"/>
                  <a:ext cx="0" cy="120753"/>
                </a:xfrm>
                <a:prstGeom prst="line">
                  <a:avLst/>
                </a:prstGeom>
                <a:ln w="15875">
                  <a:solidFill>
                    <a:srgbClr val="2B6CB0"/>
                  </a:solidFill>
                </a:ln>
              </p:spPr>
              <p:txBody>
                <a:bodyPr anchor="ctr"/>
                <a:lstStyle/>
                <a:p>
                  <a:endParaRPr lang="en-US" sz="2000"/>
                </a:p>
              </p:txBody>
            </p:sp>
          </p:grpSp>
        </p:grpSp>
      </p:grpSp>
      <p:sp>
        <p:nvSpPr>
          <p:cNvPr id="6" name="Rounded Rectangle 5">
            <a:extLst>
              <a:ext uri="{FF2B5EF4-FFF2-40B4-BE49-F238E27FC236}">
                <a16:creationId xmlns:a16="http://schemas.microsoft.com/office/drawing/2014/main" id="{06A98229-21DD-F13E-C73A-61A0FDFF6D28}"/>
              </a:ext>
            </a:extLst>
          </p:cNvPr>
          <p:cNvSpPr/>
          <p:nvPr/>
        </p:nvSpPr>
        <p:spPr>
          <a:xfrm>
            <a:off x="7993171" y="4347256"/>
            <a:ext cx="2333081" cy="490744"/>
          </a:xfrm>
          <a:prstGeom prst="roundRect">
            <a:avLst/>
          </a:prstGeom>
          <a:solidFill>
            <a:schemeClr val="accent2">
              <a:lumMod val="20000"/>
              <a:lumOff val="80000"/>
            </a:schemeClr>
          </a:solidFill>
          <a:ln w="6350" cap="flat" cmpd="sng" algn="ctr">
            <a:solidFill>
              <a:schemeClr val="accent2">
                <a:lumMod val="50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rmAutofit/>
          </a:bodyPr>
          <a:lstStyle/>
          <a:p>
            <a:r>
              <a:rPr lang="en-US" sz="1100" dirty="0">
                <a:solidFill>
                  <a:srgbClr val="2E3640"/>
                </a:solidFill>
              </a:rPr>
              <a:t>From zero, ± 2.45 SE, did we touch the estimate?</a:t>
            </a:r>
          </a:p>
        </p:txBody>
      </p:sp>
      <p:grpSp>
        <p:nvGrpSpPr>
          <p:cNvPr id="14" name="Group 13">
            <a:extLst>
              <a:ext uri="{FF2B5EF4-FFF2-40B4-BE49-F238E27FC236}">
                <a16:creationId xmlns:a16="http://schemas.microsoft.com/office/drawing/2014/main" id="{AF4C9ECA-7813-2696-779D-50674764B0F2}"/>
              </a:ext>
            </a:extLst>
          </p:cNvPr>
          <p:cNvGrpSpPr/>
          <p:nvPr/>
        </p:nvGrpSpPr>
        <p:grpSpPr>
          <a:xfrm>
            <a:off x="2899567" y="5341066"/>
            <a:ext cx="2644025" cy="970554"/>
            <a:chOff x="2899567" y="5341066"/>
            <a:chExt cx="2644025" cy="970554"/>
          </a:xfrm>
        </p:grpSpPr>
        <p:sp>
          <p:nvSpPr>
            <p:cNvPr id="204" name="Rounded Rectangle 203">
              <a:extLst>
                <a:ext uri="{FF2B5EF4-FFF2-40B4-BE49-F238E27FC236}">
                  <a16:creationId xmlns:a16="http://schemas.microsoft.com/office/drawing/2014/main" id="{E7833238-0E51-C636-3942-8C632D891F67}"/>
                </a:ext>
              </a:extLst>
            </p:cNvPr>
            <p:cNvSpPr/>
            <p:nvPr/>
          </p:nvSpPr>
          <p:spPr>
            <a:xfrm>
              <a:off x="2899567" y="5782654"/>
              <a:ext cx="2117411" cy="528966"/>
            </a:xfrm>
            <a:prstGeom prst="roundRect">
              <a:avLst/>
            </a:prstGeom>
            <a:solidFill>
              <a:srgbClr val="F1F4FF"/>
            </a:solidFill>
            <a:ln>
              <a:solidFill>
                <a:srgbClr val="0070C0"/>
              </a:solidFill>
            </a:ln>
          </p:spPr>
          <p:txBody>
            <a:bodyPr anchor="ctr"/>
            <a:lstStyle/>
            <a:p>
              <a:r>
                <a:rPr lang="en-US" sz="1050" dirty="0">
                  <a:latin typeface="Open Sans"/>
                </a:rPr>
                <a:t>From the estimate, ± 2.45 SE, did we touch zero?</a:t>
              </a:r>
            </a:p>
          </p:txBody>
        </p:sp>
        <p:cxnSp>
          <p:nvCxnSpPr>
            <p:cNvPr id="208" name="DotLine">
              <a:extLst>
                <a:ext uri="{FF2B5EF4-FFF2-40B4-BE49-F238E27FC236}">
                  <a16:creationId xmlns:a16="http://schemas.microsoft.com/office/drawing/2014/main" id="{78649B50-09FC-A727-74EC-EACB349BBBEA}"/>
                </a:ext>
              </a:extLst>
            </p:cNvPr>
            <p:cNvCxnSpPr>
              <a:cxnSpLocks/>
            </p:cNvCxnSpPr>
            <p:nvPr/>
          </p:nvCxnSpPr>
          <p:spPr>
            <a:xfrm flipV="1">
              <a:off x="4285502" y="5341066"/>
              <a:ext cx="586725" cy="441587"/>
            </a:xfrm>
            <a:prstGeom prst="line">
              <a:avLst/>
            </a:prstGeom>
            <a:ln w="19050">
              <a:solidFill>
                <a:srgbClr val="2B6CB0"/>
              </a:solidFill>
              <a:prstDash val="solid"/>
              <a:headEnd type="none" w="med" len="med"/>
              <a:tailEnd type="triangle" w="med" len="med"/>
            </a:ln>
          </p:spPr>
        </p:cxnSp>
        <p:cxnSp>
          <p:nvCxnSpPr>
            <p:cNvPr id="7" name="DotLine">
              <a:extLst>
                <a:ext uri="{FF2B5EF4-FFF2-40B4-BE49-F238E27FC236}">
                  <a16:creationId xmlns:a16="http://schemas.microsoft.com/office/drawing/2014/main" id="{9D359603-460E-EDFE-FBB6-C178F2F2E645}"/>
                </a:ext>
              </a:extLst>
            </p:cNvPr>
            <p:cNvCxnSpPr>
              <a:cxnSpLocks/>
            </p:cNvCxnSpPr>
            <p:nvPr/>
          </p:nvCxnSpPr>
          <p:spPr>
            <a:xfrm flipV="1">
              <a:off x="4299109" y="5368145"/>
              <a:ext cx="1244483" cy="429032"/>
            </a:xfrm>
            <a:prstGeom prst="line">
              <a:avLst/>
            </a:prstGeom>
            <a:ln w="19050">
              <a:solidFill>
                <a:srgbClr val="2B6CB0"/>
              </a:solidFill>
              <a:prstDash val="solid"/>
              <a:headEnd type="none" w="med" len="med"/>
              <a:tailEnd type="triangle" w="med" len="med"/>
            </a:ln>
          </p:spPr>
        </p:cxnSp>
      </p:grpSp>
      <p:grpSp>
        <p:nvGrpSpPr>
          <p:cNvPr id="11" name="Group 10">
            <a:extLst>
              <a:ext uri="{FF2B5EF4-FFF2-40B4-BE49-F238E27FC236}">
                <a16:creationId xmlns:a16="http://schemas.microsoft.com/office/drawing/2014/main" id="{240CCE29-E239-BF57-A422-BE82D3747472}"/>
              </a:ext>
            </a:extLst>
          </p:cNvPr>
          <p:cNvGrpSpPr/>
          <p:nvPr/>
        </p:nvGrpSpPr>
        <p:grpSpPr>
          <a:xfrm rot="10800000">
            <a:off x="6736107" y="4569745"/>
            <a:ext cx="1258091" cy="480412"/>
            <a:chOff x="4437901" y="5469165"/>
            <a:chExt cx="1258091" cy="480412"/>
          </a:xfrm>
        </p:grpSpPr>
        <p:cxnSp>
          <p:nvCxnSpPr>
            <p:cNvPr id="9" name="DotLine">
              <a:extLst>
                <a:ext uri="{FF2B5EF4-FFF2-40B4-BE49-F238E27FC236}">
                  <a16:creationId xmlns:a16="http://schemas.microsoft.com/office/drawing/2014/main" id="{55849F9E-7DB6-652A-41CC-B7734B758140}"/>
                </a:ext>
              </a:extLst>
            </p:cNvPr>
            <p:cNvCxnSpPr>
              <a:cxnSpLocks/>
              <a:endCxn id="197" idx="7"/>
            </p:cNvCxnSpPr>
            <p:nvPr/>
          </p:nvCxnSpPr>
          <p:spPr>
            <a:xfrm rot="10800000" flipH="1">
              <a:off x="4437901" y="5469165"/>
              <a:ext cx="661508" cy="465889"/>
            </a:xfrm>
            <a:prstGeom prst="line">
              <a:avLst/>
            </a:prstGeom>
            <a:ln w="19050">
              <a:solidFill>
                <a:schemeClr val="accent5">
                  <a:lumMod val="75000"/>
                </a:schemeClr>
              </a:solidFill>
              <a:prstDash val="solid"/>
              <a:headEnd type="none" w="med" len="med"/>
              <a:tailEnd type="triangle" w="med" len="med"/>
            </a:ln>
          </p:spPr>
        </p:cxnSp>
        <p:cxnSp>
          <p:nvCxnSpPr>
            <p:cNvPr id="10" name="DotLine">
              <a:extLst>
                <a:ext uri="{FF2B5EF4-FFF2-40B4-BE49-F238E27FC236}">
                  <a16:creationId xmlns:a16="http://schemas.microsoft.com/office/drawing/2014/main" id="{9FDD6753-F500-7907-80E9-AB155E8B8E5A}"/>
                </a:ext>
              </a:extLst>
            </p:cNvPr>
            <p:cNvCxnSpPr>
              <a:cxnSpLocks/>
            </p:cNvCxnSpPr>
            <p:nvPr/>
          </p:nvCxnSpPr>
          <p:spPr>
            <a:xfrm flipV="1">
              <a:off x="4451509" y="5520545"/>
              <a:ext cx="1244483" cy="429032"/>
            </a:xfrm>
            <a:prstGeom prst="line">
              <a:avLst/>
            </a:prstGeom>
            <a:ln w="19050">
              <a:solidFill>
                <a:schemeClr val="accent5">
                  <a:lumMod val="75000"/>
                </a:schemeClr>
              </a:solidFill>
              <a:prstDash val="solid"/>
              <a:headEnd type="none" w="med" len="med"/>
              <a:tailEnd type="triangle" w="med" len="med"/>
            </a:ln>
          </p:spPr>
        </p:cxnSp>
      </p:grpSp>
    </p:spTree>
    <p:extLst>
      <p:ext uri="{BB962C8B-B14F-4D97-AF65-F5344CB8AC3E}">
        <p14:creationId xmlns:p14="http://schemas.microsoft.com/office/powerpoint/2010/main" val="3313166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9">
                                            <p:txEl>
                                              <p:pRg st="3" end="3"/>
                                            </p:txEl>
                                          </p:spTgt>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9">
                                            <p:txEl>
                                              <p:pRg st="4" end="4"/>
                                            </p:txEl>
                                          </p:spTgt>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9">
                                            <p:txEl>
                                              <p:pRg st="5" end="5"/>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6">
                                            <p:txEl>
                                              <p:pRg st="3" end="3"/>
                                            </p:txEl>
                                          </p:spTgt>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6">
                                            <p:txEl>
                                              <p:pRg st="4" end="4"/>
                                            </p:txEl>
                                          </p:spTgt>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6">
                                            <p:txEl>
                                              <p:pRg st="5" end="5"/>
                                            </p:txEl>
                                          </p:spTgt>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0" grpId="0" animBg="1"/>
      <p:bldP spid="244" grpId="0" animBg="1"/>
      <p:bldP spid="245" grpId="0" animBg="1"/>
      <p:bldP spid="197" grpId="0" animBg="1"/>
      <p:bldP spid="203"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C4788D2-9240-BB49-9F1C-FE581C913DFD}"/>
              </a:ext>
            </a:extLst>
          </p:cNvPr>
          <p:cNvSpPr/>
          <p:nvPr/>
        </p:nvSpPr>
        <p:spPr>
          <a:xfrm>
            <a:off x="241300" y="825500"/>
            <a:ext cx="5753100" cy="889000"/>
          </a:xfrm>
          <a:prstGeom prst="roundRect">
            <a:avLst/>
          </a:prstGeom>
          <a:solidFill>
            <a:srgbClr val="2E6B7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a:solidFill>
                  <a:srgbClr val="FFFFFF"/>
                </a:solidFill>
              </a:rPr>
              <a:t>Q1: confint(model) returns a 95% CI of (−0.12, 0.45) for the slope. Is the slope significant at 5% level?</a:t>
            </a:r>
          </a:p>
        </p:txBody>
      </p:sp>
      <p:sp>
        <p:nvSpPr>
          <p:cNvPr id="4" name="Rounded Rectangle 3">
            <a:extLst>
              <a:ext uri="{FF2B5EF4-FFF2-40B4-BE49-F238E27FC236}">
                <a16:creationId xmlns:a16="http://schemas.microsoft.com/office/drawing/2014/main" id="{A93C3C8C-333E-A448-A5BF-68E1F1E531B9}"/>
              </a:ext>
            </a:extLst>
          </p:cNvPr>
          <p:cNvSpPr/>
          <p:nvPr/>
        </p:nvSpPr>
        <p:spPr>
          <a:xfrm>
            <a:off x="444500" y="1803400"/>
            <a:ext cx="5549900" cy="419100"/>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dirty="0">
                <a:solidFill>
                  <a:srgbClr val="2E3640"/>
                </a:solidFill>
              </a:rPr>
              <a:t>A)  Yes : it is significant (p &lt; 0.05)</a:t>
            </a:r>
          </a:p>
        </p:txBody>
      </p:sp>
      <p:sp>
        <p:nvSpPr>
          <p:cNvPr id="5" name="Rounded Rectangle 4">
            <a:extLst>
              <a:ext uri="{FF2B5EF4-FFF2-40B4-BE49-F238E27FC236}">
                <a16:creationId xmlns:a16="http://schemas.microsoft.com/office/drawing/2014/main" id="{FF2F3293-800A-9E43-8D14-2FC70C2F4586}"/>
              </a:ext>
            </a:extLst>
          </p:cNvPr>
          <p:cNvSpPr/>
          <p:nvPr/>
        </p:nvSpPr>
        <p:spPr>
          <a:xfrm>
            <a:off x="444500" y="2286000"/>
            <a:ext cx="5549900" cy="419100"/>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clip" horzOverflow="clip" vert="horz" wrap="square" lIns="91440" tIns="45720" rIns="91440" bIns="45720" numCol="1" spcCol="0" rtlCol="0" fromWordArt="0" anchor="ctr" anchorCtr="0" forceAA="0" compatLnSpc="1">
            <a:prstTxWarp prst="textNoShape">
              <a:avLst/>
            </a:prstTxWarp>
            <a:noAutofit/>
          </a:bodyPr>
          <a:lstStyle/>
          <a:p>
            <a:r>
              <a:rPr lang="en-US" sz="1400" dirty="0">
                <a:solidFill>
                  <a:srgbClr val="2E3640"/>
                </a:solidFill>
              </a:rPr>
              <a:t>B)  No : it is not significant (p ≥ 0.05) </a:t>
            </a:r>
          </a:p>
        </p:txBody>
      </p:sp>
      <p:sp>
        <p:nvSpPr>
          <p:cNvPr id="6" name="Rounded Rectangle 5">
            <a:extLst>
              <a:ext uri="{FF2B5EF4-FFF2-40B4-BE49-F238E27FC236}">
                <a16:creationId xmlns:a16="http://schemas.microsoft.com/office/drawing/2014/main" id="{2D9219F9-8E67-6748-8049-53314D3FB90E}"/>
              </a:ext>
            </a:extLst>
          </p:cNvPr>
          <p:cNvSpPr/>
          <p:nvPr/>
        </p:nvSpPr>
        <p:spPr>
          <a:xfrm>
            <a:off x="444500" y="2768600"/>
            <a:ext cx="5549900" cy="419100"/>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dirty="0">
                <a:solidFill>
                  <a:srgbClr val="2E3640"/>
                </a:solidFill>
              </a:rPr>
              <a:t>C)  Cannot tell from CI alone</a:t>
            </a:r>
          </a:p>
        </p:txBody>
      </p:sp>
      <p:sp>
        <p:nvSpPr>
          <p:cNvPr id="7" name="Rounded Rectangle 6">
            <a:extLst>
              <a:ext uri="{FF2B5EF4-FFF2-40B4-BE49-F238E27FC236}">
                <a16:creationId xmlns:a16="http://schemas.microsoft.com/office/drawing/2014/main" id="{FE1BEA9B-4353-3744-AB56-8B41766ED7EB}"/>
              </a:ext>
            </a:extLst>
          </p:cNvPr>
          <p:cNvSpPr/>
          <p:nvPr/>
        </p:nvSpPr>
        <p:spPr>
          <a:xfrm>
            <a:off x="241300" y="3302000"/>
            <a:ext cx="5753100" cy="1778000"/>
          </a:xfrm>
          <a:prstGeom prst="roundRect">
            <a:avLst/>
          </a:prstGeom>
          <a:solidFill>
            <a:srgbClr val="E8F4F5"/>
          </a:solidFill>
          <a:ln w="12700" cap="flat" cmpd="sng" algn="ctr">
            <a:solidFill>
              <a:srgbClr val="2E6B7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lgn="l"/>
            <a:r>
              <a:rPr lang="en-US" sz="1400" dirty="0">
                <a:solidFill>
                  <a:srgbClr val="2E3640"/>
                </a:solidFill>
              </a:rPr>
              <a:t>Answer: B
The CI includes zero (−0.12 to 0.45), so we cannot reject H₀.</a:t>
            </a:r>
          </a:p>
          <a:p>
            <a:pPr algn="l"/>
            <a:r>
              <a:rPr lang="en-US" sz="1400" dirty="0">
                <a:solidFill>
                  <a:srgbClr val="2E3640"/>
                </a:solidFill>
              </a:rPr>
              <a:t>
This automatically means p ≥ 0.05</a:t>
            </a:r>
          </a:p>
        </p:txBody>
      </p:sp>
      <p:sp>
        <p:nvSpPr>
          <p:cNvPr id="8" name="Rounded Rectangle 7">
            <a:extLst>
              <a:ext uri="{FF2B5EF4-FFF2-40B4-BE49-F238E27FC236}">
                <a16:creationId xmlns:a16="http://schemas.microsoft.com/office/drawing/2014/main" id="{B2470DAE-4E90-C343-BB69-01FD2ED6E760}"/>
              </a:ext>
            </a:extLst>
          </p:cNvPr>
          <p:cNvSpPr/>
          <p:nvPr/>
        </p:nvSpPr>
        <p:spPr>
          <a:xfrm>
            <a:off x="6197600" y="825500"/>
            <a:ext cx="5753100" cy="889000"/>
          </a:xfrm>
          <a:prstGeom prst="roundRect">
            <a:avLst/>
          </a:prstGeom>
          <a:solidFill>
            <a:srgbClr val="2E6B7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r>
              <a:rPr lang="en-US" sz="1400" b="1" dirty="0">
                <a:solidFill>
                  <a:srgbClr val="FFFFFF"/>
                </a:solidFill>
              </a:rPr>
              <a:t>Q2: 1. A study reports: “the drug reduced weight by 2.5 kg ( 95% CI: 1.9, 3.1)." Which of these can you conclude? Mark all that are correct.</a:t>
            </a:r>
          </a:p>
        </p:txBody>
      </p:sp>
      <p:sp>
        <p:nvSpPr>
          <p:cNvPr id="9" name="Rounded Rectangle 8">
            <a:extLst>
              <a:ext uri="{FF2B5EF4-FFF2-40B4-BE49-F238E27FC236}">
                <a16:creationId xmlns:a16="http://schemas.microsoft.com/office/drawing/2014/main" id="{30EA89A9-0699-7448-BE05-7BA242AF7749}"/>
              </a:ext>
            </a:extLst>
          </p:cNvPr>
          <p:cNvSpPr/>
          <p:nvPr/>
        </p:nvSpPr>
        <p:spPr>
          <a:xfrm>
            <a:off x="6400800" y="1803400"/>
            <a:ext cx="5549900" cy="419100"/>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r>
              <a:rPr lang="en-US" sz="1400" dirty="0">
                <a:solidFill>
                  <a:srgbClr val="2E3640"/>
                </a:solidFill>
              </a:rPr>
              <a:t>A) The effect is significant</a:t>
            </a:r>
          </a:p>
        </p:txBody>
      </p:sp>
      <p:sp>
        <p:nvSpPr>
          <p:cNvPr id="10" name="Rounded Rectangle 9">
            <a:extLst>
              <a:ext uri="{FF2B5EF4-FFF2-40B4-BE49-F238E27FC236}">
                <a16:creationId xmlns:a16="http://schemas.microsoft.com/office/drawing/2014/main" id="{7C45DFFE-E2C9-3C49-B86A-ACFFEB7E4C54}"/>
              </a:ext>
            </a:extLst>
          </p:cNvPr>
          <p:cNvSpPr/>
          <p:nvPr/>
        </p:nvSpPr>
        <p:spPr>
          <a:xfrm>
            <a:off x="6400800" y="2286000"/>
            <a:ext cx="5549900" cy="419100"/>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r>
              <a:rPr lang="en-US" sz="1400" dirty="0">
                <a:solidFill>
                  <a:srgbClr val="2E3640"/>
                </a:solidFill>
              </a:rPr>
              <a:t>B) The confidence interval does not include zero</a:t>
            </a:r>
          </a:p>
        </p:txBody>
      </p:sp>
      <p:sp>
        <p:nvSpPr>
          <p:cNvPr id="17" name="Title 1">
            <a:extLst>
              <a:ext uri="{FF2B5EF4-FFF2-40B4-BE49-F238E27FC236}">
                <a16:creationId xmlns:a16="http://schemas.microsoft.com/office/drawing/2014/main" id="{84E44A74-FCC5-B178-F2A8-EC6B45B749E5}"/>
              </a:ext>
            </a:extLst>
          </p:cNvPr>
          <p:cNvSpPr txBox="1">
            <a:spLocks/>
          </p:cNvSpPr>
          <p:nvPr/>
        </p:nvSpPr>
        <p:spPr>
          <a:xfrm>
            <a:off x="241300" y="127000"/>
            <a:ext cx="10930261" cy="69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lvl1pPr>
              <a:lnSpc>
                <a:spcPct val="90000"/>
              </a:lnSpc>
              <a:defRPr sz="2400" b="1">
                <a:solidFill>
                  <a:srgbClr val="2E6B75"/>
                </a:solidFill>
                <a:latin typeface="+mj-lt"/>
                <a:ea typeface="+mj-ea"/>
                <a:cs typeface="+mj-cs"/>
              </a:defRPr>
            </a:lvl1pPr>
            <a:lvl2pPr>
              <a:lnSpc>
                <a:spcPct val="90000"/>
              </a:lnSpc>
              <a:defRPr sz="4400">
                <a:solidFill>
                  <a:srgbClr val="2E6B75"/>
                </a:solidFill>
                <a:latin typeface="Montserrat" pitchFamily="2" charset="77"/>
              </a:defRPr>
            </a:lvl2pPr>
            <a:lvl3pPr>
              <a:lnSpc>
                <a:spcPct val="90000"/>
              </a:lnSpc>
              <a:defRPr sz="4400">
                <a:solidFill>
                  <a:srgbClr val="2E6B75"/>
                </a:solidFill>
                <a:latin typeface="Montserrat" pitchFamily="2" charset="77"/>
              </a:defRPr>
            </a:lvl3pPr>
            <a:lvl4pPr>
              <a:lnSpc>
                <a:spcPct val="90000"/>
              </a:lnSpc>
              <a:defRPr sz="4400">
                <a:solidFill>
                  <a:srgbClr val="2E6B75"/>
                </a:solidFill>
                <a:latin typeface="Montserrat" pitchFamily="2" charset="77"/>
              </a:defRPr>
            </a:lvl4pPr>
            <a:lvl5pPr>
              <a:lnSpc>
                <a:spcPct val="90000"/>
              </a:lnSpc>
              <a:defRPr sz="4400">
                <a:solidFill>
                  <a:srgbClr val="2E6B75"/>
                </a:solidFill>
                <a:latin typeface="Montserrat" pitchFamily="2" charset="77"/>
              </a:defRPr>
            </a:lvl5pPr>
            <a:lvl6pPr marL="457200" fontAlgn="base">
              <a:lnSpc>
                <a:spcPct val="90000"/>
              </a:lnSpc>
              <a:spcBef>
                <a:spcPct val="0"/>
              </a:spcBef>
              <a:spcAft>
                <a:spcPct val="0"/>
              </a:spcAft>
              <a:defRPr sz="4400">
                <a:solidFill>
                  <a:srgbClr val="2E6B75"/>
                </a:solidFill>
                <a:latin typeface="Montserrat" pitchFamily="2" charset="77"/>
              </a:defRPr>
            </a:lvl6pPr>
            <a:lvl7pPr marL="914400" fontAlgn="base">
              <a:lnSpc>
                <a:spcPct val="90000"/>
              </a:lnSpc>
              <a:spcBef>
                <a:spcPct val="0"/>
              </a:spcBef>
              <a:spcAft>
                <a:spcPct val="0"/>
              </a:spcAft>
              <a:defRPr sz="4400">
                <a:solidFill>
                  <a:srgbClr val="2E6B75"/>
                </a:solidFill>
                <a:latin typeface="Montserrat" pitchFamily="2" charset="77"/>
              </a:defRPr>
            </a:lvl7pPr>
            <a:lvl8pPr marL="1371600" fontAlgn="base">
              <a:lnSpc>
                <a:spcPct val="90000"/>
              </a:lnSpc>
              <a:spcBef>
                <a:spcPct val="0"/>
              </a:spcBef>
              <a:spcAft>
                <a:spcPct val="0"/>
              </a:spcAft>
              <a:defRPr sz="4400">
                <a:solidFill>
                  <a:srgbClr val="2E6B75"/>
                </a:solidFill>
                <a:latin typeface="Montserrat" pitchFamily="2" charset="77"/>
              </a:defRPr>
            </a:lvl8pPr>
            <a:lvl9pPr marL="1828800" fontAlgn="base">
              <a:lnSpc>
                <a:spcPct val="90000"/>
              </a:lnSpc>
              <a:spcBef>
                <a:spcPct val="0"/>
              </a:spcBef>
              <a:spcAft>
                <a:spcPct val="0"/>
              </a:spcAft>
              <a:defRPr sz="4400">
                <a:solidFill>
                  <a:srgbClr val="2E6B75"/>
                </a:solidFill>
                <a:latin typeface="Montserrat" pitchFamily="2" charset="77"/>
              </a:defRPr>
            </a:lvl9pPr>
          </a:lstStyle>
          <a:p>
            <a:r>
              <a:rPr lang="en-US" dirty="0"/>
              <a:t>Practice: Connecting CI, t, and p</a:t>
            </a:r>
          </a:p>
        </p:txBody>
      </p:sp>
      <p:sp>
        <p:nvSpPr>
          <p:cNvPr id="18" name="Rounded Rectangle 17">
            <a:extLst>
              <a:ext uri="{FF2B5EF4-FFF2-40B4-BE49-F238E27FC236}">
                <a16:creationId xmlns:a16="http://schemas.microsoft.com/office/drawing/2014/main" id="{2A8FD971-2BD1-5106-D23C-20B4C78F295D}"/>
              </a:ext>
            </a:extLst>
          </p:cNvPr>
          <p:cNvSpPr/>
          <p:nvPr/>
        </p:nvSpPr>
        <p:spPr>
          <a:xfrm>
            <a:off x="6400800" y="2777259"/>
            <a:ext cx="5549900" cy="419100"/>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r>
              <a:rPr lang="en-US" sz="1400" dirty="0">
                <a:solidFill>
                  <a:srgbClr val="2E3640"/>
                </a:solidFill>
              </a:rPr>
              <a:t>C) The p value is below 0.05 </a:t>
            </a:r>
          </a:p>
        </p:txBody>
      </p:sp>
      <p:sp>
        <p:nvSpPr>
          <p:cNvPr id="19" name="Rounded Rectangle 18">
            <a:extLst>
              <a:ext uri="{FF2B5EF4-FFF2-40B4-BE49-F238E27FC236}">
                <a16:creationId xmlns:a16="http://schemas.microsoft.com/office/drawing/2014/main" id="{349F374C-D88A-0CE2-AE0D-9E5769EBD4F6}"/>
              </a:ext>
            </a:extLst>
          </p:cNvPr>
          <p:cNvSpPr/>
          <p:nvPr/>
        </p:nvSpPr>
        <p:spPr>
          <a:xfrm>
            <a:off x="6400800" y="3271406"/>
            <a:ext cx="5549900" cy="419100"/>
          </a:xfrm>
          <a:prstGeom prst="roundRect">
            <a:avLst/>
          </a:prstGeom>
          <a:solidFill>
            <a:srgbClr val="F4F6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r>
              <a:rPr lang="en-US" sz="1400" dirty="0">
                <a:solidFill>
                  <a:srgbClr val="2E3640"/>
                </a:solidFill>
              </a:rPr>
              <a:t>D) We are 95% confident that there is an effect</a:t>
            </a:r>
          </a:p>
        </p:txBody>
      </p:sp>
      <p:sp>
        <p:nvSpPr>
          <p:cNvPr id="21" name="Rounded Rectangle 20">
            <a:extLst>
              <a:ext uri="{FF2B5EF4-FFF2-40B4-BE49-F238E27FC236}">
                <a16:creationId xmlns:a16="http://schemas.microsoft.com/office/drawing/2014/main" id="{3FDD8487-5ECA-80B3-ECDC-CD6DC1C02990}"/>
              </a:ext>
            </a:extLst>
          </p:cNvPr>
          <p:cNvSpPr/>
          <p:nvPr/>
        </p:nvSpPr>
        <p:spPr>
          <a:xfrm>
            <a:off x="6197600" y="3977409"/>
            <a:ext cx="5753100" cy="1778000"/>
          </a:xfrm>
          <a:prstGeom prst="roundRect">
            <a:avLst/>
          </a:prstGeom>
          <a:solidFill>
            <a:srgbClr val="E8F4F5"/>
          </a:solidFill>
          <a:ln w="12700" cap="flat" cmpd="sng" algn="ctr">
            <a:solidFill>
              <a:srgbClr val="2E6B7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lgn="l"/>
            <a:r>
              <a:rPr lang="en-US" sz="1400" dirty="0">
                <a:solidFill>
                  <a:srgbClr val="2E3640"/>
                </a:solidFill>
              </a:rPr>
              <a:t>Answer: A, B and C
</a:t>
            </a:r>
          </a:p>
        </p:txBody>
      </p:sp>
    </p:spTree>
    <p:extLst>
      <p:ext uri="{BB962C8B-B14F-4D97-AF65-F5344CB8AC3E}">
        <p14:creationId xmlns:p14="http://schemas.microsoft.com/office/powerpoint/2010/main" val="2005660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8" grpId="0" animBg="1"/>
      <p:bldP spid="19" grpId="0" animBg="1"/>
      <p:bldP spid="2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AFE18-353F-0829-2D92-B8905EAC190E}"/>
            </a:ext>
          </a:extLst>
        </p:cNvPr>
        <p:cNvGrpSpPr/>
        <p:nvPr/>
      </p:nvGrpSpPr>
      <p:grpSpPr>
        <a:xfrm>
          <a:off x="0" y="0"/>
          <a:ext cx="0" cy="0"/>
          <a:chOff x="0" y="0"/>
          <a:chExt cx="0" cy="0"/>
        </a:xfrm>
      </p:grpSpPr>
      <p:sp>
        <p:nvSpPr>
          <p:cNvPr id="3073" name="TextBox 14">
            <a:extLst>
              <a:ext uri="{FF2B5EF4-FFF2-40B4-BE49-F238E27FC236}">
                <a16:creationId xmlns:a16="http://schemas.microsoft.com/office/drawing/2014/main" id="{336652C2-80D6-E350-2F1E-E5E11DAAD7AC}"/>
              </a:ext>
            </a:extLst>
          </p:cNvPr>
          <p:cNvSpPr txBox="1">
            <a:spLocks noChangeArrowheads="1"/>
          </p:cNvSpPr>
          <p:nvPr/>
        </p:nvSpPr>
        <p:spPr bwMode="auto">
          <a:xfrm>
            <a:off x="241300" y="245417"/>
            <a:ext cx="10515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r>
              <a:rPr lang="en-US" altLang="en-US" sz="2400" b="1" dirty="0">
                <a:solidFill>
                  <a:srgbClr val="2E6B75"/>
                </a:solidFill>
                <a:latin typeface="Montserrat"/>
              </a:rPr>
              <a:t>Learning Objectives | t Values and p Values</a:t>
            </a:r>
          </a:p>
        </p:txBody>
      </p:sp>
      <p:sp>
        <p:nvSpPr>
          <p:cNvPr id="2" name="LO Circle 1">
            <a:extLst>
              <a:ext uri="{FF2B5EF4-FFF2-40B4-BE49-F238E27FC236}">
                <a16:creationId xmlns:a16="http://schemas.microsoft.com/office/drawing/2014/main" id="{9A8E0F9A-EC20-5852-6F8A-BCEA30B50044}"/>
              </a:ext>
            </a:extLst>
          </p:cNvPr>
          <p:cNvSpPr/>
          <p:nvPr/>
        </p:nvSpPr>
        <p:spPr>
          <a:xfrm>
            <a:off x="609600" y="1092200"/>
            <a:ext cx="406400" cy="406400"/>
          </a:xfrm>
          <a:prstGeom prst="ellipse">
            <a:avLst/>
          </a:prstGeom>
          <a:solidFill>
            <a:srgbClr val="2E6B75"/>
          </a:solidFill>
          <a:ln>
            <a:noFill/>
          </a:ln>
        </p:spPr>
        <p:txBody>
          <a:bodyPr wrap="none" lIns="0" tIns="0" rIns="0" bIns="0" anchor="ctr" anchorCtr="1"/>
          <a:lstStyle/>
          <a:p>
            <a:pPr algn="ctr"/>
            <a:r>
              <a:rPr lang="en-US" sz="1500" b="1" dirty="0">
                <a:solidFill>
                  <a:srgbClr val="FFFFFF"/>
                </a:solidFill>
                <a:latin typeface="Montserrat"/>
              </a:rPr>
              <a:t>1</a:t>
            </a:r>
          </a:p>
        </p:txBody>
      </p:sp>
      <p:sp>
        <p:nvSpPr>
          <p:cNvPr id="3" name="LO Text 1">
            <a:extLst>
              <a:ext uri="{FF2B5EF4-FFF2-40B4-BE49-F238E27FC236}">
                <a16:creationId xmlns:a16="http://schemas.microsoft.com/office/drawing/2014/main" id="{2A3CDEF0-6896-0661-1192-E362F2DB659B}"/>
              </a:ext>
            </a:extLst>
          </p:cNvPr>
          <p:cNvSpPr txBox="1"/>
          <p:nvPr/>
        </p:nvSpPr>
        <p:spPr>
          <a:xfrm>
            <a:off x="1168400" y="1066800"/>
            <a:ext cx="9906000" cy="889000"/>
          </a:xfrm>
          <a:prstGeom prst="rect">
            <a:avLst/>
          </a:prstGeom>
          <a:noFill/>
          <a:ln>
            <a:noFill/>
          </a:ln>
        </p:spPr>
        <p:txBody>
          <a:bodyPr wrap="square" lIns="91440" tIns="45720" rIns="91440" bIns="45720" anchor="t"/>
          <a:lstStyle/>
          <a:p>
            <a:pPr>
              <a:lnSpc>
                <a:spcPts val="1800"/>
              </a:lnSpc>
              <a:spcAft>
                <a:spcPts val="100"/>
              </a:spcAft>
            </a:pPr>
            <a:r>
              <a:rPr lang="en-US" sz="1400" b="1" dirty="0">
                <a:solidFill>
                  <a:srgbClr val="2E3640"/>
                </a:solidFill>
                <a:latin typeface="Montserrat"/>
              </a:rPr>
              <a:t>Compute the t-statistic for a regression slope </a:t>
            </a:r>
            <a:r>
              <a:rPr lang="en-US" sz="2400" b="1" dirty="0">
                <a:solidFill>
                  <a:srgbClr val="2E3640"/>
                </a:solidFill>
                <a:latin typeface="Montserrat"/>
              </a:rPr>
              <a:t>✅</a:t>
            </a:r>
            <a:endParaRPr lang="en-US" sz="1400" b="1" dirty="0">
              <a:solidFill>
                <a:srgbClr val="2E3640"/>
              </a:solidFill>
              <a:latin typeface="Montserrat"/>
            </a:endParaRPr>
          </a:p>
          <a:p>
            <a:pPr>
              <a:lnSpc>
                <a:spcPts val="1600"/>
              </a:lnSpc>
            </a:pPr>
            <a:r>
              <a:rPr lang="en-US" sz="1400" dirty="0">
                <a:solidFill>
                  <a:srgbClr val="7A8694"/>
                </a:solidFill>
                <a:latin typeface="Montserrat"/>
              </a:rPr>
              <a:t>Divide the estimated slope by its standard error to measure how many SEs away from zero the estimate sits</a:t>
            </a:r>
          </a:p>
        </p:txBody>
      </p:sp>
      <p:sp>
        <p:nvSpPr>
          <p:cNvPr id="4" name="LO Circle 2">
            <a:extLst>
              <a:ext uri="{FF2B5EF4-FFF2-40B4-BE49-F238E27FC236}">
                <a16:creationId xmlns:a16="http://schemas.microsoft.com/office/drawing/2014/main" id="{8093A9C2-9A19-F6FC-1678-98C3C82534F7}"/>
              </a:ext>
            </a:extLst>
          </p:cNvPr>
          <p:cNvSpPr/>
          <p:nvPr/>
        </p:nvSpPr>
        <p:spPr>
          <a:xfrm>
            <a:off x="609600" y="2197100"/>
            <a:ext cx="406400" cy="406400"/>
          </a:xfrm>
          <a:prstGeom prst="ellipse">
            <a:avLst/>
          </a:prstGeom>
          <a:solidFill>
            <a:srgbClr val="2E6B75"/>
          </a:solidFill>
          <a:ln>
            <a:noFill/>
          </a:ln>
        </p:spPr>
        <p:txBody>
          <a:bodyPr wrap="none" lIns="0" tIns="0" rIns="0" bIns="0" anchor="ctr" anchorCtr="1"/>
          <a:lstStyle/>
          <a:p>
            <a:pPr algn="ctr"/>
            <a:r>
              <a:rPr lang="en-US" sz="1500" b="1" dirty="0">
                <a:solidFill>
                  <a:srgbClr val="FFFFFF"/>
                </a:solidFill>
                <a:latin typeface="Montserrat"/>
              </a:rPr>
              <a:t>2</a:t>
            </a:r>
          </a:p>
        </p:txBody>
      </p:sp>
      <p:sp>
        <p:nvSpPr>
          <p:cNvPr id="5" name="LO Text 2">
            <a:extLst>
              <a:ext uri="{FF2B5EF4-FFF2-40B4-BE49-F238E27FC236}">
                <a16:creationId xmlns:a16="http://schemas.microsoft.com/office/drawing/2014/main" id="{97EEE760-0223-3C11-5D20-C51A7381331A}"/>
              </a:ext>
            </a:extLst>
          </p:cNvPr>
          <p:cNvSpPr txBox="1"/>
          <p:nvPr/>
        </p:nvSpPr>
        <p:spPr>
          <a:xfrm>
            <a:off x="1168400" y="2171700"/>
            <a:ext cx="9906000" cy="889000"/>
          </a:xfrm>
          <a:prstGeom prst="rect">
            <a:avLst/>
          </a:prstGeom>
          <a:noFill/>
          <a:ln>
            <a:noFill/>
          </a:ln>
        </p:spPr>
        <p:txBody>
          <a:bodyPr wrap="square" lIns="91440" tIns="45720" rIns="91440" bIns="45720" anchor="t"/>
          <a:lstStyle/>
          <a:p>
            <a:pPr>
              <a:lnSpc>
                <a:spcPts val="1800"/>
              </a:lnSpc>
              <a:spcAft>
                <a:spcPts val="100"/>
              </a:spcAft>
            </a:pPr>
            <a:r>
              <a:rPr lang="en-US" sz="1400" b="1" dirty="0">
                <a:solidFill>
                  <a:srgbClr val="2E3640"/>
                </a:solidFill>
                <a:latin typeface="Montserrat"/>
              </a:rPr>
              <a:t>Define the null hypothesis, explain how a t-value is used to calculate a p-value, and describe what the p-value represents.✅</a:t>
            </a:r>
          </a:p>
          <a:p>
            <a:pPr>
              <a:lnSpc>
                <a:spcPts val="1600"/>
              </a:lnSpc>
            </a:pPr>
            <a:r>
              <a:rPr lang="en-US" sz="1400" dirty="0">
                <a:solidFill>
                  <a:srgbClr val="7A8694"/>
                </a:solidFill>
                <a:latin typeface="Montserrat"/>
              </a:rPr>
              <a:t>H₀: β₁ = 0 says x has no linear effect; the p-value is the probability of seeing a test statistic this extreme if H₀ is true</a:t>
            </a:r>
          </a:p>
        </p:txBody>
      </p:sp>
      <p:sp>
        <p:nvSpPr>
          <p:cNvPr id="6" name="LO Circle 4">
            <a:extLst>
              <a:ext uri="{FF2B5EF4-FFF2-40B4-BE49-F238E27FC236}">
                <a16:creationId xmlns:a16="http://schemas.microsoft.com/office/drawing/2014/main" id="{C89156D3-4445-A3AF-20CA-582F5D4DC068}"/>
              </a:ext>
            </a:extLst>
          </p:cNvPr>
          <p:cNvSpPr/>
          <p:nvPr/>
        </p:nvSpPr>
        <p:spPr>
          <a:xfrm>
            <a:off x="584200" y="3302000"/>
            <a:ext cx="406400" cy="406400"/>
          </a:xfrm>
          <a:prstGeom prst="ellipse">
            <a:avLst/>
          </a:prstGeom>
          <a:solidFill>
            <a:srgbClr val="2E6B75"/>
          </a:solidFill>
          <a:ln>
            <a:noFill/>
          </a:ln>
        </p:spPr>
        <p:txBody>
          <a:bodyPr wrap="none" lIns="0" tIns="0" rIns="0" bIns="0" anchor="ctr" anchorCtr="1"/>
          <a:lstStyle>
            <a:defPPr>
              <a:defRPr lang="en-US"/>
            </a:defPPr>
            <a:lvl1pPr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1pPr>
            <a:lvl2pPr marL="4572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2pPr>
            <a:lvl3pPr marL="9144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3pPr>
            <a:lvl4pPr marL="13716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4pPr>
            <a:lvl5pPr marL="18288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5pPr>
            <a:lvl6pPr marL="2286000" algn="l" defTabSz="914400" rtl="0" eaLnBrk="1" latinLnBrk="0" hangingPunct="1">
              <a:defRPr kern="1200">
                <a:solidFill>
                  <a:schemeClr val="tx1"/>
                </a:solidFill>
                <a:latin typeface="Open Sans" panose="020B0606030504020204" pitchFamily="34" charset="0"/>
                <a:ea typeface="+mn-ea"/>
                <a:cs typeface="+mn-cs"/>
              </a:defRPr>
            </a:lvl6pPr>
            <a:lvl7pPr marL="2743200" algn="l" defTabSz="914400" rtl="0" eaLnBrk="1" latinLnBrk="0" hangingPunct="1">
              <a:defRPr kern="1200">
                <a:solidFill>
                  <a:schemeClr val="tx1"/>
                </a:solidFill>
                <a:latin typeface="Open Sans" panose="020B0606030504020204" pitchFamily="34" charset="0"/>
                <a:ea typeface="+mn-ea"/>
                <a:cs typeface="+mn-cs"/>
              </a:defRPr>
            </a:lvl7pPr>
            <a:lvl8pPr marL="3200400" algn="l" defTabSz="914400" rtl="0" eaLnBrk="1" latinLnBrk="0" hangingPunct="1">
              <a:defRPr kern="1200">
                <a:solidFill>
                  <a:schemeClr val="tx1"/>
                </a:solidFill>
                <a:latin typeface="Open Sans" panose="020B0606030504020204" pitchFamily="34" charset="0"/>
                <a:ea typeface="+mn-ea"/>
                <a:cs typeface="+mn-cs"/>
              </a:defRPr>
            </a:lvl8pPr>
            <a:lvl9pPr marL="3657600" algn="l" defTabSz="914400" rtl="0" eaLnBrk="1" latinLnBrk="0" hangingPunct="1">
              <a:defRPr kern="1200">
                <a:solidFill>
                  <a:schemeClr val="tx1"/>
                </a:solidFill>
                <a:latin typeface="Open Sans" panose="020B0606030504020204" pitchFamily="34" charset="0"/>
                <a:ea typeface="+mn-ea"/>
                <a:cs typeface="+mn-cs"/>
              </a:defRPr>
            </a:lvl9pPr>
          </a:lstStyle>
          <a:p>
            <a:pPr algn="ctr"/>
            <a:r>
              <a:rPr lang="en-US" sz="1500" b="1" dirty="0">
                <a:solidFill>
                  <a:srgbClr val="FFFFFF"/>
                </a:solidFill>
                <a:latin typeface="Montserrat"/>
              </a:rPr>
              <a:t>3</a:t>
            </a:r>
          </a:p>
        </p:txBody>
      </p:sp>
      <p:sp>
        <p:nvSpPr>
          <p:cNvPr id="7" name="LO Text 4">
            <a:extLst>
              <a:ext uri="{FF2B5EF4-FFF2-40B4-BE49-F238E27FC236}">
                <a16:creationId xmlns:a16="http://schemas.microsoft.com/office/drawing/2014/main" id="{A2724595-CC3C-77D0-35AC-01D43FB8393A}"/>
              </a:ext>
            </a:extLst>
          </p:cNvPr>
          <p:cNvSpPr txBox="1"/>
          <p:nvPr/>
        </p:nvSpPr>
        <p:spPr>
          <a:xfrm>
            <a:off x="1143000" y="3276600"/>
            <a:ext cx="9906000" cy="889000"/>
          </a:xfrm>
          <a:prstGeom prst="rect">
            <a:avLst/>
          </a:prstGeom>
          <a:noFill/>
          <a:ln>
            <a:noFill/>
          </a:ln>
        </p:spPr>
        <p:txBody>
          <a:bodyPr wrap="square" lIns="91440" tIns="45720" rIns="91440" bIns="45720" anchor="t"/>
          <a:lstStyle>
            <a:defPPr>
              <a:defRPr lang="en-US"/>
            </a:defPPr>
            <a:lvl1pPr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1pPr>
            <a:lvl2pPr marL="4572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2pPr>
            <a:lvl3pPr marL="9144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3pPr>
            <a:lvl4pPr marL="13716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4pPr>
            <a:lvl5pPr marL="18288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5pPr>
            <a:lvl6pPr marL="2286000" algn="l" defTabSz="914400" rtl="0" eaLnBrk="1" latinLnBrk="0" hangingPunct="1">
              <a:defRPr kern="1200">
                <a:solidFill>
                  <a:schemeClr val="tx1"/>
                </a:solidFill>
                <a:latin typeface="Open Sans" panose="020B0606030504020204" pitchFamily="34" charset="0"/>
                <a:ea typeface="+mn-ea"/>
                <a:cs typeface="+mn-cs"/>
              </a:defRPr>
            </a:lvl6pPr>
            <a:lvl7pPr marL="2743200" algn="l" defTabSz="914400" rtl="0" eaLnBrk="1" latinLnBrk="0" hangingPunct="1">
              <a:defRPr kern="1200">
                <a:solidFill>
                  <a:schemeClr val="tx1"/>
                </a:solidFill>
                <a:latin typeface="Open Sans" panose="020B0606030504020204" pitchFamily="34" charset="0"/>
                <a:ea typeface="+mn-ea"/>
                <a:cs typeface="+mn-cs"/>
              </a:defRPr>
            </a:lvl7pPr>
            <a:lvl8pPr marL="3200400" algn="l" defTabSz="914400" rtl="0" eaLnBrk="1" latinLnBrk="0" hangingPunct="1">
              <a:defRPr kern="1200">
                <a:solidFill>
                  <a:schemeClr val="tx1"/>
                </a:solidFill>
                <a:latin typeface="Open Sans" panose="020B0606030504020204" pitchFamily="34" charset="0"/>
                <a:ea typeface="+mn-ea"/>
                <a:cs typeface="+mn-cs"/>
              </a:defRPr>
            </a:lvl8pPr>
            <a:lvl9pPr marL="3657600" algn="l" defTabSz="914400" rtl="0" eaLnBrk="1" latinLnBrk="0" hangingPunct="1">
              <a:defRPr kern="1200">
                <a:solidFill>
                  <a:schemeClr val="tx1"/>
                </a:solidFill>
                <a:latin typeface="Open Sans" panose="020B0606030504020204" pitchFamily="34" charset="0"/>
                <a:ea typeface="+mn-ea"/>
                <a:cs typeface="+mn-cs"/>
              </a:defRPr>
            </a:lvl9pPr>
          </a:lstStyle>
          <a:p>
            <a:pPr>
              <a:lnSpc>
                <a:spcPts val="1800"/>
              </a:lnSpc>
              <a:spcAft>
                <a:spcPts val="100"/>
              </a:spcAft>
            </a:pPr>
            <a:r>
              <a:rPr lang="en-US" sz="1400" b="1" dirty="0">
                <a:solidFill>
                  <a:srgbClr val="2E3640"/>
                </a:solidFill>
                <a:latin typeface="Montserrat"/>
              </a:rPr>
              <a:t>Connect the CI and p-value as two views of the same test  </a:t>
            </a:r>
            <a:r>
              <a:rPr lang="en-US" sz="2400" b="1" dirty="0">
                <a:solidFill>
                  <a:srgbClr val="2E3640"/>
                </a:solidFill>
                <a:latin typeface="Montserrat"/>
              </a:rPr>
              <a:t>✅</a:t>
            </a:r>
            <a:endParaRPr lang="en-US" sz="1400" b="1" dirty="0">
              <a:solidFill>
                <a:srgbClr val="2E3640"/>
              </a:solidFill>
              <a:latin typeface="Montserrat"/>
            </a:endParaRPr>
          </a:p>
          <a:p>
            <a:pPr>
              <a:lnSpc>
                <a:spcPts val="1600"/>
              </a:lnSpc>
            </a:pPr>
            <a:r>
              <a:rPr lang="en-US" sz="1400" dirty="0">
                <a:solidFill>
                  <a:srgbClr val="7A8694"/>
                </a:solidFill>
                <a:latin typeface="Montserrat"/>
              </a:rPr>
              <a:t>The CI excludes zero exactly when the p-value falls below the significance level — both tools give the same verdict</a:t>
            </a:r>
          </a:p>
        </p:txBody>
      </p:sp>
    </p:spTree>
    <p:extLst>
      <p:ext uri="{BB962C8B-B14F-4D97-AF65-F5344CB8AC3E}">
        <p14:creationId xmlns:p14="http://schemas.microsoft.com/office/powerpoint/2010/main" val="508451050"/>
      </p:ext>
    </p:extLst>
  </p:cSld>
  <p:clrMapOvr>
    <a:masterClrMapping/>
  </p:clrMapOvr>
</p:sld>
</file>

<file path=ppt/theme/theme1.xml><?xml version="1.0" encoding="utf-8"?>
<a:theme xmlns:a="http://schemas.openxmlformats.org/drawingml/2006/main" name="Office Theme">
  <a:themeElements>
    <a:clrScheme name="Academic Teal">
      <a:dk1>
        <a:srgbClr val="2E3640"/>
      </a:dk1>
      <a:lt1>
        <a:srgbClr val="FFFFFF"/>
      </a:lt1>
      <a:dk2>
        <a:srgbClr val="2E6B75"/>
      </a:dk2>
      <a:lt2>
        <a:srgbClr val="EAF4F4"/>
      </a:lt2>
      <a:accent1>
        <a:srgbClr val="2E6B75"/>
      </a:accent1>
      <a:accent2>
        <a:srgbClr val="F8D377"/>
      </a:accent2>
      <a:accent3>
        <a:srgbClr val="EAF4F4"/>
      </a:accent3>
      <a:accent4>
        <a:srgbClr val="3A8A96"/>
      </a:accent4>
      <a:accent5>
        <a:srgbClr val="F5C451"/>
      </a:accent5>
      <a:accent6>
        <a:srgbClr val="1D4D55"/>
      </a:accent6>
      <a:hlink>
        <a:srgbClr val="467886"/>
      </a:hlink>
      <a:folHlink>
        <a:srgbClr val="96607D"/>
      </a:folHlink>
    </a:clrScheme>
    <a:fontScheme name="Academic">
      <a:majorFont>
        <a:latin typeface="Montserra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pen San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Academic Teal">
      <a:dk1>
        <a:srgbClr val="2E3640"/>
      </a:dk1>
      <a:lt1>
        <a:srgbClr val="FFFFFF"/>
      </a:lt1>
      <a:dk2>
        <a:srgbClr val="2E6B75"/>
      </a:dk2>
      <a:lt2>
        <a:srgbClr val="EAF4F4"/>
      </a:lt2>
      <a:accent1>
        <a:srgbClr val="2E6B75"/>
      </a:accent1>
      <a:accent2>
        <a:srgbClr val="F8D377"/>
      </a:accent2>
      <a:accent3>
        <a:srgbClr val="EAF4F4"/>
      </a:accent3>
      <a:accent4>
        <a:srgbClr val="3A8A96"/>
      </a:accent4>
      <a:accent5>
        <a:srgbClr val="F5C451"/>
      </a:accent5>
      <a:accent6>
        <a:srgbClr val="1D4D55"/>
      </a:accent6>
      <a:hlink>
        <a:srgbClr val="467886"/>
      </a:hlink>
      <a:folHlink>
        <a:srgbClr val="96607D"/>
      </a:folHlink>
    </a:clrScheme>
    <a:fontScheme name="Academic">
      <a:majorFont>
        <a:latin typeface="Montserra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pen San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0F220BE-BDA3-6942-9F56-18FAB3264D7F}">
  <we:reference id="wa200010001" version="1.0.0.0" store="en-US" storeType="OMEX"/>
  <we:alternateReferences>
    <we:reference id="wa200010001" version="1.0.0.0" store="en-US" storeType="OMEX"/>
  </we:alternateReferences>
  <we:properties>
    <we:property name="Office.AutoShowTaskpaneWithDocument" value="true"/>
    <we:property name="claude.fileId" value="&quot;3720bc81-a245-429a-9deb-2e4fe2c4cef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19723</TotalTime>
  <Words>3014</Words>
  <Application>Microsoft Macintosh PowerPoint</Application>
  <PresentationFormat>Widescreen</PresentationFormat>
  <Paragraphs>416</Paragraphs>
  <Slides>17</Slides>
  <Notes>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17</vt:i4>
      </vt:variant>
    </vt:vector>
  </HeadingPairs>
  <TitlesOfParts>
    <vt:vector size="24" baseType="lpstr">
      <vt:lpstr>Aptos</vt:lpstr>
      <vt:lpstr>Arial</vt:lpstr>
      <vt:lpstr>Consolas</vt:lpstr>
      <vt:lpstr>Montserrat</vt:lpstr>
      <vt:lpstr>Open Sans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CI and p-Value Tell the Same Story, but Reporting the CI is preferred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Kenechukwu Nwosu</dc:creator>
  <cp:lastModifiedBy>Kenechukwu Nwosu</cp:lastModifiedBy>
  <cp:revision>419</cp:revision>
  <dcterms:created xsi:type="dcterms:W3CDTF">2026-03-04T23:12:46Z</dcterms:created>
  <dcterms:modified xsi:type="dcterms:W3CDTF">2026-05-17T15:17:23Z</dcterms:modified>
</cp:coreProperties>
</file>