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1"/>
  </p:notesMasterIdLst>
  <p:sldIdLst>
    <p:sldId id="645" r:id="rId3"/>
    <p:sldId id="648" r:id="rId4"/>
    <p:sldId id="570" r:id="rId5"/>
    <p:sldId id="528" r:id="rId6"/>
    <p:sldId id="697" r:id="rId7"/>
    <p:sldId id="699" r:id="rId8"/>
    <p:sldId id="647" r:id="rId9"/>
    <p:sldId id="689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CB0"/>
    <a:srgbClr val="CDE7EB"/>
    <a:srgbClr val="F1F4FF"/>
    <a:srgbClr val="D5952A"/>
    <a:srgbClr val="E0AF89"/>
    <a:srgbClr val="F6FFF6"/>
    <a:srgbClr val="4698C9"/>
    <a:srgbClr val="489BCC"/>
    <a:srgbClr val="FFF8E8"/>
    <a:srgbClr val="2C8B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48"/>
    <p:restoredTop sz="94680"/>
  </p:normalViewPr>
  <p:slideViewPr>
    <p:cSldViewPr snapToGrid="0">
      <p:cViewPr varScale="1">
        <p:scale>
          <a:sx n="130" d="100"/>
          <a:sy n="130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5251F-F7EB-C247-A649-A1B8A95EA91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02261-1C33-9047-9202-2A1CD1296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1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A3E2-F9F0-E884-1395-487EF700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C3195-947A-E945-49F5-70FA8AA90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379E9-F0E8-3270-4E43-35D3D337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43737-5953-355D-AD49-2FA735150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02261-1C33-9047-9202-2A1CD1296B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78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7AD6-E01C-88E9-0582-3315E12E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26DB6-01F3-B94E-45AD-323E1EBF0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34D88-1370-4D94-8006-886CC3A5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71225-480E-F233-6397-6DB46BE1C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02261-1C33-9047-9202-2A1CD1296B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7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6525"/>
            <a:ext cx="10515600" cy="699587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44449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5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66575" y="68262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6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84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7BE6-59D5-B336-0F62-E71E746D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A0ED15D3-E650-A81A-4F1B-909FB71C7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Standard Error and Confidence Intervals</a:t>
            </a:r>
          </a:p>
        </p:txBody>
      </p:sp>
      <p:sp>
        <p:nvSpPr>
          <p:cNvPr id="400" name="LO Circle 1">
            <a:extLst>
              <a:ext uri="{FF2B5EF4-FFF2-40B4-BE49-F238E27FC236}">
                <a16:creationId xmlns:a16="http://schemas.microsoft.com/office/drawing/2014/main" id="{EC77EE08-E260-C0C2-02F2-03C6C0211EB5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01" name="LO Text 1">
            <a:extLst>
              <a:ext uri="{FF2B5EF4-FFF2-40B4-BE49-F238E27FC236}">
                <a16:creationId xmlns:a16="http://schemas.microsoft.com/office/drawing/2014/main" id="{B3BC7DA4-5364-5261-FAEA-A00216404203}"/>
              </a:ext>
            </a:extLst>
          </p:cNvPr>
          <p:cNvSpPr txBox="1"/>
          <p:nvPr/>
        </p:nvSpPr>
        <p:spPr>
          <a:xfrm>
            <a:off x="1168400" y="10668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standard error of the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SE(b₁) quantifies how much the slope typically varies from sample to sample</a:t>
            </a:r>
          </a:p>
        </p:txBody>
      </p:sp>
      <p:sp>
        <p:nvSpPr>
          <p:cNvPr id="402" name="LO Circle 2">
            <a:extLst>
              <a:ext uri="{FF2B5EF4-FFF2-40B4-BE49-F238E27FC236}">
                <a16:creationId xmlns:a16="http://schemas.microsoft.com/office/drawing/2014/main" id="{1C1B5798-14AF-31FD-B6CB-217164E91C62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3" name="LO Text 2">
            <a:extLst>
              <a:ext uri="{FF2B5EF4-FFF2-40B4-BE49-F238E27FC236}">
                <a16:creationId xmlns:a16="http://schemas.microsoft.com/office/drawing/2014/main" id="{695DE458-0C70-BD1A-74C9-CBFC5976C4A4}"/>
              </a:ext>
            </a:extLst>
          </p:cNvPr>
          <p:cNvSpPr txBox="1"/>
          <p:nvPr/>
        </p:nvSpPr>
        <p:spPr>
          <a:xfrm>
            <a:off x="1168400" y="21717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Identify the three ingredients that control 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Residual spread (s), sample size (n), and x-spread (Sxx) all affect precision</a:t>
            </a:r>
          </a:p>
        </p:txBody>
      </p:sp>
      <p:sp>
        <p:nvSpPr>
          <p:cNvPr id="404" name="LO Circle 3">
            <a:extLst>
              <a:ext uri="{FF2B5EF4-FFF2-40B4-BE49-F238E27FC236}">
                <a16:creationId xmlns:a16="http://schemas.microsoft.com/office/drawing/2014/main" id="{5EDD4992-16C6-22D0-4C00-03327AE2D337}"/>
              </a:ext>
            </a:extLst>
          </p:cNvPr>
          <p:cNvSpPr/>
          <p:nvPr/>
        </p:nvSpPr>
        <p:spPr>
          <a:xfrm>
            <a:off x="584200" y="53310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05" name="LO Text 3">
            <a:extLst>
              <a:ext uri="{FF2B5EF4-FFF2-40B4-BE49-F238E27FC236}">
                <a16:creationId xmlns:a16="http://schemas.microsoft.com/office/drawing/2014/main" id="{C5C622E0-495B-27DB-C78E-B5BE658ECFF4}"/>
              </a:ext>
            </a:extLst>
          </p:cNvPr>
          <p:cNvSpPr txBox="1"/>
          <p:nvPr/>
        </p:nvSpPr>
        <p:spPr>
          <a:xfrm>
            <a:off x="1143000" y="53056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Distinguish the sample slope from the true slope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b₁ is our estimate from data; β₁ is the unknown population parameter</a:t>
            </a:r>
          </a:p>
        </p:txBody>
      </p:sp>
      <p:sp>
        <p:nvSpPr>
          <p:cNvPr id="406" name="LO Circle 4">
            <a:extLst>
              <a:ext uri="{FF2B5EF4-FFF2-40B4-BE49-F238E27FC236}">
                <a16:creationId xmlns:a16="http://schemas.microsoft.com/office/drawing/2014/main" id="{26270079-2931-9162-71ED-D52BCBF8B54D}"/>
              </a:ext>
            </a:extLst>
          </p:cNvPr>
          <p:cNvSpPr/>
          <p:nvPr/>
        </p:nvSpPr>
        <p:spPr>
          <a:xfrm>
            <a:off x="584200" y="325120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7" name="LO Text 4">
            <a:extLst>
              <a:ext uri="{FF2B5EF4-FFF2-40B4-BE49-F238E27FC236}">
                <a16:creationId xmlns:a16="http://schemas.microsoft.com/office/drawing/2014/main" id="{95478B09-6E72-3CEF-3E12-1852932649AB}"/>
              </a:ext>
            </a:extLst>
          </p:cNvPr>
          <p:cNvSpPr txBox="1"/>
          <p:nvPr/>
        </p:nvSpPr>
        <p:spPr>
          <a:xfrm>
            <a:off x="1143000" y="322580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Construct and interpret a confidence interval for the slope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Combine the estimate, SE, and t-multiplier to build an interval that gives a plausible range for β₁</a:t>
            </a:r>
          </a:p>
        </p:txBody>
      </p:sp>
      <p:sp>
        <p:nvSpPr>
          <p:cNvPr id="408" name="LO Circle 5">
            <a:extLst>
              <a:ext uri="{FF2B5EF4-FFF2-40B4-BE49-F238E27FC236}">
                <a16:creationId xmlns:a16="http://schemas.microsoft.com/office/drawing/2014/main" id="{21B8251E-9665-3EBC-44E6-56388A85B4E8}"/>
              </a:ext>
            </a:extLst>
          </p:cNvPr>
          <p:cNvSpPr/>
          <p:nvPr/>
        </p:nvSpPr>
        <p:spPr>
          <a:xfrm>
            <a:off x="584200" y="43023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09" name="LO Text 5">
            <a:extLst>
              <a:ext uri="{FF2B5EF4-FFF2-40B4-BE49-F238E27FC236}">
                <a16:creationId xmlns:a16="http://schemas.microsoft.com/office/drawing/2014/main" id="{E0D74859-0351-486F-271E-0EEA622A47C6}"/>
              </a:ext>
            </a:extLst>
          </p:cNvPr>
          <p:cNvSpPr txBox="1"/>
          <p:nvPr/>
        </p:nvSpPr>
        <p:spPr>
          <a:xfrm>
            <a:off x="1143000" y="42769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Use the CI to test for a significant effect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If zero falls outside the CI, the relationship is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317986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6133-7E51-64A1-86FA-C50D466A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roup 1388">
            <a:extLst>
              <a:ext uri="{FF2B5EF4-FFF2-40B4-BE49-F238E27FC236}">
                <a16:creationId xmlns:a16="http://schemas.microsoft.com/office/drawing/2014/main" id="{CB956433-C355-731F-683A-547CB11F9DCD}"/>
              </a:ext>
            </a:extLst>
          </p:cNvPr>
          <p:cNvGrpSpPr/>
          <p:nvPr/>
        </p:nvGrpSpPr>
        <p:grpSpPr>
          <a:xfrm>
            <a:off x="174308" y="2443979"/>
            <a:ext cx="7816273" cy="1970041"/>
            <a:chOff x="174308" y="2443979"/>
            <a:chExt cx="7816273" cy="1970041"/>
          </a:xfrm>
        </p:grpSpPr>
        <p:grpSp>
          <p:nvGrpSpPr>
            <p:cNvPr id="1388" name="Group 1387">
              <a:extLst>
                <a:ext uri="{FF2B5EF4-FFF2-40B4-BE49-F238E27FC236}">
                  <a16:creationId xmlns:a16="http://schemas.microsoft.com/office/drawing/2014/main" id="{D4C3EADD-9E62-34D8-CA4E-2982861CD830}"/>
                </a:ext>
              </a:extLst>
            </p:cNvPr>
            <p:cNvGrpSpPr/>
            <p:nvPr/>
          </p:nvGrpSpPr>
          <p:grpSpPr>
            <a:xfrm>
              <a:off x="174308" y="2443979"/>
              <a:ext cx="7816273" cy="1970041"/>
              <a:chOff x="174308" y="2443979"/>
              <a:chExt cx="7816273" cy="1970041"/>
            </a:xfrm>
          </p:grpSpPr>
          <p:sp>
            <p:nvSpPr>
              <p:cNvPr id="1379" name="Rounded Rectangle 1378">
                <a:extLst>
                  <a:ext uri="{FF2B5EF4-FFF2-40B4-BE49-F238E27FC236}">
                    <a16:creationId xmlns:a16="http://schemas.microsoft.com/office/drawing/2014/main" id="{4757D741-8471-E942-A60D-22EBB3AB1A11}"/>
                  </a:ext>
                </a:extLst>
              </p:cNvPr>
              <p:cNvSpPr/>
              <p:nvPr/>
            </p:nvSpPr>
            <p:spPr>
              <a:xfrm>
                <a:off x="183574" y="2443979"/>
                <a:ext cx="7807007" cy="1970041"/>
              </a:xfrm>
              <a:prstGeom prst="roundRect">
                <a:avLst>
                  <a:gd name="adj" fmla="val 4325"/>
                </a:avLst>
              </a:prstGeom>
              <a:solidFill>
                <a:srgbClr val="E8EFF8">
                  <a:alpha val="70000"/>
                </a:srgbClr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sp>
            <p:nvSpPr>
              <p:cNvPr id="1200" name="NL6">
                <a:extLst>
                  <a:ext uri="{FF2B5EF4-FFF2-40B4-BE49-F238E27FC236}">
                    <a16:creationId xmlns:a16="http://schemas.microsoft.com/office/drawing/2014/main" id="{D25F4BDF-04AC-0C18-56C7-5141F0CB3BDA}"/>
                  </a:ext>
                </a:extLst>
              </p:cNvPr>
              <p:cNvSpPr/>
              <p:nvPr/>
            </p:nvSpPr>
            <p:spPr>
              <a:xfrm>
                <a:off x="453708" y="3140438"/>
                <a:ext cx="6731000" cy="0"/>
              </a:xfrm>
              <a:prstGeom prst="line">
                <a:avLst/>
              </a:prstGeom>
              <a:ln w="15875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NL6Tk0">
                <a:extLst>
                  <a:ext uri="{FF2B5EF4-FFF2-40B4-BE49-F238E27FC236}">
                    <a16:creationId xmlns:a16="http://schemas.microsoft.com/office/drawing/2014/main" id="{30E36B46-8546-C542-617F-8815B859B4B9}"/>
                  </a:ext>
                </a:extLst>
              </p:cNvPr>
              <p:cNvSpPr/>
              <p:nvPr/>
            </p:nvSpPr>
            <p:spPr>
              <a:xfrm>
                <a:off x="453708" y="3064238"/>
                <a:ext cx="0" cy="1524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NL6TL0">
                <a:extLst>
                  <a:ext uri="{FF2B5EF4-FFF2-40B4-BE49-F238E27FC236}">
                    <a16:creationId xmlns:a16="http://schemas.microsoft.com/office/drawing/2014/main" id="{11337A45-4754-9CD1-73D0-0729DD496CB1}"/>
                  </a:ext>
                </a:extLst>
              </p:cNvPr>
              <p:cNvSpPr/>
              <p:nvPr/>
            </p:nvSpPr>
            <p:spPr>
              <a:xfrm>
                <a:off x="174308" y="3242038"/>
                <a:ext cx="55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algn="ctr"/>
                <a:r>
                  <a:rPr lang="en-US" sz="1000" dirty="0">
                    <a:solidFill>
                      <a:srgbClr val="2E3640"/>
                    </a:solidFill>
                    <a:latin typeface="Open Sans"/>
                  </a:rPr>
                  <a:t>0.0</a:t>
                </a:r>
              </a:p>
            </p:txBody>
          </p:sp>
          <p:sp>
            <p:nvSpPr>
              <p:cNvPr id="1203" name="NL6Tk0.1">
                <a:extLst>
                  <a:ext uri="{FF2B5EF4-FFF2-40B4-BE49-F238E27FC236}">
                    <a16:creationId xmlns:a16="http://schemas.microsoft.com/office/drawing/2014/main" id="{C637BEAD-02E2-74A1-27C4-F7E67EB3ACD5}"/>
                  </a:ext>
                </a:extLst>
              </p:cNvPr>
              <p:cNvSpPr/>
              <p:nvPr/>
            </p:nvSpPr>
            <p:spPr>
              <a:xfrm>
                <a:off x="1295083" y="3102338"/>
                <a:ext cx="0" cy="762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NL6Tk0.2">
                <a:extLst>
                  <a:ext uri="{FF2B5EF4-FFF2-40B4-BE49-F238E27FC236}">
                    <a16:creationId xmlns:a16="http://schemas.microsoft.com/office/drawing/2014/main" id="{21B29B19-6705-6F90-12C1-2C607E547877}"/>
                  </a:ext>
                </a:extLst>
              </p:cNvPr>
              <p:cNvSpPr/>
              <p:nvPr/>
            </p:nvSpPr>
            <p:spPr>
              <a:xfrm>
                <a:off x="2136458" y="3064238"/>
                <a:ext cx="0" cy="1524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NL6TL0.2">
                <a:extLst>
                  <a:ext uri="{FF2B5EF4-FFF2-40B4-BE49-F238E27FC236}">
                    <a16:creationId xmlns:a16="http://schemas.microsoft.com/office/drawing/2014/main" id="{64A7B2F9-A8FF-91DF-C9EB-9880A226A8BC}"/>
                  </a:ext>
                </a:extLst>
              </p:cNvPr>
              <p:cNvSpPr/>
              <p:nvPr/>
            </p:nvSpPr>
            <p:spPr>
              <a:xfrm>
                <a:off x="1857058" y="3242038"/>
                <a:ext cx="55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algn="ctr"/>
                <a:r>
                  <a:rPr lang="en-US" sz="1000" dirty="0">
                    <a:solidFill>
                      <a:srgbClr val="2E3640"/>
                    </a:solidFill>
                    <a:latin typeface="Open Sans"/>
                  </a:rPr>
                  <a:t>0.2</a:t>
                </a:r>
              </a:p>
            </p:txBody>
          </p:sp>
          <p:sp>
            <p:nvSpPr>
              <p:cNvPr id="1206" name="NL6Tk0.3">
                <a:extLst>
                  <a:ext uri="{FF2B5EF4-FFF2-40B4-BE49-F238E27FC236}">
                    <a16:creationId xmlns:a16="http://schemas.microsoft.com/office/drawing/2014/main" id="{F1F632C4-1EB2-6918-ABF2-62025613D95A}"/>
                  </a:ext>
                </a:extLst>
              </p:cNvPr>
              <p:cNvSpPr/>
              <p:nvPr/>
            </p:nvSpPr>
            <p:spPr>
              <a:xfrm>
                <a:off x="2977833" y="3102338"/>
                <a:ext cx="0" cy="762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NL6Tk0.4">
                <a:extLst>
                  <a:ext uri="{FF2B5EF4-FFF2-40B4-BE49-F238E27FC236}">
                    <a16:creationId xmlns:a16="http://schemas.microsoft.com/office/drawing/2014/main" id="{ADB0BD6B-3049-DB70-F16E-DE4E4F435304}"/>
                  </a:ext>
                </a:extLst>
              </p:cNvPr>
              <p:cNvSpPr/>
              <p:nvPr/>
            </p:nvSpPr>
            <p:spPr>
              <a:xfrm>
                <a:off x="3819208" y="3064238"/>
                <a:ext cx="0" cy="1524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NL6TL0.4">
                <a:extLst>
                  <a:ext uri="{FF2B5EF4-FFF2-40B4-BE49-F238E27FC236}">
                    <a16:creationId xmlns:a16="http://schemas.microsoft.com/office/drawing/2014/main" id="{BF8F2289-F2B1-CA2B-FB2C-ED652C4E8DDE}"/>
                  </a:ext>
                </a:extLst>
              </p:cNvPr>
              <p:cNvSpPr/>
              <p:nvPr/>
            </p:nvSpPr>
            <p:spPr>
              <a:xfrm>
                <a:off x="3539808" y="3242038"/>
                <a:ext cx="55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algn="ctr"/>
                <a:r>
                  <a:rPr lang="en-US" sz="1000" dirty="0">
                    <a:solidFill>
                      <a:srgbClr val="2E3640"/>
                    </a:solidFill>
                    <a:latin typeface="Open Sans"/>
                  </a:rPr>
                  <a:t>0.4</a:t>
                </a:r>
              </a:p>
            </p:txBody>
          </p:sp>
          <p:sp>
            <p:nvSpPr>
              <p:cNvPr id="1209" name="NL6Tk0.5">
                <a:extLst>
                  <a:ext uri="{FF2B5EF4-FFF2-40B4-BE49-F238E27FC236}">
                    <a16:creationId xmlns:a16="http://schemas.microsoft.com/office/drawing/2014/main" id="{6FC5C7EF-DF5B-5B7C-5476-7A931EA4FAD3}"/>
                  </a:ext>
                </a:extLst>
              </p:cNvPr>
              <p:cNvSpPr/>
              <p:nvPr/>
            </p:nvSpPr>
            <p:spPr>
              <a:xfrm>
                <a:off x="4660583" y="3102338"/>
                <a:ext cx="0" cy="762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NL6Tk0.6">
                <a:extLst>
                  <a:ext uri="{FF2B5EF4-FFF2-40B4-BE49-F238E27FC236}">
                    <a16:creationId xmlns:a16="http://schemas.microsoft.com/office/drawing/2014/main" id="{EDC0E6B2-2AA0-CB5C-7AF5-34CEF1596A82}"/>
                  </a:ext>
                </a:extLst>
              </p:cNvPr>
              <p:cNvSpPr/>
              <p:nvPr/>
            </p:nvSpPr>
            <p:spPr>
              <a:xfrm>
                <a:off x="5501958" y="3064238"/>
                <a:ext cx="0" cy="1524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NL6TL0.6">
                <a:extLst>
                  <a:ext uri="{FF2B5EF4-FFF2-40B4-BE49-F238E27FC236}">
                    <a16:creationId xmlns:a16="http://schemas.microsoft.com/office/drawing/2014/main" id="{751DDBE5-9B6B-A3A1-A85F-FC915C119C77}"/>
                  </a:ext>
                </a:extLst>
              </p:cNvPr>
              <p:cNvSpPr/>
              <p:nvPr/>
            </p:nvSpPr>
            <p:spPr>
              <a:xfrm>
                <a:off x="5222558" y="3242038"/>
                <a:ext cx="55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algn="ctr"/>
                <a:r>
                  <a:rPr lang="en-US" sz="1000" dirty="0">
                    <a:solidFill>
                      <a:srgbClr val="2E3640"/>
                    </a:solidFill>
                    <a:latin typeface="Open Sans"/>
                  </a:rPr>
                  <a:t>0.6</a:t>
                </a:r>
              </a:p>
            </p:txBody>
          </p:sp>
          <p:sp>
            <p:nvSpPr>
              <p:cNvPr id="1212" name="NL6Tk0.7">
                <a:extLst>
                  <a:ext uri="{FF2B5EF4-FFF2-40B4-BE49-F238E27FC236}">
                    <a16:creationId xmlns:a16="http://schemas.microsoft.com/office/drawing/2014/main" id="{95E7BB2E-1E27-22CF-BDA3-9592CD5511F1}"/>
                  </a:ext>
                </a:extLst>
              </p:cNvPr>
              <p:cNvSpPr/>
              <p:nvPr/>
            </p:nvSpPr>
            <p:spPr>
              <a:xfrm>
                <a:off x="6343333" y="3102338"/>
                <a:ext cx="0" cy="762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NL6Tk0.8">
                <a:extLst>
                  <a:ext uri="{FF2B5EF4-FFF2-40B4-BE49-F238E27FC236}">
                    <a16:creationId xmlns:a16="http://schemas.microsoft.com/office/drawing/2014/main" id="{ADB13449-8AD3-232F-B911-6200B5D839BD}"/>
                  </a:ext>
                </a:extLst>
              </p:cNvPr>
              <p:cNvSpPr/>
              <p:nvPr/>
            </p:nvSpPr>
            <p:spPr>
              <a:xfrm>
                <a:off x="7184708" y="3064238"/>
                <a:ext cx="0" cy="152400"/>
              </a:xfrm>
              <a:prstGeom prst="line">
                <a:avLst/>
              </a:prstGeom>
              <a:ln w="12700">
                <a:solidFill>
                  <a:srgbClr val="2E364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NL6TL0.8">
                <a:extLst>
                  <a:ext uri="{FF2B5EF4-FFF2-40B4-BE49-F238E27FC236}">
                    <a16:creationId xmlns:a16="http://schemas.microsoft.com/office/drawing/2014/main" id="{26353A95-0A1D-CB58-0345-B5755F6A5EE0}"/>
                  </a:ext>
                </a:extLst>
              </p:cNvPr>
              <p:cNvSpPr/>
              <p:nvPr/>
            </p:nvSpPr>
            <p:spPr>
              <a:xfrm>
                <a:off x="6905308" y="3242038"/>
                <a:ext cx="55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/>
              <a:lstStyle/>
              <a:p>
                <a:pPr algn="ctr"/>
                <a:r>
                  <a:rPr lang="en-US" sz="1000" dirty="0">
                    <a:solidFill>
                      <a:srgbClr val="2E3640"/>
                    </a:solidFill>
                    <a:latin typeface="Open Sans"/>
                  </a:rPr>
                  <a:t>0.8</a:t>
                </a:r>
              </a:p>
            </p:txBody>
          </p:sp>
          <p:sp>
            <p:nvSpPr>
              <p:cNvPr id="1216" name="B1Dot6">
                <a:extLst>
                  <a:ext uri="{FF2B5EF4-FFF2-40B4-BE49-F238E27FC236}">
                    <a16:creationId xmlns:a16="http://schemas.microsoft.com/office/drawing/2014/main" id="{D143140D-E9B4-0237-2320-942F2886BB2C}"/>
                  </a:ext>
                </a:extLst>
              </p:cNvPr>
              <p:cNvSpPr/>
              <p:nvPr/>
            </p:nvSpPr>
            <p:spPr>
              <a:xfrm>
                <a:off x="3599816" y="3038838"/>
                <a:ext cx="203200" cy="2032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D94535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B1Label6">
                <a:extLst>
                  <a:ext uri="{FF2B5EF4-FFF2-40B4-BE49-F238E27FC236}">
                    <a16:creationId xmlns:a16="http://schemas.microsoft.com/office/drawing/2014/main" id="{017594F5-2893-604F-09B0-2778CD4090FC}"/>
                  </a:ext>
                </a:extLst>
              </p:cNvPr>
              <p:cNvSpPr/>
              <p:nvPr/>
            </p:nvSpPr>
            <p:spPr>
              <a:xfrm>
                <a:off x="3066416" y="2657838"/>
                <a:ext cx="127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b"/>
              <a:lstStyle/>
              <a:p>
                <a:pPr algn="ctr"/>
                <a:r>
                  <a:rPr lang="en-US" sz="1200" b="1" dirty="0">
                    <a:solidFill>
                      <a:srgbClr val="D94535"/>
                    </a:solidFill>
                    <a:latin typeface="Open Sans"/>
                  </a:rPr>
                  <a:t>b₁ = 0.386</a:t>
                </a:r>
              </a:p>
            </p:txBody>
          </p:sp>
          <p:sp>
            <p:nvSpPr>
              <p:cNvPr id="1396" name="Rounded Rectangle 1395">
                <a:extLst>
                  <a:ext uri="{FF2B5EF4-FFF2-40B4-BE49-F238E27FC236}">
                    <a16:creationId xmlns:a16="http://schemas.microsoft.com/office/drawing/2014/main" id="{814BBB27-0CC0-7602-ADA3-FACD113AB0F7}"/>
                  </a:ext>
                </a:extLst>
              </p:cNvPr>
              <p:cNvSpPr/>
              <p:nvPr/>
            </p:nvSpPr>
            <p:spPr>
              <a:xfrm>
                <a:off x="174308" y="2470323"/>
                <a:ext cx="1778000" cy="254000"/>
              </a:xfrm>
              <a:prstGeom prst="roundRect">
                <a:avLst/>
              </a:prstGeom>
              <a:solidFill>
                <a:srgbClr val="2B6CB0"/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000" b="1" dirty="0">
                    <a:solidFill>
                      <a:srgbClr val="FFFFFF"/>
                    </a:solidFill>
                    <a:latin typeface="Montserrat"/>
                  </a:rPr>
                  <a:t>SE ON NUMBER LINE</a:t>
                </a:r>
              </a:p>
            </p:txBody>
          </p:sp>
        </p:grpSp>
        <p:sp>
          <p:nvSpPr>
            <p:cNvPr id="1215" name="NL6SlopeLabel">
              <a:extLst>
                <a:ext uri="{FF2B5EF4-FFF2-40B4-BE49-F238E27FC236}">
                  <a16:creationId xmlns:a16="http://schemas.microsoft.com/office/drawing/2014/main" id="{9549701B-F64B-CD6E-A40E-C5DE8CADABC9}"/>
                </a:ext>
              </a:extLst>
            </p:cNvPr>
            <p:cNvSpPr/>
            <p:nvPr/>
          </p:nvSpPr>
          <p:spPr>
            <a:xfrm>
              <a:off x="3120708" y="3470638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100" i="1" dirty="0">
                  <a:solidFill>
                    <a:srgbClr val="5A6A78"/>
                  </a:solidFill>
                  <a:latin typeface="Open Sans"/>
                </a:rPr>
                <a:t>Slope</a:t>
              </a:r>
            </a:p>
          </p:txBody>
        </p:sp>
      </p:grpSp>
      <p:sp>
        <p:nvSpPr>
          <p:cNvPr id="1224" name="SEBox6">
            <a:extLst>
              <a:ext uri="{FF2B5EF4-FFF2-40B4-BE49-F238E27FC236}">
                <a16:creationId xmlns:a16="http://schemas.microsoft.com/office/drawing/2014/main" id="{96FD701E-FEE0-FCA9-885B-B8403C6846C6}"/>
              </a:ext>
            </a:extLst>
          </p:cNvPr>
          <p:cNvSpPr/>
          <p:nvPr/>
        </p:nvSpPr>
        <p:spPr>
          <a:xfrm>
            <a:off x="453708" y="3997035"/>
            <a:ext cx="6858000" cy="27831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t"/>
          <a:lstStyle/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E3640"/>
                </a:solidFill>
                <a:latin typeface="Open Sans"/>
              </a:rPr>
              <a:t>= b</a:t>
            </a:r>
            <a:r>
              <a:rPr lang="en-US" sz="1200" baseline="-25000" dirty="0">
                <a:solidFill>
                  <a:srgbClr val="2E3640"/>
                </a:solidFill>
                <a:latin typeface="Open Sans"/>
              </a:rPr>
              <a:t>1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 ± </a:t>
            </a:r>
            <a:r>
              <a:rPr lang="en-US" sz="1200" b="1" dirty="0">
                <a:solidFill>
                  <a:srgbClr val="2B6CB0"/>
                </a:solidFill>
                <a:latin typeface="Open Sans"/>
              </a:rPr>
              <a:t>2.45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 × SE = 0.386 ± 2.45 × 0.118</a:t>
            </a:r>
            <a:endParaRPr lang="en-US" sz="1200" b="1" dirty="0">
              <a:solidFill>
                <a:srgbClr val="2B6CB0"/>
              </a:solidFill>
              <a:latin typeface="Open Sans"/>
            </a:endParaRPr>
          </a:p>
          <a:p>
            <a:pPr algn="ctr">
              <a:spcAft>
                <a:spcPts val="200"/>
              </a:spcAft>
            </a:pPr>
            <a:endParaRPr lang="en-US" sz="1200" dirty="0">
              <a:solidFill>
                <a:srgbClr val="2E3640"/>
              </a:solidFill>
              <a:latin typeface="Open Sans"/>
            </a:endParaRPr>
          </a:p>
        </p:txBody>
      </p:sp>
      <p:sp>
        <p:nvSpPr>
          <p:cNvPr id="1300" name="CIBar7">
            <a:extLst>
              <a:ext uri="{FF2B5EF4-FFF2-40B4-BE49-F238E27FC236}">
                <a16:creationId xmlns:a16="http://schemas.microsoft.com/office/drawing/2014/main" id="{39970C54-10B5-D863-91C8-297D243EC67D}"/>
              </a:ext>
            </a:extLst>
          </p:cNvPr>
          <p:cNvSpPr/>
          <p:nvPr/>
        </p:nvSpPr>
        <p:spPr>
          <a:xfrm>
            <a:off x="1285677" y="3733087"/>
            <a:ext cx="4864830" cy="226982"/>
          </a:xfrm>
          <a:prstGeom prst="rect">
            <a:avLst/>
          </a:prstGeom>
          <a:solidFill>
            <a:srgbClr val="B8D4E8">
              <a:alpha val="34902"/>
            </a:srgbClr>
          </a:solidFill>
          <a:ln>
            <a:noFill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2B6CB0"/>
                </a:solidFill>
                <a:latin typeface="Open Sans"/>
              </a:rPr>
              <a:t>(± 2.45 SE) </a:t>
            </a:r>
            <a:r>
              <a:rPr lang="en-US" sz="1000" dirty="0">
                <a:solidFill>
                  <a:srgbClr val="2B6CB0"/>
                </a:solidFill>
                <a:latin typeface="Open Sans"/>
              </a:rPr>
              <a:t>95% CI</a:t>
            </a:r>
            <a:endParaRPr lang="en-US" sz="1000" dirty="0"/>
          </a:p>
        </p:txBody>
      </p:sp>
      <p:sp>
        <p:nvSpPr>
          <p:cNvPr id="1301" name="CILW7">
            <a:extLst>
              <a:ext uri="{FF2B5EF4-FFF2-40B4-BE49-F238E27FC236}">
                <a16:creationId xmlns:a16="http://schemas.microsoft.com/office/drawing/2014/main" id="{5AA0FCF6-3E95-5581-C825-76E84C04CBD2}"/>
              </a:ext>
            </a:extLst>
          </p:cNvPr>
          <p:cNvSpPr/>
          <p:nvPr/>
        </p:nvSpPr>
        <p:spPr>
          <a:xfrm>
            <a:off x="1285677" y="3687517"/>
            <a:ext cx="0" cy="304800"/>
          </a:xfrm>
          <a:prstGeom prst="line">
            <a:avLst/>
          </a:prstGeom>
          <a:ln w="15875">
            <a:solidFill>
              <a:srgbClr val="2B6C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2" name="CIRW7">
            <a:extLst>
              <a:ext uri="{FF2B5EF4-FFF2-40B4-BE49-F238E27FC236}">
                <a16:creationId xmlns:a16="http://schemas.microsoft.com/office/drawing/2014/main" id="{D04E8C93-10A3-BFCD-6B8F-75FCE031C630}"/>
              </a:ext>
            </a:extLst>
          </p:cNvPr>
          <p:cNvSpPr/>
          <p:nvPr/>
        </p:nvSpPr>
        <p:spPr>
          <a:xfrm>
            <a:off x="6150508" y="3669587"/>
            <a:ext cx="0" cy="304800"/>
          </a:xfrm>
          <a:prstGeom prst="line">
            <a:avLst/>
          </a:prstGeom>
          <a:ln w="15875">
            <a:solidFill>
              <a:srgbClr val="2B6C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3" name="CILabel7">
            <a:extLst>
              <a:ext uri="{FF2B5EF4-FFF2-40B4-BE49-F238E27FC236}">
                <a16:creationId xmlns:a16="http://schemas.microsoft.com/office/drawing/2014/main" id="{9C858A19-4A58-9189-7CD1-4F949F226218}"/>
              </a:ext>
            </a:extLst>
          </p:cNvPr>
          <p:cNvSpPr/>
          <p:nvPr/>
        </p:nvSpPr>
        <p:spPr>
          <a:xfrm>
            <a:off x="2448093" y="3948987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endParaRPr lang="en-US" sz="1200" b="1" dirty="0">
              <a:solidFill>
                <a:srgbClr val="2B6CB0"/>
              </a:solidFill>
              <a:latin typeface="Open Sans"/>
            </a:endParaRPr>
          </a:p>
        </p:txBody>
      </p:sp>
      <p:sp>
        <p:nvSpPr>
          <p:cNvPr id="1304" name="CILVal7">
            <a:extLst>
              <a:ext uri="{FF2B5EF4-FFF2-40B4-BE49-F238E27FC236}">
                <a16:creationId xmlns:a16="http://schemas.microsoft.com/office/drawing/2014/main" id="{FAE520C3-6E9E-D315-8D5B-F3D8431D488F}"/>
              </a:ext>
            </a:extLst>
          </p:cNvPr>
          <p:cNvSpPr/>
          <p:nvPr/>
        </p:nvSpPr>
        <p:spPr>
          <a:xfrm>
            <a:off x="968177" y="4045356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900" b="1" dirty="0">
                <a:solidFill>
                  <a:srgbClr val="2B6CB0"/>
                </a:solidFill>
                <a:latin typeface="Open Sans"/>
              </a:rPr>
              <a:t>0.096</a:t>
            </a:r>
          </a:p>
        </p:txBody>
      </p:sp>
      <p:sp>
        <p:nvSpPr>
          <p:cNvPr id="1305" name="CIRVal7">
            <a:extLst>
              <a:ext uri="{FF2B5EF4-FFF2-40B4-BE49-F238E27FC236}">
                <a16:creationId xmlns:a16="http://schemas.microsoft.com/office/drawing/2014/main" id="{43A396A7-83D2-2886-FAFE-8744534DC014}"/>
              </a:ext>
            </a:extLst>
          </p:cNvPr>
          <p:cNvSpPr/>
          <p:nvPr/>
        </p:nvSpPr>
        <p:spPr>
          <a:xfrm>
            <a:off x="5833008" y="4045356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900" b="1" dirty="0">
                <a:solidFill>
                  <a:srgbClr val="2B6CB0"/>
                </a:solidFill>
                <a:latin typeface="Open Sans"/>
              </a:rPr>
              <a:t>0.676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BFE94-E953-0FF8-6C93-5BAA5C13B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>
                <a:latin typeface="Montserrat"/>
              </a:rPr>
              <a:t>From Standard Error (0.118) of Slope to Confidence Interval </a:t>
            </a:r>
          </a:p>
        </p:txBody>
      </p:sp>
      <p:sp>
        <p:nvSpPr>
          <p:cNvPr id="1377" name="CIBar7">
            <a:extLst>
              <a:ext uri="{FF2B5EF4-FFF2-40B4-BE49-F238E27FC236}">
                <a16:creationId xmlns:a16="http://schemas.microsoft.com/office/drawing/2014/main" id="{CE004FC9-385E-47C8-E16A-4A8F6959CC5A}"/>
              </a:ext>
            </a:extLst>
          </p:cNvPr>
          <p:cNvSpPr/>
          <p:nvPr/>
        </p:nvSpPr>
        <p:spPr>
          <a:xfrm>
            <a:off x="2828171" y="2501993"/>
            <a:ext cx="1812415" cy="226982"/>
          </a:xfrm>
          <a:prstGeom prst="rect">
            <a:avLst/>
          </a:prstGeom>
          <a:solidFill>
            <a:srgbClr val="B8D4E8">
              <a:alpha val="34902"/>
            </a:srgbClr>
          </a:solidFill>
          <a:ln>
            <a:noFill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2B6CB0"/>
                </a:solidFill>
                <a:latin typeface="Open Sans"/>
              </a:rPr>
              <a:t>(± 1 SE)</a:t>
            </a:r>
            <a:endParaRPr lang="en-US" sz="1000" dirty="0"/>
          </a:p>
        </p:txBody>
      </p:sp>
      <p:sp>
        <p:nvSpPr>
          <p:cNvPr id="1380" name="CILW7">
            <a:extLst>
              <a:ext uri="{FF2B5EF4-FFF2-40B4-BE49-F238E27FC236}">
                <a16:creationId xmlns:a16="http://schemas.microsoft.com/office/drawing/2014/main" id="{041C756B-ACE6-4AC4-6C2A-F0328D6AC3A2}"/>
              </a:ext>
            </a:extLst>
          </p:cNvPr>
          <p:cNvSpPr/>
          <p:nvPr/>
        </p:nvSpPr>
        <p:spPr>
          <a:xfrm>
            <a:off x="2827599" y="2463973"/>
            <a:ext cx="0" cy="304800"/>
          </a:xfrm>
          <a:prstGeom prst="line">
            <a:avLst/>
          </a:prstGeom>
          <a:ln w="15875">
            <a:solidFill>
              <a:srgbClr val="2B6C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1" name="CILW7">
            <a:extLst>
              <a:ext uri="{FF2B5EF4-FFF2-40B4-BE49-F238E27FC236}">
                <a16:creationId xmlns:a16="http://schemas.microsoft.com/office/drawing/2014/main" id="{F680FBB2-024B-E4A1-3964-61BBB1059503}"/>
              </a:ext>
            </a:extLst>
          </p:cNvPr>
          <p:cNvSpPr/>
          <p:nvPr/>
        </p:nvSpPr>
        <p:spPr>
          <a:xfrm>
            <a:off x="4640589" y="2463973"/>
            <a:ext cx="0" cy="304800"/>
          </a:xfrm>
          <a:prstGeom prst="line">
            <a:avLst/>
          </a:prstGeom>
          <a:ln w="15875">
            <a:solidFill>
              <a:srgbClr val="2B6C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2" name="CIRVal7">
            <a:extLst>
              <a:ext uri="{FF2B5EF4-FFF2-40B4-BE49-F238E27FC236}">
                <a16:creationId xmlns:a16="http://schemas.microsoft.com/office/drawing/2014/main" id="{EDF86BAC-7B12-864A-84CF-B2EE1130E61B}"/>
              </a:ext>
            </a:extLst>
          </p:cNvPr>
          <p:cNvSpPr/>
          <p:nvPr/>
        </p:nvSpPr>
        <p:spPr>
          <a:xfrm>
            <a:off x="4368130" y="2796126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900" b="1" dirty="0">
                <a:solidFill>
                  <a:srgbClr val="2B6CB0"/>
                </a:solidFill>
                <a:latin typeface="Open Sans"/>
              </a:rPr>
              <a:t>0.504</a:t>
            </a:r>
          </a:p>
        </p:txBody>
      </p:sp>
      <p:sp>
        <p:nvSpPr>
          <p:cNvPr id="1383" name="CIRVal7">
            <a:extLst>
              <a:ext uri="{FF2B5EF4-FFF2-40B4-BE49-F238E27FC236}">
                <a16:creationId xmlns:a16="http://schemas.microsoft.com/office/drawing/2014/main" id="{2B0DBDA0-5DB2-18FD-4612-B7FC54D07559}"/>
              </a:ext>
            </a:extLst>
          </p:cNvPr>
          <p:cNvSpPr/>
          <p:nvPr/>
        </p:nvSpPr>
        <p:spPr>
          <a:xfrm>
            <a:off x="2515711" y="2822938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900" b="1" dirty="0">
                <a:solidFill>
                  <a:srgbClr val="2B6CB0"/>
                </a:solidFill>
                <a:latin typeface="Open Sans"/>
              </a:rPr>
              <a:t>0.268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B8DF80-47F6-C8F5-804B-7602D3B1B6EB}"/>
              </a:ext>
            </a:extLst>
          </p:cNvPr>
          <p:cNvGrpSpPr/>
          <p:nvPr/>
        </p:nvGrpSpPr>
        <p:grpSpPr>
          <a:xfrm>
            <a:off x="8150757" y="2750320"/>
            <a:ext cx="3873340" cy="1663700"/>
            <a:chOff x="237243" y="2431833"/>
            <a:chExt cx="3873340" cy="1663700"/>
          </a:xfrm>
        </p:grpSpPr>
        <p:sp>
          <p:nvSpPr>
            <p:cNvPr id="1392" name="Rounded Rectangle 1391">
              <a:extLst>
                <a:ext uri="{FF2B5EF4-FFF2-40B4-BE49-F238E27FC236}">
                  <a16:creationId xmlns:a16="http://schemas.microsoft.com/office/drawing/2014/main" id="{645B3F56-21C8-514B-AC97-05EC4C3710F1}"/>
                </a:ext>
              </a:extLst>
            </p:cNvPr>
            <p:cNvSpPr/>
            <p:nvPr/>
          </p:nvSpPr>
          <p:spPr>
            <a:xfrm>
              <a:off x="237243" y="2431833"/>
              <a:ext cx="3873340" cy="1663700"/>
            </a:xfrm>
            <a:prstGeom prst="roundRect">
              <a:avLst>
                <a:gd name="adj" fmla="val 4382"/>
              </a:avLst>
            </a:prstGeom>
            <a:solidFill>
              <a:srgbClr val="F2F2F2">
                <a:alpha val="70000"/>
              </a:srgb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pic>
          <p:nvPicPr>
            <p:cNvPr id="1393" name="Picture 1392" descr="A close-up of numbers&#10;&#10;AI-generated content may be incorrect.">
              <a:extLst>
                <a:ext uri="{FF2B5EF4-FFF2-40B4-BE49-F238E27FC236}">
                  <a16:creationId xmlns:a16="http://schemas.microsoft.com/office/drawing/2014/main" id="{560DB6EF-F460-10AD-C1A4-1654DC9D3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324" y="2835833"/>
              <a:ext cx="3561018" cy="963885"/>
            </a:xfrm>
            <a:prstGeom prst="rect">
              <a:avLst/>
            </a:prstGeom>
          </p:spPr>
        </p:pic>
        <p:sp>
          <p:nvSpPr>
            <p:cNvPr id="1395" name="Rounded Rectangle 1394">
              <a:extLst>
                <a:ext uri="{FF2B5EF4-FFF2-40B4-BE49-F238E27FC236}">
                  <a16:creationId xmlns:a16="http://schemas.microsoft.com/office/drawing/2014/main" id="{B4A9A208-8258-724B-84D4-703396A2C48C}"/>
                </a:ext>
              </a:extLst>
            </p:cNvPr>
            <p:cNvSpPr/>
            <p:nvPr/>
          </p:nvSpPr>
          <p:spPr>
            <a:xfrm>
              <a:off x="249783" y="2431833"/>
              <a:ext cx="1524000" cy="254000"/>
            </a:xfrm>
            <a:prstGeom prst="roundRect">
              <a:avLst/>
            </a:prstGeom>
            <a:solidFill>
              <a:srgbClr val="2E6B7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sz="1000" b="1">
                  <a:solidFill>
                    <a:srgbClr val="FFFFFF"/>
                  </a:solidFill>
                  <a:latin typeface="Montserrat"/>
                </a:rPr>
                <a:t>R OUTPUT</a:t>
              </a:r>
            </a:p>
          </p:txBody>
        </p:sp>
      </p:grpSp>
      <p:grpSp>
        <p:nvGrpSpPr>
          <p:cNvPr id="1387" name="Group 1386">
            <a:extLst>
              <a:ext uri="{FF2B5EF4-FFF2-40B4-BE49-F238E27FC236}">
                <a16:creationId xmlns:a16="http://schemas.microsoft.com/office/drawing/2014/main" id="{2EC1442B-7B13-F5F1-8B03-4E31DF521421}"/>
              </a:ext>
            </a:extLst>
          </p:cNvPr>
          <p:cNvGrpSpPr/>
          <p:nvPr/>
        </p:nvGrpSpPr>
        <p:grpSpPr>
          <a:xfrm>
            <a:off x="8866010" y="560996"/>
            <a:ext cx="2059724" cy="1822743"/>
            <a:chOff x="8866010" y="560996"/>
            <a:chExt cx="2059724" cy="1822743"/>
          </a:xfrm>
        </p:grpSpPr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68C9F5B1-5054-9837-1EE5-2B3BA51EBDA3}"/>
                </a:ext>
              </a:extLst>
            </p:cNvPr>
            <p:cNvGrpSpPr/>
            <p:nvPr/>
          </p:nvGrpSpPr>
          <p:grpSpPr>
            <a:xfrm>
              <a:off x="8866010" y="781694"/>
              <a:ext cx="2045343" cy="1602045"/>
              <a:chOff x="323673" y="1270000"/>
              <a:chExt cx="6026327" cy="4521102"/>
            </a:xfrm>
          </p:grpSpPr>
          <p:sp>
            <p:nvSpPr>
              <p:cNvPr id="1346" name="PlotBg2">
                <a:extLst>
                  <a:ext uri="{FF2B5EF4-FFF2-40B4-BE49-F238E27FC236}">
                    <a16:creationId xmlns:a16="http://schemas.microsoft.com/office/drawing/2014/main" id="{608CA2F9-69DA-CC63-A466-F43C04F5D4F2}"/>
                  </a:ext>
                </a:extLst>
              </p:cNvPr>
              <p:cNvSpPr/>
              <p:nvPr/>
            </p:nvSpPr>
            <p:spPr>
              <a:xfrm>
                <a:off x="1270000" y="1270000"/>
                <a:ext cx="5080000" cy="3810001"/>
              </a:xfrm>
              <a:prstGeom prst="rect">
                <a:avLst/>
              </a:prstGeom>
              <a:solidFill>
                <a:srgbClr val="FAFAFA"/>
              </a:solidFill>
              <a:ln w="12700">
                <a:solidFill>
                  <a:srgbClr val="CCCCCC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47" name="XLabel2">
                <a:extLst>
                  <a:ext uri="{FF2B5EF4-FFF2-40B4-BE49-F238E27FC236}">
                    <a16:creationId xmlns:a16="http://schemas.microsoft.com/office/drawing/2014/main" id="{3CD919B9-1365-CEDD-0B5F-B40AF1A74E18}"/>
                  </a:ext>
                </a:extLst>
              </p:cNvPr>
              <p:cNvSpPr/>
              <p:nvPr/>
            </p:nvSpPr>
            <p:spPr>
              <a:xfrm>
                <a:off x="2508038" y="5410103"/>
                <a:ext cx="2540000" cy="380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100" dirty="0">
                    <a:solidFill>
                      <a:srgbClr val="2E3640"/>
                    </a:solidFill>
                    <a:latin typeface="Open Sans"/>
                  </a:rPr>
                  <a:t>Gestational Weeks</a:t>
                </a:r>
              </a:p>
            </p:txBody>
          </p:sp>
          <p:sp>
            <p:nvSpPr>
              <p:cNvPr id="1349" name="YLabel2">
                <a:extLst>
                  <a:ext uri="{FF2B5EF4-FFF2-40B4-BE49-F238E27FC236}">
                    <a16:creationId xmlns:a16="http://schemas.microsoft.com/office/drawing/2014/main" id="{754818E8-4AB1-47C2-CCBC-40435578EDE6}"/>
                  </a:ext>
                </a:extLst>
              </p:cNvPr>
              <p:cNvSpPr/>
              <p:nvPr/>
            </p:nvSpPr>
            <p:spPr>
              <a:xfrm rot="16200000">
                <a:off x="-755828" y="2691645"/>
                <a:ext cx="254000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100" dirty="0">
                    <a:solidFill>
                      <a:srgbClr val="2E3640"/>
                    </a:solidFill>
                    <a:latin typeface="Open Sans"/>
                  </a:rPr>
                  <a:t>Birth Weight (kg)</a:t>
                </a:r>
              </a:p>
            </p:txBody>
          </p:sp>
          <p:sp>
            <p:nvSpPr>
              <p:cNvPr id="1350" name="XT32">
                <a:extLst>
                  <a:ext uri="{FF2B5EF4-FFF2-40B4-BE49-F238E27FC236}">
                    <a16:creationId xmlns:a16="http://schemas.microsoft.com/office/drawing/2014/main" id="{F735C8EC-8039-CD7A-8417-85F5EB435BBB}"/>
                  </a:ext>
                </a:extLst>
              </p:cNvPr>
              <p:cNvSpPr/>
              <p:nvPr/>
            </p:nvSpPr>
            <p:spPr>
              <a:xfrm>
                <a:off x="1862667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32</a:t>
                </a:r>
              </a:p>
            </p:txBody>
          </p:sp>
          <p:sp>
            <p:nvSpPr>
              <p:cNvPr id="1351" name="XT33">
                <a:extLst>
                  <a:ext uri="{FF2B5EF4-FFF2-40B4-BE49-F238E27FC236}">
                    <a16:creationId xmlns:a16="http://schemas.microsoft.com/office/drawing/2014/main" id="{DC79A6F9-649D-2AC6-F80B-3FC4EB6D87D4}"/>
                  </a:ext>
                </a:extLst>
              </p:cNvPr>
              <p:cNvSpPr/>
              <p:nvPr/>
            </p:nvSpPr>
            <p:spPr>
              <a:xfrm>
                <a:off x="2709333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33</a:t>
                </a:r>
              </a:p>
            </p:txBody>
          </p:sp>
          <p:sp>
            <p:nvSpPr>
              <p:cNvPr id="1352" name="XT34">
                <a:extLst>
                  <a:ext uri="{FF2B5EF4-FFF2-40B4-BE49-F238E27FC236}">
                    <a16:creationId xmlns:a16="http://schemas.microsoft.com/office/drawing/2014/main" id="{A55441ED-ACAF-E953-54FE-D7EA9CCDC8D4}"/>
                  </a:ext>
                </a:extLst>
              </p:cNvPr>
              <p:cNvSpPr/>
              <p:nvPr/>
            </p:nvSpPr>
            <p:spPr>
              <a:xfrm>
                <a:off x="3556000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34</a:t>
                </a:r>
              </a:p>
            </p:txBody>
          </p:sp>
          <p:sp>
            <p:nvSpPr>
              <p:cNvPr id="1353" name="XT35">
                <a:extLst>
                  <a:ext uri="{FF2B5EF4-FFF2-40B4-BE49-F238E27FC236}">
                    <a16:creationId xmlns:a16="http://schemas.microsoft.com/office/drawing/2014/main" id="{12AA78E2-F042-C0D1-6B4F-852A6E9FE80E}"/>
                  </a:ext>
                </a:extLst>
              </p:cNvPr>
              <p:cNvSpPr/>
              <p:nvPr/>
            </p:nvSpPr>
            <p:spPr>
              <a:xfrm>
                <a:off x="4402667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35</a:t>
                </a:r>
              </a:p>
            </p:txBody>
          </p:sp>
          <p:sp>
            <p:nvSpPr>
              <p:cNvPr id="1354" name="XT36">
                <a:extLst>
                  <a:ext uri="{FF2B5EF4-FFF2-40B4-BE49-F238E27FC236}">
                    <a16:creationId xmlns:a16="http://schemas.microsoft.com/office/drawing/2014/main" id="{74FBA427-13F0-0F49-1459-CF55D9041EA6}"/>
                  </a:ext>
                </a:extLst>
              </p:cNvPr>
              <p:cNvSpPr/>
              <p:nvPr/>
            </p:nvSpPr>
            <p:spPr>
              <a:xfrm>
                <a:off x="5249333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36</a:t>
                </a:r>
              </a:p>
            </p:txBody>
          </p:sp>
          <p:sp>
            <p:nvSpPr>
              <p:cNvPr id="1355" name="YT1">
                <a:extLst>
                  <a:ext uri="{FF2B5EF4-FFF2-40B4-BE49-F238E27FC236}">
                    <a16:creationId xmlns:a16="http://schemas.microsoft.com/office/drawing/2014/main" id="{768EBABD-8813-DF46-2D50-33706D93C180}"/>
                  </a:ext>
                </a:extLst>
              </p:cNvPr>
              <p:cNvSpPr/>
              <p:nvPr/>
            </p:nvSpPr>
            <p:spPr>
              <a:xfrm>
                <a:off x="889000" y="44767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1</a:t>
                </a:r>
              </a:p>
            </p:txBody>
          </p:sp>
          <p:sp>
            <p:nvSpPr>
              <p:cNvPr id="1356" name="YT2">
                <a:extLst>
                  <a:ext uri="{FF2B5EF4-FFF2-40B4-BE49-F238E27FC236}">
                    <a16:creationId xmlns:a16="http://schemas.microsoft.com/office/drawing/2014/main" id="{CFB6F75E-0BF1-307B-0AE5-A6EDF8690989}"/>
                  </a:ext>
                </a:extLst>
              </p:cNvPr>
              <p:cNvSpPr/>
              <p:nvPr/>
            </p:nvSpPr>
            <p:spPr>
              <a:xfrm>
                <a:off x="889000" y="35242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2</a:t>
                </a:r>
              </a:p>
            </p:txBody>
          </p:sp>
          <p:sp>
            <p:nvSpPr>
              <p:cNvPr id="1357" name="YT3">
                <a:extLst>
                  <a:ext uri="{FF2B5EF4-FFF2-40B4-BE49-F238E27FC236}">
                    <a16:creationId xmlns:a16="http://schemas.microsoft.com/office/drawing/2014/main" id="{F25973FF-A265-8A40-8AE1-89524B9EF4EE}"/>
                  </a:ext>
                </a:extLst>
              </p:cNvPr>
              <p:cNvSpPr/>
              <p:nvPr/>
            </p:nvSpPr>
            <p:spPr>
              <a:xfrm>
                <a:off x="889000" y="25717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3</a:t>
                </a:r>
              </a:p>
            </p:txBody>
          </p:sp>
          <p:sp>
            <p:nvSpPr>
              <p:cNvPr id="1358" name="YT4">
                <a:extLst>
                  <a:ext uri="{FF2B5EF4-FFF2-40B4-BE49-F238E27FC236}">
                    <a16:creationId xmlns:a16="http://schemas.microsoft.com/office/drawing/2014/main" id="{CDD89F8D-851B-DEE2-FBC5-DC3F019ECFC1}"/>
                  </a:ext>
                </a:extLst>
              </p:cNvPr>
              <p:cNvSpPr/>
              <p:nvPr/>
            </p:nvSpPr>
            <p:spPr>
              <a:xfrm>
                <a:off x="889000" y="16192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000" dirty="0">
                    <a:solidFill>
                      <a:srgbClr val="666666"/>
                    </a:solidFill>
                    <a:latin typeface="Open Sans"/>
                  </a:rPr>
                  <a:t>4</a:t>
                </a:r>
              </a:p>
            </p:txBody>
          </p:sp>
          <p:cxnSp>
            <p:nvCxnSpPr>
              <p:cNvPr id="1359" name="G1">
                <a:extLst>
                  <a:ext uri="{FF2B5EF4-FFF2-40B4-BE49-F238E27FC236}">
                    <a16:creationId xmlns:a16="http://schemas.microsoft.com/office/drawing/2014/main" id="{1E5ECABF-70F6-2C5E-7DDD-17CAA1E628D1}"/>
                  </a:ext>
                </a:extLst>
              </p:cNvPr>
              <p:cNvCxnSpPr/>
              <p:nvPr/>
            </p:nvCxnSpPr>
            <p:spPr>
              <a:xfrm>
                <a:off x="1270000" y="46037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1360" name="G2">
                <a:extLst>
                  <a:ext uri="{FF2B5EF4-FFF2-40B4-BE49-F238E27FC236}">
                    <a16:creationId xmlns:a16="http://schemas.microsoft.com/office/drawing/2014/main" id="{A2781E0D-51CE-31FD-6CBF-8469CA9438B8}"/>
                  </a:ext>
                </a:extLst>
              </p:cNvPr>
              <p:cNvCxnSpPr/>
              <p:nvPr/>
            </p:nvCxnSpPr>
            <p:spPr>
              <a:xfrm>
                <a:off x="1270000" y="36512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1361" name="G3">
                <a:extLst>
                  <a:ext uri="{FF2B5EF4-FFF2-40B4-BE49-F238E27FC236}">
                    <a16:creationId xmlns:a16="http://schemas.microsoft.com/office/drawing/2014/main" id="{5374E84F-18E2-0038-67FA-21736A5AAF66}"/>
                  </a:ext>
                </a:extLst>
              </p:cNvPr>
              <p:cNvCxnSpPr/>
              <p:nvPr/>
            </p:nvCxnSpPr>
            <p:spPr>
              <a:xfrm>
                <a:off x="1270000" y="26987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1362" name="G4">
                <a:extLst>
                  <a:ext uri="{FF2B5EF4-FFF2-40B4-BE49-F238E27FC236}">
                    <a16:creationId xmlns:a16="http://schemas.microsoft.com/office/drawing/2014/main" id="{D7BD5F1A-235B-95B0-3085-05C89584D9C9}"/>
                  </a:ext>
                </a:extLst>
              </p:cNvPr>
              <p:cNvCxnSpPr/>
              <p:nvPr/>
            </p:nvCxnSpPr>
            <p:spPr>
              <a:xfrm>
                <a:off x="1270000" y="17462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sp>
            <p:nvSpPr>
              <p:cNvPr id="1363" name="SpreadFan">
                <a:extLst>
                  <a:ext uri="{FF2B5EF4-FFF2-40B4-BE49-F238E27FC236}">
                    <a16:creationId xmlns:a16="http://schemas.microsoft.com/office/drawing/2014/main" id="{64D19519-1DF9-AE1F-E911-160F7CB318E0}"/>
                  </a:ext>
                </a:extLst>
              </p:cNvPr>
              <p:cNvSpPr/>
              <p:nvPr/>
            </p:nvSpPr>
            <p:spPr>
              <a:xfrm>
                <a:off x="1693332" y="1796256"/>
                <a:ext cx="4233335" cy="3124200"/>
              </a:xfrm>
              <a:custGeom>
                <a:avLst/>
                <a:gdLst/>
                <a:ahLst/>
                <a:cxnLst/>
                <a:rect l="0" t="0" r="4233334" b="3124200"/>
                <a:pathLst>
                  <a:path w="4233334" h="3124200">
                    <a:moveTo>
                      <a:pt x="0" y="1766888"/>
                    </a:moveTo>
                    <a:lnTo>
                      <a:pt x="211667" y="1710690"/>
                    </a:lnTo>
                    <a:lnTo>
                      <a:pt x="423334" y="1654493"/>
                    </a:lnTo>
                    <a:lnTo>
                      <a:pt x="635000" y="1598295"/>
                    </a:lnTo>
                    <a:lnTo>
                      <a:pt x="846667" y="1542098"/>
                    </a:lnTo>
                    <a:lnTo>
                      <a:pt x="1058334" y="1485900"/>
                    </a:lnTo>
                    <a:lnTo>
                      <a:pt x="1270000" y="1429703"/>
                    </a:lnTo>
                    <a:lnTo>
                      <a:pt x="1481667" y="1373505"/>
                    </a:lnTo>
                    <a:lnTo>
                      <a:pt x="1693334" y="1317308"/>
                    </a:lnTo>
                    <a:lnTo>
                      <a:pt x="1905000" y="1261110"/>
                    </a:lnTo>
                    <a:lnTo>
                      <a:pt x="2116667" y="1204913"/>
                    </a:lnTo>
                    <a:lnTo>
                      <a:pt x="2328334" y="1148715"/>
                    </a:lnTo>
                    <a:lnTo>
                      <a:pt x="2540000" y="1021080"/>
                    </a:lnTo>
                    <a:lnTo>
                      <a:pt x="2751667" y="893445"/>
                    </a:lnTo>
                    <a:lnTo>
                      <a:pt x="2963334" y="765810"/>
                    </a:lnTo>
                    <a:lnTo>
                      <a:pt x="3175000" y="638175"/>
                    </a:lnTo>
                    <a:lnTo>
                      <a:pt x="3386667" y="510540"/>
                    </a:lnTo>
                    <a:lnTo>
                      <a:pt x="3598334" y="382905"/>
                    </a:lnTo>
                    <a:lnTo>
                      <a:pt x="3810000" y="255270"/>
                    </a:lnTo>
                    <a:lnTo>
                      <a:pt x="4021667" y="127635"/>
                    </a:lnTo>
                    <a:lnTo>
                      <a:pt x="4233334" y="0"/>
                    </a:lnTo>
                    <a:lnTo>
                      <a:pt x="4233334" y="1214438"/>
                    </a:lnTo>
                    <a:lnTo>
                      <a:pt x="4021667" y="1270635"/>
                    </a:lnTo>
                    <a:lnTo>
                      <a:pt x="3810000" y="1326833"/>
                    </a:lnTo>
                    <a:lnTo>
                      <a:pt x="3598334" y="1383030"/>
                    </a:lnTo>
                    <a:lnTo>
                      <a:pt x="3386667" y="1439228"/>
                    </a:lnTo>
                    <a:lnTo>
                      <a:pt x="3175000" y="1495425"/>
                    </a:lnTo>
                    <a:lnTo>
                      <a:pt x="2963334" y="1551623"/>
                    </a:lnTo>
                    <a:lnTo>
                      <a:pt x="2751667" y="1607820"/>
                    </a:lnTo>
                    <a:lnTo>
                      <a:pt x="2540000" y="1664018"/>
                    </a:lnTo>
                    <a:lnTo>
                      <a:pt x="2328334" y="1720215"/>
                    </a:lnTo>
                    <a:lnTo>
                      <a:pt x="2116667" y="1847850"/>
                    </a:lnTo>
                    <a:lnTo>
                      <a:pt x="1905000" y="1975485"/>
                    </a:lnTo>
                    <a:lnTo>
                      <a:pt x="1693334" y="2103120"/>
                    </a:lnTo>
                    <a:lnTo>
                      <a:pt x="1481667" y="2230755"/>
                    </a:lnTo>
                    <a:lnTo>
                      <a:pt x="1270000" y="2358390"/>
                    </a:lnTo>
                    <a:lnTo>
                      <a:pt x="1058334" y="2486025"/>
                    </a:lnTo>
                    <a:lnTo>
                      <a:pt x="846667" y="2613660"/>
                    </a:lnTo>
                    <a:lnTo>
                      <a:pt x="635000" y="2741295"/>
                    </a:lnTo>
                    <a:lnTo>
                      <a:pt x="423334" y="2868930"/>
                    </a:lnTo>
                    <a:lnTo>
                      <a:pt x="211667" y="2996565"/>
                    </a:lnTo>
                    <a:lnTo>
                      <a:pt x="0" y="3124200"/>
                    </a:lnTo>
                    <a:close/>
                  </a:path>
                </a:pathLst>
              </a:custGeom>
              <a:solidFill>
                <a:srgbClr val="489BCC">
                  <a:alpha val="36078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 sz="1200" dirty="0"/>
              </a:p>
            </p:txBody>
          </p:sp>
          <p:cxnSp>
            <p:nvCxnSpPr>
              <p:cNvPr id="1364" name="AltLine0">
                <a:extLst>
                  <a:ext uri="{FF2B5EF4-FFF2-40B4-BE49-F238E27FC236}">
                    <a16:creationId xmlns:a16="http://schemas.microsoft.com/office/drawing/2014/main" id="{71C296CB-32C0-359A-050E-7AAF0541D2BD}"/>
                  </a:ext>
                </a:extLst>
              </p:cNvPr>
              <p:cNvCxnSpPr/>
              <p:nvPr/>
            </p:nvCxnSpPr>
            <p:spPr>
              <a:xfrm flipV="1">
                <a:off x="1693333" y="2684939"/>
                <a:ext cx="4233334" cy="1190625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65" name="AltLine1">
                <a:extLst>
                  <a:ext uri="{FF2B5EF4-FFF2-40B4-BE49-F238E27FC236}">
                    <a16:creationId xmlns:a16="http://schemas.microsoft.com/office/drawing/2014/main" id="{26660D94-61FE-6D76-B981-7A1445F79652}"/>
                  </a:ext>
                </a:extLst>
              </p:cNvPr>
              <p:cNvCxnSpPr/>
              <p:nvPr/>
            </p:nvCxnSpPr>
            <p:spPr>
              <a:xfrm flipV="1">
                <a:off x="1693333" y="2577783"/>
                <a:ext cx="4233334" cy="1428750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66" name="AltLine2">
                <a:extLst>
                  <a:ext uri="{FF2B5EF4-FFF2-40B4-BE49-F238E27FC236}">
                    <a16:creationId xmlns:a16="http://schemas.microsoft.com/office/drawing/2014/main" id="{3D67998B-06B1-E1E1-BDCD-32C821755643}"/>
                  </a:ext>
                </a:extLst>
              </p:cNvPr>
              <p:cNvCxnSpPr/>
              <p:nvPr/>
            </p:nvCxnSpPr>
            <p:spPr>
              <a:xfrm flipV="1">
                <a:off x="1693333" y="2256314"/>
                <a:ext cx="4233334" cy="2143125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67" name="AltLine3">
                <a:extLst>
                  <a:ext uri="{FF2B5EF4-FFF2-40B4-BE49-F238E27FC236}">
                    <a16:creationId xmlns:a16="http://schemas.microsoft.com/office/drawing/2014/main" id="{0C2FE036-7761-97D0-DD6F-2C68D6DD8C37}"/>
                  </a:ext>
                </a:extLst>
              </p:cNvPr>
              <p:cNvCxnSpPr/>
              <p:nvPr/>
            </p:nvCxnSpPr>
            <p:spPr>
              <a:xfrm flipV="1">
                <a:off x="1693332" y="2149158"/>
                <a:ext cx="4233335" cy="2381249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68" name="RegLine2">
                <a:extLst>
                  <a:ext uri="{FF2B5EF4-FFF2-40B4-BE49-F238E27FC236}">
                    <a16:creationId xmlns:a16="http://schemas.microsoft.com/office/drawing/2014/main" id="{88F1BD11-D6BC-AB90-890E-DB39116A23E4}"/>
                  </a:ext>
                </a:extLst>
              </p:cNvPr>
              <p:cNvCxnSpPr/>
              <p:nvPr/>
            </p:nvCxnSpPr>
            <p:spPr>
              <a:xfrm flipV="1">
                <a:off x="1439333" y="2293176"/>
                <a:ext cx="4741334" cy="2058923"/>
              </a:xfrm>
              <a:prstGeom prst="line">
                <a:avLst/>
              </a:prstGeom>
              <a:ln w="28575" cap="rnd">
                <a:solidFill>
                  <a:srgbClr val="D94535"/>
                </a:solidFill>
              </a:ln>
            </p:spPr>
          </p:cxnSp>
          <p:sp>
            <p:nvSpPr>
              <p:cNvPr id="1369" name="D0">
                <a:extLst>
                  <a:ext uri="{FF2B5EF4-FFF2-40B4-BE49-F238E27FC236}">
                    <a16:creationId xmlns:a16="http://schemas.microsoft.com/office/drawing/2014/main" id="{D67B86AE-E406-590B-5403-F8958A6962A9}"/>
                  </a:ext>
                </a:extLst>
              </p:cNvPr>
              <p:cNvSpPr/>
              <p:nvPr/>
            </p:nvSpPr>
            <p:spPr>
              <a:xfrm>
                <a:off x="2040467" y="390842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0" name="D1">
                <a:extLst>
                  <a:ext uri="{FF2B5EF4-FFF2-40B4-BE49-F238E27FC236}">
                    <a16:creationId xmlns:a16="http://schemas.microsoft.com/office/drawing/2014/main" id="{C2A934C0-5892-7284-BAE5-337716D83AB7}"/>
                  </a:ext>
                </a:extLst>
              </p:cNvPr>
              <p:cNvSpPr/>
              <p:nvPr/>
            </p:nvSpPr>
            <p:spPr>
              <a:xfrm>
                <a:off x="5427133" y="293687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1" name="D2">
                <a:extLst>
                  <a:ext uri="{FF2B5EF4-FFF2-40B4-BE49-F238E27FC236}">
                    <a16:creationId xmlns:a16="http://schemas.microsoft.com/office/drawing/2014/main" id="{26D2570F-2D19-716C-C079-3C4B50D0DE96}"/>
                  </a:ext>
                </a:extLst>
              </p:cNvPr>
              <p:cNvSpPr/>
              <p:nvPr/>
            </p:nvSpPr>
            <p:spPr>
              <a:xfrm>
                <a:off x="2887133" y="34036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2" name="D3">
                <a:extLst>
                  <a:ext uri="{FF2B5EF4-FFF2-40B4-BE49-F238E27FC236}">
                    <a16:creationId xmlns:a16="http://schemas.microsoft.com/office/drawing/2014/main" id="{A49F8566-71CA-9F6D-5A31-C803C47D3136}"/>
                  </a:ext>
                </a:extLst>
              </p:cNvPr>
              <p:cNvSpPr/>
              <p:nvPr/>
            </p:nvSpPr>
            <p:spPr>
              <a:xfrm>
                <a:off x="5427133" y="183197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3" name="D4">
                <a:extLst>
                  <a:ext uri="{FF2B5EF4-FFF2-40B4-BE49-F238E27FC236}">
                    <a16:creationId xmlns:a16="http://schemas.microsoft.com/office/drawing/2014/main" id="{7224C91F-C8A4-2DBE-DCF7-DDCD932895AF}"/>
                  </a:ext>
                </a:extLst>
              </p:cNvPr>
              <p:cNvSpPr/>
              <p:nvPr/>
            </p:nvSpPr>
            <p:spPr>
              <a:xfrm>
                <a:off x="4580467" y="307022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4" name="D5">
                <a:extLst>
                  <a:ext uri="{FF2B5EF4-FFF2-40B4-BE49-F238E27FC236}">
                    <a16:creationId xmlns:a16="http://schemas.microsoft.com/office/drawing/2014/main" id="{C0481BA0-D2C8-907B-D2FB-05144FB07F76}"/>
                  </a:ext>
                </a:extLst>
              </p:cNvPr>
              <p:cNvSpPr/>
              <p:nvPr/>
            </p:nvSpPr>
            <p:spPr>
              <a:xfrm>
                <a:off x="5427133" y="296545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5" name="D6">
                <a:extLst>
                  <a:ext uri="{FF2B5EF4-FFF2-40B4-BE49-F238E27FC236}">
                    <a16:creationId xmlns:a16="http://schemas.microsoft.com/office/drawing/2014/main" id="{071A667B-546E-CCE2-E0C0-941721905DC0}"/>
                  </a:ext>
                </a:extLst>
              </p:cNvPr>
              <p:cNvSpPr/>
              <p:nvPr/>
            </p:nvSpPr>
            <p:spPr>
              <a:xfrm>
                <a:off x="2040467" y="44704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376" name="D7">
                <a:extLst>
                  <a:ext uri="{FF2B5EF4-FFF2-40B4-BE49-F238E27FC236}">
                    <a16:creationId xmlns:a16="http://schemas.microsoft.com/office/drawing/2014/main" id="{398C6BD2-7693-0BA0-A4AE-E7A7E4233305}"/>
                  </a:ext>
                </a:extLst>
              </p:cNvPr>
              <p:cNvSpPr/>
              <p:nvPr/>
            </p:nvSpPr>
            <p:spPr>
              <a:xfrm>
                <a:off x="3733800" y="25654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sp>
          <p:nvSpPr>
            <p:cNvPr id="1397" name="Rounded Rectangle 1396">
              <a:extLst>
                <a:ext uri="{FF2B5EF4-FFF2-40B4-BE49-F238E27FC236}">
                  <a16:creationId xmlns:a16="http://schemas.microsoft.com/office/drawing/2014/main" id="{D9973264-F1A1-623C-1E2A-8BB63F1B4FF0}"/>
                </a:ext>
              </a:extLst>
            </p:cNvPr>
            <p:cNvSpPr/>
            <p:nvPr/>
          </p:nvSpPr>
          <p:spPr>
            <a:xfrm>
              <a:off x="9731934" y="560996"/>
              <a:ext cx="1193800" cy="235527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sz="1000" b="1" dirty="0">
                  <a:solidFill>
                    <a:srgbClr val="FFFFFF"/>
                  </a:solidFill>
                  <a:latin typeface="Montserrat"/>
                </a:rPr>
                <a:t>ORIGINAL FIT</a:t>
              </a:r>
            </a:p>
          </p:txBody>
        </p:sp>
      </p:grpSp>
      <p:sp>
        <p:nvSpPr>
          <p:cNvPr id="1398" name="TextBox 1397">
            <a:extLst>
              <a:ext uri="{FF2B5EF4-FFF2-40B4-BE49-F238E27FC236}">
                <a16:creationId xmlns:a16="http://schemas.microsoft.com/office/drawing/2014/main" id="{B64DA592-5208-57D4-7E28-D31C54833F2C}"/>
              </a:ext>
            </a:extLst>
          </p:cNvPr>
          <p:cNvSpPr txBox="1"/>
          <p:nvPr/>
        </p:nvSpPr>
        <p:spPr>
          <a:xfrm>
            <a:off x="241299" y="796523"/>
            <a:ext cx="7807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Arial"/>
              <a:buChar char="►"/>
            </a:pPr>
            <a:r>
              <a:rPr lang="en-US" sz="1600" dirty="0">
                <a:solidFill>
                  <a:srgbClr val="2E3640"/>
                </a:solidFill>
                <a:latin typeface="Open Sans"/>
              </a:rPr>
              <a:t>Represent the slope on number line, denote variability with interval plots</a:t>
            </a:r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BA10221C-9EFC-7756-1C66-B60CED535AE2}"/>
              </a:ext>
            </a:extLst>
          </p:cNvPr>
          <p:cNvSpPr txBox="1"/>
          <p:nvPr/>
        </p:nvSpPr>
        <p:spPr>
          <a:xfrm>
            <a:off x="237243" y="1097736"/>
            <a:ext cx="8966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Arial"/>
              <a:buChar char="►"/>
            </a:pPr>
            <a:r>
              <a:rPr lang="en-US" sz="1600" dirty="0">
                <a:latin typeface="Open Sans"/>
              </a:rPr>
              <a:t>Stretching to ± 2.45 SE captures a range we are 95% confident contains the true slope (thanks to central limit theorem) </a:t>
            </a:r>
          </a:p>
        </p:txBody>
      </p:sp>
      <p:sp>
        <p:nvSpPr>
          <p:cNvPr id="1386" name="Rounded Rectangle 1385">
            <a:extLst>
              <a:ext uri="{FF2B5EF4-FFF2-40B4-BE49-F238E27FC236}">
                <a16:creationId xmlns:a16="http://schemas.microsoft.com/office/drawing/2014/main" id="{CE4960D6-AF1F-524C-90C7-F6297D27BFE7}"/>
              </a:ext>
            </a:extLst>
          </p:cNvPr>
          <p:cNvSpPr/>
          <p:nvPr/>
        </p:nvSpPr>
        <p:spPr>
          <a:xfrm>
            <a:off x="4153589" y="4854299"/>
            <a:ext cx="7874000" cy="1777635"/>
          </a:xfrm>
          <a:prstGeom prst="roundRect">
            <a:avLst>
              <a:gd name="adj" fmla="val 8794"/>
            </a:avLst>
          </a:prstGeom>
          <a:solidFill>
            <a:srgbClr val="FBF3E4">
              <a:alpha val="7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00" name="InterpBox"/>
          <p:cNvSpPr/>
          <p:nvPr/>
        </p:nvSpPr>
        <p:spPr>
          <a:xfrm>
            <a:off x="97780" y="4693830"/>
            <a:ext cx="3962398" cy="1927670"/>
          </a:xfrm>
          <a:prstGeom prst="roundRect">
            <a:avLst>
              <a:gd name="adj" fmla="val 6817"/>
            </a:avLst>
          </a:prstGeom>
          <a:solidFill>
            <a:srgbClr val="FFF8F1"/>
          </a:solidFill>
          <a:ln w="15875"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spcAft>
                <a:spcPts val="200"/>
              </a:spcAft>
            </a:pPr>
            <a:endParaRPr lang="en-US" sz="1200" b="1" dirty="0">
              <a:solidFill>
                <a:srgbClr val="D4952B"/>
              </a:solidFill>
              <a:latin typeface="Open Sans"/>
            </a:endParaRPr>
          </a:p>
          <a:p>
            <a:r>
              <a:rPr lang="en-US" sz="1200" dirty="0">
                <a:solidFill>
                  <a:srgbClr val="2E3640"/>
                </a:solidFill>
                <a:latin typeface="Open Sans"/>
              </a:rPr>
              <a:t>With only n = 8, we need a wider interval. Use the </a:t>
            </a:r>
            <a:r>
              <a:rPr lang="en-US" sz="1200" b="1" dirty="0">
                <a:solidFill>
                  <a:srgbClr val="2E3640"/>
                </a:solidFill>
                <a:latin typeface="Open Sans"/>
              </a:rPr>
              <a:t>t-distribution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 with </a:t>
            </a:r>
            <a:r>
              <a:rPr lang="en-US" sz="1200" dirty="0" err="1">
                <a:solidFill>
                  <a:srgbClr val="2E3640"/>
                </a:solidFill>
                <a:latin typeface="Open Sans"/>
              </a:rPr>
              <a:t>df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 6. </a:t>
            </a:r>
          </a:p>
          <a:p>
            <a:r>
              <a:rPr lang="en-US" sz="1200" dirty="0">
                <a:solidFill>
                  <a:srgbClr val="2E3640"/>
                </a:solidFill>
                <a:latin typeface="Open Sans"/>
              </a:rPr>
              <a:t>(df = n − 2 = 6). </a:t>
            </a:r>
          </a:p>
          <a:p>
            <a:endParaRPr lang="en-US" sz="600" dirty="0">
              <a:solidFill>
                <a:srgbClr val="2E3640"/>
              </a:solidFill>
              <a:latin typeface="Open Sans"/>
            </a:endParaRPr>
          </a:p>
          <a:p>
            <a:endParaRPr lang="en-US" sz="600" dirty="0">
              <a:solidFill>
                <a:srgbClr val="2E3640"/>
              </a:solidFill>
              <a:latin typeface="Open Sans"/>
            </a:endParaRPr>
          </a:p>
          <a:p>
            <a:r>
              <a:rPr lang="en-US" sz="1200" b="1" dirty="0">
                <a:solidFill>
                  <a:srgbClr val="2E6B75"/>
                </a:solidFill>
                <a:latin typeface="Open Sans"/>
              </a:rPr>
              <a:t>Get t* in R:</a:t>
            </a:r>
          </a:p>
          <a:p>
            <a:r>
              <a:rPr lang="en-US" sz="1100" dirty="0">
                <a:solidFill>
                  <a:srgbClr val="2E6B75"/>
                </a:solidFill>
                <a:latin typeface="Courier New"/>
              </a:rPr>
              <a:t>qt(0.975, df = 6)</a:t>
            </a:r>
          </a:p>
          <a:p>
            <a:r>
              <a:rPr lang="en-US" sz="1100" dirty="0">
                <a:solidFill>
                  <a:srgbClr val="7A8694"/>
                </a:solidFill>
                <a:latin typeface="Courier New"/>
              </a:rPr>
              <a:t>## [1] 2.446912</a:t>
            </a:r>
          </a:p>
        </p:txBody>
      </p:sp>
      <p:sp>
        <p:nvSpPr>
          <p:cNvPr id="1344" name="Takeaway">
            <a:extLst>
              <a:ext uri="{FF2B5EF4-FFF2-40B4-BE49-F238E27FC236}">
                <a16:creationId xmlns:a16="http://schemas.microsoft.com/office/drawing/2014/main" id="{3D775B1F-84CE-02F4-B556-306D73B2D512}"/>
              </a:ext>
            </a:extLst>
          </p:cNvPr>
          <p:cNvSpPr/>
          <p:nvPr/>
        </p:nvSpPr>
        <p:spPr>
          <a:xfrm>
            <a:off x="4150097" y="4710853"/>
            <a:ext cx="7874000" cy="1921082"/>
          </a:xfrm>
          <a:prstGeom prst="roundRect">
            <a:avLst>
              <a:gd name="adj" fmla="val 5827"/>
            </a:avLst>
          </a:prstGeom>
          <a:solidFill>
            <a:srgbClr val="FFF8F0"/>
          </a:solidFill>
          <a:ln w="12700">
            <a:noFill/>
          </a:ln>
        </p:spPr>
        <p:txBody>
          <a:bodyPr wrap="square" lIns="72000" tIns="54000" rIns="72000" bIns="54000" anchor="ctr"/>
          <a:lstStyle/>
          <a:p>
            <a:pPr algn="l">
              <a:spcAft>
                <a:spcPts val="2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</p:txBody>
      </p:sp>
      <p:grpSp>
        <p:nvGrpSpPr>
          <p:cNvPr id="1384" name="Group 1383">
            <a:extLst>
              <a:ext uri="{FF2B5EF4-FFF2-40B4-BE49-F238E27FC236}">
                <a16:creationId xmlns:a16="http://schemas.microsoft.com/office/drawing/2014/main" id="{5033CF50-6A18-F420-2066-0366C483A205}"/>
              </a:ext>
            </a:extLst>
          </p:cNvPr>
          <p:cNvGrpSpPr/>
          <p:nvPr/>
        </p:nvGrpSpPr>
        <p:grpSpPr>
          <a:xfrm>
            <a:off x="4186484" y="5108194"/>
            <a:ext cx="7960539" cy="1579022"/>
            <a:chOff x="210695" y="5115873"/>
            <a:chExt cx="8656947" cy="1579022"/>
          </a:xfrm>
        </p:grpSpPr>
        <p:sp>
          <p:nvSpPr>
            <p:cNvPr id="1500" name="NoRelLabel"/>
            <p:cNvSpPr/>
            <p:nvPr/>
          </p:nvSpPr>
          <p:spPr>
            <a:xfrm>
              <a:off x="210695" y="5115873"/>
              <a:ext cx="431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/>
            <a:lstStyle/>
            <a:p>
              <a:pPr algn="l"/>
              <a:r>
                <a:rPr lang="en-US" sz="1200" dirty="0">
                  <a:solidFill>
                    <a:srgbClr val="2E3640"/>
                  </a:solidFill>
                  <a:latin typeface="Open Sans"/>
                </a:rPr>
                <a:t>When there’s no relationship: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210695" y="5446073"/>
              <a:ext cx="1270000" cy="952500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07545" y="595915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540895" y="610901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74245" y="580929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807595" y="605906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940945" y="585924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074295" y="600910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207645" y="590920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807595" y="595915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445645" y="5997253"/>
              <a:ext cx="800100" cy="38100"/>
            </a:xfrm>
            <a:prstGeom prst="line">
              <a:avLst/>
            </a:prstGeom>
            <a:ln w="12700">
              <a:solidFill>
                <a:srgbClr val="999999"/>
              </a:solidFill>
              <a:prstDash val="dash"/>
            </a:ln>
          </p:spPr>
        </p:cxnSp>
        <p:sp>
          <p:nvSpPr>
            <p:cNvPr id="14" name="Rectangle 13"/>
            <p:cNvSpPr/>
            <p:nvPr/>
          </p:nvSpPr>
          <p:spPr>
            <a:xfrm>
              <a:off x="1607695" y="5446073"/>
              <a:ext cx="1270000" cy="952500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804545" y="585924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937895" y="600910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2071245" y="615896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204595" y="575934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337945" y="595915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471295" y="610901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604645" y="590920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337945" y="580929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842645" y="5997253"/>
              <a:ext cx="800100" cy="38100"/>
            </a:xfrm>
            <a:prstGeom prst="line">
              <a:avLst/>
            </a:prstGeom>
            <a:ln w="12700">
              <a:solidFill>
                <a:srgbClr val="999999"/>
              </a:solidFill>
              <a:prstDash val="dash"/>
            </a:ln>
          </p:spPr>
        </p:cxnSp>
        <p:sp>
          <p:nvSpPr>
            <p:cNvPr id="24" name="Rectangle 23"/>
            <p:cNvSpPr/>
            <p:nvPr/>
          </p:nvSpPr>
          <p:spPr>
            <a:xfrm>
              <a:off x="3004695" y="5446073"/>
              <a:ext cx="1270000" cy="952500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3201545" y="605906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334895" y="590920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468245" y="600910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17779" y="5818786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734945" y="610901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868295" y="5959153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989770" y="5773668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3468245" y="5909200"/>
              <a:ext cx="76200" cy="76200"/>
            </a:xfrm>
            <a:prstGeom prst="ellipse">
              <a:avLst/>
            </a:prstGeom>
            <a:solidFill>
              <a:srgbClr val="999999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3" name="Straight Connector 32"/>
            <p:cNvCxnSpPr>
              <a:cxnSpLocks/>
            </p:cNvCxnSpPr>
            <p:nvPr/>
          </p:nvCxnSpPr>
          <p:spPr>
            <a:xfrm flipV="1">
              <a:off x="3239645" y="5959153"/>
              <a:ext cx="762000" cy="38100"/>
            </a:xfrm>
            <a:prstGeom prst="line">
              <a:avLst/>
            </a:prstGeom>
            <a:ln w="12700">
              <a:solidFill>
                <a:srgbClr val="999999"/>
              </a:solidFill>
              <a:prstDash val="dash"/>
            </a:ln>
          </p:spPr>
        </p:cxnSp>
        <p:sp>
          <p:nvSpPr>
            <p:cNvPr id="1501" name="NoRelCaption"/>
            <p:cNvSpPr/>
            <p:nvPr/>
          </p:nvSpPr>
          <p:spPr>
            <a:xfrm>
              <a:off x="210695" y="6436673"/>
              <a:ext cx="4318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ctr"/>
              <a:r>
                <a:rPr lang="en-US" sz="1200" dirty="0">
                  <a:solidFill>
                    <a:srgbClr val="999999"/>
                  </a:solidFill>
                  <a:latin typeface="Open Sans"/>
                </a:rPr>
                <a:t>Slopes ≈ 0 (flat lines)</a:t>
              </a:r>
            </a:p>
          </p:txBody>
        </p:sp>
        <p:sp>
          <p:nvSpPr>
            <p:cNvPr id="1502" name="YesRelLabel"/>
            <p:cNvSpPr/>
            <p:nvPr/>
          </p:nvSpPr>
          <p:spPr>
            <a:xfrm>
              <a:off x="4549642" y="5120095"/>
              <a:ext cx="431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/>
            <a:lstStyle/>
            <a:p>
              <a:pPr algn="l"/>
              <a:r>
                <a:rPr lang="en-US" sz="1200" dirty="0">
                  <a:solidFill>
                    <a:srgbClr val="2E6B75"/>
                  </a:solidFill>
                  <a:latin typeface="Open Sans"/>
                </a:rPr>
                <a:t>When there IS a relationship: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37767" y="5414670"/>
              <a:ext cx="1270000" cy="952500"/>
            </a:xfrm>
            <a:prstGeom prst="rect">
              <a:avLst/>
            </a:prstGeom>
            <a:solidFill>
              <a:srgbClr val="F1FFF5">
                <a:alpha val="54902"/>
              </a:srgbClr>
            </a:solidFill>
            <a:ln w="6350">
              <a:solidFill>
                <a:srgbClr val="2E6B7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734617" y="6034793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867967" y="5970567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966781" y="5832681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100131" y="5882953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268017" y="5735073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412317" y="5763597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534717" y="5628030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268017" y="5756481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3" name="Straight Connector 42"/>
            <p:cNvCxnSpPr/>
            <p:nvPr/>
          </p:nvCxnSpPr>
          <p:spPr>
            <a:xfrm flipV="1">
              <a:off x="4738245" y="5687538"/>
              <a:ext cx="800100" cy="406763"/>
            </a:xfrm>
            <a:prstGeom prst="line">
              <a:avLst/>
            </a:prstGeom>
            <a:ln w="12700">
              <a:solidFill>
                <a:srgbClr val="2E6B75"/>
              </a:solidFill>
            </a:ln>
          </p:spPr>
        </p:cxnSp>
        <p:sp>
          <p:nvSpPr>
            <p:cNvPr id="44" name="Rectangle 43"/>
            <p:cNvSpPr/>
            <p:nvPr/>
          </p:nvSpPr>
          <p:spPr>
            <a:xfrm>
              <a:off x="5934767" y="5414670"/>
              <a:ext cx="1270000" cy="952500"/>
            </a:xfrm>
            <a:prstGeom prst="rect">
              <a:avLst/>
            </a:prstGeom>
            <a:solidFill>
              <a:srgbClr val="F1FFF5">
                <a:alpha val="54902"/>
              </a:srgbClr>
            </a:solidFill>
            <a:ln w="6350">
              <a:solidFill>
                <a:srgbClr val="2E6B7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6174148" y="6108936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275579" y="5947735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440848" y="5980484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6574198" y="5937667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6665017" y="5756481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6798367" y="5692256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6931717" y="5585213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6574198" y="5894850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 flipV="1">
              <a:off x="6169653" y="5714901"/>
              <a:ext cx="800100" cy="406763"/>
            </a:xfrm>
            <a:prstGeom prst="line">
              <a:avLst/>
            </a:prstGeom>
            <a:ln w="12700">
              <a:solidFill>
                <a:srgbClr val="2E6B75"/>
              </a:solidFill>
            </a:ln>
          </p:spPr>
        </p:cxnSp>
        <p:sp>
          <p:nvSpPr>
            <p:cNvPr id="54" name="Rectangle 53"/>
            <p:cNvSpPr/>
            <p:nvPr/>
          </p:nvSpPr>
          <p:spPr>
            <a:xfrm>
              <a:off x="7331767" y="5414670"/>
              <a:ext cx="1270000" cy="952500"/>
            </a:xfrm>
            <a:prstGeom prst="rect">
              <a:avLst/>
            </a:prstGeom>
            <a:solidFill>
              <a:srgbClr val="F1FFF5">
                <a:alpha val="54902"/>
              </a:srgbClr>
            </a:solidFill>
            <a:ln w="6350">
              <a:solidFill>
                <a:srgbClr val="2E6B7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 rot="3910521">
              <a:off x="7576121" y="5575124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 rot="3910521">
              <a:off x="7843535" y="5724008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 rot="3910521">
              <a:off x="7938382" y="5848326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 rot="3910521">
              <a:off x="8052659" y="5942389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 rot="3910521">
              <a:off x="8166937" y="6036452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 rot="3910521">
              <a:off x="8281213" y="6130516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 rot="3910521">
              <a:off x="7670968" y="5678176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 rot="3910521">
              <a:off x="8186366" y="6027464"/>
              <a:ext cx="76200" cy="76200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63" name="Straight Connector 62"/>
            <p:cNvCxnSpPr/>
            <p:nvPr/>
          </p:nvCxnSpPr>
          <p:spPr>
            <a:xfrm rot="3910521" flipV="1">
              <a:off x="7503774" y="5642262"/>
              <a:ext cx="800100" cy="406763"/>
            </a:xfrm>
            <a:prstGeom prst="line">
              <a:avLst/>
            </a:prstGeom>
            <a:ln w="12700">
              <a:solidFill>
                <a:srgbClr val="2E6B75"/>
              </a:solidFill>
            </a:ln>
          </p:spPr>
        </p:cxnSp>
        <p:sp>
          <p:nvSpPr>
            <p:cNvPr id="1503" name="YesRelCaption"/>
            <p:cNvSpPr/>
            <p:nvPr/>
          </p:nvSpPr>
          <p:spPr>
            <a:xfrm>
              <a:off x="4549642" y="6440895"/>
              <a:ext cx="4318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ctr"/>
              <a:r>
                <a:rPr lang="en-US" sz="1200" dirty="0">
                  <a:solidFill>
                    <a:srgbClr val="2E6B75"/>
                  </a:solidFill>
                  <a:latin typeface="Open Sans"/>
                </a:rPr>
                <a:t>Slopes clearly away from 0</a:t>
              </a:r>
            </a:p>
          </p:txBody>
        </p:sp>
      </p:grpSp>
      <p:sp>
        <p:nvSpPr>
          <p:cNvPr id="1348" name="NoRelLabel">
            <a:extLst>
              <a:ext uri="{FF2B5EF4-FFF2-40B4-BE49-F238E27FC236}">
                <a16:creationId xmlns:a16="http://schemas.microsoft.com/office/drawing/2014/main" id="{FE88DCB9-6E77-A197-1C68-C98293D65410}"/>
              </a:ext>
            </a:extLst>
          </p:cNvPr>
          <p:cNvSpPr/>
          <p:nvPr/>
        </p:nvSpPr>
        <p:spPr>
          <a:xfrm>
            <a:off x="6470522" y="4695549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200" b="1" dirty="0">
                <a:solidFill>
                  <a:srgbClr val="D5952A"/>
                </a:solidFill>
                <a:latin typeface="Open Sans"/>
              </a:rPr>
              <a:t>Reminder: No relationship ≃ zero slope</a:t>
            </a:r>
          </a:p>
        </p:txBody>
      </p:sp>
      <p:sp>
        <p:nvSpPr>
          <p:cNvPr id="1401" name="Rounded Rectangle 1400">
            <a:extLst>
              <a:ext uri="{FF2B5EF4-FFF2-40B4-BE49-F238E27FC236}">
                <a16:creationId xmlns:a16="http://schemas.microsoft.com/office/drawing/2014/main" id="{9A0097EC-F342-9A0E-113F-04C32256C695}"/>
              </a:ext>
            </a:extLst>
          </p:cNvPr>
          <p:cNvSpPr/>
          <p:nvPr/>
        </p:nvSpPr>
        <p:spPr>
          <a:xfrm>
            <a:off x="115507" y="4704028"/>
            <a:ext cx="1270000" cy="254000"/>
          </a:xfrm>
          <a:prstGeom prst="roundRect">
            <a:avLst/>
          </a:prstGeom>
          <a:solidFill>
            <a:srgbClr val="D495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Montserrat"/>
              </a:rPr>
              <a:t>ASIDE</a:t>
            </a:r>
          </a:p>
        </p:txBody>
      </p:sp>
      <p:sp>
        <p:nvSpPr>
          <p:cNvPr id="1402" name="Rounded Rectangle 1401">
            <a:extLst>
              <a:ext uri="{FF2B5EF4-FFF2-40B4-BE49-F238E27FC236}">
                <a16:creationId xmlns:a16="http://schemas.microsoft.com/office/drawing/2014/main" id="{653525F1-4777-FE65-F895-6DE032DE2791}"/>
              </a:ext>
            </a:extLst>
          </p:cNvPr>
          <p:cNvSpPr/>
          <p:nvPr/>
        </p:nvSpPr>
        <p:spPr>
          <a:xfrm>
            <a:off x="4153589" y="4720949"/>
            <a:ext cx="1270000" cy="254000"/>
          </a:xfrm>
          <a:prstGeom prst="roundRect">
            <a:avLst/>
          </a:prstGeom>
          <a:solidFill>
            <a:srgbClr val="D495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Montserrat"/>
              </a:rPr>
              <a:t>ASIDE</a:t>
            </a:r>
          </a:p>
        </p:txBody>
      </p:sp>
      <p:sp>
        <p:nvSpPr>
          <p:cNvPr id="1404" name="TextBox 1403">
            <a:extLst>
              <a:ext uri="{FF2B5EF4-FFF2-40B4-BE49-F238E27FC236}">
                <a16:creationId xmlns:a16="http://schemas.microsoft.com/office/drawing/2014/main" id="{8BA907B9-A66C-B200-F2E9-36CBEFD435D2}"/>
              </a:ext>
            </a:extLst>
          </p:cNvPr>
          <p:cNvSpPr txBox="1"/>
          <p:nvPr/>
        </p:nvSpPr>
        <p:spPr>
          <a:xfrm>
            <a:off x="1385507" y="4712355"/>
            <a:ext cx="1640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 dirty="0">
                <a:solidFill>
                  <a:srgbClr val="D4952B"/>
                </a:solidFill>
                <a:latin typeface="Open Sans"/>
              </a:rPr>
              <a:t>Why 2.45, not 1.96?</a:t>
            </a:r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AB836AC2-E39B-92BE-61E6-2EEA99A28195}"/>
              </a:ext>
            </a:extLst>
          </p:cNvPr>
          <p:cNvSpPr txBox="1"/>
          <p:nvPr/>
        </p:nvSpPr>
        <p:spPr>
          <a:xfrm>
            <a:off x="241804" y="1692607"/>
            <a:ext cx="8966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Arial"/>
              <a:buChar char="►"/>
            </a:pPr>
            <a:r>
              <a:rPr lang="en-US" sz="1600" dirty="0">
                <a:latin typeface="Open Sans"/>
              </a:rPr>
              <a:t>If this 95% CI does not contain zero, the slope is said to be significant</a:t>
            </a:r>
          </a:p>
        </p:txBody>
      </p:sp>
    </p:spTree>
    <p:extLst>
      <p:ext uri="{BB962C8B-B14F-4D97-AF65-F5344CB8AC3E}">
        <p14:creationId xmlns:p14="http://schemas.microsoft.com/office/powerpoint/2010/main" val="204093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" grpId="0"/>
      <p:bldP spid="1300" grpId="0" animBg="1"/>
      <p:bldP spid="1301" grpId="0" animBg="1"/>
      <p:bldP spid="1302" grpId="0" animBg="1"/>
      <p:bldP spid="1304" grpId="0"/>
      <p:bldP spid="1305" grpId="0"/>
      <p:bldP spid="1377" grpId="0" animBg="1"/>
      <p:bldP spid="1377" grpId="1" animBg="1"/>
      <p:bldP spid="1380" grpId="0" animBg="1"/>
      <p:bldP spid="1380" grpId="1" animBg="1"/>
      <p:bldP spid="1381" grpId="0" animBg="1"/>
      <p:bldP spid="1381" grpId="1" animBg="1"/>
      <p:bldP spid="1382" grpId="0"/>
      <p:bldP spid="1382" grpId="1"/>
      <p:bldP spid="1383" grpId="0"/>
      <p:bldP spid="1383" grpId="1"/>
      <p:bldP spid="1398" grpId="0"/>
      <p:bldP spid="1399" grpId="0"/>
      <p:bldP spid="1386" grpId="0" animBg="1"/>
      <p:bldP spid="1400" grpId="0" animBg="1"/>
      <p:bldP spid="1344" grpId="0" animBg="1"/>
      <p:bldP spid="1348" grpId="0"/>
      <p:bldP spid="1401" grpId="0" animBg="1"/>
      <p:bldP spid="1402" grpId="0" animBg="1"/>
      <p:bldP spid="1404" grpId="0"/>
      <p:bldP spid="13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92B3-7C6C-69E8-1076-11BEBE81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latin typeface="Montserrat"/>
              </a:rPr>
              <a:t>Practice: Significance &amp; the Zero-Slope Test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30A13C4-760C-0940-9474-CCB2108EF2CA}"/>
              </a:ext>
            </a:extLst>
          </p:cNvPr>
          <p:cNvSpPr/>
          <p:nvPr/>
        </p:nvSpPr>
        <p:spPr>
          <a:xfrm>
            <a:off x="457200" y="1168400"/>
            <a:ext cx="5588000" cy="8255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Our 95% CI for a slope is (-0.45, -0.2). A colleague says the slope is "significant." Why?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C6D7D1-24FC-7549-860E-E213208CBDF2}"/>
              </a:ext>
            </a:extLst>
          </p:cNvPr>
          <p:cNvSpPr/>
          <p:nvPr/>
        </p:nvSpPr>
        <p:spPr>
          <a:xfrm>
            <a:off x="660400" y="2451100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 The CI does not contain zero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AB223B-83A0-B746-BEEE-266114D67EA2}"/>
              </a:ext>
            </a:extLst>
          </p:cNvPr>
          <p:cNvSpPr/>
          <p:nvPr/>
        </p:nvSpPr>
        <p:spPr>
          <a:xfrm>
            <a:off x="660400" y="2079057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</a:t>
            </a:r>
            <a:r>
              <a:rPr lang="en-US" sz="1500" dirty="0">
                <a:solidFill>
                  <a:srgbClr val="2E3640"/>
                </a:solidFill>
                <a:ea typeface="Open Sans"/>
                <a:cs typeface="Open Sans"/>
              </a:rPr>
              <a:t>) The CI is relatively narrow</a:t>
            </a:r>
            <a:endParaRPr lang="en-US" sz="1500" dirty="0">
              <a:solidFill>
                <a:srgbClr val="2E364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11CC08-1BC6-E54A-8996-A15EDEF3AFF9}"/>
              </a:ext>
            </a:extLst>
          </p:cNvPr>
          <p:cNvSpPr/>
          <p:nvPr/>
        </p:nvSpPr>
        <p:spPr>
          <a:xfrm>
            <a:off x="457200" y="3340100"/>
            <a:ext cx="5588000" cy="2032000"/>
          </a:xfrm>
          <a:prstGeom prst="roundRect">
            <a:avLst/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</a:rPr>
              <a:t>Both -0.45 and -0.2 are </a:t>
            </a:r>
            <a:r>
              <a:rPr lang="en-US" sz="1400" b="1" dirty="0">
                <a:solidFill>
                  <a:srgbClr val="2E3640"/>
                </a:solidFill>
              </a:rPr>
              <a:t>below zero</a:t>
            </a:r>
            <a:r>
              <a:rPr lang="en-US" sz="1400" dirty="0">
                <a:solidFill>
                  <a:srgbClr val="2E3640"/>
                </a:solidFill>
              </a:rPr>
              <a:t>. Because the entire interval is negative, we can reject the null hypothesis that the true slope is zero.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</a:rPr>
              <a:t>If the CI straddled zero (e.g., -0.55 to 0.10), we could not rule out no relationship.</a:t>
            </a:r>
            <a:endParaRPr lang="en-US" sz="1400" i="1" dirty="0">
              <a:solidFill>
                <a:srgbClr val="666666"/>
              </a:solidFill>
              <a:latin typeface="Open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693D2-39ED-9E42-BFFC-B04B75A3CAAD}"/>
              </a:ext>
            </a:extLst>
          </p:cNvPr>
          <p:cNvSpPr/>
          <p:nvPr/>
        </p:nvSpPr>
        <p:spPr>
          <a:xfrm>
            <a:off x="6121400" y="1168400"/>
            <a:ext cx="9525" cy="4953000"/>
          </a:xfrm>
          <a:prstGeom prst="rect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C307D4E-B33A-A15D-2473-E19F2959A5F5}"/>
              </a:ext>
            </a:extLst>
          </p:cNvPr>
          <p:cNvSpPr/>
          <p:nvPr/>
        </p:nvSpPr>
        <p:spPr>
          <a:xfrm>
            <a:off x="6207125" y="951722"/>
            <a:ext cx="5588000" cy="1042178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R's </a:t>
            </a:r>
            <a:r>
              <a:rPr lang="en-US" sz="1600" b="1" dirty="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confint</a:t>
            </a:r>
            <a:r>
              <a:rPr lang="en-US" sz="16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(model) returns (0.097, 0.675) for the slope CI. What two values went into computing these?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CEEBED-71DD-8617-64AF-598C7DA8BE61}"/>
              </a:ext>
            </a:extLst>
          </p:cNvPr>
          <p:cNvSpPr/>
          <p:nvPr/>
        </p:nvSpPr>
        <p:spPr>
          <a:xfrm>
            <a:off x="6410325" y="2079725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 The slope and the standard error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F80D98C-2EED-9FFF-FA7E-2ADBE0D2B6CA}"/>
              </a:ext>
            </a:extLst>
          </p:cNvPr>
          <p:cNvSpPr/>
          <p:nvPr/>
        </p:nvSpPr>
        <p:spPr>
          <a:xfrm>
            <a:off x="6410325" y="2460725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 The intercept and the confidence interval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146548-D6C3-372C-9D8D-1D990FDB4244}"/>
              </a:ext>
            </a:extLst>
          </p:cNvPr>
          <p:cNvSpPr/>
          <p:nvPr/>
        </p:nvSpPr>
        <p:spPr>
          <a:xfrm>
            <a:off x="6207125" y="3340100"/>
            <a:ext cx="5588000" cy="2032000"/>
          </a:xfrm>
          <a:prstGeom prst="roundRect">
            <a:avLst>
              <a:gd name="adj" fmla="val 7402"/>
            </a:avLst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The CI endpoints are </a:t>
            </a:r>
            <a:r>
              <a:rPr lang="en-US" sz="1400" b="1" dirty="0">
                <a:solidFill>
                  <a:srgbClr val="2E6B75"/>
                </a:solidFill>
                <a:latin typeface="Open Sans"/>
              </a:rPr>
              <a:t>b₁ ± t* × SE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. R uses the slope estimate (0.386) and the SE (0.118), multiplied by the t-critical value (2.45).</a:t>
            </a:r>
          </a:p>
          <a:p>
            <a:r>
              <a:rPr lang="en-US" sz="1400" i="1" dirty="0">
                <a:solidFill>
                  <a:srgbClr val="666666"/>
                </a:solidFill>
                <a:latin typeface="Open Sans"/>
              </a:rPr>
              <a:t>0.386 − 2.45×0.118 = 0.097 and 0.386 + 2.45×0.118 = 0.675.</a:t>
            </a:r>
          </a:p>
        </p:txBody>
      </p:sp>
    </p:spTree>
    <p:extLst>
      <p:ext uri="{BB962C8B-B14F-4D97-AF65-F5344CB8AC3E}">
        <p14:creationId xmlns:p14="http://schemas.microsoft.com/office/powerpoint/2010/main" val="251050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4487-E616-5FAE-A75C-7FC30FAB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547C40B-B235-C5D5-FDE7-F8BBBBA8BAA3}"/>
              </a:ext>
            </a:extLst>
          </p:cNvPr>
          <p:cNvGrpSpPr/>
          <p:nvPr/>
        </p:nvGrpSpPr>
        <p:grpSpPr>
          <a:xfrm>
            <a:off x="4317727" y="1600199"/>
            <a:ext cx="7620273" cy="2746433"/>
            <a:chOff x="4317727" y="1600199"/>
            <a:chExt cx="7620273" cy="2746433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81911F6-7F4F-4B42-95BE-BCF4833C412C}"/>
                </a:ext>
              </a:extLst>
            </p:cNvPr>
            <p:cNvSpPr/>
            <p:nvPr/>
          </p:nvSpPr>
          <p:spPr>
            <a:xfrm>
              <a:off x="4318000" y="1600199"/>
              <a:ext cx="7620000" cy="2746433"/>
            </a:xfrm>
            <a:prstGeom prst="roundRect">
              <a:avLst>
                <a:gd name="adj" fmla="val 1187"/>
              </a:avLst>
            </a:prstGeom>
            <a:solidFill>
              <a:srgbClr val="EDF2F9">
                <a:alpha val="70000"/>
              </a:srgb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200" name="NL6">
              <a:extLst>
                <a:ext uri="{FF2B5EF4-FFF2-40B4-BE49-F238E27FC236}">
                  <a16:creationId xmlns:a16="http://schemas.microsoft.com/office/drawing/2014/main" id="{3E23DC54-D2B1-F1C3-775B-FE1693D367B3}"/>
                </a:ext>
              </a:extLst>
            </p:cNvPr>
            <p:cNvSpPr/>
            <p:nvPr/>
          </p:nvSpPr>
          <p:spPr>
            <a:xfrm>
              <a:off x="4699000" y="2935228"/>
              <a:ext cx="6731000" cy="0"/>
            </a:xfrm>
            <a:prstGeom prst="line">
              <a:avLst/>
            </a:prstGeom>
            <a:ln w="15875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1" name="NL6Tk0">
              <a:extLst>
                <a:ext uri="{FF2B5EF4-FFF2-40B4-BE49-F238E27FC236}">
                  <a16:creationId xmlns:a16="http://schemas.microsoft.com/office/drawing/2014/main" id="{3489FDE9-A624-991D-B3C9-F27864605181}"/>
                </a:ext>
              </a:extLst>
            </p:cNvPr>
            <p:cNvSpPr/>
            <p:nvPr/>
          </p:nvSpPr>
          <p:spPr>
            <a:xfrm>
              <a:off x="4699000" y="2859028"/>
              <a:ext cx="0" cy="1524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2" name="NL6TL0">
              <a:extLst>
                <a:ext uri="{FF2B5EF4-FFF2-40B4-BE49-F238E27FC236}">
                  <a16:creationId xmlns:a16="http://schemas.microsoft.com/office/drawing/2014/main" id="{22BEC1BD-03E0-4066-2BE6-09CB5C157A7F}"/>
                </a:ext>
              </a:extLst>
            </p:cNvPr>
            <p:cNvSpPr/>
            <p:nvPr/>
          </p:nvSpPr>
          <p:spPr>
            <a:xfrm>
              <a:off x="4419600" y="3036828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dirty="0">
                  <a:solidFill>
                    <a:srgbClr val="2E3640"/>
                  </a:solidFill>
                  <a:latin typeface="Open Sans"/>
                </a:rPr>
                <a:t>0.0</a:t>
              </a:r>
            </a:p>
          </p:txBody>
        </p:sp>
        <p:sp>
          <p:nvSpPr>
            <p:cNvPr id="1203" name="NL6Tk0.1">
              <a:extLst>
                <a:ext uri="{FF2B5EF4-FFF2-40B4-BE49-F238E27FC236}">
                  <a16:creationId xmlns:a16="http://schemas.microsoft.com/office/drawing/2014/main" id="{57D4F795-D777-2DB0-7949-194569FE186B}"/>
                </a:ext>
              </a:extLst>
            </p:cNvPr>
            <p:cNvSpPr/>
            <p:nvPr/>
          </p:nvSpPr>
          <p:spPr>
            <a:xfrm>
              <a:off x="5540375" y="2897128"/>
              <a:ext cx="0" cy="762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4" name="NL6Tk0.2">
              <a:extLst>
                <a:ext uri="{FF2B5EF4-FFF2-40B4-BE49-F238E27FC236}">
                  <a16:creationId xmlns:a16="http://schemas.microsoft.com/office/drawing/2014/main" id="{F5AEA255-7653-3D26-2647-C28D781A3994}"/>
                </a:ext>
              </a:extLst>
            </p:cNvPr>
            <p:cNvSpPr/>
            <p:nvPr/>
          </p:nvSpPr>
          <p:spPr>
            <a:xfrm>
              <a:off x="6381750" y="2859028"/>
              <a:ext cx="0" cy="1524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5" name="NL6TL0.2">
              <a:extLst>
                <a:ext uri="{FF2B5EF4-FFF2-40B4-BE49-F238E27FC236}">
                  <a16:creationId xmlns:a16="http://schemas.microsoft.com/office/drawing/2014/main" id="{04DC3526-4ECC-5DF7-7947-98D9F096AC11}"/>
                </a:ext>
              </a:extLst>
            </p:cNvPr>
            <p:cNvSpPr/>
            <p:nvPr/>
          </p:nvSpPr>
          <p:spPr>
            <a:xfrm>
              <a:off x="6102350" y="3036828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dirty="0">
                  <a:solidFill>
                    <a:srgbClr val="2E3640"/>
                  </a:solidFill>
                  <a:latin typeface="Open Sans"/>
                </a:rPr>
                <a:t>0.2</a:t>
              </a:r>
            </a:p>
          </p:txBody>
        </p:sp>
        <p:sp>
          <p:nvSpPr>
            <p:cNvPr id="1206" name="NL6Tk0.3">
              <a:extLst>
                <a:ext uri="{FF2B5EF4-FFF2-40B4-BE49-F238E27FC236}">
                  <a16:creationId xmlns:a16="http://schemas.microsoft.com/office/drawing/2014/main" id="{123D5629-9D1E-BA50-578C-92F4E97902BC}"/>
                </a:ext>
              </a:extLst>
            </p:cNvPr>
            <p:cNvSpPr/>
            <p:nvPr/>
          </p:nvSpPr>
          <p:spPr>
            <a:xfrm>
              <a:off x="7223125" y="2897128"/>
              <a:ext cx="0" cy="762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7" name="NL6Tk0.4">
              <a:extLst>
                <a:ext uri="{FF2B5EF4-FFF2-40B4-BE49-F238E27FC236}">
                  <a16:creationId xmlns:a16="http://schemas.microsoft.com/office/drawing/2014/main" id="{CE00EED3-FB4E-52AB-75AB-8C5358504917}"/>
                </a:ext>
              </a:extLst>
            </p:cNvPr>
            <p:cNvSpPr/>
            <p:nvPr/>
          </p:nvSpPr>
          <p:spPr>
            <a:xfrm>
              <a:off x="8064500" y="2859028"/>
              <a:ext cx="0" cy="1524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8" name="NL6TL0.4">
              <a:extLst>
                <a:ext uri="{FF2B5EF4-FFF2-40B4-BE49-F238E27FC236}">
                  <a16:creationId xmlns:a16="http://schemas.microsoft.com/office/drawing/2014/main" id="{B0963459-1E54-AE18-2FA7-FAF100107D16}"/>
                </a:ext>
              </a:extLst>
            </p:cNvPr>
            <p:cNvSpPr/>
            <p:nvPr/>
          </p:nvSpPr>
          <p:spPr>
            <a:xfrm>
              <a:off x="7785100" y="3036828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dirty="0">
                  <a:solidFill>
                    <a:srgbClr val="2E3640"/>
                  </a:solidFill>
                  <a:latin typeface="Open Sans"/>
                </a:rPr>
                <a:t>0.4</a:t>
              </a:r>
            </a:p>
          </p:txBody>
        </p:sp>
        <p:sp>
          <p:nvSpPr>
            <p:cNvPr id="1209" name="NL6Tk0.5">
              <a:extLst>
                <a:ext uri="{FF2B5EF4-FFF2-40B4-BE49-F238E27FC236}">
                  <a16:creationId xmlns:a16="http://schemas.microsoft.com/office/drawing/2014/main" id="{7D8DF6A3-92C7-FDA8-0BB7-8B1CB203AB38}"/>
                </a:ext>
              </a:extLst>
            </p:cNvPr>
            <p:cNvSpPr/>
            <p:nvPr/>
          </p:nvSpPr>
          <p:spPr>
            <a:xfrm>
              <a:off x="8905875" y="2897128"/>
              <a:ext cx="0" cy="762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0" name="NL6Tk0.6">
              <a:extLst>
                <a:ext uri="{FF2B5EF4-FFF2-40B4-BE49-F238E27FC236}">
                  <a16:creationId xmlns:a16="http://schemas.microsoft.com/office/drawing/2014/main" id="{2EF1DDC8-D076-106D-4B6A-631FFF3B6497}"/>
                </a:ext>
              </a:extLst>
            </p:cNvPr>
            <p:cNvSpPr/>
            <p:nvPr/>
          </p:nvSpPr>
          <p:spPr>
            <a:xfrm>
              <a:off x="9747250" y="2859028"/>
              <a:ext cx="0" cy="1524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1" name="NL6TL0.6">
              <a:extLst>
                <a:ext uri="{FF2B5EF4-FFF2-40B4-BE49-F238E27FC236}">
                  <a16:creationId xmlns:a16="http://schemas.microsoft.com/office/drawing/2014/main" id="{FB21D8F8-9DA6-D7BF-EBE5-D0A2D339E781}"/>
                </a:ext>
              </a:extLst>
            </p:cNvPr>
            <p:cNvSpPr/>
            <p:nvPr/>
          </p:nvSpPr>
          <p:spPr>
            <a:xfrm>
              <a:off x="9467850" y="3036828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dirty="0">
                  <a:solidFill>
                    <a:srgbClr val="2E3640"/>
                  </a:solidFill>
                  <a:latin typeface="Open Sans"/>
                </a:rPr>
                <a:t>0.6</a:t>
              </a:r>
            </a:p>
          </p:txBody>
        </p:sp>
        <p:sp>
          <p:nvSpPr>
            <p:cNvPr id="1212" name="NL6Tk0.7">
              <a:extLst>
                <a:ext uri="{FF2B5EF4-FFF2-40B4-BE49-F238E27FC236}">
                  <a16:creationId xmlns:a16="http://schemas.microsoft.com/office/drawing/2014/main" id="{5B3496CC-8A54-E064-F01D-E1E624702EE1}"/>
                </a:ext>
              </a:extLst>
            </p:cNvPr>
            <p:cNvSpPr/>
            <p:nvPr/>
          </p:nvSpPr>
          <p:spPr>
            <a:xfrm>
              <a:off x="10588625" y="2897128"/>
              <a:ext cx="0" cy="762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3" name="NL6Tk0.8">
              <a:extLst>
                <a:ext uri="{FF2B5EF4-FFF2-40B4-BE49-F238E27FC236}">
                  <a16:creationId xmlns:a16="http://schemas.microsoft.com/office/drawing/2014/main" id="{5C606ADD-B261-54F3-D5B5-2708CE6513ED}"/>
                </a:ext>
              </a:extLst>
            </p:cNvPr>
            <p:cNvSpPr/>
            <p:nvPr/>
          </p:nvSpPr>
          <p:spPr>
            <a:xfrm>
              <a:off x="11430000" y="2859028"/>
              <a:ext cx="0" cy="152400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4" name="NL6TL0.8">
              <a:extLst>
                <a:ext uri="{FF2B5EF4-FFF2-40B4-BE49-F238E27FC236}">
                  <a16:creationId xmlns:a16="http://schemas.microsoft.com/office/drawing/2014/main" id="{297691DF-51BC-8966-F9C5-394512DF17DD}"/>
                </a:ext>
              </a:extLst>
            </p:cNvPr>
            <p:cNvSpPr/>
            <p:nvPr/>
          </p:nvSpPr>
          <p:spPr>
            <a:xfrm>
              <a:off x="11150600" y="3036828"/>
              <a:ext cx="55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dirty="0">
                  <a:solidFill>
                    <a:srgbClr val="2E3640"/>
                  </a:solidFill>
                  <a:latin typeface="Open Sans"/>
                </a:rPr>
                <a:t>0.8</a:t>
              </a:r>
            </a:p>
          </p:txBody>
        </p:sp>
        <p:sp>
          <p:nvSpPr>
            <p:cNvPr id="1215" name="NL6SlopeLabel">
              <a:extLst>
                <a:ext uri="{FF2B5EF4-FFF2-40B4-BE49-F238E27FC236}">
                  <a16:creationId xmlns:a16="http://schemas.microsoft.com/office/drawing/2014/main" id="{2BA560B6-C537-42F6-E37A-54C88D35B15D}"/>
                </a:ext>
              </a:extLst>
            </p:cNvPr>
            <p:cNvSpPr/>
            <p:nvPr/>
          </p:nvSpPr>
          <p:spPr>
            <a:xfrm>
              <a:off x="7366000" y="3265428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100" i="1" dirty="0">
                  <a:solidFill>
                    <a:srgbClr val="5A6A78"/>
                  </a:solidFill>
                  <a:latin typeface="Open Sans"/>
                </a:rPr>
                <a:t>Slope</a:t>
              </a:r>
            </a:p>
          </p:txBody>
        </p:sp>
        <p:sp>
          <p:nvSpPr>
            <p:cNvPr id="1216" name="B1Dot6">
              <a:extLst>
                <a:ext uri="{FF2B5EF4-FFF2-40B4-BE49-F238E27FC236}">
                  <a16:creationId xmlns:a16="http://schemas.microsoft.com/office/drawing/2014/main" id="{559CED75-F857-DFEF-6AEA-99F12263CE0B}"/>
                </a:ext>
              </a:extLst>
            </p:cNvPr>
            <p:cNvSpPr/>
            <p:nvPr/>
          </p:nvSpPr>
          <p:spPr>
            <a:xfrm>
              <a:off x="7845108" y="2833628"/>
              <a:ext cx="203200" cy="203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9453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7" name="B1Label6">
              <a:extLst>
                <a:ext uri="{FF2B5EF4-FFF2-40B4-BE49-F238E27FC236}">
                  <a16:creationId xmlns:a16="http://schemas.microsoft.com/office/drawing/2014/main" id="{E083F6D0-0658-83D7-B2F1-750616BD586B}"/>
                </a:ext>
              </a:extLst>
            </p:cNvPr>
            <p:cNvSpPr/>
            <p:nvPr/>
          </p:nvSpPr>
          <p:spPr>
            <a:xfrm>
              <a:off x="7311708" y="2452628"/>
              <a:ext cx="1270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b"/>
            <a:lstStyle/>
            <a:p>
              <a:pPr algn="ctr"/>
              <a:r>
                <a:rPr lang="en-US" sz="1200" b="1" dirty="0">
                  <a:solidFill>
                    <a:srgbClr val="D94535"/>
                  </a:solidFill>
                  <a:latin typeface="Open Sans"/>
                </a:rPr>
                <a:t>b₁ = 0.386</a:t>
              </a:r>
            </a:p>
          </p:txBody>
        </p:sp>
        <p:sp>
          <p:nvSpPr>
            <p:cNvPr id="6" name="CIBar7">
              <a:extLst>
                <a:ext uri="{FF2B5EF4-FFF2-40B4-BE49-F238E27FC236}">
                  <a16:creationId xmlns:a16="http://schemas.microsoft.com/office/drawing/2014/main" id="{5C88E9D0-7FF1-700D-BC3B-2DEA9340CEFF}"/>
                </a:ext>
              </a:extLst>
            </p:cNvPr>
            <p:cNvSpPr/>
            <p:nvPr/>
          </p:nvSpPr>
          <p:spPr>
            <a:xfrm>
              <a:off x="5593315" y="3527877"/>
              <a:ext cx="4864830" cy="226982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/>
            <a:lstStyle/>
            <a:p>
              <a:pPr algn="ctr"/>
              <a:r>
                <a:rPr lang="en-US" sz="1000" b="1" dirty="0">
                  <a:solidFill>
                    <a:srgbClr val="2B6CB0"/>
                  </a:solidFill>
                  <a:latin typeface="Open Sans"/>
                </a:rPr>
                <a:t>95% CI (± 2.45 SE)</a:t>
              </a:r>
              <a:endParaRPr lang="en-US" sz="1000" dirty="0"/>
            </a:p>
          </p:txBody>
        </p:sp>
        <p:sp>
          <p:nvSpPr>
            <p:cNvPr id="9" name="CILW7">
              <a:extLst>
                <a:ext uri="{FF2B5EF4-FFF2-40B4-BE49-F238E27FC236}">
                  <a16:creationId xmlns:a16="http://schemas.microsoft.com/office/drawing/2014/main" id="{55D10D22-B670-3ED4-761A-EE116AEA3E79}"/>
                </a:ext>
              </a:extLst>
            </p:cNvPr>
            <p:cNvSpPr/>
            <p:nvPr/>
          </p:nvSpPr>
          <p:spPr>
            <a:xfrm>
              <a:off x="5593315" y="348230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CIRW7">
              <a:extLst>
                <a:ext uri="{FF2B5EF4-FFF2-40B4-BE49-F238E27FC236}">
                  <a16:creationId xmlns:a16="http://schemas.microsoft.com/office/drawing/2014/main" id="{A43A226B-F145-A04B-F3D4-6DD8195B415D}"/>
                </a:ext>
              </a:extLst>
            </p:cNvPr>
            <p:cNvSpPr/>
            <p:nvPr/>
          </p:nvSpPr>
          <p:spPr>
            <a:xfrm>
              <a:off x="10458146" y="346437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CILabel7">
              <a:extLst>
                <a:ext uri="{FF2B5EF4-FFF2-40B4-BE49-F238E27FC236}">
                  <a16:creationId xmlns:a16="http://schemas.microsoft.com/office/drawing/2014/main" id="{D3873527-4AA1-A9CC-A744-A36E9CC9A23A}"/>
                </a:ext>
              </a:extLst>
            </p:cNvPr>
            <p:cNvSpPr/>
            <p:nvPr/>
          </p:nvSpPr>
          <p:spPr>
            <a:xfrm>
              <a:off x="6755731" y="3743777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endParaRPr lang="en-US" sz="1200" b="1" dirty="0">
                <a:solidFill>
                  <a:srgbClr val="2B6CB0"/>
                </a:solidFill>
                <a:latin typeface="Open Sans"/>
              </a:endParaRPr>
            </a:p>
          </p:txBody>
        </p:sp>
        <p:sp>
          <p:nvSpPr>
            <p:cNvPr id="12" name="CILVal7">
              <a:extLst>
                <a:ext uri="{FF2B5EF4-FFF2-40B4-BE49-F238E27FC236}">
                  <a16:creationId xmlns:a16="http://schemas.microsoft.com/office/drawing/2014/main" id="{BBDC216A-DDD0-15B4-BD91-46B22E9BB6FF}"/>
                </a:ext>
              </a:extLst>
            </p:cNvPr>
            <p:cNvSpPr/>
            <p:nvPr/>
          </p:nvSpPr>
          <p:spPr>
            <a:xfrm>
              <a:off x="5275815" y="3840146"/>
              <a:ext cx="63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900" b="1" dirty="0">
                  <a:solidFill>
                    <a:srgbClr val="2B6CB0"/>
                  </a:solidFill>
                  <a:latin typeface="Open Sans"/>
                </a:rPr>
                <a:t>0.096</a:t>
              </a:r>
            </a:p>
          </p:txBody>
        </p:sp>
        <p:sp>
          <p:nvSpPr>
            <p:cNvPr id="13" name="CIRVal7">
              <a:extLst>
                <a:ext uri="{FF2B5EF4-FFF2-40B4-BE49-F238E27FC236}">
                  <a16:creationId xmlns:a16="http://schemas.microsoft.com/office/drawing/2014/main" id="{C1C3D40F-602E-6D4E-E200-58CC7F593D5D}"/>
                </a:ext>
              </a:extLst>
            </p:cNvPr>
            <p:cNvSpPr/>
            <p:nvPr/>
          </p:nvSpPr>
          <p:spPr>
            <a:xfrm>
              <a:off x="10140646" y="3840146"/>
              <a:ext cx="63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900" b="1" dirty="0">
                  <a:solidFill>
                    <a:srgbClr val="2B6CB0"/>
                  </a:solidFill>
                  <a:latin typeface="Open Sans"/>
                </a:rPr>
                <a:t>0.676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C609B00-2FAB-FB40-9755-F9F24DC07A3B}"/>
                </a:ext>
              </a:extLst>
            </p:cNvPr>
            <p:cNvSpPr/>
            <p:nvPr/>
          </p:nvSpPr>
          <p:spPr>
            <a:xfrm>
              <a:off x="4317727" y="1605786"/>
              <a:ext cx="1710005" cy="254000"/>
            </a:xfrm>
            <a:prstGeom prst="roundRect">
              <a:avLst/>
            </a:prstGeom>
            <a:solidFill>
              <a:srgbClr val="2B6CB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1000" b="1" dirty="0">
                  <a:solidFill>
                    <a:srgbClr val="FFFFFF"/>
                  </a:solidFill>
                  <a:latin typeface="Montserrat"/>
                </a:rPr>
                <a:t>SE ON NUMBER LINE</a:t>
              </a:r>
            </a:p>
          </p:txBody>
        </p:sp>
      </p:grpSp>
      <p:sp>
        <p:nvSpPr>
          <p:cNvPr id="1306" name="CINote7">
            <a:extLst>
              <a:ext uri="{FF2B5EF4-FFF2-40B4-BE49-F238E27FC236}">
                <a16:creationId xmlns:a16="http://schemas.microsoft.com/office/drawing/2014/main" id="{605DFAEE-A21B-BD3B-7B4C-DA2A7165AB8C}"/>
              </a:ext>
            </a:extLst>
          </p:cNvPr>
          <p:cNvSpPr/>
          <p:nvPr/>
        </p:nvSpPr>
        <p:spPr>
          <a:xfrm>
            <a:off x="6381750" y="1183225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600" b="1" dirty="0">
                <a:solidFill>
                  <a:srgbClr val="2D8B2D"/>
                </a:solidFill>
                <a:latin typeface="Open Sans"/>
              </a:rPr>
              <a:t>CI contains the population slope β₁ = 0.170  ✓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078A3-46DB-45CF-D7CF-0CA77D2C6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>
                <a:latin typeface="Montserrat"/>
              </a:rPr>
              <a:t>Did our Confidence Interval Contain the True Slope?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6B70FB-C2DE-1F59-163D-AA484EB29EDC}"/>
              </a:ext>
            </a:extLst>
          </p:cNvPr>
          <p:cNvGrpSpPr/>
          <p:nvPr/>
        </p:nvGrpSpPr>
        <p:grpSpPr>
          <a:xfrm>
            <a:off x="5494337" y="2451100"/>
            <a:ext cx="1270000" cy="1257300"/>
            <a:chOff x="5494337" y="2451100"/>
            <a:chExt cx="1270000" cy="1257300"/>
          </a:xfrm>
        </p:grpSpPr>
        <p:sp>
          <p:nvSpPr>
            <p:cNvPr id="1352" name="TrueSlopeDot">
              <a:extLst>
                <a:ext uri="{FF2B5EF4-FFF2-40B4-BE49-F238E27FC236}">
                  <a16:creationId xmlns:a16="http://schemas.microsoft.com/office/drawing/2014/main" id="{2EAFF9B1-B30A-7747-8A1E-C19EE41CEB49}"/>
                </a:ext>
              </a:extLst>
            </p:cNvPr>
            <p:cNvSpPr/>
            <p:nvPr/>
          </p:nvSpPr>
          <p:spPr>
            <a:xfrm>
              <a:off x="6027737" y="2832100"/>
              <a:ext cx="203200" cy="203200"/>
            </a:xfrm>
            <a:prstGeom prst="ellipse">
              <a:avLst/>
            </a:prstGeom>
            <a:solidFill>
              <a:srgbClr val="CC3333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54" name="TrueSlopeLabel">
              <a:extLst>
                <a:ext uri="{FF2B5EF4-FFF2-40B4-BE49-F238E27FC236}">
                  <a16:creationId xmlns:a16="http://schemas.microsoft.com/office/drawing/2014/main" id="{4952F0E4-7DEB-8E49-A56F-725629B9E39E}"/>
                </a:ext>
              </a:extLst>
            </p:cNvPr>
            <p:cNvSpPr txBox="1"/>
            <p:nvPr/>
          </p:nvSpPr>
          <p:spPr>
            <a:xfrm>
              <a:off x="5494337" y="2451100"/>
              <a:ext cx="127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l-GR" sz="1200" b="1" dirty="0">
                  <a:solidFill>
                    <a:srgbClr val="CC3333"/>
                  </a:solidFill>
                  <a:latin typeface="Open Sans"/>
                  <a:ea typeface="Open Sans"/>
                  <a:cs typeface="Open Sans"/>
                </a:rPr>
                <a:t>β₁ = 0.170</a:t>
              </a:r>
              <a:endParaRPr lang="en-US" sz="1200" b="1" dirty="0">
                <a:solidFill>
                  <a:srgbClr val="CC3333"/>
                </a:solidFill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360" name="TrueSlopeVLine"/>
            <p:cNvSpPr/>
            <p:nvPr/>
          </p:nvSpPr>
          <p:spPr>
            <a:xfrm>
              <a:off x="6129338" y="2743200"/>
              <a:ext cx="0" cy="965200"/>
            </a:xfrm>
            <a:prstGeom prst="line">
              <a:avLst/>
            </a:prstGeom>
            <a:ln w="19050">
              <a:solidFill>
                <a:srgbClr val="CC3333"/>
              </a:solidFill>
              <a:prstDash val="dash"/>
            </a:ln>
          </p:spPr>
          <p:txBody>
            <a:bodyPr/>
            <a:lstStyle/>
            <a:p>
              <a:endParaRPr lang="en-US">
                <a:solidFill>
                  <a:srgbClr val="CC3333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0D1548-0F13-4609-384E-52696EA8462B}"/>
              </a:ext>
            </a:extLst>
          </p:cNvPr>
          <p:cNvGrpSpPr/>
          <p:nvPr/>
        </p:nvGrpSpPr>
        <p:grpSpPr>
          <a:xfrm>
            <a:off x="172720" y="863599"/>
            <a:ext cx="3948113" cy="5726614"/>
            <a:chOff x="172720" y="863599"/>
            <a:chExt cx="3948113" cy="572661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0C7B0875-8E3E-7B41-8EBB-B0F95FA60F1E}"/>
                </a:ext>
              </a:extLst>
            </p:cNvPr>
            <p:cNvSpPr/>
            <p:nvPr/>
          </p:nvSpPr>
          <p:spPr>
            <a:xfrm>
              <a:off x="172720" y="863600"/>
              <a:ext cx="3948113" cy="5689600"/>
            </a:xfrm>
            <a:prstGeom prst="roundRect">
              <a:avLst>
                <a:gd name="adj" fmla="val 1334"/>
              </a:avLst>
            </a:prstGeom>
            <a:solidFill>
              <a:srgbClr val="F2F7F7">
                <a:alpha val="70000"/>
              </a:srgb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9919FEC-91FD-55C2-B8B6-5EE0BA294DB6}"/>
                </a:ext>
              </a:extLst>
            </p:cNvPr>
            <p:cNvGrpSpPr/>
            <p:nvPr/>
          </p:nvGrpSpPr>
          <p:grpSpPr>
            <a:xfrm>
              <a:off x="252003" y="4125233"/>
              <a:ext cx="3664643" cy="2464980"/>
              <a:chOff x="239968" y="2631396"/>
              <a:chExt cx="5697001" cy="4250009"/>
            </a:xfrm>
          </p:grpSpPr>
          <p:sp>
            <p:nvSpPr>
              <p:cNvPr id="4" name="SourceBox">
                <a:extLst>
                  <a:ext uri="{FF2B5EF4-FFF2-40B4-BE49-F238E27FC236}">
                    <a16:creationId xmlns:a16="http://schemas.microsoft.com/office/drawing/2014/main" id="{253E6311-1BB6-8245-94EF-3FB13A303AB2}"/>
                  </a:ext>
                </a:extLst>
              </p:cNvPr>
              <p:cNvSpPr/>
              <p:nvPr/>
            </p:nvSpPr>
            <p:spPr>
              <a:xfrm>
                <a:off x="1233759" y="2631396"/>
                <a:ext cx="3937000" cy="3403599"/>
              </a:xfrm>
              <a:prstGeom prst="roundRect">
                <a:avLst>
                  <a:gd name="adj" fmla="val 4890"/>
                </a:avLst>
              </a:prstGeom>
              <a:solidFill>
                <a:srgbClr val="E8E8E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en-US"/>
              </a:p>
            </p:txBody>
          </p:sp>
          <p:pic>
            <p:nvPicPr>
              <p:cNvPr id="1349" name="Picture 1348" descr="A baby sleeping in a white hat&#10;&#10;AI-generated content may be incorrect.">
                <a:extLst>
                  <a:ext uri="{FF2B5EF4-FFF2-40B4-BE49-F238E27FC236}">
                    <a16:creationId xmlns:a16="http://schemas.microsoft.com/office/drawing/2014/main" id="{05CF6A4B-4649-BD52-4941-4ACDBD408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2831" y="2807472"/>
                <a:ext cx="3578853" cy="312905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5" name="SourceLabel">
                <a:extLst>
                  <a:ext uri="{FF2B5EF4-FFF2-40B4-BE49-F238E27FC236}">
                    <a16:creationId xmlns:a16="http://schemas.microsoft.com/office/drawing/2014/main" id="{98B35B45-15DE-3C4B-91A3-55E18E6AF1D5}"/>
                  </a:ext>
                </a:extLst>
              </p:cNvPr>
              <p:cNvSpPr txBox="1"/>
              <p:nvPr/>
            </p:nvSpPr>
            <p:spPr>
              <a:xfrm>
                <a:off x="239968" y="6185432"/>
                <a:ext cx="5697001" cy="695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000" b="1" dirty="0">
                    <a:solidFill>
                      <a:srgbClr val="888888"/>
                    </a:solidFill>
                    <a:latin typeface="Open Sans"/>
                    <a:ea typeface="Open Sans"/>
                    <a:cs typeface="Open Sans"/>
                  </a:rPr>
                  <a:t>* True slope may be different for other populations, other years. May also pertain to the data-generating process</a:t>
                </a:r>
              </a:p>
            </p:txBody>
          </p:sp>
        </p:grpSp>
        <p:pic>
          <p:nvPicPr>
            <p:cNvPr id="7" name="Picture 6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C4F0D900-1157-BF37-7FAD-BE74C9E0D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39" r="2348"/>
            <a:stretch>
              <a:fillRect/>
            </a:stretch>
          </p:blipFill>
          <p:spPr>
            <a:xfrm>
              <a:off x="265883" y="1274796"/>
              <a:ext cx="3636884" cy="2863664"/>
            </a:xfrm>
            <a:prstGeom prst="rect">
              <a:avLst/>
            </a:prstGeom>
          </p:spPr>
        </p:pic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F463252-C795-5144-82A9-4FC96EF45326}"/>
                </a:ext>
              </a:extLst>
            </p:cNvPr>
            <p:cNvSpPr/>
            <p:nvPr/>
          </p:nvSpPr>
          <p:spPr>
            <a:xfrm>
              <a:off x="223520" y="863599"/>
              <a:ext cx="1778000" cy="254000"/>
            </a:xfrm>
            <a:prstGeom prst="roundRect">
              <a:avLst/>
            </a:prstGeom>
            <a:solidFill>
              <a:srgbClr val="2E6B7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1000" b="1">
                  <a:solidFill>
                    <a:srgbClr val="FFFFFF"/>
                  </a:solidFill>
                  <a:latin typeface="Montserrat"/>
                </a:rPr>
                <a:t>POPULATION DATA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BC514D7-1CC1-8214-B660-639D4B59168A}"/>
              </a:ext>
            </a:extLst>
          </p:cNvPr>
          <p:cNvGrpSpPr/>
          <p:nvPr/>
        </p:nvGrpSpPr>
        <p:grpSpPr>
          <a:xfrm>
            <a:off x="4978400" y="4513261"/>
            <a:ext cx="6464300" cy="1981183"/>
            <a:chOff x="3624550" y="4125072"/>
            <a:chExt cx="8503950" cy="2453528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D26539E-6832-1A4E-A293-E833D0215D95}"/>
                </a:ext>
              </a:extLst>
            </p:cNvPr>
            <p:cNvSpPr/>
            <p:nvPr/>
          </p:nvSpPr>
          <p:spPr>
            <a:xfrm>
              <a:off x="3624550" y="4125072"/>
              <a:ext cx="8503950" cy="2453528"/>
            </a:xfrm>
            <a:prstGeom prst="roundRect">
              <a:avLst>
                <a:gd name="adj" fmla="val 3655"/>
              </a:avLst>
            </a:prstGeom>
            <a:solidFill>
              <a:srgbClr val="FBF6EE">
                <a:alpha val="70000"/>
              </a:srgbClr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1600"/>
            </a:p>
          </p:txBody>
        </p:sp>
        <p:sp>
          <p:nvSpPr>
            <p:cNvPr id="3" name="ExplanationNote">
              <a:extLst>
                <a:ext uri="{FF2B5EF4-FFF2-40B4-BE49-F238E27FC236}">
                  <a16:creationId xmlns:a16="http://schemas.microsoft.com/office/drawing/2014/main" id="{85D8AB54-58C4-3645-BA80-0CDDE2608A04}"/>
                </a:ext>
              </a:extLst>
            </p:cNvPr>
            <p:cNvSpPr txBox="1"/>
            <p:nvPr/>
          </p:nvSpPr>
          <p:spPr>
            <a:xfrm>
              <a:off x="3745032" y="4603727"/>
              <a:ext cx="8366760" cy="1842251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Normally </a:t>
              </a:r>
              <a:r>
                <a:rPr lang="en-US" sz="1400" b="1" dirty="0">
                  <a:solidFill>
                    <a:srgbClr val="2E3640"/>
                  </a:solidFill>
                  <a:latin typeface="Open Sans"/>
                </a:rPr>
                <a:t>we</a:t>
              </a: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 </a:t>
              </a:r>
              <a:r>
                <a:rPr lang="en-US" sz="1400" b="1" dirty="0">
                  <a:solidFill>
                    <a:srgbClr val="2E3640"/>
                  </a:solidFill>
                  <a:latin typeface="Open Sans"/>
                </a:rPr>
                <a:t>don't have the population</a:t>
              </a: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, so </a:t>
              </a:r>
              <a:r>
                <a:rPr lang="en-US" sz="1400" b="1" dirty="0">
                  <a:solidFill>
                    <a:srgbClr val="2E3640"/>
                  </a:solidFill>
                  <a:latin typeface="Open Sans"/>
                </a:rPr>
                <a:t>we can't check</a:t>
              </a: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.</a:t>
              </a:r>
            </a:p>
            <a:p>
              <a:pPr algn="l">
                <a:spcAft>
                  <a:spcPts val="200"/>
                </a:spcAft>
              </a:pPr>
              <a:endParaRPr lang="en-US" sz="1400" dirty="0">
                <a:solidFill>
                  <a:srgbClr val="2E3640"/>
                </a:solidFill>
                <a:latin typeface="Open Sans"/>
              </a:endParaRPr>
            </a:p>
            <a:p>
              <a:pPr algn="l">
                <a:spcAft>
                  <a:spcPts val="200"/>
                </a:spcAft>
              </a:pP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But with this data, </a:t>
              </a:r>
              <a:r>
                <a:rPr lang="en-US" sz="1400" b="1" dirty="0">
                  <a:solidFill>
                    <a:srgbClr val="2E3640"/>
                  </a:solidFill>
                  <a:latin typeface="Open Sans"/>
                </a:rPr>
                <a:t>we can confirm: our 95% CI captured </a:t>
              </a: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the true slope.</a:t>
              </a:r>
            </a:p>
            <a:p>
              <a:pPr algn="l">
                <a:spcAft>
                  <a:spcPts val="200"/>
                </a:spcAft>
              </a:pPr>
              <a:endParaRPr lang="en-US" sz="1400" dirty="0">
                <a:solidFill>
                  <a:srgbClr val="2E3640"/>
                </a:solidFill>
                <a:latin typeface="Open Sans"/>
              </a:endParaRPr>
            </a:p>
            <a:p>
              <a:pPr algn="l">
                <a:spcAft>
                  <a:spcPts val="200"/>
                </a:spcAft>
              </a:pP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We would expect this to happen </a:t>
              </a:r>
              <a:r>
                <a:rPr lang="en-US" sz="1400" b="1" dirty="0">
                  <a:solidFill>
                    <a:srgbClr val="2E3640"/>
                  </a:solidFill>
                  <a:latin typeface="Open Sans"/>
                </a:rPr>
                <a:t>(successful in capturing true slope) 19 out of 20 times</a:t>
              </a:r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 (95%) that we use this procedure on a study. 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7C70D9A-72A6-0D43-89AD-D76636AEEC85}"/>
                </a:ext>
              </a:extLst>
            </p:cNvPr>
            <p:cNvSpPr/>
            <p:nvPr/>
          </p:nvSpPr>
          <p:spPr>
            <a:xfrm>
              <a:off x="3651283" y="4178944"/>
              <a:ext cx="1764945" cy="314104"/>
            </a:xfrm>
            <a:prstGeom prst="roundRect">
              <a:avLst/>
            </a:prstGeom>
            <a:solidFill>
              <a:srgbClr val="D4952B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Montserrat"/>
                </a:rPr>
                <a:t>KEY TAKEAWAY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25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92B3-7C6C-69E8-1076-11BEBE81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latin typeface="Montserrat"/>
              </a:rPr>
              <a:t>Practice: Sample vs. Population Concepts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30A13C4-760C-0940-9474-CCB2108EF2CA}"/>
              </a:ext>
            </a:extLst>
          </p:cNvPr>
          <p:cNvSpPr/>
          <p:nvPr/>
        </p:nvSpPr>
        <p:spPr>
          <a:xfrm>
            <a:off x="6254368" y="1168400"/>
            <a:ext cx="5588000" cy="8255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The 95% CI (0.096 to 0.676) we constructed is a plausible range for: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C6D7D1-24FC-7549-860E-E213208CBDF2}"/>
              </a:ext>
            </a:extLst>
          </p:cNvPr>
          <p:cNvSpPr/>
          <p:nvPr/>
        </p:nvSpPr>
        <p:spPr>
          <a:xfrm>
            <a:off x="6457568" y="2451100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The true population slope β₁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AB223B-83A0-B746-BEEE-266114D67EA2}"/>
              </a:ext>
            </a:extLst>
          </p:cNvPr>
          <p:cNvSpPr/>
          <p:nvPr/>
        </p:nvSpPr>
        <p:spPr>
          <a:xfrm>
            <a:off x="6457568" y="2079057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The observed slope b₁, 0.386, for our 8-baby sample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11CC08-1BC6-E54A-8996-A15EDEF3AFF9}"/>
              </a:ext>
            </a:extLst>
          </p:cNvPr>
          <p:cNvSpPr/>
          <p:nvPr/>
        </p:nvSpPr>
        <p:spPr>
          <a:xfrm>
            <a:off x="6254368" y="3340100"/>
            <a:ext cx="5588000" cy="2032000"/>
          </a:xfrm>
          <a:prstGeom prst="roundRect">
            <a:avLst/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The interval is always </a:t>
            </a:r>
            <a:r>
              <a:rPr lang="en-US" sz="1400" b="1" dirty="0">
                <a:solidFill>
                  <a:srgbClr val="2E3640"/>
                </a:solidFill>
                <a:latin typeface="Open Sans"/>
              </a:rPr>
              <a:t>centered on b₁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, but its purpose is to tell us where β₁ is likely to lie.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693D2-39ED-9E42-BFFC-B04B75A3CAAD}"/>
              </a:ext>
            </a:extLst>
          </p:cNvPr>
          <p:cNvSpPr/>
          <p:nvPr/>
        </p:nvSpPr>
        <p:spPr>
          <a:xfrm>
            <a:off x="6121400" y="1168400"/>
            <a:ext cx="9525" cy="4953000"/>
          </a:xfrm>
          <a:prstGeom prst="rect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C307D4E-B33A-A15D-2473-E19F2959A5F5}"/>
              </a:ext>
            </a:extLst>
          </p:cNvPr>
          <p:cNvSpPr/>
          <p:nvPr/>
        </p:nvSpPr>
        <p:spPr>
          <a:xfrm>
            <a:off x="409957" y="1160604"/>
            <a:ext cx="5588000" cy="1042178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Which quantity comes directly from the data collected in a study?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CEEBED-71DD-8617-64AF-598C7DA8BE61}"/>
              </a:ext>
            </a:extLst>
          </p:cNvPr>
          <p:cNvSpPr/>
          <p:nvPr/>
        </p:nvSpPr>
        <p:spPr>
          <a:xfrm>
            <a:off x="613157" y="2288607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 The sample slope b₁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F80D98C-2EED-9FFF-FA7E-2ADBE0D2B6CA}"/>
              </a:ext>
            </a:extLst>
          </p:cNvPr>
          <p:cNvSpPr/>
          <p:nvPr/>
        </p:nvSpPr>
        <p:spPr>
          <a:xfrm>
            <a:off x="613157" y="2669607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 The population slope β₁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146548-D6C3-372C-9D8D-1D990FDB4244}"/>
              </a:ext>
            </a:extLst>
          </p:cNvPr>
          <p:cNvSpPr/>
          <p:nvPr/>
        </p:nvSpPr>
        <p:spPr>
          <a:xfrm>
            <a:off x="409957" y="3548982"/>
            <a:ext cx="5588000" cy="2032000"/>
          </a:xfrm>
          <a:prstGeom prst="roundRect">
            <a:avLst>
              <a:gd name="adj" fmla="val 7402"/>
            </a:avLst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The sample slope b₁ is </a:t>
            </a:r>
            <a:r>
              <a:rPr lang="en-US" sz="1400" b="1" dirty="0">
                <a:solidFill>
                  <a:srgbClr val="2E3640"/>
                </a:solidFill>
                <a:latin typeface="Open Sans"/>
              </a:rPr>
              <a:t>computed from the observed dataset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. The population slope β₁ is the fixed true value we’re trying to </a:t>
            </a:r>
            <a:r>
              <a:rPr lang="en-US" sz="1400" dirty="0" err="1">
                <a:solidFill>
                  <a:srgbClr val="2E3640"/>
                </a:solidFill>
                <a:latin typeface="Open Sans"/>
              </a:rPr>
              <a:t>estimate;it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is not directly observed.</a:t>
            </a:r>
          </a:p>
        </p:txBody>
      </p:sp>
    </p:spTree>
    <p:extLst>
      <p:ext uri="{BB962C8B-B14F-4D97-AF65-F5344CB8AC3E}">
        <p14:creationId xmlns:p14="http://schemas.microsoft.com/office/powerpoint/2010/main" val="38180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92B3-7C6C-69E8-1076-11BEBE81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latin typeface="Montserrat"/>
              </a:rPr>
              <a:t>Practice: Sample vs. Population Concepts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693D2-39ED-9E42-BFFC-B04B75A3CAAD}"/>
              </a:ext>
            </a:extLst>
          </p:cNvPr>
          <p:cNvSpPr/>
          <p:nvPr/>
        </p:nvSpPr>
        <p:spPr>
          <a:xfrm>
            <a:off x="6121400" y="1168400"/>
            <a:ext cx="9525" cy="4953000"/>
          </a:xfrm>
          <a:prstGeom prst="rect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C307D4E-B33A-A15D-2473-E19F2959A5F5}"/>
              </a:ext>
            </a:extLst>
          </p:cNvPr>
          <p:cNvSpPr/>
          <p:nvPr/>
        </p:nvSpPr>
        <p:spPr>
          <a:xfrm>
            <a:off x="376169" y="1040622"/>
            <a:ext cx="5588000" cy="10414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If you could repeat the preemie study 1,000 times with a fresh sample of 8 babies each time, what would you expect?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CEEBED-71DD-8617-64AF-598C7DA8BE61}"/>
              </a:ext>
            </a:extLst>
          </p:cNvPr>
          <p:cNvSpPr/>
          <p:nvPr/>
        </p:nvSpPr>
        <p:spPr>
          <a:xfrm>
            <a:off x="579369" y="2168625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 Every study would produce b₁ = 0.386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F80D98C-2EED-9FFF-FA7E-2ADBE0D2B6CA}"/>
              </a:ext>
            </a:extLst>
          </p:cNvPr>
          <p:cNvSpPr/>
          <p:nvPr/>
        </p:nvSpPr>
        <p:spPr>
          <a:xfrm>
            <a:off x="579369" y="2549625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 Slopes would vary, scattered around β₁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146548-D6C3-372C-9D8D-1D990FDB4244}"/>
              </a:ext>
            </a:extLst>
          </p:cNvPr>
          <p:cNvSpPr/>
          <p:nvPr/>
        </p:nvSpPr>
        <p:spPr>
          <a:xfrm>
            <a:off x="376169" y="3429000"/>
            <a:ext cx="5588000" cy="2032000"/>
          </a:xfrm>
          <a:prstGeom prst="roundRect">
            <a:avLst>
              <a:gd name="adj" fmla="val 7402"/>
            </a:avLst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Each sample gives a </a:t>
            </a:r>
            <a:r>
              <a:rPr lang="en-US" sz="1400" b="1" dirty="0">
                <a:solidFill>
                  <a:srgbClr val="2E3640"/>
                </a:solidFill>
                <a:latin typeface="Open Sans"/>
              </a:rPr>
              <a:t>different b₁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. These sample slopes cluster around the true β₁, not around any single sample’s estimate.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544" y="29337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 w="6350">
            <a:solidFill>
              <a:srgbClr val="CBD5E0"/>
            </a:solidFill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C)  Slopes would vary, scattered around b₁ = 0.386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A687D-6AFC-0927-374A-D1BD5B70776E}"/>
              </a:ext>
            </a:extLst>
          </p:cNvPr>
          <p:cNvSpPr/>
          <p:nvPr/>
        </p:nvSpPr>
        <p:spPr>
          <a:xfrm>
            <a:off x="6284981" y="1009386"/>
            <a:ext cx="5588000" cy="10414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ea typeface="Open Sans"/>
                <a:cs typeface="Open Sans"/>
              </a:rPr>
              <a:t>Our sample gave b₁ = 0.386 , while the true population slope is </a:t>
            </a:r>
            <a:r>
              <a:rPr lang="el-GR" sz="1500" b="1" dirty="0">
                <a:solidFill>
                  <a:srgbClr val="FFFFFF"/>
                </a:solidFill>
                <a:ea typeface="Open Sans"/>
                <a:cs typeface="Open Sans"/>
              </a:rPr>
              <a:t>β₁ </a:t>
            </a:r>
            <a:r>
              <a:rPr lang="en-US" sz="1500" b="1" dirty="0">
                <a:solidFill>
                  <a:srgbClr val="FFFFFF"/>
                </a:solidFill>
                <a:ea typeface="Open Sans"/>
                <a:cs typeface="Open Sans"/>
              </a:rPr>
              <a:t>= 0.170 . The difference between these two numbers illustrates</a:t>
            </a:r>
            <a:endParaRPr lang="en-US" sz="1500" b="1" dirty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5F4722-AA54-4BE2-9528-11A10E39C244}"/>
              </a:ext>
            </a:extLst>
          </p:cNvPr>
          <p:cNvSpPr/>
          <p:nvPr/>
        </p:nvSpPr>
        <p:spPr>
          <a:xfrm>
            <a:off x="6488181" y="2137389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S</a:t>
            </a:r>
            <a:r>
              <a:rPr lang="en-US" sz="1400" dirty="0">
                <a:solidFill>
                  <a:srgbClr val="2E3640"/>
                </a:solidFill>
                <a:ea typeface="Open Sans"/>
                <a:cs typeface="Open Sans"/>
              </a:rPr>
              <a:t>ampling variability</a:t>
            </a:r>
            <a:endParaRPr lang="en-US" sz="1400" dirty="0">
              <a:solidFill>
                <a:srgbClr val="2E364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1D3273-35B9-CA13-8CDC-72BD7885D307}"/>
              </a:ext>
            </a:extLst>
          </p:cNvPr>
          <p:cNvSpPr/>
          <p:nvPr/>
        </p:nvSpPr>
        <p:spPr>
          <a:xfrm>
            <a:off x="6488181" y="2518389"/>
            <a:ext cx="5384800" cy="330200"/>
          </a:xfrm>
          <a:prstGeom prst="roundRect">
            <a:avLst/>
          </a:prstGeom>
          <a:solidFill>
            <a:srgbClr val="F0F4F8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Uncertainty in the regression software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8C74F7-BC1F-59BE-FEC7-53FD1B64CB4B}"/>
              </a:ext>
            </a:extLst>
          </p:cNvPr>
          <p:cNvSpPr/>
          <p:nvPr/>
        </p:nvSpPr>
        <p:spPr>
          <a:xfrm>
            <a:off x="6284981" y="3397764"/>
            <a:ext cx="5588000" cy="2032000"/>
          </a:xfrm>
          <a:prstGeom prst="roundRect">
            <a:avLst>
              <a:gd name="adj" fmla="val 7402"/>
            </a:avLst>
          </a:prstGeom>
          <a:solidFill>
            <a:srgbClr val="EAF4F4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Due to sampling variability, the sample slope can be quite different from the population slope.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1BC6D3-0B64-67EA-4F67-BBF485640BD5}"/>
              </a:ext>
            </a:extLst>
          </p:cNvPr>
          <p:cNvSpPr/>
          <p:nvPr/>
        </p:nvSpPr>
        <p:spPr>
          <a:xfrm>
            <a:off x="6491356" y="2902464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 w="6350">
            <a:solidFill>
              <a:srgbClr val="CBD5E0"/>
            </a:solidFill>
          </a:ln>
        </p:spPr>
        <p:txBody>
          <a:bodyPr wrap="square" lIns="72000" tIns="36000" rIns="72000" bIns="36000" anchor="ctr"/>
          <a:lstStyle/>
          <a:p>
            <a:pPr algn="l"/>
            <a:r>
              <a:rPr lang="en-US" sz="14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C) An error in the confidence interval creation</a:t>
            </a:r>
          </a:p>
        </p:txBody>
      </p:sp>
    </p:spTree>
    <p:extLst>
      <p:ext uri="{BB962C8B-B14F-4D97-AF65-F5344CB8AC3E}">
        <p14:creationId xmlns:p14="http://schemas.microsoft.com/office/powerpoint/2010/main" val="91854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5D4D-E614-B432-ADAF-421E3529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F25675E5-4CB7-ABE7-FAF2-41743A5ED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Standard Error and Confidence Intervals</a:t>
            </a:r>
          </a:p>
        </p:txBody>
      </p:sp>
      <p:sp>
        <p:nvSpPr>
          <p:cNvPr id="400" name="LO Circle 1">
            <a:extLst>
              <a:ext uri="{FF2B5EF4-FFF2-40B4-BE49-F238E27FC236}">
                <a16:creationId xmlns:a16="http://schemas.microsoft.com/office/drawing/2014/main" id="{D96C495F-DD02-74A5-8A4F-653CF7B9F187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01" name="LO Text 1">
            <a:extLst>
              <a:ext uri="{FF2B5EF4-FFF2-40B4-BE49-F238E27FC236}">
                <a16:creationId xmlns:a16="http://schemas.microsoft.com/office/drawing/2014/main" id="{C88EEBC5-592E-DBF7-5678-4BF34AD4AEF5}"/>
              </a:ext>
            </a:extLst>
          </p:cNvPr>
          <p:cNvSpPr txBox="1"/>
          <p:nvPr/>
        </p:nvSpPr>
        <p:spPr>
          <a:xfrm>
            <a:off x="1168400" y="10668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standard error of the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SE(b₁) quantifies how much the slope typically varies from sample to sample</a:t>
            </a:r>
          </a:p>
        </p:txBody>
      </p:sp>
      <p:sp>
        <p:nvSpPr>
          <p:cNvPr id="402" name="LO Circle 2">
            <a:extLst>
              <a:ext uri="{FF2B5EF4-FFF2-40B4-BE49-F238E27FC236}">
                <a16:creationId xmlns:a16="http://schemas.microsoft.com/office/drawing/2014/main" id="{C9BB8A5F-6005-9276-96A8-E9EC757F1B16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3" name="LO Text 2">
            <a:extLst>
              <a:ext uri="{FF2B5EF4-FFF2-40B4-BE49-F238E27FC236}">
                <a16:creationId xmlns:a16="http://schemas.microsoft.com/office/drawing/2014/main" id="{AD0E9028-2477-E110-83EB-A33654A77E89}"/>
              </a:ext>
            </a:extLst>
          </p:cNvPr>
          <p:cNvSpPr txBox="1"/>
          <p:nvPr/>
        </p:nvSpPr>
        <p:spPr>
          <a:xfrm>
            <a:off x="1168400" y="21717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Identify the three ingredients that control 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Residual spread (s), sample size (n), and x-spread (Sxx) all affect precision</a:t>
            </a:r>
          </a:p>
        </p:txBody>
      </p:sp>
      <p:sp>
        <p:nvSpPr>
          <p:cNvPr id="404" name="LO Circle 3">
            <a:extLst>
              <a:ext uri="{FF2B5EF4-FFF2-40B4-BE49-F238E27FC236}">
                <a16:creationId xmlns:a16="http://schemas.microsoft.com/office/drawing/2014/main" id="{8D5024A7-C5CD-1EFC-B76A-593EB98D1026}"/>
              </a:ext>
            </a:extLst>
          </p:cNvPr>
          <p:cNvSpPr/>
          <p:nvPr/>
        </p:nvSpPr>
        <p:spPr>
          <a:xfrm>
            <a:off x="584200" y="53310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05" name="LO Text 3">
            <a:extLst>
              <a:ext uri="{FF2B5EF4-FFF2-40B4-BE49-F238E27FC236}">
                <a16:creationId xmlns:a16="http://schemas.microsoft.com/office/drawing/2014/main" id="{7F768BF4-69D9-0E86-AA6D-76032811320C}"/>
              </a:ext>
            </a:extLst>
          </p:cNvPr>
          <p:cNvSpPr txBox="1"/>
          <p:nvPr/>
        </p:nvSpPr>
        <p:spPr>
          <a:xfrm>
            <a:off x="1143000" y="53056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Distinguish the sample slope from the true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b₁ is our estimate from data; β₁ is the unknown population parameter</a:t>
            </a:r>
          </a:p>
        </p:txBody>
      </p:sp>
      <p:sp>
        <p:nvSpPr>
          <p:cNvPr id="406" name="LO Circle 4">
            <a:extLst>
              <a:ext uri="{FF2B5EF4-FFF2-40B4-BE49-F238E27FC236}">
                <a16:creationId xmlns:a16="http://schemas.microsoft.com/office/drawing/2014/main" id="{3F644776-EFD1-4789-229F-0517CA9D50B0}"/>
              </a:ext>
            </a:extLst>
          </p:cNvPr>
          <p:cNvSpPr/>
          <p:nvPr/>
        </p:nvSpPr>
        <p:spPr>
          <a:xfrm>
            <a:off x="584200" y="325120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7" name="LO Text 4">
            <a:extLst>
              <a:ext uri="{FF2B5EF4-FFF2-40B4-BE49-F238E27FC236}">
                <a16:creationId xmlns:a16="http://schemas.microsoft.com/office/drawing/2014/main" id="{F05DFC75-A1FC-9FC1-9C8B-B53099EAB640}"/>
              </a:ext>
            </a:extLst>
          </p:cNvPr>
          <p:cNvSpPr txBox="1"/>
          <p:nvPr/>
        </p:nvSpPr>
        <p:spPr>
          <a:xfrm>
            <a:off x="1143000" y="322580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Construct and interpret a confidence interval for the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Combine the estimate, SE, and t-multiplier to build an interval that gives a plausible range for β₁</a:t>
            </a:r>
          </a:p>
        </p:txBody>
      </p:sp>
      <p:sp>
        <p:nvSpPr>
          <p:cNvPr id="408" name="LO Circle 5">
            <a:extLst>
              <a:ext uri="{FF2B5EF4-FFF2-40B4-BE49-F238E27FC236}">
                <a16:creationId xmlns:a16="http://schemas.microsoft.com/office/drawing/2014/main" id="{93BA67B0-87D4-79AA-F056-F955A5321624}"/>
              </a:ext>
            </a:extLst>
          </p:cNvPr>
          <p:cNvSpPr/>
          <p:nvPr/>
        </p:nvSpPr>
        <p:spPr>
          <a:xfrm>
            <a:off x="584200" y="43023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09" name="LO Text 5">
            <a:extLst>
              <a:ext uri="{FF2B5EF4-FFF2-40B4-BE49-F238E27FC236}">
                <a16:creationId xmlns:a16="http://schemas.microsoft.com/office/drawing/2014/main" id="{98E57AB6-A859-7332-C4B4-9C760A02C1DB}"/>
              </a:ext>
            </a:extLst>
          </p:cNvPr>
          <p:cNvSpPr txBox="1"/>
          <p:nvPr/>
        </p:nvSpPr>
        <p:spPr>
          <a:xfrm>
            <a:off x="1143000" y="42769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Use the CI to test for a significant effect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If zero falls outside the CI, the relationship is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110306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8FC80-4655-45C0-67D4-04DBEE85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E4356D34-1B9A-D299-D69B-9805C6250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76194"/>
            <a:ext cx="1051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2E6B75"/>
                </a:solidFill>
                <a:latin typeface="Montserrat"/>
              </a:rPr>
              <a:t>Side Note: SE of Slope vs. SE of the Intercept</a:t>
            </a:r>
          </a:p>
        </p:txBody>
      </p:sp>
      <p:sp>
        <p:nvSpPr>
          <p:cNvPr id="2" name="KeyIdeaBox">
            <a:extLst>
              <a:ext uri="{FF2B5EF4-FFF2-40B4-BE49-F238E27FC236}">
                <a16:creationId xmlns:a16="http://schemas.microsoft.com/office/drawing/2014/main" id="{0C671E6B-FA2F-F048-AE7C-0216037F5DC1}"/>
              </a:ext>
            </a:extLst>
          </p:cNvPr>
          <p:cNvSpPr/>
          <p:nvPr/>
        </p:nvSpPr>
        <p:spPr>
          <a:xfrm>
            <a:off x="457200" y="825500"/>
            <a:ext cx="11277600" cy="1079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2E3640"/>
                </a:solidFill>
                <a:latin typeface="Open Sans"/>
              </a:rPr>
              <a:t>The SE of the intercept (b₀) measures uncertainty in the y-intercept estimate. It exists but is rarely the focus in regression analysis.</a:t>
            </a:r>
          </a:p>
        </p:txBody>
      </p:sp>
      <p:sp>
        <p:nvSpPr>
          <p:cNvPr id="6" name="LeftBox">
            <a:extLst>
              <a:ext uri="{FF2B5EF4-FFF2-40B4-BE49-F238E27FC236}">
                <a16:creationId xmlns:a16="http://schemas.microsoft.com/office/drawing/2014/main" id="{510CAD87-2002-AF4B-99A4-9F42BEBF4FB1}"/>
              </a:ext>
            </a:extLst>
          </p:cNvPr>
          <p:cNvSpPr/>
          <p:nvPr/>
        </p:nvSpPr>
        <p:spPr>
          <a:xfrm>
            <a:off x="406400" y="4487452"/>
            <a:ext cx="5588000" cy="1465848"/>
          </a:xfrm>
          <a:prstGeom prst="rect">
            <a:avLst/>
          </a:prstGeom>
          <a:noFill/>
          <a:ln w="9525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2E6B75"/>
                </a:solidFill>
                <a:latin typeface="Montserrat"/>
              </a:rPr>
              <a:t>SE of the Slope (b₁)</a:t>
            </a:r>
          </a:p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dirty="0">
                <a:solidFill>
                  <a:srgbClr val="2E3640"/>
                </a:solidFill>
                <a:latin typeface="Open Sans"/>
              </a:rPr>
              <a:t>How precise is our slope (the effect of one var on another)?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lang="en-US" b="1" dirty="0">
                <a:solidFill>
                  <a:srgbClr val="2E6B75"/>
                </a:solidFill>
                <a:latin typeface="Open Sans"/>
              </a:rPr>
              <a:t>High practical value</a:t>
            </a:r>
          </a:p>
        </p:txBody>
      </p:sp>
      <p:sp>
        <p:nvSpPr>
          <p:cNvPr id="7" name="RightBox">
            <a:extLst>
              <a:ext uri="{FF2B5EF4-FFF2-40B4-BE49-F238E27FC236}">
                <a16:creationId xmlns:a16="http://schemas.microsoft.com/office/drawing/2014/main" id="{FC326441-0244-CC43-904E-86CF13218AF8}"/>
              </a:ext>
            </a:extLst>
          </p:cNvPr>
          <p:cNvSpPr/>
          <p:nvPr/>
        </p:nvSpPr>
        <p:spPr>
          <a:xfrm>
            <a:off x="6096000" y="4487452"/>
            <a:ext cx="5588000" cy="1465848"/>
          </a:xfrm>
          <a:prstGeom prst="rect">
            <a:avLst/>
          </a:prstGeom>
          <a:noFill/>
          <a:ln w="9525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7A8694"/>
                </a:solidFill>
                <a:latin typeface="Montserrat"/>
              </a:rPr>
              <a:t>SE of the Intercept (b₀)</a:t>
            </a:r>
          </a:p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dirty="0">
                <a:solidFill>
                  <a:srgbClr val="2E3640"/>
                </a:solidFill>
                <a:latin typeface="Open Sans"/>
              </a:rPr>
              <a:t>How precise is our y-intercept?</a:t>
            </a:r>
          </a:p>
          <a:p>
            <a:pPr>
              <a:spcAft>
                <a:spcPts val="200"/>
              </a:spcAft>
              <a:buFont typeface="Arial"/>
              <a:buChar char="✗"/>
            </a:pPr>
            <a:r>
              <a:rPr lang="en-US" b="1" dirty="0">
                <a:solidFill>
                  <a:srgbClr val="7A8694"/>
                </a:solidFill>
              </a:rPr>
              <a:t>Often not scientifically meaningful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B7D5DF-C288-EC2D-C02D-FF0AB6FD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746" b="33576"/>
          <a:stretch>
            <a:fillRect/>
          </a:stretch>
        </p:blipFill>
        <p:spPr>
          <a:xfrm>
            <a:off x="3658762" y="1711760"/>
            <a:ext cx="5125361" cy="2582452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678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F220BE-BDA3-6942-9F56-18FAB3264D7F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3720bc81-a245-429a-9deb-2e4fe2c4ce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17863</TotalTime>
  <Words>1183</Words>
  <Application>Microsoft Macintosh PowerPoint</Application>
  <PresentationFormat>Widescreen</PresentationFormat>
  <Paragraphs>149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Courier New</vt:lpstr>
      <vt:lpstr>Montserrat</vt:lpstr>
      <vt:lpstr>Open Sans</vt:lpstr>
      <vt:lpstr>Office Theme</vt:lpstr>
      <vt:lpstr>Office Theme</vt:lpstr>
      <vt:lpstr>PowerPoint Presentation</vt:lpstr>
      <vt:lpstr>From Standard Error (0.118) of Slope to Confidence Interval </vt:lpstr>
      <vt:lpstr>Practice: Significance &amp; the Zero-Slope Test</vt:lpstr>
      <vt:lpstr>Did our Confidence Interval Contain the True Slope?</vt:lpstr>
      <vt:lpstr>Practice: Sample vs. Population Concepts</vt:lpstr>
      <vt:lpstr>Practice: Sample vs. Population Concepts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Kenechukwu Nwosu</dc:creator>
  <cp:lastModifiedBy>Kenechukwu Nwosu</cp:lastModifiedBy>
  <cp:revision>417</cp:revision>
  <dcterms:created xsi:type="dcterms:W3CDTF">2026-03-04T23:12:46Z</dcterms:created>
  <dcterms:modified xsi:type="dcterms:W3CDTF">2026-05-14T13:16:55Z</dcterms:modified>
</cp:coreProperties>
</file>