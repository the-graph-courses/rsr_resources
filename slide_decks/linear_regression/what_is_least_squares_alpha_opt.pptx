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7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08760"/>
            <a:ext cx="8412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Least Squares?</a:t>
            </a:r>
            <a:endParaRPr lang="en-US" sz="5800" dirty="0"/>
          </a:p>
        </p:txBody>
      </p:sp>
      <p:sp>
        <p:nvSpPr>
          <p:cNvPr id="3" name="Text 1"/>
          <p:cNvSpPr/>
          <p:nvPr/>
        </p:nvSpPr>
        <p:spPr>
          <a:xfrm>
            <a:off x="896112" y="335584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1188720" y="3337560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method for fitting a model to noisy data.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96112" y="397764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88720" y="3959352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chooses the model that makes total squared error as small as possible.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896112" y="4599432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188720" y="4581144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to describe the trend behind the measurements.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505895" y="256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>
                    <a:alpha val="82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1/9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>
              <a:alpha val="9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96012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232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problem: noisy data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94360" y="2267712"/>
            <a:ext cx="4663440" cy="0"/>
          </a:xfrm>
          <a:prstGeom prst="line">
            <a:avLst/>
          </a:prstGeom>
          <a:noFill/>
          <a:ln w="15240">
            <a:solidFill>
              <a:srgbClr val="D5ED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256032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20" b="1" dirty="0">
                <a:solidFill>
                  <a:srgbClr val="19A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320" dirty="0"/>
          </a:p>
        </p:txBody>
      </p:sp>
      <p:sp>
        <p:nvSpPr>
          <p:cNvPr id="6" name="Text 4"/>
          <p:cNvSpPr/>
          <p:nvPr/>
        </p:nvSpPr>
        <p:spPr>
          <a:xfrm>
            <a:off x="950976" y="254203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23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Measurements often appear as scattered points.</a:t>
            </a:r>
            <a:endParaRPr lang="en-US" sz="1720" dirty="0"/>
          </a:p>
        </p:txBody>
      </p:sp>
      <p:sp>
        <p:nvSpPr>
          <p:cNvPr id="7" name="Text 5"/>
          <p:cNvSpPr/>
          <p:nvPr/>
        </p:nvSpPr>
        <p:spPr>
          <a:xfrm>
            <a:off x="658368" y="320040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20" b="1" dirty="0">
                <a:solidFill>
                  <a:srgbClr val="19A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320" dirty="0"/>
          </a:p>
        </p:txBody>
      </p:sp>
      <p:sp>
        <p:nvSpPr>
          <p:cNvPr id="8" name="Text 6"/>
          <p:cNvSpPr/>
          <p:nvPr/>
        </p:nvSpPr>
        <p:spPr>
          <a:xfrm>
            <a:off x="950976" y="318211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23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dots represent observations, not perfect answers.</a:t>
            </a:r>
            <a:endParaRPr lang="en-US" sz="1720" dirty="0"/>
          </a:p>
        </p:txBody>
      </p:sp>
      <p:sp>
        <p:nvSpPr>
          <p:cNvPr id="9" name="Text 7"/>
          <p:cNvSpPr/>
          <p:nvPr/>
        </p:nvSpPr>
        <p:spPr>
          <a:xfrm>
            <a:off x="658368" y="384048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20" b="1" dirty="0">
                <a:solidFill>
                  <a:srgbClr val="19A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320" dirty="0"/>
          </a:p>
        </p:txBody>
      </p:sp>
      <p:sp>
        <p:nvSpPr>
          <p:cNvPr id="10" name="Text 8"/>
          <p:cNvSpPr/>
          <p:nvPr/>
        </p:nvSpPr>
        <p:spPr>
          <a:xfrm>
            <a:off x="950976" y="382219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23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want a simple curve or line that captures the trend.</a:t>
            </a:r>
            <a:endParaRPr lang="en-US" sz="1720" dirty="0"/>
          </a:p>
        </p:txBody>
      </p:sp>
      <p:sp>
        <p:nvSpPr>
          <p:cNvPr id="11" name="Shape 9"/>
          <p:cNvSpPr/>
          <p:nvPr/>
        </p:nvSpPr>
        <p:spPr>
          <a:xfrm>
            <a:off x="5980176" y="1316736"/>
            <a:ext cx="5550408" cy="3264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DF3">
                <a:alpha val="9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55362">
                <a:alpha val="16000"/>
              </a:srgbClr>
            </a:outerShdw>
          </a:effectLst>
        </p:spPr>
      </p:sp>
      <p:pic>
        <p:nvPicPr>
          <p:cNvPr id="12" name="Image 0" descr="/mnt/data/ls_assets/slide_02.jpg">    </p:cNvPr>
          <p:cNvPicPr>
            <a:picLocks noChangeAspect="1"/>
          </p:cNvPicPr>
          <p:nvPr/>
        </p:nvPicPr>
        <p:blipFill>
          <a:blip r:embed="rId1"/>
          <a:srcRect l="2069" r="2069" t="0" b="0"/>
          <a:stretch/>
        </p:blipFill>
        <p:spPr>
          <a:xfrm>
            <a:off x="5989320" y="1325880"/>
            <a:ext cx="5532120" cy="32461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989320" y="4736592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57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frame · 0:10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05895" y="256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57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2/9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>
              <a:alpha val="9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96012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232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Fit a model to observations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94360" y="2267712"/>
            <a:ext cx="4663440" cy="0"/>
          </a:xfrm>
          <a:prstGeom prst="line">
            <a:avLst/>
          </a:prstGeom>
          <a:noFill/>
          <a:ln w="15240">
            <a:solidFill>
              <a:srgbClr val="D5ED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256032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20" b="1" dirty="0">
                <a:solidFill>
                  <a:srgbClr val="19A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320" dirty="0"/>
          </a:p>
        </p:txBody>
      </p:sp>
      <p:sp>
        <p:nvSpPr>
          <p:cNvPr id="6" name="Text 4"/>
          <p:cNvSpPr/>
          <p:nvPr/>
        </p:nvSpPr>
        <p:spPr>
          <a:xfrm>
            <a:off x="950976" y="254203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23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Least squares shows up in science, finance, engineering, and astronomy.</a:t>
            </a:r>
            <a:endParaRPr lang="en-US" sz="1720" dirty="0"/>
          </a:p>
        </p:txBody>
      </p:sp>
      <p:sp>
        <p:nvSpPr>
          <p:cNvPr id="7" name="Text 5"/>
          <p:cNvSpPr/>
          <p:nvPr/>
        </p:nvSpPr>
        <p:spPr>
          <a:xfrm>
            <a:off x="658368" y="320040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20" b="1" dirty="0">
                <a:solidFill>
                  <a:srgbClr val="19A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320" dirty="0"/>
          </a:p>
        </p:txBody>
      </p:sp>
      <p:sp>
        <p:nvSpPr>
          <p:cNvPr id="8" name="Text 6"/>
          <p:cNvSpPr/>
          <p:nvPr/>
        </p:nvSpPr>
        <p:spPr>
          <a:xfrm>
            <a:off x="950976" y="318211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23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question appears everywhere: which model best explains the measurements?</a:t>
            </a:r>
            <a:endParaRPr lang="en-US" sz="1720" dirty="0"/>
          </a:p>
        </p:txBody>
      </p:sp>
      <p:sp>
        <p:nvSpPr>
          <p:cNvPr id="9" name="Text 7"/>
          <p:cNvSpPr/>
          <p:nvPr/>
        </p:nvSpPr>
        <p:spPr>
          <a:xfrm>
            <a:off x="658368" y="384048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20" b="1" dirty="0">
                <a:solidFill>
                  <a:srgbClr val="19A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320" dirty="0"/>
          </a:p>
        </p:txBody>
      </p:sp>
      <p:sp>
        <p:nvSpPr>
          <p:cNvPr id="10" name="Text 8"/>
          <p:cNvSpPr/>
          <p:nvPr/>
        </p:nvSpPr>
        <p:spPr>
          <a:xfrm>
            <a:off x="950976" y="382219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23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works for experiments, economics, and physical observations.</a:t>
            </a:r>
            <a:endParaRPr lang="en-US" sz="1720" dirty="0"/>
          </a:p>
        </p:txBody>
      </p:sp>
      <p:sp>
        <p:nvSpPr>
          <p:cNvPr id="11" name="Shape 9"/>
          <p:cNvSpPr/>
          <p:nvPr/>
        </p:nvSpPr>
        <p:spPr>
          <a:xfrm>
            <a:off x="5980176" y="1316736"/>
            <a:ext cx="5550408" cy="3264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DF3">
                <a:alpha val="9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55362">
                <a:alpha val="16000"/>
              </a:srgbClr>
            </a:outerShdw>
          </a:effectLst>
        </p:spPr>
      </p:sp>
      <p:pic>
        <p:nvPicPr>
          <p:cNvPr id="12" name="Image 0" descr="/mnt/data/ls_assets/slide_03.jpg">    </p:cNvPr>
          <p:cNvPicPr>
            <a:picLocks noChangeAspect="1"/>
          </p:cNvPicPr>
          <p:nvPr/>
        </p:nvPicPr>
        <p:blipFill>
          <a:blip r:embed="rId1"/>
          <a:srcRect l="2069" r="2069" t="0" b="0"/>
          <a:stretch/>
        </p:blipFill>
        <p:spPr>
          <a:xfrm>
            <a:off x="5989320" y="1325880"/>
            <a:ext cx="5532120" cy="32461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989320" y="4736592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57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frame · 0:30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05895" y="256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57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3/9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>
              <a:alpha val="9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96012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232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Choose a candidate line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94360" y="2267712"/>
            <a:ext cx="4663440" cy="0"/>
          </a:xfrm>
          <a:prstGeom prst="line">
            <a:avLst/>
          </a:prstGeom>
          <a:noFill/>
          <a:ln w="15240">
            <a:solidFill>
              <a:srgbClr val="D5ED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256032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20" b="1" dirty="0">
                <a:solidFill>
                  <a:srgbClr val="19A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320" dirty="0"/>
          </a:p>
        </p:txBody>
      </p:sp>
      <p:sp>
        <p:nvSpPr>
          <p:cNvPr id="6" name="Text 4"/>
          <p:cNvSpPr/>
          <p:nvPr/>
        </p:nvSpPr>
        <p:spPr>
          <a:xfrm>
            <a:off x="950976" y="254203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23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 line, the model is y = mx + b.</a:t>
            </a:r>
            <a:endParaRPr lang="en-US" sz="1720" dirty="0"/>
          </a:p>
        </p:txBody>
      </p:sp>
      <p:sp>
        <p:nvSpPr>
          <p:cNvPr id="7" name="Text 5"/>
          <p:cNvSpPr/>
          <p:nvPr/>
        </p:nvSpPr>
        <p:spPr>
          <a:xfrm>
            <a:off x="658368" y="320040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20" b="1" dirty="0">
                <a:solidFill>
                  <a:srgbClr val="19A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320" dirty="0"/>
          </a:p>
        </p:txBody>
      </p:sp>
      <p:sp>
        <p:nvSpPr>
          <p:cNvPr id="8" name="Text 6"/>
          <p:cNvSpPr/>
          <p:nvPr/>
        </p:nvSpPr>
        <p:spPr>
          <a:xfrm>
            <a:off x="950976" y="318211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23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slope m and intercept b are the adjustable parameters.</a:t>
            </a:r>
            <a:endParaRPr lang="en-US" sz="1720" dirty="0"/>
          </a:p>
        </p:txBody>
      </p:sp>
      <p:sp>
        <p:nvSpPr>
          <p:cNvPr id="9" name="Text 7"/>
          <p:cNvSpPr/>
          <p:nvPr/>
        </p:nvSpPr>
        <p:spPr>
          <a:xfrm>
            <a:off x="658368" y="384048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20" b="1" dirty="0">
                <a:solidFill>
                  <a:srgbClr val="19A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320" dirty="0"/>
          </a:p>
        </p:txBody>
      </p:sp>
      <p:sp>
        <p:nvSpPr>
          <p:cNvPr id="10" name="Text 8"/>
          <p:cNvSpPr/>
          <p:nvPr/>
        </p:nvSpPr>
        <p:spPr>
          <a:xfrm>
            <a:off x="950976" y="382219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23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line estimates the y-value for each x-value.</a:t>
            </a:r>
            <a:endParaRPr lang="en-US" sz="1720" dirty="0"/>
          </a:p>
        </p:txBody>
      </p:sp>
      <p:sp>
        <p:nvSpPr>
          <p:cNvPr id="11" name="Shape 9"/>
          <p:cNvSpPr/>
          <p:nvPr/>
        </p:nvSpPr>
        <p:spPr>
          <a:xfrm>
            <a:off x="5980176" y="1316736"/>
            <a:ext cx="5550408" cy="3264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DF3">
                <a:alpha val="9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55362">
                <a:alpha val="16000"/>
              </a:srgbClr>
            </a:outerShdw>
          </a:effectLst>
        </p:spPr>
      </p:sp>
      <p:pic>
        <p:nvPicPr>
          <p:cNvPr id="12" name="Image 0" descr="/mnt/data/ls_assets/slide_04.jpg">    </p:cNvPr>
          <p:cNvPicPr>
            <a:picLocks noChangeAspect="1"/>
          </p:cNvPicPr>
          <p:nvPr/>
        </p:nvPicPr>
        <p:blipFill>
          <a:blip r:embed="rId1"/>
          <a:srcRect l="2069" r="2069" t="0" b="0"/>
          <a:stretch/>
        </p:blipFill>
        <p:spPr>
          <a:xfrm>
            <a:off x="5989320" y="1325880"/>
            <a:ext cx="5532120" cy="32461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989320" y="4736592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57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frame · 0:45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05895" y="256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57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4/9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>
              <a:alpha val="9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96012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232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Residuals measure error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94360" y="2267712"/>
            <a:ext cx="4663440" cy="0"/>
          </a:xfrm>
          <a:prstGeom prst="line">
            <a:avLst/>
          </a:prstGeom>
          <a:noFill/>
          <a:ln w="15240">
            <a:solidFill>
              <a:srgbClr val="D5ED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256032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20" b="1" dirty="0">
                <a:solidFill>
                  <a:srgbClr val="19A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320" dirty="0"/>
          </a:p>
        </p:txBody>
      </p:sp>
      <p:sp>
        <p:nvSpPr>
          <p:cNvPr id="6" name="Text 4"/>
          <p:cNvSpPr/>
          <p:nvPr/>
        </p:nvSpPr>
        <p:spPr>
          <a:xfrm>
            <a:off x="950976" y="254203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23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residual is the vertical gap between a data point and the model.</a:t>
            </a:r>
            <a:endParaRPr lang="en-US" sz="1720" dirty="0"/>
          </a:p>
        </p:txBody>
      </p:sp>
      <p:sp>
        <p:nvSpPr>
          <p:cNvPr id="7" name="Text 5"/>
          <p:cNvSpPr/>
          <p:nvPr/>
        </p:nvSpPr>
        <p:spPr>
          <a:xfrm>
            <a:off x="658368" y="320040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20" b="1" dirty="0">
                <a:solidFill>
                  <a:srgbClr val="19A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320" dirty="0"/>
          </a:p>
        </p:txBody>
      </p:sp>
      <p:sp>
        <p:nvSpPr>
          <p:cNvPr id="8" name="Text 6"/>
          <p:cNvSpPr/>
          <p:nvPr/>
        </p:nvSpPr>
        <p:spPr>
          <a:xfrm>
            <a:off x="950976" y="318211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23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residuals are positive, and others are negative.</a:t>
            </a:r>
            <a:endParaRPr lang="en-US" sz="1720" dirty="0"/>
          </a:p>
        </p:txBody>
      </p:sp>
      <p:sp>
        <p:nvSpPr>
          <p:cNvPr id="9" name="Text 7"/>
          <p:cNvSpPr/>
          <p:nvPr/>
        </p:nvSpPr>
        <p:spPr>
          <a:xfrm>
            <a:off x="658368" y="384048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20" b="1" dirty="0">
                <a:solidFill>
                  <a:srgbClr val="19A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320" dirty="0"/>
          </a:p>
        </p:txBody>
      </p:sp>
      <p:sp>
        <p:nvSpPr>
          <p:cNvPr id="10" name="Text 8"/>
          <p:cNvSpPr/>
          <p:nvPr/>
        </p:nvSpPr>
        <p:spPr>
          <a:xfrm>
            <a:off x="950976" y="382219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23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Vertical gaps match the standard setup where y is modeled as a function of x.</a:t>
            </a:r>
            <a:endParaRPr lang="en-US" sz="1720" dirty="0"/>
          </a:p>
        </p:txBody>
      </p:sp>
      <p:sp>
        <p:nvSpPr>
          <p:cNvPr id="11" name="Shape 9"/>
          <p:cNvSpPr/>
          <p:nvPr/>
        </p:nvSpPr>
        <p:spPr>
          <a:xfrm>
            <a:off x="5980176" y="1316736"/>
            <a:ext cx="5550408" cy="3264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DF3">
                <a:alpha val="9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55362">
                <a:alpha val="16000"/>
              </a:srgbClr>
            </a:outerShdw>
          </a:effectLst>
        </p:spPr>
      </p:sp>
      <p:pic>
        <p:nvPicPr>
          <p:cNvPr id="12" name="Image 0" descr="/mnt/data/ls_assets/slide_05.jpg">    </p:cNvPr>
          <p:cNvPicPr>
            <a:picLocks noChangeAspect="1"/>
          </p:cNvPicPr>
          <p:nvPr/>
        </p:nvPicPr>
        <p:blipFill>
          <a:blip r:embed="rId1"/>
          <a:srcRect l="2069" r="2069" t="0" b="0"/>
          <a:stretch/>
        </p:blipFill>
        <p:spPr>
          <a:xfrm>
            <a:off x="5989320" y="1325880"/>
            <a:ext cx="5532120" cy="32461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989320" y="4736592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57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frame · 1:05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05895" y="256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57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5/9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>
              <a:alpha val="9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96012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232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Square the residuals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94360" y="2267712"/>
            <a:ext cx="4663440" cy="0"/>
          </a:xfrm>
          <a:prstGeom prst="line">
            <a:avLst/>
          </a:prstGeom>
          <a:noFill/>
          <a:ln w="15240">
            <a:solidFill>
              <a:srgbClr val="D5ED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256032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20" b="1" dirty="0">
                <a:solidFill>
                  <a:srgbClr val="19A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320" dirty="0"/>
          </a:p>
        </p:txBody>
      </p:sp>
      <p:sp>
        <p:nvSpPr>
          <p:cNvPr id="6" name="Text 4"/>
          <p:cNvSpPr/>
          <p:nvPr/>
        </p:nvSpPr>
        <p:spPr>
          <a:xfrm>
            <a:off x="950976" y="254203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23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Squaring prevents positive and negative errors from canceling.</a:t>
            </a:r>
            <a:endParaRPr lang="en-US" sz="1720" dirty="0"/>
          </a:p>
        </p:txBody>
      </p:sp>
      <p:sp>
        <p:nvSpPr>
          <p:cNvPr id="7" name="Text 5"/>
          <p:cNvSpPr/>
          <p:nvPr/>
        </p:nvSpPr>
        <p:spPr>
          <a:xfrm>
            <a:off x="658368" y="320040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20" b="1" dirty="0">
                <a:solidFill>
                  <a:srgbClr val="19A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320" dirty="0"/>
          </a:p>
        </p:txBody>
      </p:sp>
      <p:sp>
        <p:nvSpPr>
          <p:cNvPr id="8" name="Text 6"/>
          <p:cNvSpPr/>
          <p:nvPr/>
        </p:nvSpPr>
        <p:spPr>
          <a:xfrm>
            <a:off x="950976" y="318211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23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errors count more because they are squared.</a:t>
            </a:r>
            <a:endParaRPr lang="en-US" sz="1720" dirty="0"/>
          </a:p>
        </p:txBody>
      </p:sp>
      <p:sp>
        <p:nvSpPr>
          <p:cNvPr id="9" name="Text 7"/>
          <p:cNvSpPr/>
          <p:nvPr/>
        </p:nvSpPr>
        <p:spPr>
          <a:xfrm>
            <a:off x="658368" y="384048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20" b="1" dirty="0">
                <a:solidFill>
                  <a:srgbClr val="19A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320" dirty="0"/>
          </a:p>
        </p:txBody>
      </p:sp>
      <p:sp>
        <p:nvSpPr>
          <p:cNvPr id="10" name="Text 8"/>
          <p:cNvSpPr/>
          <p:nvPr/>
        </p:nvSpPr>
        <p:spPr>
          <a:xfrm>
            <a:off x="950976" y="382219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23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why the method is called least squares.</a:t>
            </a:r>
            <a:endParaRPr lang="en-US" sz="1720" dirty="0"/>
          </a:p>
        </p:txBody>
      </p:sp>
      <p:sp>
        <p:nvSpPr>
          <p:cNvPr id="11" name="Shape 9"/>
          <p:cNvSpPr/>
          <p:nvPr/>
        </p:nvSpPr>
        <p:spPr>
          <a:xfrm>
            <a:off x="5980176" y="1316736"/>
            <a:ext cx="5550408" cy="3264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DF3">
                <a:alpha val="9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55362">
                <a:alpha val="16000"/>
              </a:srgbClr>
            </a:outerShdw>
          </a:effectLst>
        </p:spPr>
      </p:sp>
      <p:pic>
        <p:nvPicPr>
          <p:cNvPr id="12" name="Image 0" descr="/mnt/data/ls_assets/slide_06.jpg">    </p:cNvPr>
          <p:cNvPicPr>
            <a:picLocks noChangeAspect="1"/>
          </p:cNvPicPr>
          <p:nvPr/>
        </p:nvPicPr>
        <p:blipFill>
          <a:blip r:embed="rId1"/>
          <a:srcRect l="2069" r="2069" t="0" b="0"/>
          <a:stretch/>
        </p:blipFill>
        <p:spPr>
          <a:xfrm>
            <a:off x="5989320" y="1325880"/>
            <a:ext cx="5532120" cy="32461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989320" y="4736592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57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frame · 1:20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05895" y="256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57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6/9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>
              <a:alpha val="9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96012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232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Minimize SSE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94360" y="2267712"/>
            <a:ext cx="4663440" cy="0"/>
          </a:xfrm>
          <a:prstGeom prst="line">
            <a:avLst/>
          </a:prstGeom>
          <a:noFill/>
          <a:ln w="15240">
            <a:solidFill>
              <a:srgbClr val="D5ED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256032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20" b="1" dirty="0">
                <a:solidFill>
                  <a:srgbClr val="19A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320" dirty="0"/>
          </a:p>
        </p:txBody>
      </p:sp>
      <p:sp>
        <p:nvSpPr>
          <p:cNvPr id="6" name="Text 4"/>
          <p:cNvSpPr/>
          <p:nvPr/>
        </p:nvSpPr>
        <p:spPr>
          <a:xfrm>
            <a:off x="950976" y="254203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23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 = residual₁² + residual₂² + … + residualₙ².</a:t>
            </a:r>
            <a:endParaRPr lang="en-US" sz="1720" dirty="0"/>
          </a:p>
        </p:txBody>
      </p:sp>
      <p:sp>
        <p:nvSpPr>
          <p:cNvPr id="7" name="Text 5"/>
          <p:cNvSpPr/>
          <p:nvPr/>
        </p:nvSpPr>
        <p:spPr>
          <a:xfrm>
            <a:off x="658368" y="320040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20" b="1" dirty="0">
                <a:solidFill>
                  <a:srgbClr val="19A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320" dirty="0"/>
          </a:p>
        </p:txBody>
      </p:sp>
      <p:sp>
        <p:nvSpPr>
          <p:cNvPr id="8" name="Text 6"/>
          <p:cNvSpPr/>
          <p:nvPr/>
        </p:nvSpPr>
        <p:spPr>
          <a:xfrm>
            <a:off x="950976" y="318211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23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 is the total squared error for one model.</a:t>
            </a:r>
            <a:endParaRPr lang="en-US" sz="1720" dirty="0"/>
          </a:p>
        </p:txBody>
      </p:sp>
      <p:sp>
        <p:nvSpPr>
          <p:cNvPr id="9" name="Text 7"/>
          <p:cNvSpPr/>
          <p:nvPr/>
        </p:nvSpPr>
        <p:spPr>
          <a:xfrm>
            <a:off x="658368" y="384048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20" b="1" dirty="0">
                <a:solidFill>
                  <a:srgbClr val="19A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320" dirty="0"/>
          </a:p>
        </p:txBody>
      </p:sp>
      <p:sp>
        <p:nvSpPr>
          <p:cNvPr id="10" name="Text 8"/>
          <p:cNvSpPr/>
          <p:nvPr/>
        </p:nvSpPr>
        <p:spPr>
          <a:xfrm>
            <a:off x="950976" y="382219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23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fit is the model with the smallest SSE.</a:t>
            </a:r>
            <a:endParaRPr lang="en-US" sz="1720" dirty="0"/>
          </a:p>
        </p:txBody>
      </p:sp>
      <p:sp>
        <p:nvSpPr>
          <p:cNvPr id="11" name="Shape 9"/>
          <p:cNvSpPr/>
          <p:nvPr/>
        </p:nvSpPr>
        <p:spPr>
          <a:xfrm>
            <a:off x="5980176" y="1316736"/>
            <a:ext cx="5550408" cy="3264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DF3">
                <a:alpha val="9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55362">
                <a:alpha val="16000"/>
              </a:srgbClr>
            </a:outerShdw>
          </a:effectLst>
        </p:spPr>
      </p:sp>
      <p:pic>
        <p:nvPicPr>
          <p:cNvPr id="12" name="Image 0" descr="/mnt/data/ls_assets/slide_07.jpg">    </p:cNvPr>
          <p:cNvPicPr>
            <a:picLocks noChangeAspect="1"/>
          </p:cNvPicPr>
          <p:nvPr/>
        </p:nvPicPr>
        <p:blipFill>
          <a:blip r:embed="rId1"/>
          <a:srcRect l="2069" r="2069" t="0" b="0"/>
          <a:stretch/>
        </p:blipFill>
        <p:spPr>
          <a:xfrm>
            <a:off x="5989320" y="1325880"/>
            <a:ext cx="5532120" cy="32461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989320" y="4736592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57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frame · 1:35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05895" y="256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57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7/9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>
              <a:alpha val="9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96012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232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Nonlinear least squares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94360" y="2267712"/>
            <a:ext cx="4663440" cy="0"/>
          </a:xfrm>
          <a:prstGeom prst="line">
            <a:avLst/>
          </a:prstGeom>
          <a:noFill/>
          <a:ln w="15240">
            <a:solidFill>
              <a:srgbClr val="D5ED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256032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20" b="1" dirty="0">
                <a:solidFill>
                  <a:srgbClr val="19A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320" dirty="0"/>
          </a:p>
        </p:txBody>
      </p:sp>
      <p:sp>
        <p:nvSpPr>
          <p:cNvPr id="6" name="Text 4"/>
          <p:cNvSpPr/>
          <p:nvPr/>
        </p:nvSpPr>
        <p:spPr>
          <a:xfrm>
            <a:off x="950976" y="254203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23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residual-minimization idea works for more flexible functions.</a:t>
            </a:r>
            <a:endParaRPr lang="en-US" sz="1720" dirty="0"/>
          </a:p>
        </p:txBody>
      </p:sp>
      <p:sp>
        <p:nvSpPr>
          <p:cNvPr id="7" name="Text 5"/>
          <p:cNvSpPr/>
          <p:nvPr/>
        </p:nvSpPr>
        <p:spPr>
          <a:xfrm>
            <a:off x="658368" y="320040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20" b="1" dirty="0">
                <a:solidFill>
                  <a:srgbClr val="19A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320" dirty="0"/>
          </a:p>
        </p:txBody>
      </p:sp>
      <p:sp>
        <p:nvSpPr>
          <p:cNvPr id="8" name="Text 6"/>
          <p:cNvSpPr/>
          <p:nvPr/>
        </p:nvSpPr>
        <p:spPr>
          <a:xfrm>
            <a:off x="950976" y="318211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23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models cannot be solved with a simple linear formula.</a:t>
            </a:r>
            <a:endParaRPr lang="en-US" sz="1720" dirty="0"/>
          </a:p>
        </p:txBody>
      </p:sp>
      <p:sp>
        <p:nvSpPr>
          <p:cNvPr id="9" name="Text 7"/>
          <p:cNvSpPr/>
          <p:nvPr/>
        </p:nvSpPr>
        <p:spPr>
          <a:xfrm>
            <a:off x="658368" y="384048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20" b="1" dirty="0">
                <a:solidFill>
                  <a:srgbClr val="19A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320" dirty="0"/>
          </a:p>
        </p:txBody>
      </p:sp>
      <p:sp>
        <p:nvSpPr>
          <p:cNvPr id="10" name="Text 8"/>
          <p:cNvSpPr/>
          <p:nvPr/>
        </p:nvSpPr>
        <p:spPr>
          <a:xfrm>
            <a:off x="950976" y="382219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23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are often fit by improving the parameters step by step.</a:t>
            </a:r>
            <a:endParaRPr lang="en-US" sz="1720" dirty="0"/>
          </a:p>
        </p:txBody>
      </p:sp>
      <p:sp>
        <p:nvSpPr>
          <p:cNvPr id="11" name="Shape 9"/>
          <p:cNvSpPr/>
          <p:nvPr/>
        </p:nvSpPr>
        <p:spPr>
          <a:xfrm>
            <a:off x="5980176" y="1316736"/>
            <a:ext cx="5550408" cy="3264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DF3">
                <a:alpha val="9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55362">
                <a:alpha val="16000"/>
              </a:srgbClr>
            </a:outerShdw>
          </a:effectLst>
        </p:spPr>
      </p:sp>
      <p:pic>
        <p:nvPicPr>
          <p:cNvPr id="12" name="Image 0" descr="/mnt/data/ls_assets/slide_08.jpg">    </p:cNvPr>
          <p:cNvPicPr>
            <a:picLocks noChangeAspect="1"/>
          </p:cNvPicPr>
          <p:nvPr/>
        </p:nvPicPr>
        <p:blipFill>
          <a:blip r:embed="rId1"/>
          <a:srcRect l="2069" r="2069" t="0" b="0"/>
          <a:stretch/>
        </p:blipFill>
        <p:spPr>
          <a:xfrm>
            <a:off x="5989320" y="1325880"/>
            <a:ext cx="5532120" cy="32461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989320" y="4736592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57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frame · 2:10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05895" y="256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57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8/9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>
              <a:alpha val="9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96012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232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takeaway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94360" y="2267712"/>
            <a:ext cx="4663440" cy="0"/>
          </a:xfrm>
          <a:prstGeom prst="line">
            <a:avLst/>
          </a:prstGeom>
          <a:noFill/>
          <a:ln w="15240">
            <a:solidFill>
              <a:srgbClr val="D5ED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256032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30" b="1" dirty="0">
                <a:solidFill>
                  <a:srgbClr val="19A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230" dirty="0"/>
          </a:p>
        </p:txBody>
      </p:sp>
      <p:sp>
        <p:nvSpPr>
          <p:cNvPr id="6" name="Text 4"/>
          <p:cNvSpPr/>
          <p:nvPr/>
        </p:nvSpPr>
        <p:spPr>
          <a:xfrm>
            <a:off x="950976" y="254203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30" dirty="0">
                <a:solidFill>
                  <a:srgbClr val="123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a model to data.</a:t>
            </a:r>
            <a:endParaRPr lang="en-US" sz="1630" dirty="0"/>
          </a:p>
        </p:txBody>
      </p:sp>
      <p:sp>
        <p:nvSpPr>
          <p:cNvPr id="7" name="Text 5"/>
          <p:cNvSpPr/>
          <p:nvPr/>
        </p:nvSpPr>
        <p:spPr>
          <a:xfrm>
            <a:off x="658368" y="3136392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30" b="1" dirty="0">
                <a:solidFill>
                  <a:srgbClr val="19A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230" dirty="0"/>
          </a:p>
        </p:txBody>
      </p:sp>
      <p:sp>
        <p:nvSpPr>
          <p:cNvPr id="8" name="Text 6"/>
          <p:cNvSpPr/>
          <p:nvPr/>
        </p:nvSpPr>
        <p:spPr>
          <a:xfrm>
            <a:off x="950976" y="311810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30" dirty="0">
                <a:solidFill>
                  <a:srgbClr val="123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the residuals, which are the model errors.</a:t>
            </a:r>
            <a:endParaRPr lang="en-US" sz="1630" dirty="0"/>
          </a:p>
        </p:txBody>
      </p:sp>
      <p:sp>
        <p:nvSpPr>
          <p:cNvPr id="9" name="Text 7"/>
          <p:cNvSpPr/>
          <p:nvPr/>
        </p:nvSpPr>
        <p:spPr>
          <a:xfrm>
            <a:off x="658368" y="3712464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30" b="1" dirty="0">
                <a:solidFill>
                  <a:srgbClr val="19A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230" dirty="0"/>
          </a:p>
        </p:txBody>
      </p:sp>
      <p:sp>
        <p:nvSpPr>
          <p:cNvPr id="10" name="Text 8"/>
          <p:cNvSpPr/>
          <p:nvPr/>
        </p:nvSpPr>
        <p:spPr>
          <a:xfrm>
            <a:off x="950976" y="369417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30" dirty="0">
                <a:solidFill>
                  <a:srgbClr val="123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Square and add those errors to get SSE.</a:t>
            </a:r>
            <a:endParaRPr lang="en-US" sz="1630" dirty="0"/>
          </a:p>
        </p:txBody>
      </p:sp>
      <p:sp>
        <p:nvSpPr>
          <p:cNvPr id="11" name="Text 9"/>
          <p:cNvSpPr/>
          <p:nvPr/>
        </p:nvSpPr>
        <p:spPr>
          <a:xfrm>
            <a:off x="658368" y="428853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30" b="1" dirty="0">
                <a:solidFill>
                  <a:srgbClr val="19A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230" dirty="0"/>
          </a:p>
        </p:txBody>
      </p:sp>
      <p:sp>
        <p:nvSpPr>
          <p:cNvPr id="12" name="Text 10"/>
          <p:cNvSpPr/>
          <p:nvPr/>
        </p:nvSpPr>
        <p:spPr>
          <a:xfrm>
            <a:off x="950976" y="427024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30" dirty="0">
                <a:solidFill>
                  <a:srgbClr val="123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parameters that make SSE as small as possible.</a:t>
            </a:r>
            <a:endParaRPr lang="en-US" sz="1630" dirty="0"/>
          </a:p>
        </p:txBody>
      </p:sp>
      <p:sp>
        <p:nvSpPr>
          <p:cNvPr id="13" name="Shape 11"/>
          <p:cNvSpPr/>
          <p:nvPr/>
        </p:nvSpPr>
        <p:spPr>
          <a:xfrm>
            <a:off x="5980176" y="1316736"/>
            <a:ext cx="5550408" cy="3264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DF3">
                <a:alpha val="9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55362">
                <a:alpha val="16000"/>
              </a:srgbClr>
            </a:outerShdw>
          </a:effectLst>
        </p:spPr>
      </p:sp>
      <p:pic>
        <p:nvPicPr>
          <p:cNvPr id="14" name="Image 0" descr="/mnt/data/ls_assets/slide_09.jpg">    </p:cNvPr>
          <p:cNvPicPr>
            <a:picLocks noChangeAspect="1"/>
          </p:cNvPicPr>
          <p:nvPr/>
        </p:nvPicPr>
        <p:blipFill>
          <a:blip r:embed="rId1"/>
          <a:srcRect l="2069" r="2069" t="0" b="0"/>
          <a:stretch/>
        </p:blipFill>
        <p:spPr>
          <a:xfrm>
            <a:off x="5989320" y="1325880"/>
            <a:ext cx="5532120" cy="32461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989320" y="4736592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57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frame · 2:25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05895" y="256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57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9/9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Least Squares?</dc:title>
  <dc:subject>What is Least Squares?</dc:subject>
  <dc:creator>OpenAI</dc:creator>
  <cp:lastModifiedBy>OpenAI</cp:lastModifiedBy>
  <cp:revision>1</cp:revision>
  <dcterms:created xsi:type="dcterms:W3CDTF">2026-05-13T10:56:54Z</dcterms:created>
  <dcterms:modified xsi:type="dcterms:W3CDTF">2026-05-13T10:56:54Z</dcterms:modified>
</cp:coreProperties>
</file>